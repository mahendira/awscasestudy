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86" r:id="rId3"/>
    <p:sldId id="257" r:id="rId4"/>
    <p:sldId id="258" r:id="rId5"/>
    <p:sldId id="259" r:id="rId6"/>
    <p:sldId id="260" r:id="rId7"/>
    <p:sldId id="275" r:id="rId8"/>
    <p:sldId id="276" r:id="rId9"/>
    <p:sldId id="277" r:id="rId10"/>
    <p:sldId id="278" r:id="rId11"/>
    <p:sldId id="279" r:id="rId12"/>
    <p:sldId id="280" r:id="rId13"/>
    <p:sldId id="281"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82" r:id="rId29"/>
    <p:sldId id="283" r:id="rId30"/>
    <p:sldId id="284" r:id="rId31"/>
    <p:sldId id="285"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66" autoAdjust="0"/>
    <p:restoredTop sz="95201" autoAdjust="0"/>
  </p:normalViewPr>
  <p:slideViewPr>
    <p:cSldViewPr snapToGrid="0">
      <p:cViewPr varScale="1">
        <p:scale>
          <a:sx n="86" d="100"/>
          <a:sy n="86" d="100"/>
        </p:scale>
        <p:origin x="61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19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frames the central brownfield constraint.</a:t>
            </a:r>
          </a:p>
          <a:p>
            <a:r>
              <a:t>The AWS platform does not become authoritative for vehicle information, repair history, or dealer appointment inventory.</a:t>
            </a:r>
          </a:p>
          <a:p>
            <a:r>
              <a:t>Instead, a standardized integration layer protects the customer-facing platform from protocol differences, inconsistent dealer implementations, latency, and transient failures.</a:t>
            </a:r>
          </a:p>
          <a:p>
            <a:r>
              <a:t>The architectural goal is to preserve system ownership while presenting one consistent booking experience.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solution uses incremental modernization rather than immediate system replacement.</a:t>
            </a:r>
          </a:p>
          <a:p>
            <a:r>
              <a:t>A secure cloud platform and standardized integration layer surround the existing VIN, mainframe, and dealer scheduling systems.</a:t>
            </a:r>
          </a:p>
          <a:p>
            <a:r>
              <a:t>The design is evaluated against four outcomes.</a:t>
            </a:r>
          </a:p>
          <a:p>
            <a:r>
              <a:t>First, a fast and consistent customer experience at national scale.</a:t>
            </a:r>
          </a:p>
          <a:p>
            <a:r>
              <a:t>Second, booking consistency that prevents duplicate appointments while preserving each dealer’s control of its slots.</a:t>
            </a:r>
          </a:p>
          <a:p>
            <a:r>
              <a:t>Third, protection of customer and vehicle data with strict isolation between dealerships.</a:t>
            </a:r>
          </a:p>
          <a:p>
            <a:r>
              <a:t>Fourth, graceful degradation when dealer or legacy systems are slow or unavailable.</a:t>
            </a:r>
          </a:p>
          <a:p>
            <a:r>
              <a:t>The remainder of the presentation covers the customer journeys, logical architecture, booking consistency, brownfield integrations, security, scalability, disaster recovery, cost, and incremental delivery.</a:t>
            </a:r>
          </a:p>
          <a:p>
            <a:endParaRPr/>
          </a:p>
          <a:p>
            <a:r>
              <a:t>[Sources]</a:t>
            </a:r>
          </a:p>
          <a:p>
            <a:r>
              <a:t>- User-provided auto-dealer appointment case-study requirements and presentation narrative.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primary customer journey from dealership discovery through appointment confirmation.</a:t>
            </a:r>
          </a:p>
          <a:p>
            <a:r>
              <a:t>Customers begin by finding a participating dealership using browser location or ZIP code.</a:t>
            </a:r>
          </a:p>
          <a:p>
            <a:r>
              <a:t>They can sign in, choose a saved vehicle, enter a VIN, or continue without a VIN.</a:t>
            </a:r>
          </a:p>
          <a:p>
            <a:r>
              <a:t>The platform then presents vehicle-specific services when information is available, or a generic catalog when it is not.</a:t>
            </a:r>
          </a:p>
          <a:p>
            <a:r>
              <a:t>For booking, the system checks live availability from the selected dealer, places a short-lived hold, and confirms the appointment idempotently to prevent duplicate processing.</a:t>
            </a:r>
          </a:p>
          <a:p>
            <a:r>
              <a:t>Finally, the customer receives confirmation and scheduled reminders by email or SMS according to preference and consent.</a:t>
            </a:r>
          </a:p>
          <a:p>
            <a:r>
              <a:t>The platform also provides recovery paths for denied location access, invalid VINs, unavailable services, missing slots, and dealer-system outages.</a:t>
            </a:r>
          </a:p>
          <a:p>
            <a:endParaRPr/>
          </a:p>
          <a:p>
            <a:r>
              <a:t>[Sources]</a:t>
            </a:r>
          </a:p>
          <a:p>
            <a:r>
              <a:t>- User-provided auto-dealer appointment case-study requirements.</a:t>
            </a:r>
          </a:p>
          <a:p>
            <a:r>
              <a:t>- User-provided customer-journey image used as a visual layout reference.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proposed logical and deployment architecture for the vehicle-service appointment platform.</a:t>
            </a:r>
          </a:p>
          <a:p>
            <a:r>
              <a:rPr dirty="0"/>
              <a:t>Customers access a responsive web application through CloudFront and S3, protected by AWS WAF and Shield. Cognito supports registered users, while guest booking remains available.</a:t>
            </a:r>
          </a:p>
          <a:p>
            <a:r>
              <a:rPr dirty="0"/>
              <a:t>API Gateway fronts the regional APIs. Step Functions coordinates the booking saga, while bounded domain services handle dealer discovery, vehicle information, availability, booking, and notification.</a:t>
            </a:r>
          </a:p>
          <a:p>
            <a:r>
              <a:rPr dirty="0"/>
              <a:t>The cloud stores customer profile and booking workflow state in DynamoDB. A short-lived </a:t>
            </a:r>
            <a:r>
              <a:rPr dirty="0" err="1"/>
              <a:t>Valkey</a:t>
            </a:r>
            <a:r>
              <a:rPr dirty="0"/>
              <a:t> cache improves availability browsing but never becomes authoritative for a dealer slot.</a:t>
            </a:r>
          </a:p>
          <a:p>
            <a:r>
              <a:rPr dirty="0"/>
              <a:t>The standardized integration layer isolates the platform from three brownfield domains: the on-premises VIN API, mainframe repair history, and independently owned dealer scheduling systems.</a:t>
            </a:r>
          </a:p>
          <a:p>
            <a:r>
              <a:rPr dirty="0"/>
              <a:t>Dealer adapters expose a normalized search, hold, confirm, release, reschedule, and cancel contract. The dealer backend remains authoritative for appointment inventory.</a:t>
            </a:r>
          </a:p>
          <a:p>
            <a:r>
              <a:rPr dirty="0" err="1"/>
              <a:t>EventBridge</a:t>
            </a:r>
            <a:r>
              <a:rPr dirty="0"/>
              <a:t> and SQS decouple notifications and downstream processing. Retries, dead-letter queues, reconciliation, and audit records support graceful recovery.</a:t>
            </a:r>
          </a:p>
          <a:p>
            <a:r>
              <a:rPr dirty="0"/>
              <a:t>The primary Region is multi-AZ. A warm-standby Region, replicated state and assets, Route 53 failover, and infrastructure as code provide the disaster-recovery path.</a:t>
            </a:r>
          </a:p>
          <a:p>
            <a:endParaRPr dirty="0"/>
          </a:p>
          <a:p>
            <a:r>
              <a:rPr dirty="0"/>
              <a:t>[Sources]</a:t>
            </a:r>
          </a:p>
          <a:p>
            <a:r>
              <a:rPr dirty="0"/>
              <a:t>- User-provided auto-dealer appointment case-study requirements.</a:t>
            </a:r>
          </a:p>
          <a:p>
            <a:r>
              <a:rPr dirty="0"/>
              <a:t>- User-provided architecture image used as a structural visual reference.</a:t>
            </a:r>
          </a:p>
          <a:p>
            <a:r>
              <a:rPr dirty="0"/>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table explains that the design is not simply a list of AWS products; each service is matched to a workload characteristic and an acknowledged trade-off.</a:t>
            </a:r>
          </a:p>
          <a:p>
            <a:r>
              <a:rPr dirty="0"/>
              <a:t>CloudFront and S3 support the browser and mobile-responsive customer experience. API Gateway provides the controlled public API boundary.</a:t>
            </a:r>
          </a:p>
          <a:p>
            <a:r>
              <a:rPr dirty="0"/>
              <a:t>Cognito with native JWT authorization is the default for ordinary customer APIs. A Lambda authorizer is used only for dealer scope, legacy tokens, enterprise federation, or complex entitlements.</a:t>
            </a:r>
          </a:p>
          <a:p>
            <a:r>
              <a:rPr dirty="0"/>
              <a:t>Lambda and Step Functions suit bursty APIs and the booking saga, while ECS on Fargate is deliberately used for long-running or connection-oriented VIN, mainframe, and dealer adapters.</a:t>
            </a:r>
          </a:p>
          <a:p>
            <a:r>
              <a:rPr dirty="0"/>
              <a:t>DynamoDB stores customer, vehicle, appointment, and workflow state using conditional writes. </a:t>
            </a:r>
            <a:r>
              <a:rPr dirty="0" err="1"/>
              <a:t>ElastiCache</a:t>
            </a:r>
            <a:r>
              <a:rPr dirty="0"/>
              <a:t> accelerates read views, but cached availability never becomes authority for confirmation.</a:t>
            </a:r>
          </a:p>
          <a:p>
            <a:r>
              <a:rPr dirty="0" err="1"/>
              <a:t>EventBridge</a:t>
            </a:r>
            <a:r>
              <a:rPr dirty="0"/>
              <a:t> and SQS decouple integrations and reminders. Because asynchronous delivery can duplicate or arrive later, consumers are idempotent and uncertain dealer outcomes are reconciled.</a:t>
            </a:r>
          </a:p>
          <a:p>
            <a:r>
              <a:rPr dirty="0"/>
              <a:t>CloudWatch, X-Ray, CloudTrail, Route 53, replication, and warm standby support measurable operations and recovery. Single-writer fencing prevents regional booking conflicts.</a:t>
            </a:r>
          </a:p>
          <a:p>
            <a:r>
              <a:rPr dirty="0"/>
              <a:t>The key interview message is that managed services are the default, but the architecture accepts targeted complexity where brownfield integration, dealer isolation, or booking consistency requires it.</a:t>
            </a:r>
          </a:p>
          <a:p>
            <a:endParaRPr dirty="0"/>
          </a:p>
          <a:p>
            <a:r>
              <a:rPr dirty="0"/>
              <a:t>[Sources]</a:t>
            </a:r>
          </a:p>
          <a:p>
            <a:r>
              <a:rPr dirty="0"/>
              <a:t>- User-provided auto-dealer case-study requirements and architectural assumptions.</a:t>
            </a:r>
          </a:p>
          <a:p>
            <a:r>
              <a:rPr dirty="0"/>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67684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04079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Journey 1 — Find a dealership:</a:t>
            </a:r>
          </a:p>
          <a:p>
            <a:r>
              <a:t>1. The customer opens the responsive web or mobile experience; authentication is optional for dealership discovery.</a:t>
            </a:r>
          </a:p>
          <a:p>
            <a:r>
              <a:t>2. The customer enters a ZIP code. The CloudFront-delivered SPA validates the basic input and submits the search.</a:t>
            </a:r>
          </a:p>
          <a:p>
            <a:r>
              <a:t>3. API Gateway receives the request, applies throttling and security controls, and routes it into the platform.</a:t>
            </a:r>
          </a:p>
          <a:p>
            <a:r>
              <a:t>4. The dealer-discovery service normalizes the ZIP code and applies dealer eligibility, market, and distance rules.</a:t>
            </a:r>
          </a:p>
          <a:p>
            <a:r>
              <a:t>5. Amazon Location Service queries the dealer geo-index; the service returns a ranked list of nearby dealerships for customer selection.</a:t>
            </a:r>
          </a:p>
          <a:p>
            <a:r>
              <a:t>This discovery journey is read-only. If location search is temporarily unavailable, the UI can retry or fall back to a cached dealer-directory view without affecting appointment inventory.</a:t>
            </a:r>
          </a:p>
          <a:p>
            <a:endParaRPr/>
          </a:p>
          <a:p>
            <a:r>
              <a:t>This is the proposed logical and deployment architecture for the vehicle-service appointment platform.</a:t>
            </a:r>
          </a:p>
          <a:p>
            <a:r>
              <a:t>Customers access a responsive web application through CloudFront and S3, protected by AWS WAF and Shield. Cognito supports registered users, while guest booking remains available.</a:t>
            </a:r>
          </a:p>
          <a:p>
            <a:r>
              <a:t>API Gateway fronts the regional APIs. Step Functions coordinates the booking saga, while bounded domain services handle dealer discovery, vehicle information, availability, booking, and notification.</a:t>
            </a:r>
          </a:p>
          <a:p>
            <a:r>
              <a:t>The cloud stores customer profile and booking workflow state in DynamoDB. A short-lived Valkey cache improves availability browsing but never becomes authoritative for a dealer slot.</a:t>
            </a:r>
          </a:p>
          <a:p>
            <a:r>
              <a:t>The standardized integration layer isolates the platform from three brownfield domains: the on-premises VIN API, mainframe repair history, and independently owned dealer scheduling systems.</a:t>
            </a:r>
          </a:p>
          <a:p>
            <a:r>
              <a:t>Dealer adapters expose a normalized search, hold, confirm, release, reschedule, and cancel contract. The dealer backend remains authoritative for appointment inventory.</a:t>
            </a:r>
          </a:p>
          <a:p>
            <a:r>
              <a:t>EventBridge and SQS decouple notifications and downstream processing. Retries, dead-letter queues, reconciliation, and audit records support graceful recovery.</a:t>
            </a:r>
          </a:p>
          <a:p>
            <a:r>
              <a:t>The primary Region is multi-AZ. A warm-standby Region, replicated state and assets, Route 53 failover, and infrastructure as code provide the disaster-recovery path.</a:t>
            </a:r>
          </a:p>
          <a:p>
            <a:endParaRPr/>
          </a:p>
          <a:p>
            <a:r>
              <a:t>[Sources]</a:t>
            </a:r>
          </a:p>
          <a:p>
            <a:r>
              <a:t>- User-provided auto-dealer appointment case-study requirements.</a:t>
            </a:r>
          </a:p>
          <a:p>
            <a:r>
              <a:t>- User-provided architecture image used as a structural visual reference.</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55970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Journey 2 — Identify the vehicle:</a:t>
            </a:r>
          </a:p>
          <a:p>
            <a:r>
              <a:t>1. The customer enters a VIN or, when signed in, selects a VIN previously saved to the customer profile.</a:t>
            </a:r>
          </a:p>
          <a:p>
            <a:r>
              <a:t>2. API Gateway validates and routes the request using the same guest or authenticated API surface.</a:t>
            </a:r>
          </a:p>
          <a:p>
            <a:r>
              <a:t>3. The vehicle service resolves the VIN source, checks the customer’s authorization for a saved vehicle, and orchestrates the lookup.</a:t>
            </a:r>
          </a:p>
          <a:p>
            <a:r>
              <a:t>4. The VIN adapter applies schema translation, timeout, retry, and circuit-breaker policies around the brownfield dependency.</a:t>
            </a:r>
          </a:p>
          <a:p>
            <a:r>
              <a:t>5. The on-premises VIN API remains the system of record and returns normalized vehicle attributes such as make, model, model year, and powertrain.</a:t>
            </a:r>
          </a:p>
          <a:p>
            <a:r>
              <a:t>If the VIN API is unavailable, the journey degrades gracefully: customers can retry, continue without a VIN, or use recently validated vehicle data where policy permits.</a:t>
            </a:r>
          </a:p>
          <a:p>
            <a:endParaRPr/>
          </a:p>
          <a:p>
            <a:r>
              <a:t>This is the proposed logical and deployment architecture for the vehicle-service appointment platform.</a:t>
            </a:r>
          </a:p>
          <a:p>
            <a:r>
              <a:t>Customers access a responsive web application through CloudFront and S3, protected by AWS WAF and Shield. Cognito supports registered users, while guest booking remains available.</a:t>
            </a:r>
          </a:p>
          <a:p>
            <a:r>
              <a:t>API Gateway fronts the regional APIs. Step Functions coordinates the booking saga, while bounded domain services handle dealer discovery, vehicle information, availability, booking, and notification.</a:t>
            </a:r>
          </a:p>
          <a:p>
            <a:r>
              <a:t>The cloud stores customer profile and booking workflow state in DynamoDB. A short-lived Valkey cache improves availability browsing but never becomes authoritative for a dealer slot.</a:t>
            </a:r>
          </a:p>
          <a:p>
            <a:r>
              <a:t>The standardized integration layer isolates the platform from three brownfield domains: the on-premises VIN API, mainframe repair history, and independently owned dealer scheduling systems.</a:t>
            </a:r>
          </a:p>
          <a:p>
            <a:r>
              <a:t>Dealer adapters expose a normalized search, hold, confirm, release, reschedule, and cancel contract. The dealer backend remains authoritative for appointment inventory.</a:t>
            </a:r>
          </a:p>
          <a:p>
            <a:r>
              <a:t>EventBridge and SQS decouple notifications and downstream processing. Retries, dead-letter queues, reconciliation, and audit records support graceful recovery.</a:t>
            </a:r>
          </a:p>
          <a:p>
            <a:r>
              <a:t>The primary Region is multi-AZ. A warm-standby Region, replicated state and assets, Route 53 failover, and infrastructure as code provide the disaster-recovery path.</a:t>
            </a:r>
          </a:p>
          <a:p>
            <a:endParaRPr/>
          </a:p>
          <a:p>
            <a:r>
              <a:t>[Sources]</a:t>
            </a:r>
          </a:p>
          <a:p>
            <a:r>
              <a:t>- User-provided auto-dealer appointment case-study requirements.</a:t>
            </a:r>
          </a:p>
          <a:p>
            <a:r>
              <a:t>- User-provided architecture image used as a structural visual reference.</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603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Journey 3 — Choose services:</a:t>
            </a:r>
          </a:p>
          <a:p>
            <a:r>
              <a:rPr dirty="0"/>
              <a:t>1. The customer starts service selection with a validated VIN, a saved vehicle, or no VIN at all.</a:t>
            </a:r>
          </a:p>
          <a:p>
            <a:r>
              <a:rPr dirty="0"/>
              <a:t>2. API Gateway routes the request while enforcing request validation, throttling, and customer or guest context.</a:t>
            </a:r>
          </a:p>
          <a:p>
            <a:r>
              <a:rPr dirty="0"/>
              <a:t>3. The vehicle service combines vehicle attributes with dealer-supported service rules; without a VIN it presents a safe generic catalog.</a:t>
            </a:r>
          </a:p>
          <a:p>
            <a:r>
              <a:rPr dirty="0"/>
              <a:t>4. When available, the mainframe adapter retrieves repair history asynchronously and translates legacy records into the platform’s canonical model.</a:t>
            </a:r>
          </a:p>
          <a:p>
            <a:r>
              <a:rPr dirty="0"/>
              <a:t>5. The web experience presents eligible and recommended services; the customer makes the final selection before checking appointment availability.</a:t>
            </a:r>
          </a:p>
          <a:p>
            <a:r>
              <a:rPr dirty="0"/>
              <a:t>Repair history enriches recommendations but is not a hard dependency. If the mainframe is slow, the customer can continue with vehicle-specific or generic services.</a:t>
            </a:r>
          </a:p>
          <a:p>
            <a:endParaRPr dirty="0"/>
          </a:p>
          <a:p>
            <a:r>
              <a:rPr dirty="0"/>
              <a:t>This is the proposed logical and deployment architecture for the vehicle-service appointment platform.</a:t>
            </a:r>
          </a:p>
          <a:p>
            <a:r>
              <a:rPr dirty="0"/>
              <a:t>Customers access a responsive web application through CloudFront and S3, protected by AWS WAF and Shield. Cognito supports registered users, while guest booking remains available.</a:t>
            </a:r>
          </a:p>
          <a:p>
            <a:r>
              <a:rPr dirty="0"/>
              <a:t>API Gateway fronts the regional APIs. Step Functions coordinates the booking saga, while bounded domain services handle dealer discovery, vehicle information, availability, booking, and notification.</a:t>
            </a:r>
          </a:p>
          <a:p>
            <a:r>
              <a:rPr dirty="0"/>
              <a:t>The cloud stores customer profile and booking workflow state in DynamoDB. A short-lived </a:t>
            </a:r>
            <a:r>
              <a:rPr dirty="0" err="1"/>
              <a:t>Valkey</a:t>
            </a:r>
            <a:r>
              <a:rPr dirty="0"/>
              <a:t> cache improves availability browsing but never becomes authoritative for a dealer slot.</a:t>
            </a:r>
          </a:p>
          <a:p>
            <a:r>
              <a:rPr dirty="0"/>
              <a:t>The standardized integration layer isolates the platform from three brownfield domains: the on-premises VIN API, mainframe repair history, and independently owned dealer scheduling systems.</a:t>
            </a:r>
          </a:p>
          <a:p>
            <a:r>
              <a:rPr dirty="0"/>
              <a:t>Dealer adapters expose a normalized search, hold, confirm, release, reschedule, and cancel contract. The dealer backend remains authoritative for appointment inventory.</a:t>
            </a:r>
          </a:p>
          <a:p>
            <a:r>
              <a:rPr dirty="0" err="1"/>
              <a:t>EventBridge</a:t>
            </a:r>
            <a:r>
              <a:rPr dirty="0"/>
              <a:t> and SQS decouple notifications and downstream processing. Retries, dead-letter queues, reconciliation, and audit records support graceful recovery.</a:t>
            </a:r>
          </a:p>
          <a:p>
            <a:r>
              <a:rPr dirty="0"/>
              <a:t>The primary Region is multi-AZ. A warm-standby Region, replicated state and assets, Route 53 failover, and infrastructure as code provide the disaster-recovery path.</a:t>
            </a:r>
          </a:p>
          <a:p>
            <a:endParaRPr dirty="0"/>
          </a:p>
          <a:p>
            <a:r>
              <a:rPr dirty="0"/>
              <a:t>[Sources]</a:t>
            </a:r>
          </a:p>
          <a:p>
            <a:r>
              <a:rPr dirty="0"/>
              <a:t>- User-provided auto-dealer appointment case-study requirements.</a:t>
            </a:r>
          </a:p>
          <a:p>
            <a:r>
              <a:rPr dirty="0"/>
              <a:t>- User-provided architecture image used as a structural visual reference.</a:t>
            </a:r>
          </a:p>
          <a:p>
            <a:r>
              <a:rPr dirty="0"/>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792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Journey 4 — Select and book a slot:</a:t>
            </a:r>
          </a:p>
          <a:p>
            <a:r>
              <a:t>1. The customer requests appointment times for the selected dealership, vehicle context, and chosen services.</a:t>
            </a:r>
          </a:p>
          <a:p>
            <a:r>
              <a:t>2. The availability service returns a normalized slot view; the Valkey cache may accelerate browsing but is never authoritative.</a:t>
            </a:r>
          </a:p>
          <a:p>
            <a:r>
              <a:t>3. The dealer adapter translates the platform request into the local dealer system’s search and temporary-hold contract using mTLS and idempotency keys.</a:t>
            </a:r>
          </a:p>
          <a:p>
            <a:r>
              <a:t>4. The dealership backend remains authoritative for inventory and atomically places a short-lived hold on the selected slot.</a:t>
            </a:r>
          </a:p>
          <a:p>
            <a:r>
              <a:t>5. The booking service confirms the held slot through the dealer adapter, persists workflow state, and safely reconciles uncertain responses to prevent duplicate appointments.</a:t>
            </a:r>
          </a:p>
          <a:p>
            <a:r>
              <a:t>If a dealer system is unavailable, the UI does not promise stale inventory. It explains the temporary issue, preserves the customer’s selections, and offers retry or an alternate dealership.</a:t>
            </a:r>
          </a:p>
          <a:p>
            <a:endParaRPr/>
          </a:p>
          <a:p>
            <a:r>
              <a:t>This is the proposed logical and deployment architecture for the vehicle-service appointment platform.</a:t>
            </a:r>
          </a:p>
          <a:p>
            <a:r>
              <a:t>Customers access a responsive web application through CloudFront and S3, protected by AWS WAF and Shield. Cognito supports registered users, while guest booking remains available.</a:t>
            </a:r>
          </a:p>
          <a:p>
            <a:r>
              <a:t>API Gateway fronts the regional APIs. Step Functions coordinates the booking saga, while bounded domain services handle dealer discovery, vehicle information, availability, booking, and notification.</a:t>
            </a:r>
          </a:p>
          <a:p>
            <a:r>
              <a:t>The cloud stores customer profile and booking workflow state in DynamoDB. A short-lived Valkey cache improves availability browsing but never becomes authoritative for a dealer slot.</a:t>
            </a:r>
          </a:p>
          <a:p>
            <a:r>
              <a:t>The standardized integration layer isolates the platform from three brownfield domains: the on-premises VIN API, mainframe repair history, and independently owned dealer scheduling systems.</a:t>
            </a:r>
          </a:p>
          <a:p>
            <a:r>
              <a:t>Dealer adapters expose a normalized search, hold, confirm, release, reschedule, and cancel contract. The dealer backend remains authoritative for appointment inventory.</a:t>
            </a:r>
          </a:p>
          <a:p>
            <a:r>
              <a:t>EventBridge and SQS decouple notifications and downstream processing. Retries, dead-letter queues, reconciliation, and audit records support graceful recovery.</a:t>
            </a:r>
          </a:p>
          <a:p>
            <a:r>
              <a:t>The primary Region is multi-AZ. A warm-standby Region, replicated state and assets, Route 53 failover, and infrastructure as code provide the disaster-recovery path.</a:t>
            </a:r>
          </a:p>
          <a:p>
            <a:endParaRPr/>
          </a:p>
          <a:p>
            <a:r>
              <a:t>[Sources]</a:t>
            </a:r>
          </a:p>
          <a:p>
            <a:r>
              <a:t>- User-provided auto-dealer appointment case-study requirements.</a:t>
            </a:r>
          </a:p>
          <a:p>
            <a:r>
              <a:t>- User-provided architecture image used as a structural visual reference.</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12435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Journey 5 — Confirm and remind:</a:t>
            </a:r>
          </a:p>
          <a:p>
            <a:r>
              <a:t>1. After the dealer system confirms the appointment, the booking service records the final state and creates an immutable business event.</a:t>
            </a:r>
          </a:p>
          <a:p>
            <a:r>
              <a:t>2. EventBridge publishes the appointment-confirmed event and SQS buffers notification work, isolating booking from downstream delays.</a:t>
            </a:r>
          </a:p>
          <a:p>
            <a:r>
              <a:t>3. Reliability controls apply retries, dead-letter queues, reconciliation, and audit records so notification failure never rolls back a valid booking.</a:t>
            </a:r>
          </a:p>
          <a:p>
            <a:r>
              <a:t>4. The notification service honors the customer’s channel preferences and uses Amazon SES for email and Amazon SNS for SMS; scheduled events trigger reminders.</a:t>
            </a:r>
          </a:p>
          <a:p>
            <a:r>
              <a:t>5. The customer receives the confirmation immediately and the reminder at the configured time, with no duplicate message when events are retried.</a:t>
            </a:r>
          </a:p>
          <a:p>
            <a:r>
              <a:t>Notification processing is asynchronous and idempotent. Failed deliveries are observable and retryable without creating another appointment.</a:t>
            </a:r>
          </a:p>
          <a:p>
            <a:endParaRPr/>
          </a:p>
          <a:p>
            <a:r>
              <a:t>This is the proposed logical and deployment architecture for the vehicle-service appointment platform.</a:t>
            </a:r>
          </a:p>
          <a:p>
            <a:r>
              <a:t>Customers access a responsive web application through CloudFront and S3, protected by AWS WAF and Shield. Cognito supports registered users, while guest booking remains available.</a:t>
            </a:r>
          </a:p>
          <a:p>
            <a:r>
              <a:t>API Gateway fronts the regional APIs. Step Functions coordinates the booking saga, while bounded domain services handle dealer discovery, vehicle information, availability, booking, and notification.</a:t>
            </a:r>
          </a:p>
          <a:p>
            <a:r>
              <a:t>The cloud stores customer profile and booking workflow state in DynamoDB. A short-lived Valkey cache improves availability browsing but never becomes authoritative for a dealer slot.</a:t>
            </a:r>
          </a:p>
          <a:p>
            <a:r>
              <a:t>The standardized integration layer isolates the platform from three brownfield domains: the on-premises VIN API, mainframe repair history, and independently owned dealer scheduling systems.</a:t>
            </a:r>
          </a:p>
          <a:p>
            <a:r>
              <a:t>Dealer adapters expose a normalized search, hold, confirm, release, reschedule, and cancel contract. The dealer backend remains authoritative for appointment inventory.</a:t>
            </a:r>
          </a:p>
          <a:p>
            <a:r>
              <a:t>EventBridge and SQS decouple notifications and downstream processing. Retries, dead-letter queues, reconciliation, and audit records support graceful recovery.</a:t>
            </a:r>
          </a:p>
          <a:p>
            <a:r>
              <a:t>The primary Region is multi-AZ. A warm-standby Region, replicated state and assets, Route 53 failover, and infrastructure as code provide the disaster-recovery path.</a:t>
            </a:r>
          </a:p>
          <a:p>
            <a:endParaRPr/>
          </a:p>
          <a:p>
            <a:r>
              <a:t>[Sources]</a:t>
            </a:r>
          </a:p>
          <a:p>
            <a:r>
              <a:t>- User-provided auto-dealer appointment case-study requirements.</a:t>
            </a:r>
          </a:p>
          <a:p>
            <a:r>
              <a:t>- User-provided architecture image used as a structural visual reference.</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60454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&amp; COMPLIANCE:</a:t>
            </a:r>
          </a:p>
          <a:p>
            <a:r>
              <a:t>Cognito supports registered customers while guest booking uses a constrained guest context. Dealer personnel federate from enterprise identity and receive dealer-scoped claims.</a:t>
            </a:r>
          </a:p>
          <a:p>
            <a:r>
              <a:t>The client never supplies authoritative dealer scope. The platform derives dealer identity from trusted claims and enforces it in authorization and data access.</a:t>
            </a:r>
          </a:p>
          <a:p>
            <a:r>
              <a:t>AWS WAF and Shield protect the public boundary. Secrets Manager rotates credentials and KMS protects data at rest.</a:t>
            </a:r>
          </a:p>
          <a:p>
            <a:r>
              <a:t>CloudTrail, Security Hub, GuardDuty, and AWS Config provide centralized evidence and findings for operational and compliance review.</a:t>
            </a:r>
          </a:p>
          <a:p>
            <a:endParaRPr/>
          </a:p>
          <a:p>
            <a:r>
              <a:t>[Sources]</a:t>
            </a:r>
          </a:p>
          <a:p>
            <a:r>
              <a:t>- User-provided pasted-text.txt, adapted to the auto-dealer appointment case study.</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custom authorization path used for dealer personnel, legacy tokens, enterprise federation, or route-specific entitlements.</a:t>
            </a:r>
          </a:p>
          <a:p>
            <a:r>
              <a:t>Ordinary customer APIs should use the native Cognito or JWT authorizer when issuer, audience, scopes, and standard claims are sufficient.</a:t>
            </a:r>
          </a:p>
          <a:p>
            <a:r>
              <a:t>API Gateway invokes the Lambda authorizer only when custom logic must derive trusted dealer scope, map nonstandard claims, or enforce complex entitlements.</a:t>
            </a:r>
          </a:p>
          <a:p>
            <a:r>
              <a:t>The authorizer verifies the token and returns an allow or deny policy plus trusted request context such as customer ID, dealer ID, role, and permissions.</a:t>
            </a:r>
          </a:p>
          <a:p>
            <a:r>
              <a:t>Downstream services still enforce resource-level authorization and dealer scope as defense in depth.</a:t>
            </a:r>
          </a:p>
          <a:p>
            <a:r>
              <a:t>Authorizer caching must include the relevant route and tenant context, with a short TTL appropriate for permission changes.</a:t>
            </a:r>
          </a:p>
          <a:p>
            <a:endParaRPr/>
          </a:p>
          <a:p>
            <a:r>
              <a:t>[Sources]</a:t>
            </a:r>
          </a:p>
          <a:p>
            <a:r>
              <a:t>- User-provided auto-dealer case-study requirements.</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AVAILABILITY &amp; SCALABILITY:</a:t>
            </a:r>
          </a:p>
          <a:p>
            <a:r>
              <a:t>API Gateway is the controlled entry point, with CloudFront providing global delivery and AWS WAF protecting common web exploits.</a:t>
            </a:r>
          </a:p>
          <a:p>
            <a:r>
              <a:t>Lambda scales bursty orchestration and notification workloads. ECS services on Fargate scale independently for longer-running adapters and integrations.</a:t>
            </a:r>
          </a:p>
          <a:p>
            <a:r>
              <a:t>Fargate uses ECS Service Auto Scaling; it does not use EC2 Auto Scaling groups.</a:t>
            </a:r>
          </a:p>
          <a:p>
            <a:r>
              <a:t>DynamoDB, SQS, and other managed services provide Multi-AZ resilience. Route 53 supports a tested warm-standby regional recovery path.</a:t>
            </a:r>
          </a:p>
          <a:p>
            <a:r>
              <a:t>Dealer systems retain slot authority. The cloud never converts cached availability into a confirmed appointment without a dealer-side hold and confirmation.</a:t>
            </a:r>
          </a:p>
          <a:p>
            <a:endParaRPr/>
          </a:p>
          <a:p>
            <a:r>
              <a:t>[Sources]</a:t>
            </a:r>
          </a:p>
          <a:p>
            <a:r>
              <a:t>- User-provided pasted-text.txt, adapted to the auto-dealer appointment case study.</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SPEED &amp; PERFORMANCE:</a:t>
            </a:r>
          </a:p>
          <a:p>
            <a:r>
              <a:t>Performance is managed as an end-to-end latency budget rather than a collection of isolated service timings.</a:t>
            </a:r>
          </a:p>
          <a:p>
            <a:r>
              <a:t>CloudFront accelerates static content. Valkey reduces repeated reads for safe, short-lived data such as dealer directories and slot views.</a:t>
            </a:r>
          </a:p>
          <a:p>
            <a:r>
              <a:t>VIN and repair-history calls use strict timeouts and circuit breakers. Repair history enriches service recommendations but does not have to block the journey.</a:t>
            </a:r>
          </a:p>
          <a:p>
            <a:r>
              <a:t>EventBridge and SQS move confirmation messages, reminders, analytics, and reconciliation away from the synchronous booking path.</a:t>
            </a:r>
          </a:p>
          <a:p>
            <a:endParaRPr/>
          </a:p>
          <a:p>
            <a:r>
              <a:t>[Sources]</a:t>
            </a:r>
          </a:p>
          <a:p>
            <a:r>
              <a:t>- User-provided pasted-text.txt, adapted to the auto-dealer appointment case study.</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CONTAINERIZATION:</a:t>
            </a:r>
          </a:p>
          <a:p>
            <a:r>
              <a:t>Containerization is used selectively for dealer, VIN, and mainframe adapters that need stable runtimes, protocol libraries, or controlled connection pools.</a:t>
            </a:r>
          </a:p>
          <a:p>
            <a:r>
              <a:t>Amazon ECR stores immutable images. ECS runs them on Fargate in private subnets across multiple Availability Zones.</a:t>
            </a:r>
          </a:p>
          <a:p>
            <a:r>
              <a:t>Each service scales independently using ECS Service Auto Scaling based on CPU, memory, latency, request rate, or queue depth.</a:t>
            </a:r>
          </a:p>
          <a:p>
            <a:r>
              <a:t>Lambda remains the better fit for short, bursty event handlers such as notifications and reconciliation triggers.</a:t>
            </a:r>
          </a:p>
          <a:p>
            <a:endParaRPr/>
          </a:p>
          <a:p>
            <a:r>
              <a:t>[Sources]</a:t>
            </a:r>
          </a:p>
          <a:p>
            <a:r>
              <a:t>- User-provided pasted-text.txt, adapted to the auto-dealer appointment case study.</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STORAGE &amp; DATA:</a:t>
            </a:r>
          </a:p>
          <a:p>
            <a:r>
              <a:t>DynamoDB stores customer preferences, saved vehicle references, appointment workflow state, and idempotency records at national scale.</a:t>
            </a:r>
          </a:p>
          <a:p>
            <a:r>
              <a:t>S3 stores static application assets and controlled exports with versioning, encryption, and lifecycle policies.</a:t>
            </a:r>
          </a:p>
          <a:p>
            <a:r>
              <a:t>Valkey contains only short-lived read views. It is never the source of truth for a dealer slot.</a:t>
            </a:r>
          </a:p>
          <a:p>
            <a:r>
              <a:t>The on-premises VIN API, mainframe repair history, and dealer scheduling systems remain authoritative and are reached through standardized secured adapters.</a:t>
            </a:r>
          </a:p>
          <a:p>
            <a:endParaRPr/>
          </a:p>
          <a:p>
            <a:r>
              <a:t>[Sources]</a:t>
            </a:r>
          </a:p>
          <a:p>
            <a:r>
              <a:t>- User-provided pasted-text.txt, adapted to the auto-dealer appointment case study.</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MONITORING &amp; OBSERVABILITY:</a:t>
            </a:r>
          </a:p>
          <a:p>
            <a:r>
              <a:t>CloudWatch collects API, Lambda, ECS, queue, and database metrics with structured application logs.</a:t>
            </a:r>
          </a:p>
          <a:p>
            <a:r>
              <a:t>AWS X-Ray traces calls across the API, workflow, services, adapters, and external dependencies using a shared correlation ID.</a:t>
            </a:r>
          </a:p>
          <a:p>
            <a:r>
              <a:t>Dashboards are organized by customer journey and dealer dependency, not only by AWS resource.</a:t>
            </a:r>
          </a:p>
          <a:p>
            <a:r>
              <a:t>Alerts focus on SLO burn, booking failures, dealer dependency health, DLQ growth, and notification delivery.</a:t>
            </a:r>
          </a:p>
          <a:p>
            <a:endParaRPr/>
          </a:p>
          <a:p>
            <a:r>
              <a:t>[Sources]</a:t>
            </a:r>
          </a:p>
          <a:p>
            <a:r>
              <a:t>- User-provided pasted-text.txt, adapted to the auto-dealer appointment case study.</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RESOURCE PROVISIONING:</a:t>
            </a:r>
          </a:p>
          <a:p>
            <a:r>
              <a:t>AWS CDK provides reusable constructs while CloudFormation remains the deployment engine and source of infrastructure state.</a:t>
            </a:r>
          </a:p>
          <a:p>
            <a:r>
              <a:t>Stacks are modular by lifecycle and ownership rather than one template per individual resource.</a:t>
            </a:r>
          </a:p>
          <a:p>
            <a:r>
              <a:t>Pipelines promote the same versioned artifacts through development, QA, and production accounts using controlled cross-account roles.</a:t>
            </a:r>
          </a:p>
          <a:p>
            <a:r>
              <a:t>The disaster-recovery Region is reproducible from code, with restored state and automated DNS failover validated through exercises.</a:t>
            </a:r>
          </a:p>
          <a:p>
            <a:endParaRPr/>
          </a:p>
          <a:p>
            <a:r>
              <a:t>[Sources]</a:t>
            </a:r>
          </a:p>
          <a:p>
            <a:r>
              <a:t>- User-provided pasted-text.txt, adapted to the auto-dealer appointment case study.</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DEPLOYMENT AUTOMATION &amp; QUALITY:</a:t>
            </a:r>
          </a:p>
          <a:p>
            <a:r>
              <a:t>The CI pipeline runs unit, integration, contract, coverage, static-analysis, dependency, container, and infrastructure-as-code checks.</a:t>
            </a:r>
          </a:p>
          <a:p>
            <a:r>
              <a:t>Amazon ECR stores immutable scanned container images. Lambda artifacts and OpenAPI definitions are versioned alongside the release.</a:t>
            </a:r>
          </a:p>
          <a:p>
            <a:r>
              <a:t>CodePipeline promotes the same artifact through environments. Production uses canary or blue/green deployment with synthetic validation and automatic rollback.</a:t>
            </a:r>
          </a:p>
          <a:p>
            <a:r>
              <a:t>Jenkins, SonarQube, Nexus, JUnit, and JavaScript testing tools can be integrated where they are established enterprise standards; the architecture avoids coupling delivery governance to one vendor.</a:t>
            </a:r>
          </a:p>
          <a:p>
            <a:endParaRPr/>
          </a:p>
          <a:p>
            <a:r>
              <a:t>[Sources]</a:t>
            </a:r>
          </a:p>
          <a:p>
            <a:r>
              <a:t>- User-provided pasted-text.txt, adapted to the auto-dealer appointment case study.</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corrected sequence persists the booking intent and idempotency key before any dealer-side mutation.</a:t>
            </a:r>
          </a:p>
          <a:p>
            <a:r>
              <a:t>The customer first browses a short-lived slot view. The platform then creates a stable booking intent and stores it in DynamoDB using a conditional write.</a:t>
            </a:r>
          </a:p>
          <a:p>
            <a:r>
              <a:t>The dealer hold request carries that same idempotency key. The dealer backend remains authoritative and returns a hold token, slot identity, and expiration.</a:t>
            </a:r>
          </a:p>
          <a:p>
            <a:r>
              <a:t>The platform confirms the held slot. A known success advances to confirmed state. An explicit rejection releases the hold.</a:t>
            </a:r>
          </a:p>
          <a:p>
            <a:r>
              <a:t>A timeout or lost response is an unknown outcome and branches to reconciliation. The platform queries the dealer system using the idempotency key or hold token before deciding whether to confirm locally or compensate.</a:t>
            </a:r>
          </a:p>
          <a:p>
            <a:r>
              <a:t>The cloud never confirms an appointment from cached availability alone.</a:t>
            </a:r>
          </a:p>
          <a:p>
            <a:endParaRPr/>
          </a:p>
          <a:p>
            <a:r>
              <a:t>[Sources]</a:t>
            </a:r>
          </a:p>
          <a:p>
            <a:r>
              <a:t>- User-provided auto-dealer case-study requirements.</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platform-only availability SLO is 99.95 percent per month. End-to-end booking success is measured separately because confirmation depends on independently operated dealer systems.</a:t>
            </a:r>
          </a:p>
          <a:p>
            <a:r>
              <a:t>The proposed regional RTO is sixty minutes and the booking/profile RPO is five minutes. These are interview assumptions requiring business validation.</a:t>
            </a:r>
          </a:p>
          <a:p>
            <a:r>
              <a:t>Normal operation uses one writable Region. During failover, an ownership epoch or regional write lease is advanced and the former primary is fenced before the secondary accepts booking writes.</a:t>
            </a:r>
          </a:p>
          <a:p>
            <a:r>
              <a:t>Every conditional booking update carries the current ownership epoch and workflow version, preventing stale writes from a recovering former primary.</a:t>
            </a:r>
          </a:p>
          <a:p>
            <a:r>
              <a:t>DynamoDB Global Tables replicate state continuously, S3 uses cross-Region replication, Secrets Manager replicates regional secrets, and infrastructure is recreated from code.</a:t>
            </a:r>
          </a:p>
          <a:p>
            <a:r>
              <a:t>When dealer connectivity is unavailable from the recovery Region, the platform preserves customer intent and selections but does not issue an appointment confirmation.</a:t>
            </a:r>
          </a:p>
          <a:p>
            <a:r>
              <a:t>Quarterly game days validate components, and an annual exercise performs full failover and controlled failback.</a:t>
            </a:r>
          </a:p>
          <a:p>
            <a:endParaRPr/>
          </a:p>
          <a:p>
            <a:r>
              <a:t>[Sources]</a:t>
            </a:r>
          </a:p>
          <a:p>
            <a:r>
              <a:t>- User-provided auto-dealer case-study requirements.</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now compares complete architecture combinations rather than mixing compute choices with regional recovery choices.</a:t>
            </a:r>
          </a:p>
          <a:p>
            <a:r>
              <a:t>The relative cost indices are directional planning assumptions.</a:t>
            </a:r>
          </a:p>
          <a:p>
            <a:r>
              <a:t>Lambda-only in a single Region has the lowest idle cost but may be a poor fit for persistent dealer and mainframe adapters.</a:t>
            </a:r>
          </a:p>
          <a:p>
            <a:r>
              <a:t>The hybrid single-Region option adds Fargate baseline capacity for stable runtimes, protocol libraries, and connection pools.</a:t>
            </a:r>
          </a:p>
          <a:p>
            <a:r>
              <a:t>The recommended option combines hybrid compute with a warm-standby Region, providing a balanced recovery posture without active-active conflict complexity.</a:t>
            </a:r>
          </a:p>
          <a:p>
            <a:r>
              <a:t>Hybrid active-active has the highest run rate and requires robust single-writer control for dealer inventory.</a:t>
            </a:r>
          </a:p>
          <a:p>
            <a:r>
              <a:t>A detailed estimate should be built from transaction volume, Lambda duration, Fargate minimum tasks, DynamoDB access, messaging, observability retention, private connectivity, and replication.</a:t>
            </a:r>
          </a:p>
          <a:p>
            <a:endParaRPr/>
          </a:p>
          <a:p>
            <a:r>
              <a:t>[Sources]</a:t>
            </a:r>
          </a:p>
          <a:p>
            <a:r>
              <a:t>- User-provided auto-dealer architecture requirements and planning assumptions.</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thirty-four-week estimate covers the platform foundation, representative adapter validation, booking hardening, disaster-recovery exercise, and the first controlled rollout wave.</a:t>
            </a:r>
          </a:p>
          <a:p>
            <a:r>
              <a:t>It does not assume that 2,500 dealer integrations are individually engineered within six weeks.</a:t>
            </a:r>
          </a:p>
          <a:p>
            <a:r>
              <a:t>National expansion proceeds by certified DMS and adapter cohort. Each cohort must pass connectivity, contract, time-zone, business-rule, reconciliation, observability, and support-readiness gates.</a:t>
            </a:r>
          </a:p>
          <a:p>
            <a:r>
              <a:t>Phase 3 proves the normalized search and hold contract across at least three representative DMS families.</a:t>
            </a:r>
          </a:p>
          <a:p>
            <a:r>
              <a:t>Phase 4 validates idempotent booking and uncertain-outcome reconciliation through failure testing before expansion.</a:t>
            </a:r>
          </a:p>
          <a:p>
            <a:r>
              <a:t>Phase 5 validates RTO/RPO and launches the first five-hundred-dealer wave. Subsequent cohorts scale to 2,500 or more dealerships using the certified onboarding process.</a:t>
            </a:r>
          </a:p>
          <a:p>
            <a:r>
              <a:t>Native Cognito or JWT authorization remains the default for ordinary customer APIs. Lambda authorizers are reserved for dealer isolation, legacy tokens, enterprise IdP mapping, and custom entitlements.</a:t>
            </a:r>
          </a:p>
          <a:p>
            <a:r>
              <a:t>Downstream services enforce resource and dealer scope as defense in depth.</a:t>
            </a:r>
          </a:p>
          <a:p>
            <a:endParaRPr/>
          </a:p>
          <a:p>
            <a:r>
              <a:t>[Sources]</a:t>
            </a:r>
          </a:p>
          <a:p>
            <a:r>
              <a:t>- User-provided auto-dealer architecture requirements and planning assumptions.</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a dealer has no native hold operation, the platform does not pretend that a DynamoDB lock reserves dealer inventory.</a:t>
            </a:r>
          </a:p>
          <a:p>
            <a:r>
              <a:t>The booking intent and idempotency key are persisted first. A conditional platform guard then serializes requests originating from this cloud channel.</a:t>
            </a:r>
          </a:p>
          <a:p>
            <a:r>
              <a:t>The integration adapter invokes the dealer's most atomic create-if-available operation. Confirmation is returned only when the dealer responds with an appointment identifier or the success can be independently verified.</a:t>
            </a:r>
          </a:p>
          <a:p>
            <a:r>
              <a:t>If the create response times out, the outcome becomes unknown and follows the reconciliation process shown in Appendix A3.</a:t>
            </a:r>
          </a:p>
          <a:p>
            <a:r>
              <a:t>The platform guard expires through a Step Functions timer and DynamoDB TTL. If a dealer-side object was created, the adapter sends a compensating cancellation when the dealer supports it.</a:t>
            </a:r>
          </a:p>
          <a:p>
            <a:r>
              <a:t>Residual risk remains because local dealer personnel or another channel may take the slot outside the cloud platform. The authoritative dealer response resolves that race.</a:t>
            </a:r>
          </a:p>
          <a:p>
            <a:endParaRPr/>
          </a:p>
          <a:p>
            <a:r>
              <a:t>[Sources]</a:t>
            </a:r>
          </a:p>
          <a:p>
            <a:r>
              <a:t>- User-provided auto-dealer case-study requirements and architectural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idempotency key is stable for the logical customer booking request.</a:t>
            </a:r>
          </a:p>
          <a:p>
            <a:r>
              <a:t>It enters through the client or booking API, is stored with the DynamoDB booking intent, and is reused unchanged by Step Functions, every retry, the dealer adapter, reconciliation, logs, and notifications.</a:t>
            </a:r>
          </a:p>
          <a:p>
            <a:r>
              <a:t>A repeated click or network retry finds the existing booking intent using a conditional write and returns its current workflow state.</a:t>
            </a:r>
          </a:p>
          <a:p>
            <a:r>
              <a:t>For two distinct customers competing for the same dealer slot, a conditional slot claim admits one request from this platform. The losing request refreshes availability and offers alternatives.</a:t>
            </a:r>
          </a:p>
          <a:p>
            <a:r>
              <a:t>The dealer remains the final authority. The platform winner may still lose to an out-of-band dealer booking and is confirmed only after the dealer accepts it.</a:t>
            </a:r>
          </a:p>
          <a:p>
            <a:r>
              <a:t>If the dealer lacks native idempotency, the adapter maintains a durable deduplication ledger and attempts a lookup before any retry. An uncertain create is never repeated blindly.</a:t>
            </a:r>
          </a:p>
          <a:p>
            <a:endParaRPr/>
          </a:p>
          <a:p>
            <a:r>
              <a:t>[Sources]</a:t>
            </a:r>
          </a:p>
          <a:p>
            <a:r>
              <a:t>- User-provided auto-dealer case-study requirements and architectural assumptions.</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timeout or lost response is not treated as a failure because the dealer may have completed the appointment creation.</a:t>
            </a:r>
          </a:p>
          <a:p>
            <a:r>
              <a:rPr dirty="0"/>
              <a:t>The workflow moves to UNKNOWN and the customer sees a pending confirmation message rather than success or failure.</a:t>
            </a:r>
          </a:p>
          <a:p>
            <a:r>
              <a:rPr dirty="0"/>
              <a:t>A reconciliation worker queries the dealer using the same idempotency or correlation key and, where necessary, customer, VIN, dealer, and appointment time.</a:t>
            </a:r>
          </a:p>
          <a:p>
            <a:r>
              <a:rPr dirty="0"/>
              <a:t>If a dealer appointment is found, the workflow records the dealer appointment ID and confirms. If the dealer definitively reports that nothing was created, the platform releases its claim and offers fresh availability.</a:t>
            </a:r>
          </a:p>
          <a:p>
            <a:r>
              <a:rPr dirty="0"/>
              <a:t>If the result remains unverifiable, retries are bounded and use backoff. At the operational SLA the workflow is </a:t>
            </a:r>
            <a:r>
              <a:rPr lang="en-US" dirty="0"/>
              <a:t>quarantined,</a:t>
            </a:r>
            <a:r>
              <a:rPr dirty="0"/>
              <a:t> and an operations case is opened with the complete audit trail.</a:t>
            </a:r>
          </a:p>
          <a:p>
            <a:r>
              <a:rPr dirty="0"/>
              <a:t>Step Functions owns abandoned-hold timing. It sends a compensating cancellation when supported and expires the local claim. A native dealer hold also expires under dealer-controlled TTL.</a:t>
            </a:r>
          </a:p>
          <a:p>
            <a:r>
              <a:rPr dirty="0"/>
              <a:t>An unresolved case is never auto-confirmed, silently failed, or automatically rebooked because any of those actions can create duplicate appointments.</a:t>
            </a:r>
          </a:p>
          <a:p>
            <a:endParaRPr dirty="0"/>
          </a:p>
          <a:p>
            <a:r>
              <a:rPr dirty="0"/>
              <a:t>[Sources]</a:t>
            </a:r>
          </a:p>
          <a:p>
            <a:r>
              <a:rPr dirty="0"/>
              <a:t>- User-provided auto-dealer case-study requirements and architectural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groups the customer-facing security, custom dealer authorization, availability, scalability, and performance decisions.</a:t>
            </a:r>
          </a:p>
          <a:p>
            <a:r>
              <a:t>The table should be presented as a rationale for service selection rather than as an inventory of AWS products.</a:t>
            </a:r>
          </a:p>
          <a:p>
            <a:r>
              <a:t>Emphasize that native JWT authorization remains the customer default, the Lambda authorizer is a targeted dealer and legacy path, and cached availability never becomes booking authority.</a:t>
            </a:r>
          </a:p>
          <a:p>
            <a:endParaRPr/>
          </a:p>
          <a:p>
            <a:r>
              <a:t>[Sources]</a:t>
            </a:r>
          </a:p>
          <a:p>
            <a:r>
              <a:t>- User-provided AutoDealerCasestudy-02.pptx architecture-topic slides.</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groups the integration runtime, data, operational visibility, infrastructure provisioning, and delivery-quality decisions.</a:t>
            </a:r>
          </a:p>
          <a:p>
            <a:r>
              <a:t>The table should be presented as a rationale for service selection rather than as an inventory of AWS products.</a:t>
            </a:r>
          </a:p>
          <a:p>
            <a:r>
              <a:t>Emphasize the deliberate Lambda-versus-Fargate boundary, infrastructure as code, automated quality gates, and the dealer system's continued authority over appointment inventory.</a:t>
            </a:r>
          </a:p>
          <a:p>
            <a:endParaRPr/>
          </a:p>
          <a:p>
            <a:r>
              <a:t>[Sources]</a:t>
            </a:r>
          </a:p>
          <a:p>
            <a:r>
              <a:t>- User-provided AutoDealerCasestudy-02.pptx architecture-topic slides.</a:t>
            </a:r>
          </a:p>
          <a:p>
            <a:r>
              <a:t>- AWS Architecture Icons: https://aws.amazon.com/architecture/icons/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9E09D-3CCD-FA0D-BBD9-BCD72A86D0D3}"/>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1EA5D22F-0004-7792-0577-DADD818E83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8004756B-F208-84D2-F951-1A13C08EE7B3}"/>
              </a:ext>
            </a:extLst>
          </p:cNvPr>
          <p:cNvSpPr>
            <a:spLocks noGrp="1"/>
          </p:cNvSpPr>
          <p:nvPr>
            <p:ph type="dt" idx="10"/>
          </p:nvPr>
        </p:nvSpPr>
        <p:spPr/>
        <p:txBody>
          <a:bodyPr/>
          <a:lstStyle/>
          <a:p>
            <a:fld id="{4760ED48-7841-4CE2-BCE9-244F26448C1B}" type="datetimeFigureOut">
              <a:t>7/29/2026</a:t>
            </a:fld>
            <a:endParaRPr/>
          </a:p>
        </p:txBody>
      </p:sp>
      <p:sp>
        <p:nvSpPr>
          <p:cNvPr id="5" name="Footer Placeholder 4">
            <a:extLst>
              <a:ext uri="{FF2B5EF4-FFF2-40B4-BE49-F238E27FC236}">
                <a16:creationId xmlns:a16="http://schemas.microsoft.com/office/drawing/2014/main" id="{E2382AD1-735A-4BAC-4415-9427C071602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AA1CA2D-A2D5-BD72-D606-74A542C07EB4}"/>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E8ED-C878-F0A6-9A02-6A8B3C2519C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054D06D-D955-BE89-19F3-738CF8BBD99D}"/>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47EBE35-66CB-87D7-CEBB-00A56BB474D3}"/>
              </a:ext>
            </a:extLst>
          </p:cNvPr>
          <p:cNvSpPr>
            <a:spLocks noGrp="1"/>
          </p:cNvSpPr>
          <p:nvPr>
            <p:ph type="dt" idx="10"/>
          </p:nvPr>
        </p:nvSpPr>
        <p:spPr/>
        <p:txBody>
          <a:bodyPr/>
          <a:lstStyle/>
          <a:p>
            <a:fld id="{4760ED48-7841-4CE2-BCE9-244F26448C1B}" type="datetimeFigureOut">
              <a:t>7/29/2026</a:t>
            </a:fld>
            <a:endParaRPr/>
          </a:p>
        </p:txBody>
      </p:sp>
      <p:sp>
        <p:nvSpPr>
          <p:cNvPr id="5" name="Footer Placeholder 4">
            <a:extLst>
              <a:ext uri="{FF2B5EF4-FFF2-40B4-BE49-F238E27FC236}">
                <a16:creationId xmlns:a16="http://schemas.microsoft.com/office/drawing/2014/main" id="{A6FD7F4D-0D15-6C99-7114-2173C5B0AAE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A2FE217-20F2-386D-1BE3-DE9FE7362BF7}"/>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F1A2A-F2E6-9F79-D0FA-E167B2C672F1}"/>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01138D8F-A975-CBA1-7E8D-208C0C69C3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3D5F4CE7-3484-AA2D-E16F-9A367A29E542}"/>
              </a:ext>
            </a:extLst>
          </p:cNvPr>
          <p:cNvSpPr>
            <a:spLocks noGrp="1"/>
          </p:cNvSpPr>
          <p:nvPr>
            <p:ph type="dt" idx="10"/>
          </p:nvPr>
        </p:nvSpPr>
        <p:spPr/>
        <p:txBody>
          <a:bodyPr/>
          <a:lstStyle/>
          <a:p>
            <a:fld id="{4760ED48-7841-4CE2-BCE9-244F26448C1B}" type="datetimeFigureOut">
              <a:t>7/29/2026</a:t>
            </a:fld>
            <a:endParaRPr/>
          </a:p>
        </p:txBody>
      </p:sp>
      <p:sp>
        <p:nvSpPr>
          <p:cNvPr id="5" name="Footer Placeholder 4">
            <a:extLst>
              <a:ext uri="{FF2B5EF4-FFF2-40B4-BE49-F238E27FC236}">
                <a16:creationId xmlns:a16="http://schemas.microsoft.com/office/drawing/2014/main" id="{1C524CDF-7209-D379-8A56-BD22ED45F8F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EB2FCCC-0165-BAE2-659D-F3B874731960}"/>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8941E-EC16-251E-6CF9-CF36DD521D21}"/>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FC74B92-A942-58D1-13FA-C922CB314CD8}"/>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B7B140A2-569B-E885-D95B-304FCA275282}"/>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02825938-69F6-6799-DA57-95206FFE6183}"/>
              </a:ext>
            </a:extLst>
          </p:cNvPr>
          <p:cNvSpPr>
            <a:spLocks noGrp="1"/>
          </p:cNvSpPr>
          <p:nvPr>
            <p:ph type="dt" idx="10"/>
          </p:nvPr>
        </p:nvSpPr>
        <p:spPr/>
        <p:txBody>
          <a:bodyPr/>
          <a:lstStyle/>
          <a:p>
            <a:fld id="{4760ED48-7841-4CE2-BCE9-244F26448C1B}" type="datetimeFigureOut">
              <a:t>7/29/2026</a:t>
            </a:fld>
            <a:endParaRPr/>
          </a:p>
        </p:txBody>
      </p:sp>
      <p:sp>
        <p:nvSpPr>
          <p:cNvPr id="6" name="Footer Placeholder 5">
            <a:extLst>
              <a:ext uri="{FF2B5EF4-FFF2-40B4-BE49-F238E27FC236}">
                <a16:creationId xmlns:a16="http://schemas.microsoft.com/office/drawing/2014/main" id="{ED457537-E96E-98A0-0D22-3E71B541E7D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F20DFB7-2FB4-0020-9288-7639C09C9970}"/>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9AF30-E238-08E2-BDAB-62882887778B}"/>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49CEA01A-3CD9-0ADD-CA05-8608012C57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83538420-024B-318D-7171-659FD950E2F6}"/>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A5FDF588-C40C-237D-0410-A596F53A6743}"/>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FD38E046-E15B-16AE-964B-F70D98D7AD79}"/>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4E951EA9-4478-C63D-207A-4A42BCE76830}"/>
              </a:ext>
            </a:extLst>
          </p:cNvPr>
          <p:cNvSpPr>
            <a:spLocks noGrp="1"/>
          </p:cNvSpPr>
          <p:nvPr>
            <p:ph type="dt" idx="10"/>
          </p:nvPr>
        </p:nvSpPr>
        <p:spPr/>
        <p:txBody>
          <a:bodyPr/>
          <a:lstStyle/>
          <a:p>
            <a:fld id="{4760ED48-7841-4CE2-BCE9-244F26448C1B}" type="datetimeFigureOut">
              <a:t>7/29/2026</a:t>
            </a:fld>
            <a:endParaRPr/>
          </a:p>
        </p:txBody>
      </p:sp>
      <p:sp>
        <p:nvSpPr>
          <p:cNvPr id="8" name="Footer Placeholder 7">
            <a:extLst>
              <a:ext uri="{FF2B5EF4-FFF2-40B4-BE49-F238E27FC236}">
                <a16:creationId xmlns:a16="http://schemas.microsoft.com/office/drawing/2014/main" id="{C17FE561-E9D1-C6AD-139C-9055DE80741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2A7E0B9-5026-868A-C181-75B33E2B7D08}"/>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7E4A-E14E-2952-DCBE-FE4D594E2CFB}"/>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0EAF5BB4-630F-A96A-38D9-AA08274152E3}"/>
              </a:ext>
            </a:extLst>
          </p:cNvPr>
          <p:cNvSpPr>
            <a:spLocks noGrp="1"/>
          </p:cNvSpPr>
          <p:nvPr>
            <p:ph type="dt" idx="10"/>
          </p:nvPr>
        </p:nvSpPr>
        <p:spPr/>
        <p:txBody>
          <a:bodyPr/>
          <a:lstStyle/>
          <a:p>
            <a:fld id="{4760ED48-7841-4CE2-BCE9-244F26448C1B}" type="datetimeFigureOut">
              <a:t>7/29/2026</a:t>
            </a:fld>
            <a:endParaRPr/>
          </a:p>
        </p:txBody>
      </p:sp>
      <p:sp>
        <p:nvSpPr>
          <p:cNvPr id="4" name="Footer Placeholder 3">
            <a:extLst>
              <a:ext uri="{FF2B5EF4-FFF2-40B4-BE49-F238E27FC236}">
                <a16:creationId xmlns:a16="http://schemas.microsoft.com/office/drawing/2014/main" id="{0363070A-F3DF-5E8B-512D-5797C00EBC5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1877952E-E0F3-A3F8-1DFE-77A49988EBF3}"/>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3213F-0111-1DAE-316F-00AD8A3AFB25}"/>
              </a:ext>
            </a:extLst>
          </p:cNvPr>
          <p:cNvSpPr>
            <a:spLocks noGrp="1"/>
          </p:cNvSpPr>
          <p:nvPr>
            <p:ph type="dt" idx="10"/>
          </p:nvPr>
        </p:nvSpPr>
        <p:spPr/>
        <p:txBody>
          <a:bodyPr/>
          <a:lstStyle/>
          <a:p>
            <a:fld id="{4760ED48-7841-4CE2-BCE9-244F26448C1B}" type="datetimeFigureOut">
              <a:t>7/29/2026</a:t>
            </a:fld>
            <a:endParaRPr/>
          </a:p>
        </p:txBody>
      </p:sp>
      <p:sp>
        <p:nvSpPr>
          <p:cNvPr id="3" name="Footer Placeholder 2">
            <a:extLst>
              <a:ext uri="{FF2B5EF4-FFF2-40B4-BE49-F238E27FC236}">
                <a16:creationId xmlns:a16="http://schemas.microsoft.com/office/drawing/2014/main" id="{0EFEDD52-18C8-9708-7FB1-1FBE2C4E2FE3}"/>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C54C6121-BEA2-A960-749B-1A399CDC8719}"/>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87A5-400C-92B8-AC4D-A8EA7AED1A6F}"/>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89DF82B9-5324-0259-64EE-109FE34BA6AA}"/>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D8B4BE0F-3BAA-F807-F392-001E7C54A0B0}"/>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866F4F3A-42BD-AC57-40D7-86E878EDB8E8}"/>
              </a:ext>
            </a:extLst>
          </p:cNvPr>
          <p:cNvSpPr>
            <a:spLocks noGrp="1"/>
          </p:cNvSpPr>
          <p:nvPr>
            <p:ph type="dt" idx="10"/>
          </p:nvPr>
        </p:nvSpPr>
        <p:spPr/>
        <p:txBody>
          <a:bodyPr/>
          <a:lstStyle/>
          <a:p>
            <a:fld id="{4760ED48-7841-4CE2-BCE9-244F26448C1B}" type="datetimeFigureOut">
              <a:t>7/29/2026</a:t>
            </a:fld>
            <a:endParaRPr/>
          </a:p>
        </p:txBody>
      </p:sp>
      <p:sp>
        <p:nvSpPr>
          <p:cNvPr id="6" name="Footer Placeholder 5">
            <a:extLst>
              <a:ext uri="{FF2B5EF4-FFF2-40B4-BE49-F238E27FC236}">
                <a16:creationId xmlns:a16="http://schemas.microsoft.com/office/drawing/2014/main" id="{DD4C9849-2F4F-A134-ECE8-C7986995A41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3A6D65F-7883-4426-43BF-AF8A0F6D0914}"/>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1F7B9-2C67-4878-7643-A691343F47A6}"/>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20EA519D-89D2-8910-9A94-EA29E64E88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ED6BA6D2-3E3D-ACB1-E7D3-64CB2C646F6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5DA28D57-112D-5AC4-51D1-AB7BDD6904FC}"/>
              </a:ext>
            </a:extLst>
          </p:cNvPr>
          <p:cNvSpPr>
            <a:spLocks noGrp="1"/>
          </p:cNvSpPr>
          <p:nvPr>
            <p:ph type="dt" idx="10"/>
          </p:nvPr>
        </p:nvSpPr>
        <p:spPr/>
        <p:txBody>
          <a:bodyPr/>
          <a:lstStyle/>
          <a:p>
            <a:fld id="{4760ED48-7841-4CE2-BCE9-244F26448C1B}" type="datetimeFigureOut">
              <a:t>7/29/2026</a:t>
            </a:fld>
            <a:endParaRPr/>
          </a:p>
        </p:txBody>
      </p:sp>
      <p:sp>
        <p:nvSpPr>
          <p:cNvPr id="6" name="Footer Placeholder 5">
            <a:extLst>
              <a:ext uri="{FF2B5EF4-FFF2-40B4-BE49-F238E27FC236}">
                <a16:creationId xmlns:a16="http://schemas.microsoft.com/office/drawing/2014/main" id="{3210A70C-7305-C6EB-14B2-36E902E0116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0171C8B-341A-5A87-83D8-81700D941682}"/>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357C-652C-C7AF-EE51-47C6A5E67C44}"/>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BC2236AF-9DA3-60F2-BD9A-B195714D1A66}"/>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FDAC865-1102-3174-E80C-A892647233E0}"/>
              </a:ext>
            </a:extLst>
          </p:cNvPr>
          <p:cNvSpPr>
            <a:spLocks noGrp="1"/>
          </p:cNvSpPr>
          <p:nvPr>
            <p:ph type="dt" idx="10"/>
          </p:nvPr>
        </p:nvSpPr>
        <p:spPr/>
        <p:txBody>
          <a:bodyPr/>
          <a:lstStyle/>
          <a:p>
            <a:fld id="{4760ED48-7841-4CE2-BCE9-244F26448C1B}" type="datetimeFigureOut">
              <a:t>7/29/2026</a:t>
            </a:fld>
            <a:endParaRPr/>
          </a:p>
        </p:txBody>
      </p:sp>
      <p:sp>
        <p:nvSpPr>
          <p:cNvPr id="5" name="Footer Placeholder 4">
            <a:extLst>
              <a:ext uri="{FF2B5EF4-FFF2-40B4-BE49-F238E27FC236}">
                <a16:creationId xmlns:a16="http://schemas.microsoft.com/office/drawing/2014/main" id="{6B306D8E-BAD4-7BA6-E394-B4D9AFEAEDA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D6F647D-92B2-0459-DDE7-CF6014ECD8A6}"/>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A53080-D33A-735E-1534-CDA9AED68EE7}"/>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DD02F8A2-A14B-114F-49A3-BAC473283C57}"/>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4EF9732-69DA-DD52-046E-31E20A2763C0}"/>
              </a:ext>
            </a:extLst>
          </p:cNvPr>
          <p:cNvSpPr>
            <a:spLocks noGrp="1"/>
          </p:cNvSpPr>
          <p:nvPr>
            <p:ph type="dt" idx="10"/>
          </p:nvPr>
        </p:nvSpPr>
        <p:spPr/>
        <p:txBody>
          <a:bodyPr/>
          <a:lstStyle/>
          <a:p>
            <a:fld id="{4760ED48-7841-4CE2-BCE9-244F26448C1B}" type="datetimeFigureOut">
              <a:t>7/29/2026</a:t>
            </a:fld>
            <a:endParaRPr/>
          </a:p>
        </p:txBody>
      </p:sp>
      <p:sp>
        <p:nvSpPr>
          <p:cNvPr id="5" name="Footer Placeholder 4">
            <a:extLst>
              <a:ext uri="{FF2B5EF4-FFF2-40B4-BE49-F238E27FC236}">
                <a16:creationId xmlns:a16="http://schemas.microsoft.com/office/drawing/2014/main" id="{83CAFB4A-21B7-BB83-B494-460A5F46834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91E830-EF7E-8AD1-8C05-44DDF5EB6E69}"/>
              </a:ext>
            </a:extLst>
          </p:cNvPr>
          <p:cNvSpPr>
            <a:spLocks noGrp="1"/>
          </p:cNvSpPr>
          <p:nvPr>
            <p:ph type="sldNum" idx="12"/>
          </p:nvPr>
        </p:nvSpPr>
        <p:spPr/>
        <p:txBody>
          <a:bodyPr/>
          <a:lstStyle/>
          <a:p>
            <a:fld id="{56CEE5E7-8E53-4A9D-AE17-D2893F2D254C}"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19DBC5-C639-13D7-54C7-42D38FF8F256}"/>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74C56D7-83FB-259B-BB15-D628B6EA937C}"/>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0A1787-B000-76A3-CA7B-07DB8BE4628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4760ED48-7841-4CE2-BCE9-244F26448C1B}" type="datetimeFigureOut">
              <a:t>7/29/2026</a:t>
            </a:fld>
            <a:endParaRPr/>
          </a:p>
        </p:txBody>
      </p:sp>
      <p:sp>
        <p:nvSpPr>
          <p:cNvPr id="5" name="Footer Placeholder 4">
            <a:extLst>
              <a:ext uri="{FF2B5EF4-FFF2-40B4-BE49-F238E27FC236}">
                <a16:creationId xmlns:a16="http://schemas.microsoft.com/office/drawing/2014/main" id="{23AA8D77-7AEF-F557-4F56-B628E153BE3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38C54E2F-29DE-5D63-A348-81C74BFC761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56CEE5E7-8E53-4A9D-AE17-D2893F2D254C}"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5.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10"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8.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9.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0.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2.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png"/><Relationship Id="rId11" Type="http://schemas.openxmlformats.org/officeDocument/2006/relationships/image" Target="../media/image23.png"/><Relationship Id="rId5" Type="http://schemas.openxmlformats.org/officeDocument/2006/relationships/image" Target="../media/image9.png"/><Relationship Id="rId10" Type="http://schemas.openxmlformats.org/officeDocument/2006/relationships/image" Target="../media/image5.png"/><Relationship Id="rId4" Type="http://schemas.openxmlformats.org/officeDocument/2006/relationships/image" Target="../media/image21.png"/><Relationship Id="rId9"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6.png"/><Relationship Id="rId7"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1.png"/><Relationship Id="rId11" Type="http://schemas.openxmlformats.org/officeDocument/2006/relationships/image" Target="../media/image19.png"/><Relationship Id="rId5" Type="http://schemas.openxmlformats.org/officeDocument/2006/relationships/image" Target="../media/image9.png"/><Relationship Id="rId10" Type="http://schemas.openxmlformats.org/officeDocument/2006/relationships/image" Target="../media/image16.png"/><Relationship Id="rId4" Type="http://schemas.openxmlformats.org/officeDocument/2006/relationships/image" Target="../media/image1.png"/><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4.png"/><Relationship Id="rId11" Type="http://schemas.openxmlformats.org/officeDocument/2006/relationships/image" Target="../media/image4.png"/><Relationship Id="rId5" Type="http://schemas.openxmlformats.org/officeDocument/2006/relationships/image" Target="../media/image9.png"/><Relationship Id="rId10"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5.png"/></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24.png"/><Relationship Id="rId10" Type="http://schemas.openxmlformats.org/officeDocument/2006/relationships/image" Target="../media/image4.png"/><Relationship Id="rId4" Type="http://schemas.openxmlformats.org/officeDocument/2006/relationships/image" Target="../media/image26.png"/><Relationship Id="rId9" Type="http://schemas.openxmlformats.org/officeDocument/2006/relationships/image" Target="../media/image16.png"/></Relationships>
</file>

<file path=ppt/slides/_rels/slide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27.png"/><Relationship Id="rId4" Type="http://schemas.openxmlformats.org/officeDocument/2006/relationships/image" Target="../media/image28.png"/><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png"/><Relationship Id="rId7"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32.png"/><Relationship Id="rId4" Type="http://schemas.openxmlformats.org/officeDocument/2006/relationships/image" Target="../media/image30.png"/><Relationship Id="rId9" Type="http://schemas.openxmlformats.org/officeDocument/2006/relationships/image" Target="../media/image5.png"/></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3.png"/><Relationship Id="rId7"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35.png"/><Relationship Id="rId10" Type="http://schemas.openxmlformats.org/officeDocument/2006/relationships/image" Target="../media/image7.png"/><Relationship Id="rId4" Type="http://schemas.openxmlformats.org/officeDocument/2006/relationships/image" Target="../media/image34.png"/><Relationship Id="rId9" Type="http://schemas.openxmlformats.org/officeDocument/2006/relationships/image" Target="../media/image28.png"/></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5.png"/><Relationship Id="rId7"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image" Target="../media/image19.png"/><Relationship Id="rId5" Type="http://schemas.openxmlformats.org/officeDocument/2006/relationships/image" Target="../media/image9.png"/><Relationship Id="rId10" Type="http://schemas.openxmlformats.org/officeDocument/2006/relationships/image" Target="../media/image4.png"/><Relationship Id="rId4" Type="http://schemas.openxmlformats.org/officeDocument/2006/relationships/image" Target="../media/image11.png"/><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9.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9.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BB094-EC56-AB5F-8F34-F0CB1D210706}"/>
              </a:ext>
            </a:extLst>
          </p:cNvPr>
          <p:cNvSpPr>
            <a:spLocks noGrp="1"/>
          </p:cNvSpPr>
          <p:nvPr>
            <p:ph type="ctrTitle"/>
          </p:nvPr>
        </p:nvSpPr>
        <p:spPr/>
        <p:txBody>
          <a:bodyPr/>
          <a:lstStyle/>
          <a:p>
            <a:r>
              <a:t>Vehicle Service Appointment Platform</a:t>
            </a:r>
          </a:p>
        </p:txBody>
      </p:sp>
      <p:sp>
        <p:nvSpPr>
          <p:cNvPr id="3" name="Subtitle 2">
            <a:extLst>
              <a:ext uri="{FF2B5EF4-FFF2-40B4-BE49-F238E27FC236}">
                <a16:creationId xmlns:a16="http://schemas.microsoft.com/office/drawing/2014/main" id="{C9C6FEC4-CC2A-A8E2-29AA-ED4F2351F6DB}"/>
              </a:ext>
            </a:extLst>
          </p:cNvPr>
          <p:cNvSpPr>
            <a:spLocks noGrp="1"/>
          </p:cNvSpPr>
          <p:nvPr>
            <p:ph type="subTitle" idx="1"/>
          </p:nvPr>
        </p:nvSpPr>
        <p:spPr>
          <a:xfrm>
            <a:off x="1317523" y="3602038"/>
            <a:ext cx="9350477" cy="458685"/>
          </a:xfrm>
        </p:spPr>
        <p:txBody>
          <a:bodyPr/>
          <a:lstStyle/>
          <a:p>
            <a:r>
              <a:t>Brownfield AWS Architecture for 2,500+ North American Dealerships</a:t>
            </a:r>
          </a:p>
        </p:txBody>
      </p:sp>
      <p:sp>
        <p:nvSpPr>
          <p:cNvPr id="5" name="TextBox 4">
            <a:extLst>
              <a:ext uri="{FF2B5EF4-FFF2-40B4-BE49-F238E27FC236}">
                <a16:creationId xmlns:a16="http://schemas.microsoft.com/office/drawing/2014/main" id="{80E56AA4-6F4E-350F-2F7F-EEBDA1EA9EFB}"/>
              </a:ext>
            </a:extLst>
          </p:cNvPr>
          <p:cNvSpPr>
            <a:spLocks noGrp="1"/>
          </p:cNvSpPr>
          <p:nvPr/>
        </p:nvSpPr>
        <p:spPr>
          <a:xfrm>
            <a:off x="1317523" y="4347158"/>
            <a:ext cx="9566787" cy="369332"/>
          </a:xfrm>
          <a:prstGeom prst="rect">
            <a:avLst/>
          </a:prstGeom>
          <a:noFill/>
        </p:spPr>
        <p:txBody>
          <a:bodyPr wrap="square">
            <a:spAutoFit/>
          </a:bodyPr>
          <a:lstStyle/>
          <a:p>
            <a:pPr>
              <a:buNone/>
            </a:pPr>
            <a:r>
              <a:t>Secure, scalable 24/7 scheduling with dealer-owned availability and resilient legacy integration</a:t>
            </a:r>
          </a:p>
        </p:txBody>
      </p:sp>
    </p:spTree>
    <p:extLst>
      <p:ext uri="{BB962C8B-B14F-4D97-AF65-F5344CB8AC3E}">
        <p14:creationId xmlns:p14="http://schemas.microsoft.com/office/powerpoint/2010/main" val="2903304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c-eyebrow"/>
          <p:cNvSpPr txBox="1"/>
          <p:nvPr/>
        </p:nvSpPr>
        <p:spPr>
          <a:xfrm>
            <a:off x="685800" y="246888"/>
            <a:ext cx="10817352" cy="246888"/>
          </a:xfrm>
          <a:prstGeom prst="rect">
            <a:avLst/>
          </a:prstGeom>
          <a:noFill/>
        </p:spPr>
        <p:txBody>
          <a:bodyPr wrap="square" lIns="0" tIns="0" rIns="0" bIns="0" anchor="ctr">
            <a:spAutoFit/>
          </a:bodyPr>
          <a:lstStyle/>
          <a:p>
            <a:pPr algn="ctr">
              <a:lnSpc>
                <a:spcPct val="100000"/>
              </a:lnSpc>
              <a:spcBef>
                <a:spcPts val="0"/>
              </a:spcBef>
              <a:spcAft>
                <a:spcPts val="0"/>
              </a:spcAft>
            </a:pPr>
            <a:r>
              <a:rPr sz="1400" b="1">
                <a:solidFill>
                  <a:srgbClr val="198E84"/>
                </a:solidFill>
                <a:latin typeface="Aptos"/>
              </a:rPr>
              <a:t>DECK OVERVIEW</a:t>
            </a:r>
          </a:p>
        </p:txBody>
      </p:sp>
      <p:sp>
        <p:nvSpPr>
          <p:cNvPr id="3" name="toc-title"/>
          <p:cNvSpPr txBox="1"/>
          <p:nvPr/>
        </p:nvSpPr>
        <p:spPr>
          <a:xfrm>
            <a:off x="685800" y="512064"/>
            <a:ext cx="10817352" cy="530352"/>
          </a:xfrm>
          <a:prstGeom prst="rect">
            <a:avLst/>
          </a:prstGeom>
          <a:noFill/>
        </p:spPr>
        <p:txBody>
          <a:bodyPr wrap="square" lIns="0" tIns="0" rIns="0" bIns="0" anchor="ctr">
            <a:spAutoFit/>
          </a:bodyPr>
          <a:lstStyle/>
          <a:p>
            <a:pPr algn="ctr">
              <a:lnSpc>
                <a:spcPct val="100000"/>
              </a:lnSpc>
              <a:spcBef>
                <a:spcPts val="0"/>
              </a:spcBef>
              <a:spcAft>
                <a:spcPts val="0"/>
              </a:spcAft>
            </a:pPr>
            <a:r>
              <a:rPr sz="3500" b="1">
                <a:solidFill>
                  <a:srgbClr val="111827"/>
                </a:solidFill>
                <a:latin typeface="Aptos"/>
              </a:rPr>
              <a:t>Table of contents</a:t>
            </a:r>
          </a:p>
        </p:txBody>
      </p:sp>
      <p:sp>
        <p:nvSpPr>
          <p:cNvPr id="4" name="toc-subtitle"/>
          <p:cNvSpPr txBox="1"/>
          <p:nvPr/>
        </p:nvSpPr>
        <p:spPr>
          <a:xfrm>
            <a:off x="1188720" y="1133856"/>
            <a:ext cx="9811512" cy="320040"/>
          </a:xfrm>
          <a:prstGeom prst="rect">
            <a:avLst/>
          </a:prstGeom>
          <a:noFill/>
        </p:spPr>
        <p:txBody>
          <a:bodyPr wrap="square" lIns="0" tIns="0" rIns="0" bIns="0" anchor="ctr">
            <a:spAutoFit/>
          </a:bodyPr>
          <a:lstStyle/>
          <a:p>
            <a:pPr algn="ctr">
              <a:lnSpc>
                <a:spcPct val="100000"/>
              </a:lnSpc>
              <a:spcBef>
                <a:spcPts val="0"/>
              </a:spcBef>
              <a:spcAft>
                <a:spcPts val="0"/>
              </a:spcAft>
            </a:pPr>
            <a:r>
              <a:rPr sz="1400" b="0">
                <a:solidFill>
                  <a:srgbClr val="5B6472"/>
                </a:solidFill>
                <a:latin typeface="Aptos"/>
              </a:rPr>
              <a:t>From brownfield constraints to a secure, resilient path for national-scale delivery</a:t>
            </a:r>
          </a:p>
        </p:txBody>
      </p:sp>
      <p:cxnSp>
        <p:nvCxnSpPr>
          <p:cNvPr id="5" name="toc-header-rule"/>
          <p:cNvCxnSpPr/>
          <p:nvPr/>
        </p:nvCxnSpPr>
        <p:spPr>
          <a:xfrm>
            <a:off x="5184648" y="1517904"/>
            <a:ext cx="1828800" cy="0"/>
          </a:xfrm>
          <a:prstGeom prst="line">
            <a:avLst/>
          </a:prstGeom>
          <a:ln w="25400">
            <a:solidFill>
              <a:srgbClr val="198E84"/>
            </a:solidFill>
          </a:ln>
        </p:spPr>
        <p:style>
          <a:lnRef idx="2">
            <a:schemeClr val="accent1"/>
          </a:lnRef>
          <a:fillRef idx="0">
            <a:schemeClr val="accent1"/>
          </a:fillRef>
          <a:effectRef idx="1">
            <a:schemeClr val="accent1"/>
          </a:effectRef>
          <a:fontRef idx="minor">
            <a:schemeClr val="tx1"/>
          </a:fontRef>
        </p:style>
      </p:cxnSp>
      <p:sp>
        <p:nvSpPr>
          <p:cNvPr id="6" name="toc-01-number"/>
          <p:cNvSpPr txBox="1"/>
          <p:nvPr/>
        </p:nvSpPr>
        <p:spPr>
          <a:xfrm>
            <a:off x="713232" y="1847088"/>
            <a:ext cx="530352" cy="384048"/>
          </a:xfrm>
          <a:prstGeom prst="rect">
            <a:avLst/>
          </a:prstGeom>
          <a:noFill/>
        </p:spPr>
        <p:txBody>
          <a:bodyPr wrap="square" lIns="0" tIns="0" rIns="0" bIns="0" anchor="ctr">
            <a:spAutoFit/>
          </a:bodyPr>
          <a:lstStyle/>
          <a:p>
            <a:pPr algn="l">
              <a:lnSpc>
                <a:spcPct val="100000"/>
              </a:lnSpc>
              <a:spcBef>
                <a:spcPts val="0"/>
              </a:spcBef>
              <a:spcAft>
                <a:spcPts val="0"/>
              </a:spcAft>
            </a:pPr>
            <a:r>
              <a:rPr sz="2200" b="1">
                <a:solidFill>
                  <a:srgbClr val="2563A6"/>
                </a:solidFill>
                <a:latin typeface="Aptos"/>
              </a:rPr>
              <a:t>01</a:t>
            </a:r>
          </a:p>
        </p:txBody>
      </p:sp>
      <p:sp>
        <p:nvSpPr>
          <p:cNvPr id="7" name="toc-01-title"/>
          <p:cNvSpPr txBox="1"/>
          <p:nvPr/>
        </p:nvSpPr>
        <p:spPr>
          <a:xfrm>
            <a:off x="1380744" y="1837944"/>
            <a:ext cx="388620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72033"/>
                </a:solidFill>
                <a:latin typeface="Aptos"/>
              </a:rPr>
              <a:t>Architecture context</a:t>
            </a:r>
          </a:p>
        </p:txBody>
      </p:sp>
      <p:sp>
        <p:nvSpPr>
          <p:cNvPr id="8" name="toc-01-pages"/>
          <p:cNvSpPr txBox="1"/>
          <p:nvPr/>
        </p:nvSpPr>
        <p:spPr>
          <a:xfrm>
            <a:off x="5303520" y="1847088"/>
            <a:ext cx="438912" cy="246888"/>
          </a:xfrm>
          <a:prstGeom prst="rect">
            <a:avLst/>
          </a:prstGeom>
          <a:noFill/>
        </p:spPr>
        <p:txBody>
          <a:bodyPr wrap="square" lIns="0" tIns="0" rIns="0" bIns="0" anchor="ctr">
            <a:spAutoFit/>
          </a:bodyPr>
          <a:lstStyle/>
          <a:p>
            <a:pPr algn="r">
              <a:lnSpc>
                <a:spcPct val="100000"/>
              </a:lnSpc>
              <a:spcBef>
                <a:spcPts val="0"/>
              </a:spcBef>
              <a:spcAft>
                <a:spcPts val="0"/>
              </a:spcAft>
            </a:pPr>
            <a:r>
              <a:rPr sz="1400" b="1">
                <a:solidFill>
                  <a:srgbClr val="2563A6"/>
                </a:solidFill>
                <a:latin typeface="Aptos"/>
              </a:rPr>
              <a:t>03–07</a:t>
            </a:r>
          </a:p>
        </p:txBody>
      </p:sp>
      <p:sp>
        <p:nvSpPr>
          <p:cNvPr id="9" name="toc-01-detail"/>
          <p:cNvSpPr txBox="1"/>
          <p:nvPr/>
        </p:nvSpPr>
        <p:spPr>
          <a:xfrm>
            <a:off x="1380744" y="2212848"/>
            <a:ext cx="4352544" cy="5029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B5563"/>
                </a:solidFill>
                <a:latin typeface="Aptos"/>
              </a:rPr>
              <a:t>Brownfield boundaries, outcomes and AWS architecture</a:t>
            </a:r>
          </a:p>
        </p:txBody>
      </p:sp>
      <p:cxnSp>
        <p:nvCxnSpPr>
          <p:cNvPr id="10" name="toc-01-rule"/>
          <p:cNvCxnSpPr/>
          <p:nvPr/>
        </p:nvCxnSpPr>
        <p:spPr>
          <a:xfrm>
            <a:off x="1380744" y="2871216"/>
            <a:ext cx="4352544" cy="0"/>
          </a:xfrm>
          <a:prstGeom prst="line">
            <a:avLst/>
          </a:prstGeom>
          <a:ln w="10160">
            <a:solidFill>
              <a:srgbClr val="DDE4EA"/>
            </a:solidFill>
          </a:ln>
        </p:spPr>
        <p:style>
          <a:lnRef idx="2">
            <a:schemeClr val="accent1"/>
          </a:lnRef>
          <a:fillRef idx="0">
            <a:schemeClr val="accent1"/>
          </a:fillRef>
          <a:effectRef idx="1">
            <a:schemeClr val="accent1"/>
          </a:effectRef>
          <a:fontRef idx="minor">
            <a:schemeClr val="tx1"/>
          </a:fontRef>
        </p:style>
      </p:cxnSp>
      <p:sp>
        <p:nvSpPr>
          <p:cNvPr id="11" name="toc-02-number"/>
          <p:cNvSpPr txBox="1"/>
          <p:nvPr/>
        </p:nvSpPr>
        <p:spPr>
          <a:xfrm>
            <a:off x="713232" y="3163824"/>
            <a:ext cx="530352" cy="384048"/>
          </a:xfrm>
          <a:prstGeom prst="rect">
            <a:avLst/>
          </a:prstGeom>
          <a:noFill/>
        </p:spPr>
        <p:txBody>
          <a:bodyPr wrap="square" lIns="0" tIns="0" rIns="0" bIns="0" anchor="ctr">
            <a:spAutoFit/>
          </a:bodyPr>
          <a:lstStyle/>
          <a:p>
            <a:pPr algn="l">
              <a:lnSpc>
                <a:spcPct val="100000"/>
              </a:lnSpc>
              <a:spcBef>
                <a:spcPts val="0"/>
              </a:spcBef>
              <a:spcAft>
                <a:spcPts val="0"/>
              </a:spcAft>
            </a:pPr>
            <a:r>
              <a:rPr sz="2200" b="1">
                <a:solidFill>
                  <a:srgbClr val="6D4FB3"/>
                </a:solidFill>
                <a:latin typeface="Aptos"/>
              </a:rPr>
              <a:t>02</a:t>
            </a:r>
          </a:p>
        </p:txBody>
      </p:sp>
      <p:sp>
        <p:nvSpPr>
          <p:cNvPr id="12" name="toc-02-title"/>
          <p:cNvSpPr txBox="1"/>
          <p:nvPr/>
        </p:nvSpPr>
        <p:spPr>
          <a:xfrm>
            <a:off x="1380744" y="3154680"/>
            <a:ext cx="388620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72033"/>
                </a:solidFill>
                <a:latin typeface="Aptos"/>
              </a:rPr>
              <a:t>Customer journeys</a:t>
            </a:r>
          </a:p>
        </p:txBody>
      </p:sp>
      <p:sp>
        <p:nvSpPr>
          <p:cNvPr id="13" name="toc-02-pages"/>
          <p:cNvSpPr txBox="1"/>
          <p:nvPr/>
        </p:nvSpPr>
        <p:spPr>
          <a:xfrm>
            <a:off x="5303520" y="3163824"/>
            <a:ext cx="438912" cy="246888"/>
          </a:xfrm>
          <a:prstGeom prst="rect">
            <a:avLst/>
          </a:prstGeom>
          <a:noFill/>
        </p:spPr>
        <p:txBody>
          <a:bodyPr wrap="square" lIns="0" tIns="0" rIns="0" bIns="0" anchor="ctr">
            <a:spAutoFit/>
          </a:bodyPr>
          <a:lstStyle/>
          <a:p>
            <a:pPr algn="r">
              <a:lnSpc>
                <a:spcPct val="100000"/>
              </a:lnSpc>
              <a:spcBef>
                <a:spcPts val="0"/>
              </a:spcBef>
              <a:spcAft>
                <a:spcPts val="0"/>
              </a:spcAft>
            </a:pPr>
            <a:r>
              <a:rPr sz="1400" b="1">
                <a:solidFill>
                  <a:srgbClr val="6D4FB3"/>
                </a:solidFill>
                <a:latin typeface="Aptos"/>
              </a:rPr>
              <a:t>08–13</a:t>
            </a:r>
          </a:p>
        </p:txBody>
      </p:sp>
      <p:sp>
        <p:nvSpPr>
          <p:cNvPr id="14" name="toc-02-detail"/>
          <p:cNvSpPr txBox="1"/>
          <p:nvPr/>
        </p:nvSpPr>
        <p:spPr>
          <a:xfrm>
            <a:off x="1380744" y="3529584"/>
            <a:ext cx="4352544" cy="5029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B5563"/>
                </a:solidFill>
                <a:latin typeface="Aptos"/>
              </a:rPr>
              <a:t>Five steps from dealer discovery through confirmation</a:t>
            </a:r>
          </a:p>
        </p:txBody>
      </p:sp>
      <p:cxnSp>
        <p:nvCxnSpPr>
          <p:cNvPr id="15" name="toc-02-rule"/>
          <p:cNvCxnSpPr/>
          <p:nvPr/>
        </p:nvCxnSpPr>
        <p:spPr>
          <a:xfrm>
            <a:off x="1380744" y="4187952"/>
            <a:ext cx="4352544" cy="0"/>
          </a:xfrm>
          <a:prstGeom prst="line">
            <a:avLst/>
          </a:prstGeom>
          <a:ln w="10160">
            <a:solidFill>
              <a:srgbClr val="DDE4EA"/>
            </a:solidFill>
          </a:ln>
        </p:spPr>
        <p:style>
          <a:lnRef idx="2">
            <a:schemeClr val="accent1"/>
          </a:lnRef>
          <a:fillRef idx="0">
            <a:schemeClr val="accent1"/>
          </a:fillRef>
          <a:effectRef idx="1">
            <a:schemeClr val="accent1"/>
          </a:effectRef>
          <a:fontRef idx="minor">
            <a:schemeClr val="tx1"/>
          </a:fontRef>
        </p:style>
      </p:cxnSp>
      <p:sp>
        <p:nvSpPr>
          <p:cNvPr id="16" name="toc-03-number"/>
          <p:cNvSpPr txBox="1"/>
          <p:nvPr/>
        </p:nvSpPr>
        <p:spPr>
          <a:xfrm>
            <a:off x="713232" y="4480560"/>
            <a:ext cx="530352" cy="384048"/>
          </a:xfrm>
          <a:prstGeom prst="rect">
            <a:avLst/>
          </a:prstGeom>
          <a:noFill/>
        </p:spPr>
        <p:txBody>
          <a:bodyPr wrap="square" lIns="0" tIns="0" rIns="0" bIns="0" anchor="ctr">
            <a:spAutoFit/>
          </a:bodyPr>
          <a:lstStyle/>
          <a:p>
            <a:pPr algn="l">
              <a:lnSpc>
                <a:spcPct val="100000"/>
              </a:lnSpc>
              <a:spcBef>
                <a:spcPts val="0"/>
              </a:spcBef>
              <a:spcAft>
                <a:spcPts val="0"/>
              </a:spcAft>
            </a:pPr>
            <a:r>
              <a:rPr sz="2200" b="1">
                <a:solidFill>
                  <a:srgbClr val="198E84"/>
                </a:solidFill>
                <a:latin typeface="Aptos"/>
              </a:rPr>
              <a:t>03</a:t>
            </a:r>
          </a:p>
        </p:txBody>
      </p:sp>
      <p:sp>
        <p:nvSpPr>
          <p:cNvPr id="17" name="toc-03-title"/>
          <p:cNvSpPr txBox="1"/>
          <p:nvPr/>
        </p:nvSpPr>
        <p:spPr>
          <a:xfrm>
            <a:off x="1380744" y="4471416"/>
            <a:ext cx="388620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72033"/>
                </a:solidFill>
                <a:latin typeface="Aptos"/>
              </a:rPr>
              <a:t>Security &amp; scale</a:t>
            </a:r>
          </a:p>
        </p:txBody>
      </p:sp>
      <p:sp>
        <p:nvSpPr>
          <p:cNvPr id="18" name="toc-03-pages"/>
          <p:cNvSpPr txBox="1"/>
          <p:nvPr/>
        </p:nvSpPr>
        <p:spPr>
          <a:xfrm>
            <a:off x="5303520" y="4480560"/>
            <a:ext cx="438912" cy="246888"/>
          </a:xfrm>
          <a:prstGeom prst="rect">
            <a:avLst/>
          </a:prstGeom>
          <a:noFill/>
        </p:spPr>
        <p:txBody>
          <a:bodyPr wrap="square" lIns="0" tIns="0" rIns="0" bIns="0" anchor="ctr">
            <a:spAutoFit/>
          </a:bodyPr>
          <a:lstStyle/>
          <a:p>
            <a:pPr algn="r">
              <a:lnSpc>
                <a:spcPct val="100000"/>
              </a:lnSpc>
              <a:spcBef>
                <a:spcPts val="0"/>
              </a:spcBef>
              <a:spcAft>
                <a:spcPts val="0"/>
              </a:spcAft>
            </a:pPr>
            <a:r>
              <a:rPr sz="1400" b="1">
                <a:solidFill>
                  <a:srgbClr val="198E84"/>
                </a:solidFill>
                <a:latin typeface="Aptos"/>
              </a:rPr>
              <a:t>14–23</a:t>
            </a:r>
          </a:p>
        </p:txBody>
      </p:sp>
      <p:sp>
        <p:nvSpPr>
          <p:cNvPr id="19" name="toc-03-detail"/>
          <p:cNvSpPr txBox="1"/>
          <p:nvPr/>
        </p:nvSpPr>
        <p:spPr>
          <a:xfrm>
            <a:off x="1380744" y="4846320"/>
            <a:ext cx="4352544" cy="5029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B5563"/>
                </a:solidFill>
                <a:latin typeface="Aptos"/>
              </a:rPr>
              <a:t>Security, performance, data and delivery controls</a:t>
            </a:r>
          </a:p>
        </p:txBody>
      </p:sp>
      <p:cxnSp>
        <p:nvCxnSpPr>
          <p:cNvPr id="20" name="toc-03-rule"/>
          <p:cNvCxnSpPr/>
          <p:nvPr/>
        </p:nvCxnSpPr>
        <p:spPr>
          <a:xfrm>
            <a:off x="1380744" y="5504688"/>
            <a:ext cx="4352544" cy="0"/>
          </a:xfrm>
          <a:prstGeom prst="line">
            <a:avLst/>
          </a:prstGeom>
          <a:ln w="10160">
            <a:solidFill>
              <a:srgbClr val="DDE4EA"/>
            </a:solidFill>
          </a:ln>
        </p:spPr>
        <p:style>
          <a:lnRef idx="2">
            <a:schemeClr val="accent1"/>
          </a:lnRef>
          <a:fillRef idx="0">
            <a:schemeClr val="accent1"/>
          </a:fillRef>
          <a:effectRef idx="1">
            <a:schemeClr val="accent1"/>
          </a:effectRef>
          <a:fontRef idx="minor">
            <a:schemeClr val="tx1"/>
          </a:fontRef>
        </p:style>
      </p:cxnSp>
      <p:sp>
        <p:nvSpPr>
          <p:cNvPr id="21" name="toc-04-number"/>
          <p:cNvSpPr txBox="1"/>
          <p:nvPr/>
        </p:nvSpPr>
        <p:spPr>
          <a:xfrm>
            <a:off x="6309360" y="1847088"/>
            <a:ext cx="530352" cy="384048"/>
          </a:xfrm>
          <a:prstGeom prst="rect">
            <a:avLst/>
          </a:prstGeom>
          <a:noFill/>
        </p:spPr>
        <p:txBody>
          <a:bodyPr wrap="square" lIns="0" tIns="0" rIns="0" bIns="0" anchor="ctr">
            <a:spAutoFit/>
          </a:bodyPr>
          <a:lstStyle/>
          <a:p>
            <a:pPr algn="l">
              <a:lnSpc>
                <a:spcPct val="100000"/>
              </a:lnSpc>
              <a:spcBef>
                <a:spcPts val="0"/>
              </a:spcBef>
              <a:spcAft>
                <a:spcPts val="0"/>
              </a:spcAft>
            </a:pPr>
            <a:r>
              <a:rPr sz="2200" b="1">
                <a:solidFill>
                  <a:srgbClr val="B86713"/>
                </a:solidFill>
                <a:latin typeface="Aptos"/>
              </a:rPr>
              <a:t>04</a:t>
            </a:r>
          </a:p>
        </p:txBody>
      </p:sp>
      <p:sp>
        <p:nvSpPr>
          <p:cNvPr id="22" name="toc-04-title"/>
          <p:cNvSpPr txBox="1"/>
          <p:nvPr/>
        </p:nvSpPr>
        <p:spPr>
          <a:xfrm>
            <a:off x="6976872" y="1837944"/>
            <a:ext cx="388620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72033"/>
                </a:solidFill>
                <a:latin typeface="Aptos"/>
              </a:rPr>
              <a:t>Booking resilience &amp; recovery</a:t>
            </a:r>
          </a:p>
        </p:txBody>
      </p:sp>
      <p:sp>
        <p:nvSpPr>
          <p:cNvPr id="23" name="toc-04-pages"/>
          <p:cNvSpPr txBox="1"/>
          <p:nvPr/>
        </p:nvSpPr>
        <p:spPr>
          <a:xfrm>
            <a:off x="10899648" y="1847088"/>
            <a:ext cx="438912" cy="246888"/>
          </a:xfrm>
          <a:prstGeom prst="rect">
            <a:avLst/>
          </a:prstGeom>
          <a:noFill/>
        </p:spPr>
        <p:txBody>
          <a:bodyPr wrap="square" lIns="0" tIns="0" rIns="0" bIns="0" anchor="ctr">
            <a:spAutoFit/>
          </a:bodyPr>
          <a:lstStyle/>
          <a:p>
            <a:pPr algn="r">
              <a:lnSpc>
                <a:spcPct val="100000"/>
              </a:lnSpc>
              <a:spcBef>
                <a:spcPts val="0"/>
              </a:spcBef>
              <a:spcAft>
                <a:spcPts val="0"/>
              </a:spcAft>
            </a:pPr>
            <a:r>
              <a:rPr sz="1400" b="1">
                <a:solidFill>
                  <a:srgbClr val="B86713"/>
                </a:solidFill>
                <a:latin typeface="Aptos"/>
              </a:rPr>
              <a:t>24–25</a:t>
            </a:r>
          </a:p>
        </p:txBody>
      </p:sp>
      <p:sp>
        <p:nvSpPr>
          <p:cNvPr id="24" name="toc-04-detail"/>
          <p:cNvSpPr txBox="1"/>
          <p:nvPr/>
        </p:nvSpPr>
        <p:spPr>
          <a:xfrm>
            <a:off x="6976872" y="2212848"/>
            <a:ext cx="4352544" cy="5029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B5563"/>
                </a:solidFill>
                <a:latin typeface="Aptos"/>
              </a:rPr>
              <a:t>Booking consistency plus measurable HA / DR</a:t>
            </a:r>
          </a:p>
        </p:txBody>
      </p:sp>
      <p:cxnSp>
        <p:nvCxnSpPr>
          <p:cNvPr id="25" name="toc-04-rule"/>
          <p:cNvCxnSpPr/>
          <p:nvPr/>
        </p:nvCxnSpPr>
        <p:spPr>
          <a:xfrm>
            <a:off x="6976872" y="2871216"/>
            <a:ext cx="4352544" cy="0"/>
          </a:xfrm>
          <a:prstGeom prst="line">
            <a:avLst/>
          </a:prstGeom>
          <a:ln w="10160">
            <a:solidFill>
              <a:srgbClr val="DDE4EA"/>
            </a:solidFill>
          </a:ln>
        </p:spPr>
        <p:style>
          <a:lnRef idx="2">
            <a:schemeClr val="accent1"/>
          </a:lnRef>
          <a:fillRef idx="0">
            <a:schemeClr val="accent1"/>
          </a:fillRef>
          <a:effectRef idx="1">
            <a:schemeClr val="accent1"/>
          </a:effectRef>
          <a:fontRef idx="minor">
            <a:schemeClr val="tx1"/>
          </a:fontRef>
        </p:style>
      </p:cxnSp>
      <p:sp>
        <p:nvSpPr>
          <p:cNvPr id="26" name="toc-05-number"/>
          <p:cNvSpPr txBox="1"/>
          <p:nvPr/>
        </p:nvSpPr>
        <p:spPr>
          <a:xfrm>
            <a:off x="6309360" y="3163824"/>
            <a:ext cx="530352" cy="384048"/>
          </a:xfrm>
          <a:prstGeom prst="rect">
            <a:avLst/>
          </a:prstGeom>
          <a:noFill/>
        </p:spPr>
        <p:txBody>
          <a:bodyPr wrap="square" lIns="0" tIns="0" rIns="0" bIns="0" anchor="ctr">
            <a:spAutoFit/>
          </a:bodyPr>
          <a:lstStyle/>
          <a:p>
            <a:pPr algn="l">
              <a:lnSpc>
                <a:spcPct val="100000"/>
              </a:lnSpc>
              <a:spcBef>
                <a:spcPts val="0"/>
              </a:spcBef>
              <a:spcAft>
                <a:spcPts val="0"/>
              </a:spcAft>
            </a:pPr>
            <a:r>
              <a:rPr sz="2200" b="1">
                <a:solidFill>
                  <a:srgbClr val="147A58"/>
                </a:solidFill>
                <a:latin typeface="Aptos"/>
              </a:rPr>
              <a:t>05</a:t>
            </a:r>
          </a:p>
        </p:txBody>
      </p:sp>
      <p:sp>
        <p:nvSpPr>
          <p:cNvPr id="27" name="toc-05-title"/>
          <p:cNvSpPr txBox="1"/>
          <p:nvPr/>
        </p:nvSpPr>
        <p:spPr>
          <a:xfrm>
            <a:off x="6976872" y="3154680"/>
            <a:ext cx="388620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72033"/>
                </a:solidFill>
                <a:latin typeface="Aptos"/>
              </a:rPr>
              <a:t>Cost &amp; delivery roadmap</a:t>
            </a:r>
          </a:p>
        </p:txBody>
      </p:sp>
      <p:sp>
        <p:nvSpPr>
          <p:cNvPr id="28" name="toc-05-pages"/>
          <p:cNvSpPr txBox="1"/>
          <p:nvPr/>
        </p:nvSpPr>
        <p:spPr>
          <a:xfrm>
            <a:off x="10899648" y="3163824"/>
            <a:ext cx="438912" cy="246888"/>
          </a:xfrm>
          <a:prstGeom prst="rect">
            <a:avLst/>
          </a:prstGeom>
          <a:noFill/>
        </p:spPr>
        <p:txBody>
          <a:bodyPr wrap="square" lIns="0" tIns="0" rIns="0" bIns="0" anchor="ctr">
            <a:spAutoFit/>
          </a:bodyPr>
          <a:lstStyle/>
          <a:p>
            <a:pPr algn="r">
              <a:lnSpc>
                <a:spcPct val="100000"/>
              </a:lnSpc>
              <a:spcBef>
                <a:spcPts val="0"/>
              </a:spcBef>
              <a:spcAft>
                <a:spcPts val="0"/>
              </a:spcAft>
            </a:pPr>
            <a:r>
              <a:rPr sz="1400" b="1">
                <a:solidFill>
                  <a:srgbClr val="147A58"/>
                </a:solidFill>
                <a:latin typeface="Aptos"/>
              </a:rPr>
              <a:t>26–27</a:t>
            </a:r>
          </a:p>
        </p:txBody>
      </p:sp>
      <p:sp>
        <p:nvSpPr>
          <p:cNvPr id="29" name="toc-05-detail"/>
          <p:cNvSpPr txBox="1"/>
          <p:nvPr/>
        </p:nvSpPr>
        <p:spPr>
          <a:xfrm>
            <a:off x="6976872" y="3529584"/>
            <a:ext cx="4352544" cy="5029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B5563"/>
                </a:solidFill>
                <a:latin typeface="Aptos"/>
              </a:rPr>
              <a:t>Cost options and phased national rollout</a:t>
            </a:r>
          </a:p>
        </p:txBody>
      </p:sp>
      <p:cxnSp>
        <p:nvCxnSpPr>
          <p:cNvPr id="30" name="toc-05-rule"/>
          <p:cNvCxnSpPr/>
          <p:nvPr/>
        </p:nvCxnSpPr>
        <p:spPr>
          <a:xfrm>
            <a:off x="6976872" y="4187952"/>
            <a:ext cx="4352544" cy="0"/>
          </a:xfrm>
          <a:prstGeom prst="line">
            <a:avLst/>
          </a:prstGeom>
          <a:ln w="10160">
            <a:solidFill>
              <a:srgbClr val="DDE4EA"/>
            </a:solidFill>
          </a:ln>
        </p:spPr>
        <p:style>
          <a:lnRef idx="2">
            <a:schemeClr val="accent1"/>
          </a:lnRef>
          <a:fillRef idx="0">
            <a:schemeClr val="accent1"/>
          </a:fillRef>
          <a:effectRef idx="1">
            <a:schemeClr val="accent1"/>
          </a:effectRef>
          <a:fontRef idx="minor">
            <a:schemeClr val="tx1"/>
          </a:fontRef>
        </p:style>
      </p:cxnSp>
      <p:sp>
        <p:nvSpPr>
          <p:cNvPr id="31" name="toc-06-number"/>
          <p:cNvSpPr txBox="1"/>
          <p:nvPr/>
        </p:nvSpPr>
        <p:spPr>
          <a:xfrm>
            <a:off x="6309360" y="4480560"/>
            <a:ext cx="530352" cy="384048"/>
          </a:xfrm>
          <a:prstGeom prst="rect">
            <a:avLst/>
          </a:prstGeom>
          <a:noFill/>
        </p:spPr>
        <p:txBody>
          <a:bodyPr wrap="square" lIns="0" tIns="0" rIns="0" bIns="0" anchor="ctr">
            <a:spAutoFit/>
          </a:bodyPr>
          <a:lstStyle/>
          <a:p>
            <a:pPr algn="l">
              <a:lnSpc>
                <a:spcPct val="100000"/>
              </a:lnSpc>
              <a:spcBef>
                <a:spcPts val="0"/>
              </a:spcBef>
              <a:spcAft>
                <a:spcPts val="0"/>
              </a:spcAft>
            </a:pPr>
            <a:r>
              <a:rPr sz="2200" b="1">
                <a:solidFill>
                  <a:srgbClr val="273244"/>
                </a:solidFill>
                <a:latin typeface="Aptos"/>
              </a:rPr>
              <a:t>06</a:t>
            </a:r>
          </a:p>
        </p:txBody>
      </p:sp>
      <p:sp>
        <p:nvSpPr>
          <p:cNvPr id="32" name="toc-06-title"/>
          <p:cNvSpPr txBox="1"/>
          <p:nvPr/>
        </p:nvSpPr>
        <p:spPr>
          <a:xfrm>
            <a:off x="6976872" y="4471416"/>
            <a:ext cx="388620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72033"/>
                </a:solidFill>
                <a:latin typeface="Aptos"/>
              </a:rPr>
              <a:t>Appendix</a:t>
            </a:r>
          </a:p>
        </p:txBody>
      </p:sp>
      <p:sp>
        <p:nvSpPr>
          <p:cNvPr id="33" name="toc-06-pages"/>
          <p:cNvSpPr txBox="1"/>
          <p:nvPr/>
        </p:nvSpPr>
        <p:spPr>
          <a:xfrm>
            <a:off x="10899648" y="4388561"/>
            <a:ext cx="438912" cy="430887"/>
          </a:xfrm>
          <a:prstGeom prst="rect">
            <a:avLst/>
          </a:prstGeom>
          <a:noFill/>
        </p:spPr>
        <p:txBody>
          <a:bodyPr wrap="square" lIns="0" tIns="0" rIns="0" bIns="0" anchor="ctr">
            <a:spAutoFit/>
          </a:bodyPr>
          <a:lstStyle/>
          <a:p>
            <a:pPr algn="r">
              <a:lnSpc>
                <a:spcPct val="100000"/>
              </a:lnSpc>
              <a:spcBef>
                <a:spcPts val="0"/>
              </a:spcBef>
              <a:spcAft>
                <a:spcPts val="0"/>
              </a:spcAft>
            </a:pPr>
            <a:r>
              <a:rPr sz="1400" b="1" dirty="0">
                <a:solidFill>
                  <a:srgbClr val="273244"/>
                </a:solidFill>
                <a:latin typeface="Aptos"/>
              </a:rPr>
              <a:t>28–3</a:t>
            </a:r>
            <a:r>
              <a:rPr lang="en-US" sz="1400" b="1" dirty="0">
                <a:solidFill>
                  <a:srgbClr val="273244"/>
                </a:solidFill>
                <a:latin typeface="Aptos"/>
              </a:rPr>
              <a:t>3</a:t>
            </a:r>
            <a:endParaRPr sz="1400" b="1" dirty="0">
              <a:solidFill>
                <a:srgbClr val="273244"/>
              </a:solidFill>
              <a:latin typeface="Aptos"/>
            </a:endParaRPr>
          </a:p>
        </p:txBody>
      </p:sp>
      <p:sp>
        <p:nvSpPr>
          <p:cNvPr id="34" name="toc-06-detail"/>
          <p:cNvSpPr txBox="1"/>
          <p:nvPr/>
        </p:nvSpPr>
        <p:spPr>
          <a:xfrm>
            <a:off x="6976872" y="4846320"/>
            <a:ext cx="4352544" cy="5029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B5563"/>
                </a:solidFill>
                <a:latin typeface="Aptos"/>
              </a:rPr>
              <a:t>Holdless dealers, concurrency and reconciliation</a:t>
            </a:r>
          </a:p>
        </p:txBody>
      </p:sp>
      <p:cxnSp>
        <p:nvCxnSpPr>
          <p:cNvPr id="35" name="toc-06-rule"/>
          <p:cNvCxnSpPr/>
          <p:nvPr/>
        </p:nvCxnSpPr>
        <p:spPr>
          <a:xfrm>
            <a:off x="6976872" y="5504688"/>
            <a:ext cx="4352544" cy="0"/>
          </a:xfrm>
          <a:prstGeom prst="line">
            <a:avLst/>
          </a:prstGeom>
          <a:ln w="10160">
            <a:solidFill>
              <a:srgbClr val="DDE4EA"/>
            </a:solidFill>
          </a:ln>
        </p:spPr>
        <p:style>
          <a:lnRef idx="2">
            <a:schemeClr val="accent1"/>
          </a:lnRef>
          <a:fillRef idx="0">
            <a:schemeClr val="accent1"/>
          </a:fillRef>
          <a:effectRef idx="1">
            <a:schemeClr val="accent1"/>
          </a:effectRef>
          <a:fontRef idx="minor">
            <a:schemeClr val="tx1"/>
          </a:fontRef>
        </p:style>
      </p:cxnSp>
      <p:cxnSp>
        <p:nvCxnSpPr>
          <p:cNvPr id="36" name="toc-column-divider"/>
          <p:cNvCxnSpPr/>
          <p:nvPr/>
        </p:nvCxnSpPr>
        <p:spPr>
          <a:xfrm>
            <a:off x="6089904" y="1810512"/>
            <a:ext cx="0" cy="3831336"/>
          </a:xfrm>
          <a:prstGeom prst="line">
            <a:avLst/>
          </a:prstGeom>
          <a:ln w="12700">
            <a:solidFill>
              <a:srgbClr val="DDE4EA"/>
            </a:solidFill>
          </a:ln>
        </p:spPr>
        <p:style>
          <a:lnRef idx="2">
            <a:schemeClr val="accent1"/>
          </a:lnRef>
          <a:fillRef idx="0">
            <a:schemeClr val="accent1"/>
          </a:fillRef>
          <a:effectRef idx="1">
            <a:schemeClr val="accent1"/>
          </a:effectRef>
          <a:fontRef idx="minor">
            <a:schemeClr val="tx1"/>
          </a:fontRef>
        </p:style>
      </p:cxnSp>
      <p:sp>
        <p:nvSpPr>
          <p:cNvPr id="37" name="toc-footer"/>
          <p:cNvSpPr txBox="1"/>
          <p:nvPr/>
        </p:nvSpPr>
        <p:spPr>
          <a:xfrm>
            <a:off x="713232" y="5980176"/>
            <a:ext cx="10762488" cy="228600"/>
          </a:xfrm>
          <a:prstGeom prst="rect">
            <a:avLst/>
          </a:prstGeom>
          <a:noFill/>
        </p:spPr>
        <p:txBody>
          <a:bodyPr wrap="square" lIns="0" tIns="0" rIns="0" bIns="0" anchor="ctr">
            <a:spAutoFit/>
          </a:bodyPr>
          <a:lstStyle/>
          <a:p>
            <a:pPr algn="ctr">
              <a:lnSpc>
                <a:spcPct val="100000"/>
              </a:lnSpc>
              <a:spcBef>
                <a:spcPts val="0"/>
              </a:spcBef>
              <a:spcAft>
                <a:spcPts val="0"/>
              </a:spcAft>
            </a:pPr>
            <a:r>
              <a:rPr sz="950" b="1">
                <a:solidFill>
                  <a:srgbClr val="5B6472"/>
                </a:solidFill>
                <a:latin typeface="Aptos"/>
              </a:rPr>
              <a:t>VEHICLE SERVICE APPOINTMENT PLATFORM  •  ARCHITECTURE 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title">
            <a:extLst>
              <a:ext uri="{FF2B5EF4-FFF2-40B4-BE49-F238E27FC236}">
                <a16:creationId xmlns:a16="http://schemas.microsoft.com/office/drawing/2014/main" id="{2B57E9FA-5A5D-4AC4-81FF-9530C4615C0F}"/>
              </a:ext>
            </a:extLst>
          </p:cNvPr>
          <p:cNvSpPr>
            <a:spLocks noGrp="1"/>
          </p:cNvSpPr>
          <p:nvPr/>
        </p:nvSpPr>
        <p:spPr>
          <a:xfrm>
            <a:off x="609600" y="400050"/>
            <a:ext cx="10972800" cy="457200"/>
          </a:xfrm>
          <a:prstGeom prst="rect">
            <a:avLst/>
          </a:prstGeom>
          <a:noFill/>
          <a:ln w="0">
            <a:noFill/>
            <a:prstDash val="solid"/>
          </a:ln>
        </p:spPr>
        <p:txBody>
          <a:bodyPr/>
          <a:lstStyle/>
          <a:p>
            <a:pPr algn="ctr">
              <a:buNone/>
              <a:defRPr sz="2550" b="1">
                <a:solidFill>
                  <a:srgbClr val="111827"/>
                </a:solidFill>
              </a:defRPr>
            </a:pPr>
            <a:r>
              <a:rPr sz="2550" b="1">
                <a:solidFill>
                  <a:srgbClr val="111827"/>
                </a:solidFill>
              </a:rPr>
              <a:t>Brownfield systems remain authoritative; AWS provides the integration layer</a:t>
            </a:r>
          </a:p>
        </p:txBody>
      </p:sp>
      <p:sp>
        <p:nvSpPr>
          <p:cNvPr id="2" name="slide-subtitle">
            <a:extLst>
              <a:ext uri="{FF2B5EF4-FFF2-40B4-BE49-F238E27FC236}">
                <a16:creationId xmlns:a16="http://schemas.microsoft.com/office/drawing/2014/main" id="{3355666B-D532-4CD5-838F-2CC1C81B80AF}"/>
              </a:ext>
            </a:extLst>
          </p:cNvPr>
          <p:cNvSpPr>
            <a:spLocks noGrp="1"/>
          </p:cNvSpPr>
          <p:nvPr/>
        </p:nvSpPr>
        <p:spPr>
          <a:xfrm>
            <a:off x="1050235" y="1178408"/>
            <a:ext cx="9906000" cy="342900"/>
          </a:xfrm>
          <a:prstGeom prst="rect">
            <a:avLst/>
          </a:prstGeom>
          <a:noFill/>
          <a:ln w="0">
            <a:noFill/>
            <a:prstDash val="solid"/>
          </a:ln>
        </p:spPr>
        <p:txBody>
          <a:bodyPr/>
          <a:lstStyle/>
          <a:p>
            <a:pPr algn="ctr">
              <a:buNone/>
              <a:defRPr sz="1425">
                <a:solidFill>
                  <a:srgbClr val="5B6472"/>
                </a:solidFill>
              </a:defRPr>
            </a:pPr>
            <a:r>
              <a:rPr sz="1425">
                <a:solidFill>
                  <a:srgbClr val="5B6472"/>
                </a:solidFill>
              </a:rPr>
              <a:t>Three independently owned systems remain authoritative for vehicle data, repair history, and appointment inventory.</a:t>
            </a:r>
          </a:p>
        </p:txBody>
      </p:sp>
      <p:sp>
        <p:nvSpPr>
          <p:cNvPr id="3" name="vin-system">
            <a:extLst>
              <a:ext uri="{FF2B5EF4-FFF2-40B4-BE49-F238E27FC236}">
                <a16:creationId xmlns:a16="http://schemas.microsoft.com/office/drawing/2014/main" id="{DE674342-F0E4-4CB5-B80F-6BF37639191E}"/>
              </a:ext>
            </a:extLst>
          </p:cNvPr>
          <p:cNvSpPr>
            <a:spLocks noGrp="1"/>
          </p:cNvSpPr>
          <p:nvPr/>
        </p:nvSpPr>
        <p:spPr>
          <a:xfrm>
            <a:off x="666750" y="1638300"/>
            <a:ext cx="2952750" cy="1066800"/>
          </a:xfrm>
          <a:prstGeom prst="roundRect">
            <a:avLst>
              <a:gd name="adj" fmla="val 10714"/>
            </a:avLst>
          </a:prstGeom>
          <a:solidFill>
            <a:srgbClr val="EAF3FF"/>
          </a:solidFill>
          <a:ln w="14288">
            <a:solidFill>
              <a:srgbClr val="2563A6"/>
            </a:solidFill>
            <a:prstDash val="solid"/>
          </a:ln>
        </p:spPr>
        <p:style>
          <a:lnRef idx="0">
            <a:scrgbClr r="0" g="0" b="0"/>
          </a:lnRef>
          <a:fillRef idx="0">
            <a:scrgbClr r="0" g="0" b="0"/>
          </a:fillRef>
          <a:effectRef idx="4">
            <a:scrgbClr r="0" g="0" b="0"/>
          </a:effectRef>
          <a:fontRef idx="major"/>
        </p:style>
        <p:txBody>
          <a:bodyPr/>
          <a:lstStyle/>
          <a:p>
            <a:endParaRPr/>
          </a:p>
        </p:txBody>
      </p:sp>
      <p:sp>
        <p:nvSpPr>
          <p:cNvPr id="4" name="vin-system-eyebrow">
            <a:extLst>
              <a:ext uri="{FF2B5EF4-FFF2-40B4-BE49-F238E27FC236}">
                <a16:creationId xmlns:a16="http://schemas.microsoft.com/office/drawing/2014/main" id="{1645C09C-86A9-4535-9ACF-487F0D5A45D6}"/>
              </a:ext>
            </a:extLst>
          </p:cNvPr>
          <p:cNvSpPr>
            <a:spLocks noGrp="1"/>
          </p:cNvSpPr>
          <p:nvPr/>
        </p:nvSpPr>
        <p:spPr>
          <a:xfrm>
            <a:off x="876300" y="1790700"/>
            <a:ext cx="2524125" cy="209550"/>
          </a:xfrm>
          <a:prstGeom prst="rect">
            <a:avLst/>
          </a:prstGeom>
          <a:noFill/>
          <a:ln w="0">
            <a:noFill/>
            <a:prstDash val="solid"/>
          </a:ln>
        </p:spPr>
        <p:txBody>
          <a:bodyPr/>
          <a:lstStyle/>
          <a:p>
            <a:pPr>
              <a:buNone/>
              <a:defRPr sz="1050" b="1">
                <a:solidFill>
                  <a:srgbClr val="2563A6"/>
                </a:solidFill>
              </a:defRPr>
            </a:pPr>
            <a:r>
              <a:rPr sz="1050" b="1">
                <a:solidFill>
                  <a:srgbClr val="2563A6"/>
                </a:solidFill>
              </a:rPr>
              <a:t>EXISTING ENTERPRISE SYSTEM</a:t>
            </a:r>
          </a:p>
        </p:txBody>
      </p:sp>
      <p:sp>
        <p:nvSpPr>
          <p:cNvPr id="5" name="vin-system-title">
            <a:extLst>
              <a:ext uri="{FF2B5EF4-FFF2-40B4-BE49-F238E27FC236}">
                <a16:creationId xmlns:a16="http://schemas.microsoft.com/office/drawing/2014/main" id="{3048A89C-CE1D-4604-8B26-D77E383ED517}"/>
              </a:ext>
            </a:extLst>
          </p:cNvPr>
          <p:cNvSpPr>
            <a:spLocks noGrp="1"/>
          </p:cNvSpPr>
          <p:nvPr/>
        </p:nvSpPr>
        <p:spPr>
          <a:xfrm>
            <a:off x="876300" y="2028825"/>
            <a:ext cx="2524125" cy="285750"/>
          </a:xfrm>
          <a:prstGeom prst="rect">
            <a:avLst/>
          </a:prstGeom>
          <a:noFill/>
          <a:ln w="0">
            <a:noFill/>
            <a:prstDash val="solid"/>
          </a:ln>
        </p:spPr>
        <p:txBody>
          <a:bodyPr/>
          <a:lstStyle/>
          <a:p>
            <a:pPr>
              <a:buNone/>
              <a:defRPr sz="1650" b="1">
                <a:solidFill>
                  <a:srgbClr val="172033"/>
                </a:solidFill>
              </a:defRPr>
            </a:pPr>
            <a:r>
              <a:rPr sz="1650" b="1">
                <a:solidFill>
                  <a:srgbClr val="172033"/>
                </a:solidFill>
              </a:rPr>
              <a:t>On-premises VIN API</a:t>
            </a:r>
          </a:p>
        </p:txBody>
      </p:sp>
      <p:sp>
        <p:nvSpPr>
          <p:cNvPr id="6" name="vin-system-detail">
            <a:extLst>
              <a:ext uri="{FF2B5EF4-FFF2-40B4-BE49-F238E27FC236}">
                <a16:creationId xmlns:a16="http://schemas.microsoft.com/office/drawing/2014/main" id="{F42A40A6-6406-4028-A338-577E67C578C6}"/>
              </a:ext>
            </a:extLst>
          </p:cNvPr>
          <p:cNvSpPr>
            <a:spLocks noGrp="1"/>
          </p:cNvSpPr>
          <p:nvPr/>
        </p:nvSpPr>
        <p:spPr>
          <a:xfrm>
            <a:off x="876300" y="2362200"/>
            <a:ext cx="2524125" cy="228600"/>
          </a:xfrm>
          <a:prstGeom prst="rect">
            <a:avLst/>
          </a:prstGeom>
          <a:noFill/>
          <a:ln w="0">
            <a:noFill/>
            <a:prstDash val="solid"/>
          </a:ln>
        </p:spPr>
        <p:txBody>
          <a:bodyPr/>
          <a:lstStyle/>
          <a:p>
            <a:pPr>
              <a:buNone/>
              <a:defRPr sz="1125">
                <a:solidFill>
                  <a:srgbClr val="4B5563"/>
                </a:solidFill>
              </a:defRPr>
            </a:pPr>
            <a:r>
              <a:rPr sz="1125">
                <a:solidFill>
                  <a:srgbClr val="4B5563"/>
                </a:solidFill>
              </a:rPr>
              <a:t>Authoritative vehicle attributes</a:t>
            </a:r>
          </a:p>
        </p:txBody>
      </p:sp>
      <p:sp>
        <p:nvSpPr>
          <p:cNvPr id="7" name="mainframe-system">
            <a:extLst>
              <a:ext uri="{FF2B5EF4-FFF2-40B4-BE49-F238E27FC236}">
                <a16:creationId xmlns:a16="http://schemas.microsoft.com/office/drawing/2014/main" id="{6FDB1FCB-81FC-46FB-9293-4AD4402B137A}"/>
              </a:ext>
            </a:extLst>
          </p:cNvPr>
          <p:cNvSpPr>
            <a:spLocks noGrp="1"/>
          </p:cNvSpPr>
          <p:nvPr/>
        </p:nvSpPr>
        <p:spPr>
          <a:xfrm>
            <a:off x="666750" y="2914650"/>
            <a:ext cx="2952750" cy="1066800"/>
          </a:xfrm>
          <a:prstGeom prst="roundRect">
            <a:avLst>
              <a:gd name="adj" fmla="val 10714"/>
            </a:avLst>
          </a:prstGeom>
          <a:solidFill>
            <a:srgbClr val="F2ECFF"/>
          </a:solidFill>
          <a:ln w="14288">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8" name="mainframe-system-eyebrow">
            <a:extLst>
              <a:ext uri="{FF2B5EF4-FFF2-40B4-BE49-F238E27FC236}">
                <a16:creationId xmlns:a16="http://schemas.microsoft.com/office/drawing/2014/main" id="{96449C7C-8235-4922-95AC-6F8AE7860CBF}"/>
              </a:ext>
            </a:extLst>
          </p:cNvPr>
          <p:cNvSpPr>
            <a:spLocks noGrp="1"/>
          </p:cNvSpPr>
          <p:nvPr/>
        </p:nvSpPr>
        <p:spPr>
          <a:xfrm>
            <a:off x="876300" y="3067050"/>
            <a:ext cx="2524125" cy="209550"/>
          </a:xfrm>
          <a:prstGeom prst="rect">
            <a:avLst/>
          </a:prstGeom>
          <a:noFill/>
          <a:ln w="0">
            <a:noFill/>
            <a:prstDash val="solid"/>
          </a:ln>
        </p:spPr>
        <p:txBody>
          <a:bodyPr/>
          <a:lstStyle/>
          <a:p>
            <a:pPr>
              <a:buNone/>
              <a:defRPr sz="1050" b="1">
                <a:solidFill>
                  <a:srgbClr val="6D4FB3"/>
                </a:solidFill>
              </a:defRPr>
            </a:pPr>
            <a:r>
              <a:rPr sz="1050" b="1">
                <a:solidFill>
                  <a:srgbClr val="6D4FB3"/>
                </a:solidFill>
              </a:rPr>
              <a:t>NEW BROWNFIELD INTEGRATION</a:t>
            </a:r>
          </a:p>
        </p:txBody>
      </p:sp>
      <p:sp>
        <p:nvSpPr>
          <p:cNvPr id="9" name="mainframe-system-title">
            <a:extLst>
              <a:ext uri="{FF2B5EF4-FFF2-40B4-BE49-F238E27FC236}">
                <a16:creationId xmlns:a16="http://schemas.microsoft.com/office/drawing/2014/main" id="{817BFE9F-4A81-4FF1-8D4D-14EC4AAE2E5F}"/>
              </a:ext>
            </a:extLst>
          </p:cNvPr>
          <p:cNvSpPr>
            <a:spLocks noGrp="1"/>
          </p:cNvSpPr>
          <p:nvPr/>
        </p:nvSpPr>
        <p:spPr>
          <a:xfrm>
            <a:off x="876300" y="3305175"/>
            <a:ext cx="2524125" cy="285750"/>
          </a:xfrm>
          <a:prstGeom prst="rect">
            <a:avLst/>
          </a:prstGeom>
          <a:noFill/>
          <a:ln w="0">
            <a:noFill/>
            <a:prstDash val="solid"/>
          </a:ln>
        </p:spPr>
        <p:txBody>
          <a:bodyPr/>
          <a:lstStyle/>
          <a:p>
            <a:pPr>
              <a:buNone/>
              <a:defRPr sz="1650" b="1">
                <a:solidFill>
                  <a:srgbClr val="172033"/>
                </a:solidFill>
              </a:defRPr>
            </a:pPr>
            <a:r>
              <a:rPr sz="1650" b="1">
                <a:solidFill>
                  <a:srgbClr val="172033"/>
                </a:solidFill>
              </a:rPr>
              <a:t>Mainframe repair history</a:t>
            </a:r>
          </a:p>
        </p:txBody>
      </p:sp>
      <p:sp>
        <p:nvSpPr>
          <p:cNvPr id="10" name="mainframe-system-detail">
            <a:extLst>
              <a:ext uri="{FF2B5EF4-FFF2-40B4-BE49-F238E27FC236}">
                <a16:creationId xmlns:a16="http://schemas.microsoft.com/office/drawing/2014/main" id="{DC64EE7F-9001-49B3-988E-1D37C7B7C208}"/>
              </a:ext>
            </a:extLst>
          </p:cNvPr>
          <p:cNvSpPr>
            <a:spLocks noGrp="1"/>
          </p:cNvSpPr>
          <p:nvPr/>
        </p:nvSpPr>
        <p:spPr>
          <a:xfrm>
            <a:off x="876300" y="3638550"/>
            <a:ext cx="2524125" cy="228600"/>
          </a:xfrm>
          <a:prstGeom prst="rect">
            <a:avLst/>
          </a:prstGeom>
          <a:noFill/>
          <a:ln w="0">
            <a:noFill/>
            <a:prstDash val="solid"/>
          </a:ln>
        </p:spPr>
        <p:txBody>
          <a:bodyPr/>
          <a:lstStyle/>
          <a:p>
            <a:pPr>
              <a:buNone/>
              <a:defRPr sz="1125">
                <a:solidFill>
                  <a:srgbClr val="4B5563"/>
                </a:solidFill>
              </a:defRPr>
            </a:pPr>
            <a:r>
              <a:rPr sz="1125">
                <a:solidFill>
                  <a:srgbClr val="4B5563"/>
                </a:solidFill>
              </a:rPr>
              <a:t>Authoritative service records</a:t>
            </a:r>
          </a:p>
        </p:txBody>
      </p:sp>
      <p:sp>
        <p:nvSpPr>
          <p:cNvPr id="11" name="dealer-system">
            <a:extLst>
              <a:ext uri="{FF2B5EF4-FFF2-40B4-BE49-F238E27FC236}">
                <a16:creationId xmlns:a16="http://schemas.microsoft.com/office/drawing/2014/main" id="{60F6EC21-3CE6-466E-8D60-33C4B2787D3A}"/>
              </a:ext>
            </a:extLst>
          </p:cNvPr>
          <p:cNvSpPr>
            <a:spLocks noGrp="1"/>
          </p:cNvSpPr>
          <p:nvPr/>
        </p:nvSpPr>
        <p:spPr>
          <a:xfrm>
            <a:off x="609600" y="4248150"/>
            <a:ext cx="2952750" cy="1228725"/>
          </a:xfrm>
          <a:prstGeom prst="roundRect">
            <a:avLst>
              <a:gd name="adj" fmla="val 10714"/>
            </a:avLst>
          </a:prstGeom>
          <a:solidFill>
            <a:srgbClr val="FFF3E5"/>
          </a:solidFill>
          <a:ln w="14288">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ealer-system-eyebrow">
            <a:extLst>
              <a:ext uri="{FF2B5EF4-FFF2-40B4-BE49-F238E27FC236}">
                <a16:creationId xmlns:a16="http://schemas.microsoft.com/office/drawing/2014/main" id="{48E09533-6466-4623-A7E6-497EB4985C3C}"/>
              </a:ext>
            </a:extLst>
          </p:cNvPr>
          <p:cNvSpPr>
            <a:spLocks noGrp="1"/>
          </p:cNvSpPr>
          <p:nvPr/>
        </p:nvSpPr>
        <p:spPr>
          <a:xfrm>
            <a:off x="876300" y="4343400"/>
            <a:ext cx="2524125" cy="209550"/>
          </a:xfrm>
          <a:prstGeom prst="rect">
            <a:avLst/>
          </a:prstGeom>
          <a:noFill/>
          <a:ln w="0">
            <a:noFill/>
            <a:prstDash val="solid"/>
          </a:ln>
        </p:spPr>
        <p:txBody>
          <a:bodyPr/>
          <a:lstStyle/>
          <a:p>
            <a:pPr>
              <a:buNone/>
              <a:defRPr sz="1050" b="1">
                <a:solidFill>
                  <a:srgbClr val="B86713"/>
                </a:solidFill>
              </a:defRPr>
            </a:pPr>
            <a:r>
              <a:rPr sz="1050" b="1">
                <a:solidFill>
                  <a:srgbClr val="B86713"/>
                </a:solidFill>
              </a:rPr>
              <a:t>2,500+ INDEPENDENT OWNERS</a:t>
            </a:r>
          </a:p>
        </p:txBody>
      </p:sp>
      <p:sp>
        <p:nvSpPr>
          <p:cNvPr id="13" name="dealer-system-title">
            <a:extLst>
              <a:ext uri="{FF2B5EF4-FFF2-40B4-BE49-F238E27FC236}">
                <a16:creationId xmlns:a16="http://schemas.microsoft.com/office/drawing/2014/main" id="{41069AF1-3D9A-43F4-8AEB-FA37ABDE81F5}"/>
              </a:ext>
            </a:extLst>
          </p:cNvPr>
          <p:cNvSpPr>
            <a:spLocks noGrp="1"/>
          </p:cNvSpPr>
          <p:nvPr/>
        </p:nvSpPr>
        <p:spPr>
          <a:xfrm>
            <a:off x="876300" y="4581525"/>
            <a:ext cx="2524125" cy="285750"/>
          </a:xfrm>
          <a:prstGeom prst="rect">
            <a:avLst/>
          </a:prstGeom>
          <a:noFill/>
          <a:ln w="0">
            <a:noFill/>
            <a:prstDash val="solid"/>
          </a:ln>
        </p:spPr>
        <p:txBody>
          <a:bodyPr/>
          <a:lstStyle/>
          <a:p>
            <a:pPr>
              <a:buNone/>
              <a:defRPr sz="1650" b="1">
                <a:solidFill>
                  <a:srgbClr val="172033"/>
                </a:solidFill>
              </a:defRPr>
            </a:pPr>
            <a:r>
              <a:rPr sz="1650" b="1">
                <a:solidFill>
                  <a:srgbClr val="172033"/>
                </a:solidFill>
              </a:rPr>
              <a:t>Dealer scheduling systems</a:t>
            </a:r>
          </a:p>
        </p:txBody>
      </p:sp>
      <p:sp>
        <p:nvSpPr>
          <p:cNvPr id="14" name="dealer-system-detail">
            <a:extLst>
              <a:ext uri="{FF2B5EF4-FFF2-40B4-BE49-F238E27FC236}">
                <a16:creationId xmlns:a16="http://schemas.microsoft.com/office/drawing/2014/main" id="{F50CB3F5-7A31-45DF-BF91-5735841BC000}"/>
              </a:ext>
            </a:extLst>
          </p:cNvPr>
          <p:cNvSpPr>
            <a:spLocks noGrp="1"/>
          </p:cNvSpPr>
          <p:nvPr/>
        </p:nvSpPr>
        <p:spPr>
          <a:xfrm>
            <a:off x="876300" y="5105400"/>
            <a:ext cx="2524125" cy="228600"/>
          </a:xfrm>
          <a:prstGeom prst="rect">
            <a:avLst/>
          </a:prstGeom>
          <a:noFill/>
          <a:ln w="0">
            <a:noFill/>
            <a:prstDash val="solid"/>
          </a:ln>
        </p:spPr>
        <p:txBody>
          <a:bodyPr/>
          <a:lstStyle/>
          <a:p>
            <a:pPr>
              <a:buNone/>
              <a:defRPr sz="1125">
                <a:solidFill>
                  <a:srgbClr val="4B5563"/>
                </a:solidFill>
              </a:defRPr>
            </a:pPr>
            <a:r>
              <a:rPr sz="1125">
                <a:solidFill>
                  <a:srgbClr val="4B5563"/>
                </a:solidFill>
              </a:rPr>
              <a:t>Authoritative slots and appointments</a:t>
            </a:r>
          </a:p>
        </p:txBody>
      </p:sp>
      <p:sp>
        <p:nvSpPr>
          <p:cNvPr id="15" name="integration-layer">
            <a:extLst>
              <a:ext uri="{FF2B5EF4-FFF2-40B4-BE49-F238E27FC236}">
                <a16:creationId xmlns:a16="http://schemas.microsoft.com/office/drawing/2014/main" id="{BF19B38F-FB1E-4155-AD13-56988E2CE223}"/>
              </a:ext>
            </a:extLst>
          </p:cNvPr>
          <p:cNvSpPr>
            <a:spLocks noGrp="1"/>
          </p:cNvSpPr>
          <p:nvPr/>
        </p:nvSpPr>
        <p:spPr>
          <a:xfrm>
            <a:off x="4572000" y="2114550"/>
            <a:ext cx="2571750" cy="2800350"/>
          </a:xfrm>
          <a:prstGeom prst="roundRect">
            <a:avLst>
              <a:gd name="adj" fmla="val 5926"/>
            </a:avLst>
          </a:prstGeom>
          <a:solidFill>
            <a:srgbClr val="FFFFFF"/>
          </a:solidFill>
          <a:ln w="19050">
            <a:solidFill>
              <a:srgbClr val="198E84"/>
            </a:solidFill>
            <a:prstDash val="solid"/>
          </a:ln>
        </p:spPr>
        <p:style>
          <a:lnRef idx="0">
            <a:scrgbClr r="0" g="0" b="0"/>
          </a:lnRef>
          <a:fillRef idx="0">
            <a:scrgbClr r="0" g="0" b="0"/>
          </a:fillRef>
          <a:effectRef idx="6">
            <a:scrgbClr r="0" g="0" b="0"/>
          </a:effectRef>
          <a:fontRef idx="major"/>
        </p:style>
        <p:txBody>
          <a:bodyPr/>
          <a:lstStyle/>
          <a:p>
            <a:endParaRPr/>
          </a:p>
        </p:txBody>
      </p:sp>
      <p:sp>
        <p:nvSpPr>
          <p:cNvPr id="16" name="integration-eyebrow">
            <a:extLst>
              <a:ext uri="{FF2B5EF4-FFF2-40B4-BE49-F238E27FC236}">
                <a16:creationId xmlns:a16="http://schemas.microsoft.com/office/drawing/2014/main" id="{B17C8385-7AC0-404D-A000-17478C2ED491}"/>
              </a:ext>
            </a:extLst>
          </p:cNvPr>
          <p:cNvSpPr>
            <a:spLocks noGrp="1"/>
          </p:cNvSpPr>
          <p:nvPr/>
        </p:nvSpPr>
        <p:spPr>
          <a:xfrm>
            <a:off x="4838700" y="2381250"/>
            <a:ext cx="2038350" cy="228600"/>
          </a:xfrm>
          <a:prstGeom prst="rect">
            <a:avLst/>
          </a:prstGeom>
          <a:noFill/>
          <a:ln w="0">
            <a:noFill/>
            <a:prstDash val="solid"/>
          </a:ln>
        </p:spPr>
        <p:txBody>
          <a:bodyPr/>
          <a:lstStyle/>
          <a:p>
            <a:pPr algn="ctr">
              <a:buNone/>
              <a:defRPr sz="1050" b="1">
                <a:solidFill>
                  <a:srgbClr val="198E84"/>
                </a:solidFill>
              </a:defRPr>
            </a:pPr>
            <a:r>
              <a:rPr sz="1050" b="1">
                <a:solidFill>
                  <a:srgbClr val="198E84"/>
                </a:solidFill>
              </a:rPr>
              <a:t>STANDARDIZED BOUNDARY</a:t>
            </a:r>
          </a:p>
        </p:txBody>
      </p:sp>
      <p:sp>
        <p:nvSpPr>
          <p:cNvPr id="17" name="integration-title">
            <a:extLst>
              <a:ext uri="{FF2B5EF4-FFF2-40B4-BE49-F238E27FC236}">
                <a16:creationId xmlns:a16="http://schemas.microsoft.com/office/drawing/2014/main" id="{2C24CEBD-31AF-42AD-BCEC-EF9E451B8FDD}"/>
              </a:ext>
            </a:extLst>
          </p:cNvPr>
          <p:cNvSpPr>
            <a:spLocks noGrp="1"/>
          </p:cNvSpPr>
          <p:nvPr/>
        </p:nvSpPr>
        <p:spPr>
          <a:xfrm>
            <a:off x="4857750" y="2724150"/>
            <a:ext cx="2000250" cy="628650"/>
          </a:xfrm>
          <a:prstGeom prst="rect">
            <a:avLst/>
          </a:prstGeom>
          <a:noFill/>
          <a:ln w="0">
            <a:noFill/>
            <a:prstDash val="solid"/>
          </a:ln>
        </p:spPr>
        <p:txBody>
          <a:bodyPr/>
          <a:lstStyle/>
          <a:p>
            <a:pPr algn="ctr">
              <a:buNone/>
              <a:defRPr sz="1950" b="1">
                <a:solidFill>
                  <a:srgbClr val="172033"/>
                </a:solidFill>
              </a:defRPr>
            </a:pPr>
            <a:r>
              <a:rPr sz="1950" b="1">
                <a:solidFill>
                  <a:srgbClr val="172033"/>
                </a:solidFill>
              </a:rPr>
              <a:t>Brownfield</a:t>
            </a:r>
          </a:p>
          <a:p>
            <a:pPr algn="ctr">
              <a:buNone/>
              <a:defRPr sz="1950" b="1">
                <a:solidFill>
                  <a:srgbClr val="172033"/>
                </a:solidFill>
              </a:defRPr>
            </a:pPr>
            <a:r>
              <a:rPr sz="1950" b="1">
                <a:solidFill>
                  <a:srgbClr val="172033"/>
                </a:solidFill>
              </a:rPr>
              <a:t>integration layer</a:t>
            </a:r>
          </a:p>
        </p:txBody>
      </p:sp>
      <p:sp>
        <p:nvSpPr>
          <p:cNvPr id="18" name="integration-detail">
            <a:extLst>
              <a:ext uri="{FF2B5EF4-FFF2-40B4-BE49-F238E27FC236}">
                <a16:creationId xmlns:a16="http://schemas.microsoft.com/office/drawing/2014/main" id="{51E1D1C6-77B1-4C0A-A5BE-BFC40181C911}"/>
              </a:ext>
            </a:extLst>
          </p:cNvPr>
          <p:cNvSpPr>
            <a:spLocks noGrp="1"/>
          </p:cNvSpPr>
          <p:nvPr/>
        </p:nvSpPr>
        <p:spPr>
          <a:xfrm>
            <a:off x="4953000" y="3486150"/>
            <a:ext cx="1809750" cy="1066800"/>
          </a:xfrm>
          <a:prstGeom prst="rect">
            <a:avLst/>
          </a:prstGeom>
          <a:noFill/>
          <a:ln w="0">
            <a:noFill/>
            <a:prstDash val="solid"/>
          </a:ln>
        </p:spPr>
        <p:txBody>
          <a:bodyPr/>
          <a:lstStyle/>
          <a:p>
            <a:pPr algn="ctr">
              <a:buNone/>
              <a:defRPr sz="1275">
                <a:solidFill>
                  <a:srgbClr val="455161"/>
                </a:solidFill>
              </a:defRPr>
            </a:pPr>
            <a:r>
              <a:rPr sz="1275">
                <a:solidFill>
                  <a:srgbClr val="455161"/>
                </a:solidFill>
              </a:rPr>
              <a:t>Canonical APIs</a:t>
            </a:r>
          </a:p>
          <a:p>
            <a:pPr algn="ctr">
              <a:buNone/>
              <a:defRPr sz="1275">
                <a:solidFill>
                  <a:srgbClr val="455161"/>
                </a:solidFill>
              </a:defRPr>
            </a:pPr>
            <a:r>
              <a:rPr sz="1275">
                <a:solidFill>
                  <a:srgbClr val="455161"/>
                </a:solidFill>
              </a:rPr>
              <a:t>Dealer adapters</a:t>
            </a:r>
          </a:p>
          <a:p>
            <a:pPr algn="ctr">
              <a:buNone/>
              <a:defRPr sz="1275">
                <a:solidFill>
                  <a:srgbClr val="455161"/>
                </a:solidFill>
              </a:defRPr>
            </a:pPr>
            <a:r>
              <a:rPr sz="1275">
                <a:solidFill>
                  <a:srgbClr val="455161"/>
                </a:solidFill>
              </a:rPr>
              <a:t>Security &amp; identity</a:t>
            </a:r>
          </a:p>
          <a:p>
            <a:pPr algn="ctr">
              <a:buNone/>
              <a:defRPr sz="1275">
                <a:solidFill>
                  <a:srgbClr val="455161"/>
                </a:solidFill>
              </a:defRPr>
            </a:pPr>
            <a:r>
              <a:rPr sz="1275">
                <a:solidFill>
                  <a:srgbClr val="455161"/>
                </a:solidFill>
              </a:rPr>
              <a:t>Retries, DLQs &amp; reconciliation</a:t>
            </a:r>
          </a:p>
        </p:txBody>
      </p:sp>
      <p:sp>
        <p:nvSpPr>
          <p:cNvPr id="19" name="cloud-platform">
            <a:extLst>
              <a:ext uri="{FF2B5EF4-FFF2-40B4-BE49-F238E27FC236}">
                <a16:creationId xmlns:a16="http://schemas.microsoft.com/office/drawing/2014/main" id="{E15394FC-55B1-4D25-AA18-B1E9C2370E65}"/>
              </a:ext>
            </a:extLst>
          </p:cNvPr>
          <p:cNvSpPr>
            <a:spLocks noGrp="1"/>
          </p:cNvSpPr>
          <p:nvPr/>
        </p:nvSpPr>
        <p:spPr>
          <a:xfrm>
            <a:off x="8096250" y="2286000"/>
            <a:ext cx="3333750" cy="2457450"/>
          </a:xfrm>
          <a:prstGeom prst="roundRect">
            <a:avLst>
              <a:gd name="adj" fmla="val 6202"/>
            </a:avLst>
          </a:prstGeom>
          <a:solidFill>
            <a:srgbClr val="EAF8F3"/>
          </a:solidFill>
          <a:ln w="19050">
            <a:solidFill>
              <a:srgbClr val="147A58"/>
            </a:solidFill>
            <a:prstDash val="solid"/>
          </a:ln>
        </p:spPr>
        <p:style>
          <a:lnRef idx="0">
            <a:scrgbClr r="0" g="0" b="0"/>
          </a:lnRef>
          <a:fillRef idx="0">
            <a:scrgbClr r="0" g="0" b="0"/>
          </a:fillRef>
          <a:effectRef idx="6">
            <a:scrgbClr r="0" g="0" b="0"/>
          </a:effectRef>
          <a:fontRef idx="major"/>
        </p:style>
        <p:txBody>
          <a:bodyPr/>
          <a:lstStyle/>
          <a:p>
            <a:endParaRPr/>
          </a:p>
        </p:txBody>
      </p:sp>
      <p:sp>
        <p:nvSpPr>
          <p:cNvPr id="20" name="cloud-eyebrow">
            <a:extLst>
              <a:ext uri="{FF2B5EF4-FFF2-40B4-BE49-F238E27FC236}">
                <a16:creationId xmlns:a16="http://schemas.microsoft.com/office/drawing/2014/main" id="{32EDEE94-26C6-4A22-A8E2-1A597D4DC471}"/>
              </a:ext>
            </a:extLst>
          </p:cNvPr>
          <p:cNvSpPr>
            <a:spLocks noGrp="1"/>
          </p:cNvSpPr>
          <p:nvPr/>
        </p:nvSpPr>
        <p:spPr>
          <a:xfrm>
            <a:off x="8401050" y="2571750"/>
            <a:ext cx="2724150" cy="228600"/>
          </a:xfrm>
          <a:prstGeom prst="rect">
            <a:avLst/>
          </a:prstGeom>
          <a:noFill/>
          <a:ln w="0">
            <a:noFill/>
            <a:prstDash val="solid"/>
          </a:ln>
        </p:spPr>
        <p:txBody>
          <a:bodyPr/>
          <a:lstStyle/>
          <a:p>
            <a:pPr algn="ctr">
              <a:buNone/>
              <a:defRPr sz="1050" b="1">
                <a:solidFill>
                  <a:srgbClr val="147A58"/>
                </a:solidFill>
              </a:defRPr>
            </a:pPr>
            <a:r>
              <a:rPr sz="1050" b="1">
                <a:solidFill>
                  <a:srgbClr val="147A58"/>
                </a:solidFill>
              </a:rPr>
              <a:t>AWS CUSTOMER EXPERIENCE PLATFORM</a:t>
            </a:r>
          </a:p>
        </p:txBody>
      </p:sp>
      <p:sp>
        <p:nvSpPr>
          <p:cNvPr id="21" name="cloud-title">
            <a:extLst>
              <a:ext uri="{FF2B5EF4-FFF2-40B4-BE49-F238E27FC236}">
                <a16:creationId xmlns:a16="http://schemas.microsoft.com/office/drawing/2014/main" id="{9EFC5E7C-DBF7-4E8D-B1E0-CE1CC1E376EC}"/>
              </a:ext>
            </a:extLst>
          </p:cNvPr>
          <p:cNvSpPr>
            <a:spLocks noGrp="1"/>
          </p:cNvSpPr>
          <p:nvPr/>
        </p:nvSpPr>
        <p:spPr>
          <a:xfrm>
            <a:off x="8420100" y="2943225"/>
            <a:ext cx="2686050" cy="647700"/>
          </a:xfrm>
          <a:prstGeom prst="rect">
            <a:avLst/>
          </a:prstGeom>
          <a:noFill/>
          <a:ln w="0">
            <a:noFill/>
            <a:prstDash val="solid"/>
          </a:ln>
        </p:spPr>
        <p:txBody>
          <a:bodyPr/>
          <a:lstStyle/>
          <a:p>
            <a:pPr algn="ctr">
              <a:buNone/>
              <a:defRPr sz="2025" b="1">
                <a:solidFill>
                  <a:srgbClr val="172033"/>
                </a:solidFill>
              </a:defRPr>
            </a:pPr>
            <a:r>
              <a:rPr sz="2025" b="1">
                <a:solidFill>
                  <a:srgbClr val="172033"/>
                </a:solidFill>
              </a:rPr>
              <a:t>Vehicle service</a:t>
            </a:r>
          </a:p>
          <a:p>
            <a:pPr algn="ctr">
              <a:buNone/>
              <a:defRPr sz="2025" b="1">
                <a:solidFill>
                  <a:srgbClr val="172033"/>
                </a:solidFill>
              </a:defRPr>
            </a:pPr>
            <a:r>
              <a:rPr sz="2025" b="1">
                <a:solidFill>
                  <a:srgbClr val="172033"/>
                </a:solidFill>
              </a:rPr>
              <a:t>appointment platform</a:t>
            </a:r>
          </a:p>
        </p:txBody>
      </p:sp>
      <p:sp>
        <p:nvSpPr>
          <p:cNvPr id="22" name="cloud-detail">
            <a:extLst>
              <a:ext uri="{FF2B5EF4-FFF2-40B4-BE49-F238E27FC236}">
                <a16:creationId xmlns:a16="http://schemas.microsoft.com/office/drawing/2014/main" id="{81DEF6AD-B2AE-4A6B-AC37-572B7A7C76C1}"/>
              </a:ext>
            </a:extLst>
          </p:cNvPr>
          <p:cNvSpPr>
            <a:spLocks noGrp="1"/>
          </p:cNvSpPr>
          <p:nvPr/>
        </p:nvSpPr>
        <p:spPr>
          <a:xfrm>
            <a:off x="8477250" y="3733800"/>
            <a:ext cx="2571750" cy="781050"/>
          </a:xfrm>
          <a:prstGeom prst="rect">
            <a:avLst/>
          </a:prstGeom>
          <a:noFill/>
          <a:ln w="0">
            <a:noFill/>
            <a:prstDash val="solid"/>
          </a:ln>
        </p:spPr>
        <p:txBody>
          <a:bodyPr/>
          <a:lstStyle/>
          <a:p>
            <a:pPr algn="ctr">
              <a:buNone/>
              <a:defRPr sz="1275">
                <a:solidFill>
                  <a:srgbClr val="455161"/>
                </a:solidFill>
              </a:defRPr>
            </a:pPr>
            <a:r>
              <a:rPr sz="1275">
                <a:solidFill>
                  <a:srgbClr val="455161"/>
                </a:solidFill>
              </a:rPr>
              <a:t>24/7 customer journey</a:t>
            </a:r>
          </a:p>
          <a:p>
            <a:pPr algn="ctr">
              <a:buNone/>
              <a:defRPr sz="1275">
                <a:solidFill>
                  <a:srgbClr val="455161"/>
                </a:solidFill>
              </a:defRPr>
            </a:pPr>
            <a:r>
              <a:rPr sz="1275">
                <a:solidFill>
                  <a:srgbClr val="455161"/>
                </a:solidFill>
              </a:rPr>
              <a:t>Search, hold, book &amp; notify</a:t>
            </a:r>
          </a:p>
          <a:p>
            <a:pPr algn="ctr">
              <a:buNone/>
              <a:defRPr sz="1275">
                <a:solidFill>
                  <a:srgbClr val="455161"/>
                </a:solidFill>
              </a:defRPr>
            </a:pPr>
            <a:r>
              <a:rPr sz="1275">
                <a:solidFill>
                  <a:srgbClr val="455161"/>
                </a:solidFill>
              </a:rPr>
              <a:t>Scalable orchestration and observability</a:t>
            </a:r>
          </a:p>
        </p:txBody>
      </p:sp>
      <p:cxnSp>
        <p:nvCxnSpPr>
          <p:cNvPr id="102" name="Connector: Elbow 49"/>
          <p:cNvCxnSpPr>
            <a:stCxn id="3" idx="3"/>
            <a:endCxn id="15" idx="1"/>
          </p:cNvCxnSpPr>
          <p:nvPr/>
        </p:nvCxnSpPr>
        <p:spPr>
          <a:xfrm>
            <a:off x="3619500" y="2171700"/>
            <a:ext cx="952500" cy="1343025"/>
          </a:xfrm>
          <a:prstGeom prst="bentConnector3">
            <a:avLst>
              <a:gd name="adj1" fmla="val 50000"/>
            </a:avLst>
          </a:prstGeom>
          <a:ln w="19050">
            <a:solidFill>
              <a:srgbClr val="7A8492"/>
            </a:solidFill>
            <a:prstDash val="solid"/>
            <a:headEnd type="triangle" w="sm" len="sm"/>
            <a:tailEnd type="triangle" w="sm" len="sm"/>
          </a:ln>
        </p:spPr>
      </p:cxnSp>
      <p:cxnSp>
        <p:nvCxnSpPr>
          <p:cNvPr id="103" name="Straight Arrow Connector 50"/>
          <p:cNvCxnSpPr>
            <a:stCxn id="7" idx="3"/>
            <a:endCxn id="15" idx="1"/>
          </p:cNvCxnSpPr>
          <p:nvPr/>
        </p:nvCxnSpPr>
        <p:spPr>
          <a:xfrm>
            <a:off x="3619500" y="3448050"/>
            <a:ext cx="952500" cy="66675"/>
          </a:xfrm>
          <a:prstGeom prst="straightConnector1">
            <a:avLst/>
          </a:prstGeom>
          <a:ln w="19050">
            <a:solidFill>
              <a:srgbClr val="7A8492"/>
            </a:solidFill>
            <a:prstDash val="solid"/>
            <a:headEnd type="triangle" w="sm" len="sm"/>
            <a:tailEnd type="triangle" w="sm" len="sm"/>
          </a:ln>
        </p:spPr>
      </p:cxnSp>
      <p:cxnSp>
        <p:nvCxnSpPr>
          <p:cNvPr id="104" name="Connector: Elbow 51"/>
          <p:cNvCxnSpPr>
            <a:stCxn id="11" idx="3"/>
            <a:endCxn id="15" idx="1"/>
          </p:cNvCxnSpPr>
          <p:nvPr/>
        </p:nvCxnSpPr>
        <p:spPr>
          <a:xfrm flipV="1">
            <a:off x="3562350" y="3514725"/>
            <a:ext cx="1009650" cy="1347788"/>
          </a:xfrm>
          <a:prstGeom prst="bentConnector3">
            <a:avLst>
              <a:gd name="adj1" fmla="val 50000"/>
            </a:avLst>
          </a:prstGeom>
          <a:ln w="19050">
            <a:solidFill>
              <a:srgbClr val="7A8492"/>
            </a:solidFill>
            <a:prstDash val="solid"/>
            <a:headEnd type="triangle" w="sm" len="sm"/>
            <a:tailEnd type="triangle" w="sm" len="sm"/>
          </a:ln>
        </p:spPr>
      </p:cxnSp>
      <p:cxnSp>
        <p:nvCxnSpPr>
          <p:cNvPr id="105" name="Straight Arrow Connector 52"/>
          <p:cNvCxnSpPr>
            <a:stCxn id="15" idx="3"/>
            <a:endCxn id="19" idx="1"/>
          </p:cNvCxnSpPr>
          <p:nvPr/>
        </p:nvCxnSpPr>
        <p:spPr>
          <a:xfrm>
            <a:off x="7143750" y="3514725"/>
            <a:ext cx="952500" cy="0"/>
          </a:xfrm>
          <a:prstGeom prst="straightConnector1">
            <a:avLst/>
          </a:prstGeom>
          <a:ln w="28575">
            <a:solidFill>
              <a:srgbClr val="147A58"/>
            </a:solidFill>
            <a:prstDash val="solid"/>
            <a:headEnd type="triangle" w="med" len="med"/>
            <a:tailEnd type="triangle" w="med" len="med"/>
          </a:ln>
        </p:spPr>
      </p:cxnSp>
      <p:sp>
        <p:nvSpPr>
          <p:cNvPr id="27" name="takeaway">
            <a:extLst>
              <a:ext uri="{FF2B5EF4-FFF2-40B4-BE49-F238E27FC236}">
                <a16:creationId xmlns:a16="http://schemas.microsoft.com/office/drawing/2014/main" id="{2F509F8A-6FF8-4252-A6B3-B5BFFB97DB69}"/>
              </a:ext>
            </a:extLst>
          </p:cNvPr>
          <p:cNvSpPr>
            <a:spLocks noGrp="1"/>
          </p:cNvSpPr>
          <p:nvPr/>
        </p:nvSpPr>
        <p:spPr>
          <a:xfrm>
            <a:off x="1619250" y="5810250"/>
            <a:ext cx="8953500" cy="609600"/>
          </a:xfrm>
          <a:prstGeom prst="roundRect">
            <a:avLst>
              <a:gd name="adj" fmla="val 18750"/>
            </a:avLst>
          </a:prstGeom>
          <a:solidFill>
            <a:srgbClr val="172033"/>
          </a:solidFill>
          <a:ln w="0">
            <a:solidFill>
              <a:srgbClr val="172033"/>
            </a:solidFill>
            <a:prstDash val="solid"/>
          </a:ln>
        </p:spPr>
        <p:txBody>
          <a:bodyPr/>
          <a:lstStyle/>
          <a:p>
            <a:pPr algn="ctr">
              <a:buNone/>
              <a:defRPr sz="1500" b="1">
                <a:solidFill>
                  <a:srgbClr val="FFFFFF"/>
                </a:solidFill>
              </a:defRPr>
            </a:pPr>
            <a:r>
              <a:rPr sz="1500" b="1">
                <a:solidFill>
                  <a:srgbClr val="FFFFFF"/>
                </a:solidFill>
              </a:rPr>
              <a:t>Architecture principle: preserve system ownership, standardize integration, and isolate failures from the customer journey.</a:t>
            </a:r>
          </a:p>
        </p:txBody>
      </p:sp>
    </p:spTree>
    <p:extLst>
      <p:ext uri="{BB962C8B-B14F-4D97-AF65-F5344CB8AC3E}">
        <p14:creationId xmlns:p14="http://schemas.microsoft.com/office/powerpoint/2010/main" val="668474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lide-title">
            <a:extLst>
              <a:ext uri="{FF2B5EF4-FFF2-40B4-BE49-F238E27FC236}">
                <a16:creationId xmlns:a16="http://schemas.microsoft.com/office/drawing/2014/main" id="{4AAB2E09-8AE1-49A8-8CF5-CDE8329812F1}"/>
              </a:ext>
            </a:extLst>
          </p:cNvPr>
          <p:cNvSpPr>
            <a:spLocks noGrp="1"/>
          </p:cNvSpPr>
          <p:nvPr/>
        </p:nvSpPr>
        <p:spPr>
          <a:xfrm>
            <a:off x="666750" y="361950"/>
            <a:ext cx="10858500" cy="457200"/>
          </a:xfrm>
          <a:prstGeom prst="rect">
            <a:avLst/>
          </a:prstGeom>
          <a:noFill/>
          <a:ln w="0">
            <a:noFill/>
            <a:prstDash val="solid"/>
          </a:ln>
        </p:spPr>
        <p:txBody>
          <a:bodyPr/>
          <a:lstStyle/>
          <a:p>
            <a:pPr algn="ctr">
              <a:buNone/>
              <a:defRPr sz="2700" b="1">
                <a:solidFill>
                  <a:srgbClr val="111827"/>
                </a:solidFill>
              </a:defRPr>
            </a:pPr>
            <a:r>
              <a:rPr sz="2700" b="1">
                <a:solidFill>
                  <a:srgbClr val="111827"/>
                </a:solidFill>
              </a:rPr>
              <a:t>Modernize around existing systems to deliver four architectural outcomes</a:t>
            </a:r>
          </a:p>
        </p:txBody>
      </p:sp>
      <p:sp>
        <p:nvSpPr>
          <p:cNvPr id="2" name="slide-subtitle">
            <a:extLst>
              <a:ext uri="{FF2B5EF4-FFF2-40B4-BE49-F238E27FC236}">
                <a16:creationId xmlns:a16="http://schemas.microsoft.com/office/drawing/2014/main" id="{0EA7B8A3-1186-4561-9FA5-7684E90BBA83}"/>
              </a:ext>
            </a:extLst>
          </p:cNvPr>
          <p:cNvSpPr>
            <a:spLocks noGrp="1"/>
          </p:cNvSpPr>
          <p:nvPr/>
        </p:nvSpPr>
        <p:spPr>
          <a:xfrm>
            <a:off x="1266825" y="1117381"/>
            <a:ext cx="9525000" cy="304800"/>
          </a:xfrm>
          <a:prstGeom prst="rect">
            <a:avLst/>
          </a:prstGeom>
          <a:noFill/>
          <a:ln w="0">
            <a:noFill/>
            <a:prstDash val="solid"/>
          </a:ln>
        </p:spPr>
        <p:txBody>
          <a:bodyPr/>
          <a:lstStyle/>
          <a:p>
            <a:pPr algn="ctr">
              <a:buNone/>
              <a:defRPr sz="1350">
                <a:solidFill>
                  <a:srgbClr val="5B6472"/>
                </a:solidFill>
              </a:defRPr>
            </a:pPr>
            <a:r>
              <a:rPr sz="1350">
                <a:solidFill>
                  <a:srgbClr val="5B6472"/>
                </a:solidFill>
              </a:rPr>
              <a:t>A secure cloud platform and standardized integration layer reduce brownfield risk without forcing immediate replacement.</a:t>
            </a:r>
          </a:p>
        </p:txBody>
      </p:sp>
      <p:sp>
        <p:nvSpPr>
          <p:cNvPr id="3" name="outcome-1">
            <a:extLst>
              <a:ext uri="{FF2B5EF4-FFF2-40B4-BE49-F238E27FC236}">
                <a16:creationId xmlns:a16="http://schemas.microsoft.com/office/drawing/2014/main" id="{74CF3506-4723-4B78-A54F-EB0139C66D47}"/>
              </a:ext>
            </a:extLst>
          </p:cNvPr>
          <p:cNvSpPr>
            <a:spLocks noGrp="1"/>
          </p:cNvSpPr>
          <p:nvPr/>
        </p:nvSpPr>
        <p:spPr>
          <a:xfrm>
            <a:off x="619125" y="1504950"/>
            <a:ext cx="3667125" cy="1257300"/>
          </a:xfrm>
          <a:prstGeom prst="roundRect">
            <a:avLst>
              <a:gd name="adj" fmla="val 9091"/>
            </a:avLst>
          </a:prstGeom>
          <a:solidFill>
            <a:srgbClr val="EAF3FF"/>
          </a:solidFill>
          <a:ln w="14288">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4" name="outcome-1-number">
            <a:extLst>
              <a:ext uri="{FF2B5EF4-FFF2-40B4-BE49-F238E27FC236}">
                <a16:creationId xmlns:a16="http://schemas.microsoft.com/office/drawing/2014/main" id="{1865A029-6C59-4554-A6C1-4E88DEDCB9D8}"/>
              </a:ext>
            </a:extLst>
          </p:cNvPr>
          <p:cNvSpPr>
            <a:spLocks noGrp="1"/>
          </p:cNvSpPr>
          <p:nvPr/>
        </p:nvSpPr>
        <p:spPr>
          <a:xfrm>
            <a:off x="790575" y="1676400"/>
            <a:ext cx="381000" cy="381000"/>
          </a:xfrm>
          <a:prstGeom prst="ellipse">
            <a:avLst/>
          </a:prstGeom>
          <a:solidFill>
            <a:srgbClr val="2767A8"/>
          </a:solidFill>
          <a:ln w="0">
            <a:solidFill>
              <a:srgbClr val="2767A8"/>
            </a:solidFill>
            <a:prstDash val="solid"/>
          </a:ln>
        </p:spPr>
        <p:txBody>
          <a:bodyPr/>
          <a:lstStyle/>
          <a:p>
            <a:pPr algn="ctr">
              <a:buNone/>
              <a:defRPr sz="1500" b="1">
                <a:solidFill>
                  <a:srgbClr val="FFFFFF"/>
                </a:solidFill>
              </a:defRPr>
            </a:pPr>
            <a:r>
              <a:rPr sz="1500" b="1">
                <a:solidFill>
                  <a:srgbClr val="FFFFFF"/>
                </a:solidFill>
              </a:rPr>
              <a:t>1</a:t>
            </a:r>
          </a:p>
        </p:txBody>
      </p:sp>
      <p:sp>
        <p:nvSpPr>
          <p:cNvPr id="5" name="outcome-1-title">
            <a:extLst>
              <a:ext uri="{FF2B5EF4-FFF2-40B4-BE49-F238E27FC236}">
                <a16:creationId xmlns:a16="http://schemas.microsoft.com/office/drawing/2014/main" id="{F169EE0B-6C3E-4596-8160-7060AB4A64D0}"/>
              </a:ext>
            </a:extLst>
          </p:cNvPr>
          <p:cNvSpPr>
            <a:spLocks noGrp="1"/>
          </p:cNvSpPr>
          <p:nvPr/>
        </p:nvSpPr>
        <p:spPr>
          <a:xfrm>
            <a:off x="1304925" y="1676400"/>
            <a:ext cx="2790825" cy="323850"/>
          </a:xfrm>
          <a:prstGeom prst="rect">
            <a:avLst/>
          </a:prstGeom>
          <a:noFill/>
          <a:ln w="0">
            <a:noFill/>
            <a:prstDash val="solid"/>
          </a:ln>
        </p:spPr>
        <p:txBody>
          <a:bodyPr/>
          <a:lstStyle/>
          <a:p>
            <a:pPr>
              <a:buNone/>
              <a:defRPr sz="1650" b="1">
                <a:solidFill>
                  <a:srgbClr val="172033"/>
                </a:solidFill>
              </a:defRPr>
            </a:pPr>
            <a:r>
              <a:rPr sz="1650" b="1">
                <a:solidFill>
                  <a:srgbClr val="172033"/>
                </a:solidFill>
              </a:rPr>
              <a:t>National-scale experience</a:t>
            </a:r>
          </a:p>
        </p:txBody>
      </p:sp>
      <p:sp>
        <p:nvSpPr>
          <p:cNvPr id="6" name="outcome-1-detail">
            <a:extLst>
              <a:ext uri="{FF2B5EF4-FFF2-40B4-BE49-F238E27FC236}">
                <a16:creationId xmlns:a16="http://schemas.microsoft.com/office/drawing/2014/main" id="{E0E2EEC8-A4DE-4B8A-BAAF-4C5A273D973D}"/>
              </a:ext>
            </a:extLst>
          </p:cNvPr>
          <p:cNvSpPr>
            <a:spLocks noGrp="1"/>
          </p:cNvSpPr>
          <p:nvPr/>
        </p:nvSpPr>
        <p:spPr>
          <a:xfrm>
            <a:off x="1304925" y="2028825"/>
            <a:ext cx="2771775" cy="638175"/>
          </a:xfrm>
          <a:prstGeom prst="rect">
            <a:avLst/>
          </a:prstGeom>
          <a:noFill/>
          <a:ln w="0">
            <a:noFill/>
            <a:prstDash val="solid"/>
          </a:ln>
        </p:spPr>
        <p:txBody>
          <a:bodyPr/>
          <a:lstStyle/>
          <a:p>
            <a:pPr>
              <a:buNone/>
              <a:defRPr sz="1200">
                <a:solidFill>
                  <a:srgbClr val="4B5563"/>
                </a:solidFill>
              </a:defRPr>
            </a:pPr>
            <a:r>
              <a:rPr sz="1200">
                <a:solidFill>
                  <a:srgbClr val="4B5563"/>
                </a:solidFill>
              </a:rPr>
              <a:t>Fast, consistent web and mobile booking across 2,500+ dealerships.</a:t>
            </a:r>
          </a:p>
        </p:txBody>
      </p:sp>
      <p:sp>
        <p:nvSpPr>
          <p:cNvPr id="7" name="outcome-2">
            <a:extLst>
              <a:ext uri="{FF2B5EF4-FFF2-40B4-BE49-F238E27FC236}">
                <a16:creationId xmlns:a16="http://schemas.microsoft.com/office/drawing/2014/main" id="{426410C7-36B2-4EDE-8CB0-4F4A6E0430E2}"/>
              </a:ext>
            </a:extLst>
          </p:cNvPr>
          <p:cNvSpPr>
            <a:spLocks noGrp="1"/>
          </p:cNvSpPr>
          <p:nvPr/>
        </p:nvSpPr>
        <p:spPr>
          <a:xfrm>
            <a:off x="7905750" y="1504950"/>
            <a:ext cx="3667125" cy="1257300"/>
          </a:xfrm>
          <a:prstGeom prst="roundRect">
            <a:avLst>
              <a:gd name="adj" fmla="val 9091"/>
            </a:avLst>
          </a:prstGeom>
          <a:solidFill>
            <a:srgbClr val="FFF3E5"/>
          </a:solidFill>
          <a:ln w="14288">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8" name="outcome-2-number">
            <a:extLst>
              <a:ext uri="{FF2B5EF4-FFF2-40B4-BE49-F238E27FC236}">
                <a16:creationId xmlns:a16="http://schemas.microsoft.com/office/drawing/2014/main" id="{7EA44109-FFD8-4A03-A0BE-320F73925A30}"/>
              </a:ext>
            </a:extLst>
          </p:cNvPr>
          <p:cNvSpPr>
            <a:spLocks noGrp="1"/>
          </p:cNvSpPr>
          <p:nvPr/>
        </p:nvSpPr>
        <p:spPr>
          <a:xfrm>
            <a:off x="8077200" y="1676400"/>
            <a:ext cx="381000" cy="381000"/>
          </a:xfrm>
          <a:prstGeom prst="ellipse">
            <a:avLst/>
          </a:prstGeom>
          <a:solidFill>
            <a:srgbClr val="B86713"/>
          </a:solidFill>
          <a:ln w="0">
            <a:solidFill>
              <a:srgbClr val="B86713"/>
            </a:solidFill>
            <a:prstDash val="solid"/>
          </a:ln>
        </p:spPr>
        <p:txBody>
          <a:bodyPr/>
          <a:lstStyle/>
          <a:p>
            <a:pPr algn="ctr">
              <a:buNone/>
              <a:defRPr sz="1500" b="1">
                <a:solidFill>
                  <a:srgbClr val="FFFFFF"/>
                </a:solidFill>
              </a:defRPr>
            </a:pPr>
            <a:r>
              <a:rPr sz="1500" b="1">
                <a:solidFill>
                  <a:srgbClr val="FFFFFF"/>
                </a:solidFill>
              </a:rPr>
              <a:t>2</a:t>
            </a:r>
          </a:p>
        </p:txBody>
      </p:sp>
      <p:sp>
        <p:nvSpPr>
          <p:cNvPr id="9" name="outcome-2-title">
            <a:extLst>
              <a:ext uri="{FF2B5EF4-FFF2-40B4-BE49-F238E27FC236}">
                <a16:creationId xmlns:a16="http://schemas.microsoft.com/office/drawing/2014/main" id="{2823B543-513D-4637-A019-86B191E18440}"/>
              </a:ext>
            </a:extLst>
          </p:cNvPr>
          <p:cNvSpPr>
            <a:spLocks noGrp="1"/>
          </p:cNvSpPr>
          <p:nvPr/>
        </p:nvSpPr>
        <p:spPr>
          <a:xfrm>
            <a:off x="8591550" y="1676400"/>
            <a:ext cx="2790825" cy="323850"/>
          </a:xfrm>
          <a:prstGeom prst="rect">
            <a:avLst/>
          </a:prstGeom>
          <a:noFill/>
          <a:ln w="0">
            <a:noFill/>
            <a:prstDash val="solid"/>
          </a:ln>
        </p:spPr>
        <p:txBody>
          <a:bodyPr/>
          <a:lstStyle/>
          <a:p>
            <a:pPr>
              <a:buNone/>
              <a:defRPr sz="1650" b="1">
                <a:solidFill>
                  <a:srgbClr val="172033"/>
                </a:solidFill>
              </a:defRPr>
            </a:pPr>
            <a:r>
              <a:rPr sz="1650" b="1">
                <a:solidFill>
                  <a:srgbClr val="172033"/>
                </a:solidFill>
              </a:rPr>
              <a:t>Booking consistency</a:t>
            </a:r>
          </a:p>
        </p:txBody>
      </p:sp>
      <p:sp>
        <p:nvSpPr>
          <p:cNvPr id="10" name="outcome-2-detail">
            <a:extLst>
              <a:ext uri="{FF2B5EF4-FFF2-40B4-BE49-F238E27FC236}">
                <a16:creationId xmlns:a16="http://schemas.microsoft.com/office/drawing/2014/main" id="{49756554-1749-45D2-8798-D70D464547C5}"/>
              </a:ext>
            </a:extLst>
          </p:cNvPr>
          <p:cNvSpPr>
            <a:spLocks noGrp="1"/>
          </p:cNvSpPr>
          <p:nvPr/>
        </p:nvSpPr>
        <p:spPr>
          <a:xfrm>
            <a:off x="8591550" y="2028825"/>
            <a:ext cx="2771775" cy="638175"/>
          </a:xfrm>
          <a:prstGeom prst="rect">
            <a:avLst/>
          </a:prstGeom>
          <a:noFill/>
          <a:ln w="0">
            <a:noFill/>
            <a:prstDash val="solid"/>
          </a:ln>
        </p:spPr>
        <p:txBody>
          <a:bodyPr/>
          <a:lstStyle/>
          <a:p>
            <a:pPr>
              <a:buNone/>
              <a:defRPr sz="1200">
                <a:solidFill>
                  <a:srgbClr val="4B5563"/>
                </a:solidFill>
              </a:defRPr>
            </a:pPr>
            <a:r>
              <a:rPr sz="1200">
                <a:solidFill>
                  <a:srgbClr val="4B5563"/>
                </a:solidFill>
              </a:rPr>
              <a:t>Prevent duplicate appointments while dealers remain authoritative for slots.</a:t>
            </a:r>
          </a:p>
        </p:txBody>
      </p:sp>
      <p:sp>
        <p:nvSpPr>
          <p:cNvPr id="11" name="outcome-3">
            <a:extLst>
              <a:ext uri="{FF2B5EF4-FFF2-40B4-BE49-F238E27FC236}">
                <a16:creationId xmlns:a16="http://schemas.microsoft.com/office/drawing/2014/main" id="{CDBCDAD2-0897-4A8A-AD48-6F0AE55361E3}"/>
              </a:ext>
            </a:extLst>
          </p:cNvPr>
          <p:cNvSpPr>
            <a:spLocks noGrp="1"/>
          </p:cNvSpPr>
          <p:nvPr/>
        </p:nvSpPr>
        <p:spPr>
          <a:xfrm>
            <a:off x="619125" y="3333750"/>
            <a:ext cx="3667125" cy="1257300"/>
          </a:xfrm>
          <a:prstGeom prst="roundRect">
            <a:avLst>
              <a:gd name="adj" fmla="val 9091"/>
            </a:avLst>
          </a:prstGeom>
          <a:solidFill>
            <a:srgbClr val="F2ECFF"/>
          </a:solidFill>
          <a:ln w="14288">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outcome-3-number">
            <a:extLst>
              <a:ext uri="{FF2B5EF4-FFF2-40B4-BE49-F238E27FC236}">
                <a16:creationId xmlns:a16="http://schemas.microsoft.com/office/drawing/2014/main" id="{302C27B8-E094-403C-B38E-ED3320351A68}"/>
              </a:ext>
            </a:extLst>
          </p:cNvPr>
          <p:cNvSpPr>
            <a:spLocks noGrp="1"/>
          </p:cNvSpPr>
          <p:nvPr/>
        </p:nvSpPr>
        <p:spPr>
          <a:xfrm>
            <a:off x="790575" y="3505200"/>
            <a:ext cx="381000" cy="381000"/>
          </a:xfrm>
          <a:prstGeom prst="ellipse">
            <a:avLst/>
          </a:prstGeom>
          <a:solidFill>
            <a:srgbClr val="6D4FB3"/>
          </a:solidFill>
          <a:ln w="0">
            <a:solidFill>
              <a:srgbClr val="6D4FB3"/>
            </a:solidFill>
            <a:prstDash val="solid"/>
          </a:ln>
        </p:spPr>
        <p:txBody>
          <a:bodyPr/>
          <a:lstStyle/>
          <a:p>
            <a:pPr algn="ctr">
              <a:buNone/>
              <a:defRPr sz="1500" b="1">
                <a:solidFill>
                  <a:srgbClr val="FFFFFF"/>
                </a:solidFill>
              </a:defRPr>
            </a:pPr>
            <a:r>
              <a:rPr sz="1500" b="1">
                <a:solidFill>
                  <a:srgbClr val="FFFFFF"/>
                </a:solidFill>
              </a:rPr>
              <a:t>3</a:t>
            </a:r>
          </a:p>
        </p:txBody>
      </p:sp>
      <p:sp>
        <p:nvSpPr>
          <p:cNvPr id="13" name="outcome-3-title">
            <a:extLst>
              <a:ext uri="{FF2B5EF4-FFF2-40B4-BE49-F238E27FC236}">
                <a16:creationId xmlns:a16="http://schemas.microsoft.com/office/drawing/2014/main" id="{465F6835-4AA0-4AD8-BB10-AE40E15BF018}"/>
              </a:ext>
            </a:extLst>
          </p:cNvPr>
          <p:cNvSpPr>
            <a:spLocks noGrp="1"/>
          </p:cNvSpPr>
          <p:nvPr/>
        </p:nvSpPr>
        <p:spPr>
          <a:xfrm>
            <a:off x="1304925" y="3505200"/>
            <a:ext cx="2790825" cy="323850"/>
          </a:xfrm>
          <a:prstGeom prst="rect">
            <a:avLst/>
          </a:prstGeom>
          <a:noFill/>
          <a:ln w="0">
            <a:noFill/>
            <a:prstDash val="solid"/>
          </a:ln>
        </p:spPr>
        <p:txBody>
          <a:bodyPr/>
          <a:lstStyle/>
          <a:p>
            <a:pPr>
              <a:buNone/>
              <a:defRPr sz="1650" b="1">
                <a:solidFill>
                  <a:srgbClr val="172033"/>
                </a:solidFill>
              </a:defRPr>
            </a:pPr>
            <a:r>
              <a:rPr sz="1650" b="1">
                <a:solidFill>
                  <a:srgbClr val="172033"/>
                </a:solidFill>
              </a:rPr>
              <a:t>Privacy by design</a:t>
            </a:r>
          </a:p>
        </p:txBody>
      </p:sp>
      <p:sp>
        <p:nvSpPr>
          <p:cNvPr id="14" name="outcome-3-detail">
            <a:extLst>
              <a:ext uri="{FF2B5EF4-FFF2-40B4-BE49-F238E27FC236}">
                <a16:creationId xmlns:a16="http://schemas.microsoft.com/office/drawing/2014/main" id="{984D3FB9-A4AD-4E4F-9C35-C63CF3DD9C7D}"/>
              </a:ext>
            </a:extLst>
          </p:cNvPr>
          <p:cNvSpPr>
            <a:spLocks noGrp="1"/>
          </p:cNvSpPr>
          <p:nvPr/>
        </p:nvSpPr>
        <p:spPr>
          <a:xfrm>
            <a:off x="1304925" y="3857625"/>
            <a:ext cx="2771775" cy="638175"/>
          </a:xfrm>
          <a:prstGeom prst="rect">
            <a:avLst/>
          </a:prstGeom>
          <a:noFill/>
          <a:ln w="0">
            <a:noFill/>
            <a:prstDash val="solid"/>
          </a:ln>
        </p:spPr>
        <p:txBody>
          <a:bodyPr/>
          <a:lstStyle/>
          <a:p>
            <a:pPr>
              <a:buNone/>
              <a:defRPr sz="1200">
                <a:solidFill>
                  <a:srgbClr val="4B5563"/>
                </a:solidFill>
              </a:defRPr>
            </a:pPr>
            <a:r>
              <a:rPr sz="1200">
                <a:solidFill>
                  <a:srgbClr val="4B5563"/>
                </a:solidFill>
              </a:rPr>
              <a:t>Protect customer and vehicle data with strict dealer-level isolation.</a:t>
            </a:r>
          </a:p>
        </p:txBody>
      </p:sp>
      <p:sp>
        <p:nvSpPr>
          <p:cNvPr id="15" name="outcome-4">
            <a:extLst>
              <a:ext uri="{FF2B5EF4-FFF2-40B4-BE49-F238E27FC236}">
                <a16:creationId xmlns:a16="http://schemas.microsoft.com/office/drawing/2014/main" id="{1C65CED3-F1DC-42D2-8FAD-5CA03D5A2867}"/>
              </a:ext>
            </a:extLst>
          </p:cNvPr>
          <p:cNvSpPr>
            <a:spLocks noGrp="1"/>
          </p:cNvSpPr>
          <p:nvPr/>
        </p:nvSpPr>
        <p:spPr>
          <a:xfrm>
            <a:off x="7905750" y="3333750"/>
            <a:ext cx="3667125" cy="1257300"/>
          </a:xfrm>
          <a:prstGeom prst="roundRect">
            <a:avLst>
              <a:gd name="adj" fmla="val 9091"/>
            </a:avLst>
          </a:prstGeom>
          <a:solidFill>
            <a:srgbClr val="EAF8F3"/>
          </a:solidFill>
          <a:ln w="14288">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16" name="outcome-4-number">
            <a:extLst>
              <a:ext uri="{FF2B5EF4-FFF2-40B4-BE49-F238E27FC236}">
                <a16:creationId xmlns:a16="http://schemas.microsoft.com/office/drawing/2014/main" id="{8218ABD9-5618-44EC-A362-D2DD2EB35B52}"/>
              </a:ext>
            </a:extLst>
          </p:cNvPr>
          <p:cNvSpPr>
            <a:spLocks noGrp="1"/>
          </p:cNvSpPr>
          <p:nvPr/>
        </p:nvSpPr>
        <p:spPr>
          <a:xfrm>
            <a:off x="8077200" y="3505200"/>
            <a:ext cx="381000" cy="381000"/>
          </a:xfrm>
          <a:prstGeom prst="ellipse">
            <a:avLst/>
          </a:prstGeom>
          <a:solidFill>
            <a:srgbClr val="147A58"/>
          </a:solidFill>
          <a:ln w="0">
            <a:solidFill>
              <a:srgbClr val="147A58"/>
            </a:solidFill>
            <a:prstDash val="solid"/>
          </a:ln>
        </p:spPr>
        <p:txBody>
          <a:bodyPr/>
          <a:lstStyle/>
          <a:p>
            <a:pPr algn="ctr">
              <a:buNone/>
              <a:defRPr sz="1500" b="1">
                <a:solidFill>
                  <a:srgbClr val="FFFFFF"/>
                </a:solidFill>
              </a:defRPr>
            </a:pPr>
            <a:r>
              <a:rPr sz="1500" b="1">
                <a:solidFill>
                  <a:srgbClr val="FFFFFF"/>
                </a:solidFill>
              </a:rPr>
              <a:t>4</a:t>
            </a:r>
          </a:p>
        </p:txBody>
      </p:sp>
      <p:sp>
        <p:nvSpPr>
          <p:cNvPr id="17" name="outcome-4-title">
            <a:extLst>
              <a:ext uri="{FF2B5EF4-FFF2-40B4-BE49-F238E27FC236}">
                <a16:creationId xmlns:a16="http://schemas.microsoft.com/office/drawing/2014/main" id="{C9B815E8-D8B5-45DE-921E-3B7DDCFE52F6}"/>
              </a:ext>
            </a:extLst>
          </p:cNvPr>
          <p:cNvSpPr>
            <a:spLocks noGrp="1"/>
          </p:cNvSpPr>
          <p:nvPr/>
        </p:nvSpPr>
        <p:spPr>
          <a:xfrm>
            <a:off x="8591550" y="3505200"/>
            <a:ext cx="2790825" cy="323850"/>
          </a:xfrm>
          <a:prstGeom prst="rect">
            <a:avLst/>
          </a:prstGeom>
          <a:noFill/>
          <a:ln w="0">
            <a:noFill/>
            <a:prstDash val="solid"/>
          </a:ln>
        </p:spPr>
        <p:txBody>
          <a:bodyPr/>
          <a:lstStyle/>
          <a:p>
            <a:pPr>
              <a:buNone/>
              <a:defRPr sz="1650" b="1">
                <a:solidFill>
                  <a:srgbClr val="172033"/>
                </a:solidFill>
              </a:defRPr>
            </a:pPr>
            <a:r>
              <a:rPr sz="1650" b="1">
                <a:solidFill>
                  <a:srgbClr val="172033"/>
                </a:solidFill>
              </a:rPr>
              <a:t>Graceful degradation</a:t>
            </a:r>
          </a:p>
        </p:txBody>
      </p:sp>
      <p:sp>
        <p:nvSpPr>
          <p:cNvPr id="18" name="outcome-4-detail">
            <a:extLst>
              <a:ext uri="{FF2B5EF4-FFF2-40B4-BE49-F238E27FC236}">
                <a16:creationId xmlns:a16="http://schemas.microsoft.com/office/drawing/2014/main" id="{76FBF697-CD41-4DB8-84DD-3F64C0CD1A8D}"/>
              </a:ext>
            </a:extLst>
          </p:cNvPr>
          <p:cNvSpPr>
            <a:spLocks noGrp="1"/>
          </p:cNvSpPr>
          <p:nvPr/>
        </p:nvSpPr>
        <p:spPr>
          <a:xfrm>
            <a:off x="8591550" y="3857625"/>
            <a:ext cx="2771775" cy="638175"/>
          </a:xfrm>
          <a:prstGeom prst="rect">
            <a:avLst/>
          </a:prstGeom>
          <a:noFill/>
          <a:ln w="0">
            <a:noFill/>
            <a:prstDash val="solid"/>
          </a:ln>
        </p:spPr>
        <p:txBody>
          <a:bodyPr/>
          <a:lstStyle/>
          <a:p>
            <a:pPr>
              <a:buNone/>
              <a:defRPr sz="1200">
                <a:solidFill>
                  <a:srgbClr val="4B5563"/>
                </a:solidFill>
              </a:defRPr>
            </a:pPr>
            <a:r>
              <a:rPr sz="1200">
                <a:solidFill>
                  <a:srgbClr val="4B5563"/>
                </a:solidFill>
              </a:rPr>
              <a:t>Keep the journey useful when dealer or legacy systems are slow or unavailable.</a:t>
            </a:r>
          </a:p>
        </p:txBody>
      </p:sp>
      <p:sp>
        <p:nvSpPr>
          <p:cNvPr id="19" name="secure-platform">
            <a:extLst>
              <a:ext uri="{FF2B5EF4-FFF2-40B4-BE49-F238E27FC236}">
                <a16:creationId xmlns:a16="http://schemas.microsoft.com/office/drawing/2014/main" id="{8BD11450-308E-4C56-B20E-B7A7A6B39E4E}"/>
              </a:ext>
            </a:extLst>
          </p:cNvPr>
          <p:cNvSpPr>
            <a:spLocks noGrp="1"/>
          </p:cNvSpPr>
          <p:nvPr/>
        </p:nvSpPr>
        <p:spPr>
          <a:xfrm>
            <a:off x="4686300" y="2038350"/>
            <a:ext cx="2819400" cy="2095500"/>
          </a:xfrm>
          <a:prstGeom prst="roundRect">
            <a:avLst>
              <a:gd name="adj" fmla="val 7273"/>
            </a:avLst>
          </a:prstGeom>
          <a:solidFill>
            <a:srgbClr val="172033"/>
          </a:solidFill>
          <a:ln w="0">
            <a:solidFill>
              <a:srgbClr val="172033"/>
            </a:solidFill>
            <a:prstDash val="solid"/>
          </a:ln>
        </p:spPr>
        <p:style>
          <a:lnRef idx="0">
            <a:scrgbClr r="0" g="0" b="0"/>
          </a:lnRef>
          <a:fillRef idx="0">
            <a:scrgbClr r="0" g="0" b="0"/>
          </a:fillRef>
          <a:effectRef idx="7">
            <a:scrgbClr r="0" g="0" b="0"/>
          </a:effectRef>
          <a:fontRef idx="major"/>
        </p:style>
        <p:txBody>
          <a:bodyPr/>
          <a:lstStyle/>
          <a:p>
            <a:endParaRPr/>
          </a:p>
        </p:txBody>
      </p:sp>
      <p:sp>
        <p:nvSpPr>
          <p:cNvPr id="20" name="center-eyebrow">
            <a:extLst>
              <a:ext uri="{FF2B5EF4-FFF2-40B4-BE49-F238E27FC236}">
                <a16:creationId xmlns:a16="http://schemas.microsoft.com/office/drawing/2014/main" id="{DDF810B1-AC54-4EEA-9EFD-1BF210C2053F}"/>
              </a:ext>
            </a:extLst>
          </p:cNvPr>
          <p:cNvSpPr>
            <a:spLocks noGrp="1"/>
          </p:cNvSpPr>
          <p:nvPr/>
        </p:nvSpPr>
        <p:spPr>
          <a:xfrm>
            <a:off x="5010150" y="2295525"/>
            <a:ext cx="2171700" cy="209550"/>
          </a:xfrm>
          <a:prstGeom prst="rect">
            <a:avLst/>
          </a:prstGeom>
          <a:noFill/>
          <a:ln w="0">
            <a:noFill/>
            <a:prstDash val="solid"/>
          </a:ln>
        </p:spPr>
        <p:txBody>
          <a:bodyPr/>
          <a:lstStyle/>
          <a:p>
            <a:pPr algn="ctr">
              <a:buNone/>
              <a:defRPr sz="975" b="1">
                <a:solidFill>
                  <a:srgbClr val="7DD3C7"/>
                </a:solidFill>
              </a:defRPr>
            </a:pPr>
            <a:r>
              <a:rPr sz="975" b="1">
                <a:solidFill>
                  <a:srgbClr val="7DD3C7"/>
                </a:solidFill>
              </a:rPr>
              <a:t>INCREMENTAL MODERNIZATION</a:t>
            </a:r>
          </a:p>
        </p:txBody>
      </p:sp>
      <p:sp>
        <p:nvSpPr>
          <p:cNvPr id="21" name="center-title">
            <a:extLst>
              <a:ext uri="{FF2B5EF4-FFF2-40B4-BE49-F238E27FC236}">
                <a16:creationId xmlns:a16="http://schemas.microsoft.com/office/drawing/2014/main" id="{CDA5D161-62CC-40D8-8BC8-86C7467B3137}"/>
              </a:ext>
            </a:extLst>
          </p:cNvPr>
          <p:cNvSpPr>
            <a:spLocks noGrp="1"/>
          </p:cNvSpPr>
          <p:nvPr/>
        </p:nvSpPr>
        <p:spPr>
          <a:xfrm>
            <a:off x="5010150" y="2638425"/>
            <a:ext cx="2171700" cy="647700"/>
          </a:xfrm>
          <a:prstGeom prst="rect">
            <a:avLst/>
          </a:prstGeom>
          <a:noFill/>
          <a:ln w="0">
            <a:noFill/>
            <a:prstDash val="solid"/>
          </a:ln>
        </p:spPr>
        <p:txBody>
          <a:bodyPr/>
          <a:lstStyle/>
          <a:p>
            <a:pPr algn="ctr">
              <a:buNone/>
              <a:defRPr sz="2175" b="1">
                <a:solidFill>
                  <a:srgbClr val="FFFFFF"/>
                </a:solidFill>
              </a:defRPr>
            </a:pPr>
            <a:r>
              <a:rPr sz="2175" b="1">
                <a:solidFill>
                  <a:srgbClr val="FFFFFF"/>
                </a:solidFill>
              </a:rPr>
              <a:t>Secure cloud</a:t>
            </a:r>
          </a:p>
          <a:p>
            <a:pPr algn="ctr">
              <a:buNone/>
              <a:defRPr sz="2175" b="1">
                <a:solidFill>
                  <a:srgbClr val="FFFFFF"/>
                </a:solidFill>
              </a:defRPr>
            </a:pPr>
            <a:r>
              <a:rPr sz="2175" b="1">
                <a:solidFill>
                  <a:srgbClr val="FFFFFF"/>
                </a:solidFill>
              </a:rPr>
              <a:t>platform</a:t>
            </a:r>
          </a:p>
        </p:txBody>
      </p:sp>
      <p:sp>
        <p:nvSpPr>
          <p:cNvPr id="22" name="center-detail">
            <a:extLst>
              <a:ext uri="{FF2B5EF4-FFF2-40B4-BE49-F238E27FC236}">
                <a16:creationId xmlns:a16="http://schemas.microsoft.com/office/drawing/2014/main" id="{6F48591D-C965-462D-9A6B-B91AE5EAE165}"/>
              </a:ext>
            </a:extLst>
          </p:cNvPr>
          <p:cNvSpPr>
            <a:spLocks noGrp="1"/>
          </p:cNvSpPr>
          <p:nvPr/>
        </p:nvSpPr>
        <p:spPr>
          <a:xfrm>
            <a:off x="4953000" y="3429000"/>
            <a:ext cx="2286000" cy="495300"/>
          </a:xfrm>
          <a:prstGeom prst="rect">
            <a:avLst/>
          </a:prstGeom>
          <a:noFill/>
          <a:ln w="0">
            <a:noFill/>
            <a:prstDash val="solid"/>
          </a:ln>
        </p:spPr>
        <p:txBody>
          <a:bodyPr/>
          <a:lstStyle/>
          <a:p>
            <a:pPr algn="ctr">
              <a:buNone/>
              <a:defRPr sz="1200">
                <a:solidFill>
                  <a:srgbClr val="D7DEE8"/>
                </a:solidFill>
              </a:defRPr>
            </a:pPr>
            <a:r>
              <a:rPr sz="1200">
                <a:solidFill>
                  <a:srgbClr val="D7DEE8"/>
                </a:solidFill>
              </a:rPr>
              <a:t>Standardized integration</a:t>
            </a:r>
          </a:p>
          <a:p>
            <a:pPr algn="ctr">
              <a:buNone/>
              <a:defRPr sz="1200">
                <a:solidFill>
                  <a:srgbClr val="D7DEE8"/>
                </a:solidFill>
              </a:defRPr>
            </a:pPr>
            <a:r>
              <a:rPr sz="1200">
                <a:solidFill>
                  <a:srgbClr val="D7DEE8"/>
                </a:solidFill>
              </a:rPr>
              <a:t>Identity • policy • observability</a:t>
            </a:r>
          </a:p>
        </p:txBody>
      </p:sp>
      <p:cxnSp>
        <p:nvCxnSpPr>
          <p:cNvPr id="132" name="Connector: Elbow 59"/>
          <p:cNvCxnSpPr>
            <a:stCxn id="19" idx="1"/>
            <a:endCxn id="3" idx="3"/>
          </p:cNvCxnSpPr>
          <p:nvPr/>
        </p:nvCxnSpPr>
        <p:spPr>
          <a:xfrm flipH="1" flipV="1">
            <a:off x="4286250" y="2133600"/>
            <a:ext cx="400050" cy="952500"/>
          </a:xfrm>
          <a:prstGeom prst="bentConnector3">
            <a:avLst>
              <a:gd name="adj1" fmla="val 50000"/>
            </a:avLst>
          </a:prstGeom>
          <a:ln w="19050">
            <a:solidFill>
              <a:srgbClr val="9AA4B2"/>
            </a:solidFill>
            <a:prstDash val="solid"/>
            <a:tailEnd type="triangle" w="sm" len="sm"/>
          </a:ln>
        </p:spPr>
      </p:cxnSp>
      <p:cxnSp>
        <p:nvCxnSpPr>
          <p:cNvPr id="133" name="Connector: Elbow 60"/>
          <p:cNvCxnSpPr>
            <a:stCxn id="19" idx="3"/>
            <a:endCxn id="7" idx="1"/>
          </p:cNvCxnSpPr>
          <p:nvPr/>
        </p:nvCxnSpPr>
        <p:spPr>
          <a:xfrm flipV="1">
            <a:off x="7505700" y="2133600"/>
            <a:ext cx="400050" cy="952500"/>
          </a:xfrm>
          <a:prstGeom prst="bentConnector3">
            <a:avLst>
              <a:gd name="adj1" fmla="val 50000"/>
            </a:avLst>
          </a:prstGeom>
          <a:ln w="19050">
            <a:solidFill>
              <a:srgbClr val="9AA4B2"/>
            </a:solidFill>
            <a:prstDash val="solid"/>
            <a:tailEnd type="triangle" w="sm" len="sm"/>
          </a:ln>
        </p:spPr>
      </p:cxnSp>
      <p:cxnSp>
        <p:nvCxnSpPr>
          <p:cNvPr id="134" name="Connector: Elbow 61"/>
          <p:cNvCxnSpPr>
            <a:stCxn id="19" idx="1"/>
            <a:endCxn id="11" idx="3"/>
          </p:cNvCxnSpPr>
          <p:nvPr/>
        </p:nvCxnSpPr>
        <p:spPr>
          <a:xfrm flipH="1">
            <a:off x="4286250" y="3086100"/>
            <a:ext cx="400050" cy="876300"/>
          </a:xfrm>
          <a:prstGeom prst="bentConnector3">
            <a:avLst>
              <a:gd name="adj1" fmla="val 50000"/>
            </a:avLst>
          </a:prstGeom>
          <a:ln w="19050">
            <a:solidFill>
              <a:srgbClr val="9AA4B2"/>
            </a:solidFill>
            <a:prstDash val="solid"/>
            <a:tailEnd type="triangle" w="sm" len="sm"/>
          </a:ln>
        </p:spPr>
      </p:cxnSp>
      <p:cxnSp>
        <p:nvCxnSpPr>
          <p:cNvPr id="135" name="Connector: Elbow 62"/>
          <p:cNvCxnSpPr>
            <a:stCxn id="19" idx="3"/>
            <a:endCxn id="15" idx="1"/>
          </p:cNvCxnSpPr>
          <p:nvPr/>
        </p:nvCxnSpPr>
        <p:spPr>
          <a:xfrm>
            <a:off x="7505700" y="3086100"/>
            <a:ext cx="400050" cy="876300"/>
          </a:xfrm>
          <a:prstGeom prst="bentConnector3">
            <a:avLst>
              <a:gd name="adj1" fmla="val 50000"/>
            </a:avLst>
          </a:prstGeom>
          <a:ln w="19050">
            <a:solidFill>
              <a:srgbClr val="9AA4B2"/>
            </a:solidFill>
            <a:prstDash val="solid"/>
            <a:tailEnd type="triangle" w="sm" len="sm"/>
          </a:ln>
        </p:spPr>
      </p:cxnSp>
      <p:sp>
        <p:nvSpPr>
          <p:cNvPr id="27" name="coverage-label">
            <a:extLst>
              <a:ext uri="{FF2B5EF4-FFF2-40B4-BE49-F238E27FC236}">
                <a16:creationId xmlns:a16="http://schemas.microsoft.com/office/drawing/2014/main" id="{3655ABB6-32D2-4EB3-A2BD-7FF33F214446}"/>
              </a:ext>
            </a:extLst>
          </p:cNvPr>
          <p:cNvSpPr>
            <a:spLocks noGrp="1"/>
          </p:cNvSpPr>
          <p:nvPr/>
        </p:nvSpPr>
        <p:spPr>
          <a:xfrm>
            <a:off x="619125" y="4895850"/>
            <a:ext cx="2000250" cy="209550"/>
          </a:xfrm>
          <a:prstGeom prst="rect">
            <a:avLst/>
          </a:prstGeom>
          <a:noFill/>
          <a:ln w="0">
            <a:noFill/>
            <a:prstDash val="solid"/>
          </a:ln>
        </p:spPr>
        <p:txBody>
          <a:bodyPr/>
          <a:lstStyle/>
          <a:p>
            <a:pPr>
              <a:buNone/>
              <a:defRPr sz="975" b="1">
                <a:solidFill>
                  <a:srgbClr val="5B6472"/>
                </a:solidFill>
              </a:defRPr>
            </a:pPr>
            <a:r>
              <a:rPr sz="975" b="1">
                <a:solidFill>
                  <a:srgbClr val="5B6472"/>
                </a:solidFill>
              </a:rPr>
              <a:t>PRESENTATION COVERAGE</a:t>
            </a:r>
          </a:p>
        </p:txBody>
      </p:sp>
      <p:sp>
        <p:nvSpPr>
          <p:cNvPr id="28" name="coverage-1">
            <a:extLst>
              <a:ext uri="{FF2B5EF4-FFF2-40B4-BE49-F238E27FC236}">
                <a16:creationId xmlns:a16="http://schemas.microsoft.com/office/drawing/2014/main" id="{6BDC310E-D386-416B-9A5F-806C748C51F0}"/>
              </a:ext>
            </a:extLst>
          </p:cNvPr>
          <p:cNvSpPr>
            <a:spLocks noGrp="1"/>
          </p:cNvSpPr>
          <p:nvPr/>
        </p:nvSpPr>
        <p:spPr>
          <a:xfrm>
            <a:off x="619125" y="5219700"/>
            <a:ext cx="1981200" cy="723900"/>
          </a:xfrm>
          <a:prstGeom prst="roundRect">
            <a:avLst>
              <a:gd name="adj" fmla="val 10526"/>
            </a:avLst>
          </a:prstGeom>
          <a:solidFill>
            <a:srgbClr val="FFFFFF"/>
          </a:solidFill>
          <a:ln w="14288">
            <a:solidFill>
              <a:srgbClr val="2767A8"/>
            </a:solidFill>
            <a:prstDash val="solid"/>
          </a:ln>
        </p:spPr>
        <p:txBody>
          <a:bodyPr/>
          <a:lstStyle/>
          <a:p>
            <a:pPr algn="ctr">
              <a:buNone/>
              <a:defRPr sz="1275" b="1">
                <a:solidFill>
                  <a:srgbClr val="273244"/>
                </a:solidFill>
              </a:defRPr>
            </a:pPr>
            <a:r>
              <a:rPr sz="1275" b="1">
                <a:solidFill>
                  <a:srgbClr val="273244"/>
                </a:solidFill>
              </a:rPr>
              <a:t>Customer journeys</a:t>
            </a:r>
          </a:p>
        </p:txBody>
      </p:sp>
      <p:sp>
        <p:nvSpPr>
          <p:cNvPr id="29" name="coverage-2">
            <a:extLst>
              <a:ext uri="{FF2B5EF4-FFF2-40B4-BE49-F238E27FC236}">
                <a16:creationId xmlns:a16="http://schemas.microsoft.com/office/drawing/2014/main" id="{3FCD8E90-7716-46FF-A668-09E0E27FFEB1}"/>
              </a:ext>
            </a:extLst>
          </p:cNvPr>
          <p:cNvSpPr>
            <a:spLocks noGrp="1"/>
          </p:cNvSpPr>
          <p:nvPr/>
        </p:nvSpPr>
        <p:spPr>
          <a:xfrm>
            <a:off x="2828925" y="5219700"/>
            <a:ext cx="1981200" cy="723900"/>
          </a:xfrm>
          <a:prstGeom prst="roundRect">
            <a:avLst>
              <a:gd name="adj" fmla="val 10526"/>
            </a:avLst>
          </a:prstGeom>
          <a:solidFill>
            <a:srgbClr val="FFFFFF"/>
          </a:solidFill>
          <a:ln w="14288">
            <a:solidFill>
              <a:srgbClr val="198E84"/>
            </a:solidFill>
            <a:prstDash val="solid"/>
          </a:ln>
        </p:spPr>
        <p:txBody>
          <a:bodyPr/>
          <a:lstStyle/>
          <a:p>
            <a:pPr algn="ctr">
              <a:buNone/>
              <a:defRPr sz="1275" b="1">
                <a:solidFill>
                  <a:srgbClr val="273244"/>
                </a:solidFill>
              </a:defRPr>
            </a:pPr>
            <a:r>
              <a:rPr sz="1275" b="1">
                <a:solidFill>
                  <a:srgbClr val="273244"/>
                </a:solidFill>
              </a:rPr>
              <a:t>Logical architecture</a:t>
            </a:r>
          </a:p>
          <a:p>
            <a:pPr algn="ctr">
              <a:buNone/>
              <a:defRPr sz="1275" b="1">
                <a:solidFill>
                  <a:srgbClr val="273244"/>
                </a:solidFill>
              </a:defRPr>
            </a:pPr>
            <a:r>
              <a:rPr sz="1275" b="1">
                <a:solidFill>
                  <a:srgbClr val="273244"/>
                </a:solidFill>
              </a:rPr>
              <a:t>&amp; integrations</a:t>
            </a:r>
          </a:p>
        </p:txBody>
      </p:sp>
      <p:sp>
        <p:nvSpPr>
          <p:cNvPr id="30" name="coverage-3">
            <a:extLst>
              <a:ext uri="{FF2B5EF4-FFF2-40B4-BE49-F238E27FC236}">
                <a16:creationId xmlns:a16="http://schemas.microsoft.com/office/drawing/2014/main" id="{A7E8C49C-98C5-4C8C-8687-D17E31386963}"/>
              </a:ext>
            </a:extLst>
          </p:cNvPr>
          <p:cNvSpPr>
            <a:spLocks noGrp="1"/>
          </p:cNvSpPr>
          <p:nvPr/>
        </p:nvSpPr>
        <p:spPr>
          <a:xfrm>
            <a:off x="5038725" y="5219700"/>
            <a:ext cx="1981200" cy="723900"/>
          </a:xfrm>
          <a:prstGeom prst="roundRect">
            <a:avLst>
              <a:gd name="adj" fmla="val 10526"/>
            </a:avLst>
          </a:prstGeom>
          <a:solidFill>
            <a:srgbClr val="FFFFFF"/>
          </a:solidFill>
          <a:ln w="14288">
            <a:solidFill>
              <a:srgbClr val="6D4FB3"/>
            </a:solidFill>
            <a:prstDash val="solid"/>
          </a:ln>
        </p:spPr>
        <p:txBody>
          <a:bodyPr/>
          <a:lstStyle/>
          <a:p>
            <a:pPr algn="ctr">
              <a:buNone/>
              <a:defRPr sz="1275" b="1">
                <a:solidFill>
                  <a:srgbClr val="273244"/>
                </a:solidFill>
              </a:defRPr>
            </a:pPr>
            <a:r>
              <a:rPr sz="1275" b="1">
                <a:solidFill>
                  <a:srgbClr val="273244"/>
                </a:solidFill>
              </a:rPr>
              <a:t>Security &amp; scale</a:t>
            </a:r>
          </a:p>
        </p:txBody>
      </p:sp>
      <p:sp>
        <p:nvSpPr>
          <p:cNvPr id="31" name="coverage-4">
            <a:extLst>
              <a:ext uri="{FF2B5EF4-FFF2-40B4-BE49-F238E27FC236}">
                <a16:creationId xmlns:a16="http://schemas.microsoft.com/office/drawing/2014/main" id="{C16353C6-D2B7-4A32-945B-07D8B31E0DBD}"/>
              </a:ext>
            </a:extLst>
          </p:cNvPr>
          <p:cNvSpPr>
            <a:spLocks noGrp="1"/>
          </p:cNvSpPr>
          <p:nvPr/>
        </p:nvSpPr>
        <p:spPr>
          <a:xfrm>
            <a:off x="7248525" y="5219700"/>
            <a:ext cx="1981200" cy="723900"/>
          </a:xfrm>
          <a:prstGeom prst="roundRect">
            <a:avLst>
              <a:gd name="adj" fmla="val 10526"/>
            </a:avLst>
          </a:prstGeom>
          <a:solidFill>
            <a:srgbClr val="FFFFFF"/>
          </a:solidFill>
          <a:ln w="14288">
            <a:solidFill>
              <a:srgbClr val="B86713"/>
            </a:solidFill>
            <a:prstDash val="solid"/>
          </a:ln>
        </p:spPr>
        <p:txBody>
          <a:bodyPr/>
          <a:lstStyle/>
          <a:p>
            <a:pPr algn="ctr">
              <a:buNone/>
              <a:defRPr sz="1275" b="1">
                <a:solidFill>
                  <a:srgbClr val="273244"/>
                </a:solidFill>
              </a:defRPr>
            </a:pPr>
            <a:r>
              <a:rPr sz="1275" b="1">
                <a:solidFill>
                  <a:srgbClr val="273244"/>
                </a:solidFill>
              </a:rPr>
              <a:t>Resilience, DR</a:t>
            </a:r>
          </a:p>
          <a:p>
            <a:pPr algn="ctr">
              <a:buNone/>
              <a:defRPr sz="1275" b="1">
                <a:solidFill>
                  <a:srgbClr val="273244"/>
                </a:solidFill>
              </a:defRPr>
            </a:pPr>
            <a:r>
              <a:rPr sz="1275" b="1">
                <a:solidFill>
                  <a:srgbClr val="273244"/>
                </a:solidFill>
              </a:rPr>
              <a:t>&amp; cost</a:t>
            </a:r>
          </a:p>
        </p:txBody>
      </p:sp>
      <p:sp>
        <p:nvSpPr>
          <p:cNvPr id="32" name="coverage-5">
            <a:extLst>
              <a:ext uri="{FF2B5EF4-FFF2-40B4-BE49-F238E27FC236}">
                <a16:creationId xmlns:a16="http://schemas.microsoft.com/office/drawing/2014/main" id="{4E65EA97-32CE-4C39-8ABC-37A7CD8E43B3}"/>
              </a:ext>
            </a:extLst>
          </p:cNvPr>
          <p:cNvSpPr>
            <a:spLocks noGrp="1"/>
          </p:cNvSpPr>
          <p:nvPr/>
        </p:nvSpPr>
        <p:spPr>
          <a:xfrm>
            <a:off x="9458325" y="5219700"/>
            <a:ext cx="1981200" cy="723900"/>
          </a:xfrm>
          <a:prstGeom prst="roundRect">
            <a:avLst>
              <a:gd name="adj" fmla="val 10526"/>
            </a:avLst>
          </a:prstGeom>
          <a:solidFill>
            <a:srgbClr val="FFFFFF"/>
          </a:solidFill>
          <a:ln w="14288">
            <a:solidFill>
              <a:srgbClr val="147A58"/>
            </a:solidFill>
            <a:prstDash val="solid"/>
          </a:ln>
        </p:spPr>
        <p:txBody>
          <a:bodyPr/>
          <a:lstStyle/>
          <a:p>
            <a:pPr algn="ctr">
              <a:buNone/>
              <a:defRPr sz="1275" b="1">
                <a:solidFill>
                  <a:srgbClr val="273244"/>
                </a:solidFill>
              </a:defRPr>
            </a:pPr>
            <a:r>
              <a:rPr sz="1275" b="1">
                <a:solidFill>
                  <a:srgbClr val="273244"/>
                </a:solidFill>
              </a:rPr>
              <a:t>Incremental</a:t>
            </a:r>
          </a:p>
          <a:p>
            <a:pPr algn="ctr">
              <a:buNone/>
              <a:defRPr sz="1275" b="1">
                <a:solidFill>
                  <a:srgbClr val="273244"/>
                </a:solidFill>
              </a:defRPr>
            </a:pPr>
            <a:r>
              <a:rPr sz="1275" b="1">
                <a:solidFill>
                  <a:srgbClr val="273244"/>
                </a:solidFill>
              </a:rPr>
              <a:t>delivery</a:t>
            </a:r>
          </a:p>
        </p:txBody>
      </p:sp>
      <p:cxnSp>
        <p:nvCxnSpPr>
          <p:cNvPr id="142" name="Straight Arrow Connector 69"/>
          <p:cNvCxnSpPr>
            <a:stCxn id="28" idx="3"/>
            <a:endCxn id="29" idx="1"/>
          </p:cNvCxnSpPr>
          <p:nvPr/>
        </p:nvCxnSpPr>
        <p:spPr>
          <a:xfrm>
            <a:off x="2600325" y="5581650"/>
            <a:ext cx="228600" cy="0"/>
          </a:xfrm>
          <a:prstGeom prst="straightConnector1">
            <a:avLst/>
          </a:prstGeom>
          <a:ln w="14288">
            <a:solidFill>
              <a:srgbClr val="A2ABB7"/>
            </a:solidFill>
            <a:prstDash val="solid"/>
            <a:tailEnd type="triangle" w="sm" len="sm"/>
          </a:ln>
        </p:spPr>
      </p:cxnSp>
      <p:cxnSp>
        <p:nvCxnSpPr>
          <p:cNvPr id="143" name="Straight Arrow Connector 70"/>
          <p:cNvCxnSpPr>
            <a:stCxn id="29" idx="3"/>
            <a:endCxn id="30" idx="1"/>
          </p:cNvCxnSpPr>
          <p:nvPr/>
        </p:nvCxnSpPr>
        <p:spPr>
          <a:xfrm>
            <a:off x="4810125" y="5581650"/>
            <a:ext cx="228600" cy="0"/>
          </a:xfrm>
          <a:prstGeom prst="straightConnector1">
            <a:avLst/>
          </a:prstGeom>
          <a:ln w="14288">
            <a:solidFill>
              <a:srgbClr val="A2ABB7"/>
            </a:solidFill>
            <a:prstDash val="solid"/>
            <a:tailEnd type="triangle" w="sm" len="sm"/>
          </a:ln>
        </p:spPr>
      </p:cxnSp>
      <p:cxnSp>
        <p:nvCxnSpPr>
          <p:cNvPr id="144" name="Straight Arrow Connector 71"/>
          <p:cNvCxnSpPr>
            <a:stCxn id="30" idx="3"/>
            <a:endCxn id="31" idx="1"/>
          </p:cNvCxnSpPr>
          <p:nvPr/>
        </p:nvCxnSpPr>
        <p:spPr>
          <a:xfrm>
            <a:off x="7019925" y="5581650"/>
            <a:ext cx="228600" cy="0"/>
          </a:xfrm>
          <a:prstGeom prst="straightConnector1">
            <a:avLst/>
          </a:prstGeom>
          <a:ln w="14288">
            <a:solidFill>
              <a:srgbClr val="A2ABB7"/>
            </a:solidFill>
            <a:prstDash val="solid"/>
            <a:tailEnd type="triangle" w="sm" len="sm"/>
          </a:ln>
        </p:spPr>
      </p:cxnSp>
      <p:cxnSp>
        <p:nvCxnSpPr>
          <p:cNvPr id="145" name="Straight Arrow Connector 72"/>
          <p:cNvCxnSpPr>
            <a:stCxn id="31" idx="3"/>
            <a:endCxn id="32" idx="1"/>
          </p:cNvCxnSpPr>
          <p:nvPr/>
        </p:nvCxnSpPr>
        <p:spPr>
          <a:xfrm>
            <a:off x="9229725" y="5581650"/>
            <a:ext cx="228600" cy="0"/>
          </a:xfrm>
          <a:prstGeom prst="straightConnector1">
            <a:avLst/>
          </a:prstGeom>
          <a:ln w="14288">
            <a:solidFill>
              <a:srgbClr val="A2ABB7"/>
            </a:solidFill>
            <a:prstDash val="solid"/>
            <a:tailEnd type="triangle" w="sm" len="sm"/>
          </a:ln>
        </p:spPr>
      </p:cxnSp>
      <p:sp>
        <p:nvSpPr>
          <p:cNvPr id="37" name="closing-principle">
            <a:extLst>
              <a:ext uri="{FF2B5EF4-FFF2-40B4-BE49-F238E27FC236}">
                <a16:creationId xmlns:a16="http://schemas.microsoft.com/office/drawing/2014/main" id="{B1B892FE-0037-457D-94A2-3975092069E8}"/>
              </a:ext>
            </a:extLst>
          </p:cNvPr>
          <p:cNvSpPr>
            <a:spLocks noGrp="1"/>
          </p:cNvSpPr>
          <p:nvPr/>
        </p:nvSpPr>
        <p:spPr>
          <a:xfrm>
            <a:off x="1428750" y="6191250"/>
            <a:ext cx="9334500" cy="266700"/>
          </a:xfrm>
          <a:prstGeom prst="rect">
            <a:avLst/>
          </a:prstGeom>
          <a:noFill/>
          <a:ln w="0">
            <a:noFill/>
            <a:prstDash val="solid"/>
          </a:ln>
        </p:spPr>
        <p:txBody>
          <a:bodyPr/>
          <a:lstStyle/>
          <a:p>
            <a:pPr algn="ctr">
              <a:buNone/>
              <a:defRPr sz="1350" b="1">
                <a:solidFill>
                  <a:srgbClr val="172033"/>
                </a:solidFill>
              </a:defRPr>
            </a:pPr>
            <a:r>
              <a:rPr sz="1350" b="1">
                <a:solidFill>
                  <a:srgbClr val="172033"/>
                </a:solidFill>
              </a:rPr>
              <a:t>Replace systems only when the business case supports it—not as a prerequisite for improving the customer journey.</a:t>
            </a:r>
          </a:p>
        </p:txBody>
      </p:sp>
    </p:spTree>
    <p:extLst>
      <p:ext uri="{BB962C8B-B14F-4D97-AF65-F5344CB8AC3E}">
        <p14:creationId xmlns:p14="http://schemas.microsoft.com/office/powerpoint/2010/main" val="1130156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yebrow">
            <a:extLst>
              <a:ext uri="{FF2B5EF4-FFF2-40B4-BE49-F238E27FC236}">
                <a16:creationId xmlns:a16="http://schemas.microsoft.com/office/drawing/2014/main" id="{45333E66-C38E-46BA-B405-414E20DAD5C6}"/>
              </a:ext>
            </a:extLst>
          </p:cNvPr>
          <p:cNvSpPr>
            <a:spLocks noGrp="1"/>
          </p:cNvSpPr>
          <p:nvPr/>
        </p:nvSpPr>
        <p:spPr>
          <a:xfrm>
            <a:off x="647700" y="361950"/>
            <a:ext cx="2286000" cy="209550"/>
          </a:xfrm>
          <a:prstGeom prst="rect">
            <a:avLst/>
          </a:prstGeom>
          <a:noFill/>
          <a:ln w="0">
            <a:noFill/>
            <a:prstDash val="solid"/>
          </a:ln>
        </p:spPr>
        <p:txBody>
          <a:bodyPr/>
          <a:lstStyle/>
          <a:p>
            <a:pPr>
              <a:buNone/>
              <a:defRPr sz="1050" b="1">
                <a:solidFill>
                  <a:srgbClr val="198E84"/>
                </a:solidFill>
              </a:defRPr>
            </a:pPr>
            <a:r>
              <a:rPr sz="1050" b="1">
                <a:solidFill>
                  <a:srgbClr val="198E84"/>
                </a:solidFill>
              </a:rPr>
              <a:t>CUSTOMER JOURNEY</a:t>
            </a:r>
          </a:p>
        </p:txBody>
      </p:sp>
      <p:sp>
        <p:nvSpPr>
          <p:cNvPr id="2" name="title">
            <a:extLst>
              <a:ext uri="{FF2B5EF4-FFF2-40B4-BE49-F238E27FC236}">
                <a16:creationId xmlns:a16="http://schemas.microsoft.com/office/drawing/2014/main" id="{895B0F60-A4E6-488D-A6D7-BCB5713D20B6}"/>
              </a:ext>
            </a:extLst>
          </p:cNvPr>
          <p:cNvSpPr>
            <a:spLocks noGrp="1"/>
          </p:cNvSpPr>
          <p:nvPr/>
        </p:nvSpPr>
        <p:spPr>
          <a:xfrm>
            <a:off x="647700" y="628650"/>
            <a:ext cx="10896600" cy="457200"/>
          </a:xfrm>
          <a:prstGeom prst="rect">
            <a:avLst/>
          </a:prstGeom>
          <a:noFill/>
          <a:ln w="0">
            <a:noFill/>
            <a:prstDash val="solid"/>
          </a:ln>
        </p:spPr>
        <p:txBody>
          <a:bodyPr/>
          <a:lstStyle/>
          <a:p>
            <a:pPr>
              <a:buNone/>
              <a:defRPr sz="2550" b="1">
                <a:solidFill>
                  <a:srgbClr val="111827"/>
                </a:solidFill>
              </a:defRPr>
            </a:pPr>
            <a:r>
              <a:rPr sz="2550" b="1">
                <a:solidFill>
                  <a:srgbClr val="111827"/>
                </a:solidFill>
              </a:rPr>
              <a:t>From dealer discovery to confirmed appointment — five connected steps</a:t>
            </a:r>
          </a:p>
        </p:txBody>
      </p:sp>
      <p:sp>
        <p:nvSpPr>
          <p:cNvPr id="3" name="subtitle">
            <a:extLst>
              <a:ext uri="{FF2B5EF4-FFF2-40B4-BE49-F238E27FC236}">
                <a16:creationId xmlns:a16="http://schemas.microsoft.com/office/drawing/2014/main" id="{A1AD4E77-42BE-40FC-8F1C-D8EA2914816F}"/>
              </a:ext>
            </a:extLst>
          </p:cNvPr>
          <p:cNvSpPr>
            <a:spLocks noGrp="1"/>
          </p:cNvSpPr>
          <p:nvPr/>
        </p:nvSpPr>
        <p:spPr>
          <a:xfrm>
            <a:off x="647700" y="1133475"/>
            <a:ext cx="10668000" cy="285750"/>
          </a:xfrm>
          <a:prstGeom prst="rect">
            <a:avLst/>
          </a:prstGeom>
          <a:noFill/>
          <a:ln w="0">
            <a:noFill/>
            <a:prstDash val="solid"/>
          </a:ln>
        </p:spPr>
        <p:txBody>
          <a:bodyPr/>
          <a:lstStyle/>
          <a:p>
            <a:pPr>
              <a:buNone/>
              <a:defRPr sz="1275">
                <a:solidFill>
                  <a:srgbClr val="5B6472"/>
                </a:solidFill>
              </a:defRPr>
            </a:pPr>
            <a:r>
              <a:rPr sz="1275">
                <a:solidFill>
                  <a:srgbClr val="5B6472"/>
                </a:solidFill>
              </a:rPr>
              <a:t>The journey supports guest and registered customers, with or without a VIN, while preserving dealer control of appointment inventory.</a:t>
            </a:r>
          </a:p>
        </p:txBody>
      </p:sp>
      <p:sp>
        <p:nvSpPr>
          <p:cNvPr id="4" name="journey-line">
            <a:extLst>
              <a:ext uri="{FF2B5EF4-FFF2-40B4-BE49-F238E27FC236}">
                <a16:creationId xmlns:a16="http://schemas.microsoft.com/office/drawing/2014/main" id="{0D04AF52-56ED-4721-BF16-1E05A421EDEE}"/>
              </a:ext>
            </a:extLst>
          </p:cNvPr>
          <p:cNvSpPr>
            <a:spLocks noGrp="1"/>
          </p:cNvSpPr>
          <p:nvPr/>
        </p:nvSpPr>
        <p:spPr>
          <a:xfrm>
            <a:off x="809625" y="2114550"/>
            <a:ext cx="10668000" cy="0"/>
          </a:xfrm>
          <a:prstGeom prst="line">
            <a:avLst/>
          </a:prstGeom>
          <a:noFill/>
          <a:ln w="19050">
            <a:solidFill>
              <a:srgbClr val="A7B0BC"/>
            </a:solidFill>
            <a:prstDash val="solid"/>
          </a:ln>
        </p:spPr>
        <p:txBody>
          <a:bodyPr/>
          <a:lstStyle/>
          <a:p>
            <a:endParaRPr/>
          </a:p>
        </p:txBody>
      </p:sp>
      <p:sp>
        <p:nvSpPr>
          <p:cNvPr id="5" name="step-1-node">
            <a:extLst>
              <a:ext uri="{FF2B5EF4-FFF2-40B4-BE49-F238E27FC236}">
                <a16:creationId xmlns:a16="http://schemas.microsoft.com/office/drawing/2014/main" id="{03E3461F-EA05-46C4-94B8-BBCCA4655DDF}"/>
              </a:ext>
            </a:extLst>
          </p:cNvPr>
          <p:cNvSpPr>
            <a:spLocks noGrp="1"/>
          </p:cNvSpPr>
          <p:nvPr/>
        </p:nvSpPr>
        <p:spPr>
          <a:xfrm>
            <a:off x="1276350" y="1857375"/>
            <a:ext cx="514350" cy="514350"/>
          </a:xfrm>
          <a:prstGeom prst="ellipse">
            <a:avLst/>
          </a:prstGeom>
          <a:solidFill>
            <a:srgbClr val="FFFFFF"/>
          </a:solidFill>
          <a:ln w="19050">
            <a:solidFill>
              <a:srgbClr val="2767A8"/>
            </a:solidFill>
            <a:prstDash val="solid"/>
          </a:ln>
        </p:spPr>
        <p:txBody>
          <a:bodyPr/>
          <a:lstStyle/>
          <a:p>
            <a:pPr algn="ctr">
              <a:buNone/>
              <a:defRPr sz="1650" b="1">
                <a:solidFill>
                  <a:srgbClr val="2767A8"/>
                </a:solidFill>
              </a:defRPr>
            </a:pPr>
            <a:r>
              <a:rPr sz="1650" b="1">
                <a:solidFill>
                  <a:srgbClr val="2767A8"/>
                </a:solidFill>
              </a:rPr>
              <a:t>1</a:t>
            </a:r>
          </a:p>
        </p:txBody>
      </p:sp>
      <p:sp>
        <p:nvSpPr>
          <p:cNvPr id="6" name="step-1-card">
            <a:extLst>
              <a:ext uri="{FF2B5EF4-FFF2-40B4-BE49-F238E27FC236}">
                <a16:creationId xmlns:a16="http://schemas.microsoft.com/office/drawing/2014/main" id="{645B3F92-6CB1-4BF6-898C-EA4AA2A14374}"/>
              </a:ext>
            </a:extLst>
          </p:cNvPr>
          <p:cNvSpPr>
            <a:spLocks noGrp="1"/>
          </p:cNvSpPr>
          <p:nvPr/>
        </p:nvSpPr>
        <p:spPr>
          <a:xfrm>
            <a:off x="542925" y="2619375"/>
            <a:ext cx="2000250" cy="1962150"/>
          </a:xfrm>
          <a:prstGeom prst="roundRect">
            <a:avLst>
              <a:gd name="adj" fmla="val 5825"/>
            </a:avLst>
          </a:prstGeom>
          <a:solidFill>
            <a:srgbClr val="EAF3FF"/>
          </a:solidFill>
          <a:ln w="14288">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7" name="step-1-service">
            <a:extLst>
              <a:ext uri="{FF2B5EF4-FFF2-40B4-BE49-F238E27FC236}">
                <a16:creationId xmlns:a16="http://schemas.microsoft.com/office/drawing/2014/main" id="{7B7E2F3F-6D46-413A-A4D6-72AF2FE146C8}"/>
              </a:ext>
            </a:extLst>
          </p:cNvPr>
          <p:cNvSpPr>
            <a:spLocks noGrp="1"/>
          </p:cNvSpPr>
          <p:nvPr/>
        </p:nvSpPr>
        <p:spPr>
          <a:xfrm>
            <a:off x="714375" y="2800350"/>
            <a:ext cx="1657350" cy="190500"/>
          </a:xfrm>
          <a:prstGeom prst="rect">
            <a:avLst/>
          </a:prstGeom>
          <a:noFill/>
          <a:ln w="0">
            <a:noFill/>
            <a:prstDash val="solid"/>
          </a:ln>
        </p:spPr>
        <p:txBody>
          <a:bodyPr/>
          <a:lstStyle/>
          <a:p>
            <a:pPr>
              <a:buNone/>
              <a:defRPr sz="825" b="1">
                <a:solidFill>
                  <a:srgbClr val="2767A8"/>
                </a:solidFill>
              </a:defRPr>
            </a:pPr>
            <a:r>
              <a:rPr sz="825" b="1">
                <a:solidFill>
                  <a:srgbClr val="2767A8"/>
                </a:solidFill>
              </a:rPr>
              <a:t>DEALER DISCOVERY</a:t>
            </a:r>
          </a:p>
        </p:txBody>
      </p:sp>
      <p:sp>
        <p:nvSpPr>
          <p:cNvPr id="8" name="step-1-title">
            <a:extLst>
              <a:ext uri="{FF2B5EF4-FFF2-40B4-BE49-F238E27FC236}">
                <a16:creationId xmlns:a16="http://schemas.microsoft.com/office/drawing/2014/main" id="{48413582-EC08-4965-AC24-42BB5CF8F5F6}"/>
              </a:ext>
            </a:extLst>
          </p:cNvPr>
          <p:cNvSpPr>
            <a:spLocks noGrp="1"/>
          </p:cNvSpPr>
          <p:nvPr/>
        </p:nvSpPr>
        <p:spPr>
          <a:xfrm>
            <a:off x="714375" y="3095625"/>
            <a:ext cx="1657350" cy="495300"/>
          </a:xfrm>
          <a:prstGeom prst="rect">
            <a:avLst/>
          </a:prstGeom>
          <a:noFill/>
          <a:ln w="0">
            <a:noFill/>
            <a:prstDash val="solid"/>
          </a:ln>
        </p:spPr>
        <p:txBody>
          <a:bodyPr/>
          <a:lstStyle/>
          <a:p>
            <a:pPr>
              <a:buNone/>
              <a:defRPr sz="1500" b="1">
                <a:solidFill>
                  <a:srgbClr val="172033"/>
                </a:solidFill>
              </a:defRPr>
            </a:pPr>
            <a:r>
              <a:rPr sz="1500" b="1">
                <a:solidFill>
                  <a:srgbClr val="172033"/>
                </a:solidFill>
              </a:rPr>
              <a:t>Find a dealership</a:t>
            </a:r>
          </a:p>
        </p:txBody>
      </p:sp>
      <p:sp>
        <p:nvSpPr>
          <p:cNvPr id="9" name="step-1-detail">
            <a:extLst>
              <a:ext uri="{FF2B5EF4-FFF2-40B4-BE49-F238E27FC236}">
                <a16:creationId xmlns:a16="http://schemas.microsoft.com/office/drawing/2014/main" id="{B7150F00-A020-4901-8786-83EAC8DCC743}"/>
              </a:ext>
            </a:extLst>
          </p:cNvPr>
          <p:cNvSpPr>
            <a:spLocks noGrp="1"/>
          </p:cNvSpPr>
          <p:nvPr/>
        </p:nvSpPr>
        <p:spPr>
          <a:xfrm>
            <a:off x="714375" y="3686175"/>
            <a:ext cx="1657350" cy="742950"/>
          </a:xfrm>
          <a:prstGeom prst="rect">
            <a:avLst/>
          </a:prstGeom>
          <a:noFill/>
          <a:ln w="0">
            <a:noFill/>
            <a:prstDash val="solid"/>
          </a:ln>
        </p:spPr>
        <p:txBody>
          <a:bodyPr/>
          <a:lstStyle/>
          <a:p>
            <a:pPr>
              <a:buNone/>
              <a:defRPr sz="1125">
                <a:solidFill>
                  <a:srgbClr val="4B5563"/>
                </a:solidFill>
              </a:defRPr>
            </a:pPr>
            <a:r>
              <a:rPr sz="1125">
                <a:solidFill>
                  <a:srgbClr val="4B5563"/>
                </a:solidFill>
              </a:rPr>
              <a:t>Use browser location or ZIP code to discover nearby participating dealers.</a:t>
            </a:r>
          </a:p>
        </p:txBody>
      </p:sp>
      <p:sp>
        <p:nvSpPr>
          <p:cNvPr id="10" name="step-2-node">
            <a:extLst>
              <a:ext uri="{FF2B5EF4-FFF2-40B4-BE49-F238E27FC236}">
                <a16:creationId xmlns:a16="http://schemas.microsoft.com/office/drawing/2014/main" id="{4D5EDD04-A75D-4ED6-A451-7F28388E0099}"/>
              </a:ext>
            </a:extLst>
          </p:cNvPr>
          <p:cNvSpPr>
            <a:spLocks noGrp="1"/>
          </p:cNvSpPr>
          <p:nvPr/>
        </p:nvSpPr>
        <p:spPr>
          <a:xfrm>
            <a:off x="3552825" y="1857375"/>
            <a:ext cx="514350" cy="514350"/>
          </a:xfrm>
          <a:prstGeom prst="ellipse">
            <a:avLst/>
          </a:prstGeom>
          <a:solidFill>
            <a:srgbClr val="FFFFFF"/>
          </a:solidFill>
          <a:ln w="19050">
            <a:solidFill>
              <a:srgbClr val="6D4FB3"/>
            </a:solidFill>
            <a:prstDash val="solid"/>
          </a:ln>
        </p:spPr>
        <p:txBody>
          <a:bodyPr/>
          <a:lstStyle/>
          <a:p>
            <a:pPr algn="ctr">
              <a:buNone/>
              <a:defRPr sz="1650" b="1">
                <a:solidFill>
                  <a:srgbClr val="6D4FB3"/>
                </a:solidFill>
              </a:defRPr>
            </a:pPr>
            <a:r>
              <a:rPr sz="1650" b="1">
                <a:solidFill>
                  <a:srgbClr val="6D4FB3"/>
                </a:solidFill>
              </a:rPr>
              <a:t>2</a:t>
            </a:r>
          </a:p>
        </p:txBody>
      </p:sp>
      <p:sp>
        <p:nvSpPr>
          <p:cNvPr id="11" name="step-2-card">
            <a:extLst>
              <a:ext uri="{FF2B5EF4-FFF2-40B4-BE49-F238E27FC236}">
                <a16:creationId xmlns:a16="http://schemas.microsoft.com/office/drawing/2014/main" id="{D0560A2A-E5A9-4BF0-A00E-7E15E90FB7EA}"/>
              </a:ext>
            </a:extLst>
          </p:cNvPr>
          <p:cNvSpPr>
            <a:spLocks noGrp="1"/>
          </p:cNvSpPr>
          <p:nvPr/>
        </p:nvSpPr>
        <p:spPr>
          <a:xfrm>
            <a:off x="2819400" y="2619375"/>
            <a:ext cx="2000250" cy="1962150"/>
          </a:xfrm>
          <a:prstGeom prst="roundRect">
            <a:avLst>
              <a:gd name="adj" fmla="val 5825"/>
            </a:avLst>
          </a:prstGeom>
          <a:solidFill>
            <a:srgbClr val="F2ECFF"/>
          </a:solidFill>
          <a:ln w="14288">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step-2-service">
            <a:extLst>
              <a:ext uri="{FF2B5EF4-FFF2-40B4-BE49-F238E27FC236}">
                <a16:creationId xmlns:a16="http://schemas.microsoft.com/office/drawing/2014/main" id="{6548CAFC-6074-4D2F-A3A4-B3F47BBE3DA9}"/>
              </a:ext>
            </a:extLst>
          </p:cNvPr>
          <p:cNvSpPr>
            <a:spLocks noGrp="1"/>
          </p:cNvSpPr>
          <p:nvPr/>
        </p:nvSpPr>
        <p:spPr>
          <a:xfrm>
            <a:off x="2990850" y="2800350"/>
            <a:ext cx="1657350" cy="190500"/>
          </a:xfrm>
          <a:prstGeom prst="rect">
            <a:avLst/>
          </a:prstGeom>
          <a:noFill/>
          <a:ln w="0">
            <a:noFill/>
            <a:prstDash val="solid"/>
          </a:ln>
        </p:spPr>
        <p:txBody>
          <a:bodyPr/>
          <a:lstStyle/>
          <a:p>
            <a:pPr>
              <a:buNone/>
              <a:defRPr sz="825" b="1">
                <a:solidFill>
                  <a:srgbClr val="6D4FB3"/>
                </a:solidFill>
              </a:defRPr>
            </a:pPr>
            <a:r>
              <a:rPr sz="825" b="1">
                <a:solidFill>
                  <a:srgbClr val="6D4FB3"/>
                </a:solidFill>
              </a:rPr>
              <a:t>IDENTITY &amp; VEHICLE</a:t>
            </a:r>
          </a:p>
        </p:txBody>
      </p:sp>
      <p:sp>
        <p:nvSpPr>
          <p:cNvPr id="13" name="step-2-title">
            <a:extLst>
              <a:ext uri="{FF2B5EF4-FFF2-40B4-BE49-F238E27FC236}">
                <a16:creationId xmlns:a16="http://schemas.microsoft.com/office/drawing/2014/main" id="{0A411CB1-B004-4164-A3C7-106C29F5CE71}"/>
              </a:ext>
            </a:extLst>
          </p:cNvPr>
          <p:cNvSpPr>
            <a:spLocks noGrp="1"/>
          </p:cNvSpPr>
          <p:nvPr/>
        </p:nvSpPr>
        <p:spPr>
          <a:xfrm>
            <a:off x="2990850" y="3095625"/>
            <a:ext cx="1657350" cy="495300"/>
          </a:xfrm>
          <a:prstGeom prst="rect">
            <a:avLst/>
          </a:prstGeom>
          <a:noFill/>
          <a:ln w="0">
            <a:noFill/>
            <a:prstDash val="solid"/>
          </a:ln>
        </p:spPr>
        <p:txBody>
          <a:bodyPr/>
          <a:lstStyle/>
          <a:p>
            <a:pPr>
              <a:buNone/>
              <a:defRPr sz="1500" b="1">
                <a:solidFill>
                  <a:srgbClr val="172033"/>
                </a:solidFill>
              </a:defRPr>
            </a:pPr>
            <a:r>
              <a:rPr sz="1500" b="1">
                <a:solidFill>
                  <a:srgbClr val="172033"/>
                </a:solidFill>
              </a:rPr>
              <a:t>Identify the vehicle</a:t>
            </a:r>
          </a:p>
        </p:txBody>
      </p:sp>
      <p:sp>
        <p:nvSpPr>
          <p:cNvPr id="14" name="step-2-detail">
            <a:extLst>
              <a:ext uri="{FF2B5EF4-FFF2-40B4-BE49-F238E27FC236}">
                <a16:creationId xmlns:a16="http://schemas.microsoft.com/office/drawing/2014/main" id="{0513F2AD-194D-4FB6-AF1A-2242C8AFB4ED}"/>
              </a:ext>
            </a:extLst>
          </p:cNvPr>
          <p:cNvSpPr>
            <a:spLocks noGrp="1"/>
          </p:cNvSpPr>
          <p:nvPr/>
        </p:nvSpPr>
        <p:spPr>
          <a:xfrm>
            <a:off x="2990850" y="3686175"/>
            <a:ext cx="1657350" cy="742950"/>
          </a:xfrm>
          <a:prstGeom prst="rect">
            <a:avLst/>
          </a:prstGeom>
          <a:noFill/>
          <a:ln w="0">
            <a:noFill/>
            <a:prstDash val="solid"/>
          </a:ln>
        </p:spPr>
        <p:txBody>
          <a:bodyPr/>
          <a:lstStyle/>
          <a:p>
            <a:pPr>
              <a:buNone/>
              <a:defRPr sz="1125">
                <a:solidFill>
                  <a:srgbClr val="4B5563"/>
                </a:solidFill>
              </a:defRPr>
            </a:pPr>
            <a:r>
              <a:rPr sz="1125">
                <a:solidFill>
                  <a:srgbClr val="4B5563"/>
                </a:solidFill>
              </a:rPr>
              <a:t>Sign in, select a saved vehicle, enter a VIN, or continue without one.</a:t>
            </a:r>
          </a:p>
        </p:txBody>
      </p:sp>
      <p:sp>
        <p:nvSpPr>
          <p:cNvPr id="15" name="step-3-node">
            <a:extLst>
              <a:ext uri="{FF2B5EF4-FFF2-40B4-BE49-F238E27FC236}">
                <a16:creationId xmlns:a16="http://schemas.microsoft.com/office/drawing/2014/main" id="{52809EBF-4173-41EB-8E27-073D3BA1E90B}"/>
              </a:ext>
            </a:extLst>
          </p:cNvPr>
          <p:cNvSpPr>
            <a:spLocks noGrp="1"/>
          </p:cNvSpPr>
          <p:nvPr/>
        </p:nvSpPr>
        <p:spPr>
          <a:xfrm>
            <a:off x="5829300" y="1857375"/>
            <a:ext cx="514350" cy="514350"/>
          </a:xfrm>
          <a:prstGeom prst="ellipse">
            <a:avLst/>
          </a:prstGeom>
          <a:solidFill>
            <a:srgbClr val="FFFFFF"/>
          </a:solidFill>
          <a:ln w="19050">
            <a:solidFill>
              <a:srgbClr val="147A58"/>
            </a:solidFill>
            <a:prstDash val="solid"/>
          </a:ln>
        </p:spPr>
        <p:txBody>
          <a:bodyPr/>
          <a:lstStyle/>
          <a:p>
            <a:pPr algn="ctr">
              <a:buNone/>
              <a:defRPr sz="1650" b="1">
                <a:solidFill>
                  <a:srgbClr val="147A58"/>
                </a:solidFill>
              </a:defRPr>
            </a:pPr>
            <a:r>
              <a:rPr sz="1650" b="1">
                <a:solidFill>
                  <a:srgbClr val="147A58"/>
                </a:solidFill>
              </a:rPr>
              <a:t>3</a:t>
            </a:r>
          </a:p>
        </p:txBody>
      </p:sp>
      <p:sp>
        <p:nvSpPr>
          <p:cNvPr id="16" name="step-3-card">
            <a:extLst>
              <a:ext uri="{FF2B5EF4-FFF2-40B4-BE49-F238E27FC236}">
                <a16:creationId xmlns:a16="http://schemas.microsoft.com/office/drawing/2014/main" id="{E8E1DC9A-F459-47A5-9404-A38B44770B24}"/>
              </a:ext>
            </a:extLst>
          </p:cNvPr>
          <p:cNvSpPr>
            <a:spLocks noGrp="1"/>
          </p:cNvSpPr>
          <p:nvPr/>
        </p:nvSpPr>
        <p:spPr>
          <a:xfrm>
            <a:off x="5095875" y="2619375"/>
            <a:ext cx="2000250" cy="1962150"/>
          </a:xfrm>
          <a:prstGeom prst="roundRect">
            <a:avLst>
              <a:gd name="adj" fmla="val 5825"/>
            </a:avLst>
          </a:prstGeom>
          <a:solidFill>
            <a:srgbClr val="EAF8F3"/>
          </a:solidFill>
          <a:ln w="14288">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17" name="step-3-service">
            <a:extLst>
              <a:ext uri="{FF2B5EF4-FFF2-40B4-BE49-F238E27FC236}">
                <a16:creationId xmlns:a16="http://schemas.microsoft.com/office/drawing/2014/main" id="{B42AA545-311A-483B-B0A4-325BF2BC7EB3}"/>
              </a:ext>
            </a:extLst>
          </p:cNvPr>
          <p:cNvSpPr>
            <a:spLocks noGrp="1"/>
          </p:cNvSpPr>
          <p:nvPr/>
        </p:nvSpPr>
        <p:spPr>
          <a:xfrm>
            <a:off x="5267325" y="2800350"/>
            <a:ext cx="1657350" cy="190500"/>
          </a:xfrm>
          <a:prstGeom prst="rect">
            <a:avLst/>
          </a:prstGeom>
          <a:noFill/>
          <a:ln w="0">
            <a:noFill/>
            <a:prstDash val="solid"/>
          </a:ln>
        </p:spPr>
        <p:txBody>
          <a:bodyPr/>
          <a:lstStyle/>
          <a:p>
            <a:pPr>
              <a:buNone/>
              <a:defRPr sz="825" b="1">
                <a:solidFill>
                  <a:srgbClr val="147A58"/>
                </a:solidFill>
              </a:defRPr>
            </a:pPr>
            <a:r>
              <a:rPr sz="825" b="1">
                <a:solidFill>
                  <a:srgbClr val="147A58"/>
                </a:solidFill>
              </a:rPr>
              <a:t>SERVICE RECOMMENDATION</a:t>
            </a:r>
          </a:p>
        </p:txBody>
      </p:sp>
      <p:sp>
        <p:nvSpPr>
          <p:cNvPr id="18" name="step-3-title">
            <a:extLst>
              <a:ext uri="{FF2B5EF4-FFF2-40B4-BE49-F238E27FC236}">
                <a16:creationId xmlns:a16="http://schemas.microsoft.com/office/drawing/2014/main" id="{4A4CF60A-060F-4CA2-9BBF-F83BA8F367BB}"/>
              </a:ext>
            </a:extLst>
          </p:cNvPr>
          <p:cNvSpPr>
            <a:spLocks noGrp="1"/>
          </p:cNvSpPr>
          <p:nvPr/>
        </p:nvSpPr>
        <p:spPr>
          <a:xfrm>
            <a:off x="5267325" y="3095625"/>
            <a:ext cx="1657350" cy="495300"/>
          </a:xfrm>
          <a:prstGeom prst="rect">
            <a:avLst/>
          </a:prstGeom>
          <a:noFill/>
          <a:ln w="0">
            <a:noFill/>
            <a:prstDash val="solid"/>
          </a:ln>
        </p:spPr>
        <p:txBody>
          <a:bodyPr/>
          <a:lstStyle/>
          <a:p>
            <a:pPr>
              <a:buNone/>
              <a:defRPr sz="1500" b="1">
                <a:solidFill>
                  <a:srgbClr val="172033"/>
                </a:solidFill>
              </a:defRPr>
            </a:pPr>
            <a:r>
              <a:rPr sz="1500" b="1">
                <a:solidFill>
                  <a:srgbClr val="172033"/>
                </a:solidFill>
              </a:rPr>
              <a:t>Choose services</a:t>
            </a:r>
          </a:p>
        </p:txBody>
      </p:sp>
      <p:sp>
        <p:nvSpPr>
          <p:cNvPr id="19" name="step-3-detail">
            <a:extLst>
              <a:ext uri="{FF2B5EF4-FFF2-40B4-BE49-F238E27FC236}">
                <a16:creationId xmlns:a16="http://schemas.microsoft.com/office/drawing/2014/main" id="{DD98AD75-5E19-438C-BED0-54B708181D52}"/>
              </a:ext>
            </a:extLst>
          </p:cNvPr>
          <p:cNvSpPr>
            <a:spLocks noGrp="1"/>
          </p:cNvSpPr>
          <p:nvPr/>
        </p:nvSpPr>
        <p:spPr>
          <a:xfrm>
            <a:off x="5267325" y="3686175"/>
            <a:ext cx="1657350" cy="742950"/>
          </a:xfrm>
          <a:prstGeom prst="rect">
            <a:avLst/>
          </a:prstGeom>
          <a:noFill/>
          <a:ln w="0">
            <a:noFill/>
            <a:prstDash val="solid"/>
          </a:ln>
        </p:spPr>
        <p:txBody>
          <a:bodyPr/>
          <a:lstStyle/>
          <a:p>
            <a:pPr>
              <a:buNone/>
              <a:defRPr sz="1125">
                <a:solidFill>
                  <a:srgbClr val="4B5563"/>
                </a:solidFill>
              </a:defRPr>
            </a:pPr>
            <a:r>
              <a:rPr sz="1125">
                <a:solidFill>
                  <a:srgbClr val="4B5563"/>
                </a:solidFill>
              </a:rPr>
              <a:t>Show vehicle-specific recommendations or a generic service catalog.</a:t>
            </a:r>
          </a:p>
        </p:txBody>
      </p:sp>
      <p:sp>
        <p:nvSpPr>
          <p:cNvPr id="20" name="step-4-node">
            <a:extLst>
              <a:ext uri="{FF2B5EF4-FFF2-40B4-BE49-F238E27FC236}">
                <a16:creationId xmlns:a16="http://schemas.microsoft.com/office/drawing/2014/main" id="{7E0D7B4F-B5BD-4EB9-A775-3309C6D902A6}"/>
              </a:ext>
            </a:extLst>
          </p:cNvPr>
          <p:cNvSpPr>
            <a:spLocks noGrp="1"/>
          </p:cNvSpPr>
          <p:nvPr/>
        </p:nvSpPr>
        <p:spPr>
          <a:xfrm>
            <a:off x="8105775" y="1857375"/>
            <a:ext cx="514350" cy="514350"/>
          </a:xfrm>
          <a:prstGeom prst="ellipse">
            <a:avLst/>
          </a:prstGeom>
          <a:solidFill>
            <a:srgbClr val="198E84"/>
          </a:solidFill>
          <a:ln w="19050">
            <a:solidFill>
              <a:srgbClr val="198E84"/>
            </a:solidFill>
            <a:prstDash val="solid"/>
          </a:ln>
        </p:spPr>
        <p:style>
          <a:lnRef idx="0">
            <a:scrgbClr r="0" g="0" b="0"/>
          </a:lnRef>
          <a:fillRef idx="0">
            <a:scrgbClr r="0" g="0" b="0"/>
          </a:fillRef>
          <a:effectRef idx="6">
            <a:scrgbClr r="0" g="0" b="0"/>
          </a:effectRef>
          <a:fontRef idx="major"/>
        </p:style>
        <p:txBody>
          <a:bodyPr/>
          <a:lstStyle/>
          <a:p>
            <a:pPr algn="ctr">
              <a:buNone/>
              <a:defRPr sz="1650" b="1">
                <a:solidFill>
                  <a:srgbClr val="FFFFFF"/>
                </a:solidFill>
              </a:defRPr>
            </a:pPr>
            <a:r>
              <a:rPr sz="1650" b="1">
                <a:solidFill>
                  <a:srgbClr val="FFFFFF"/>
                </a:solidFill>
              </a:rPr>
              <a:t>4</a:t>
            </a:r>
          </a:p>
        </p:txBody>
      </p:sp>
      <p:sp>
        <p:nvSpPr>
          <p:cNvPr id="21" name="step-4-card">
            <a:extLst>
              <a:ext uri="{FF2B5EF4-FFF2-40B4-BE49-F238E27FC236}">
                <a16:creationId xmlns:a16="http://schemas.microsoft.com/office/drawing/2014/main" id="{BB90EA6F-E392-44F9-BB0F-DF3044742EF8}"/>
              </a:ext>
            </a:extLst>
          </p:cNvPr>
          <p:cNvSpPr>
            <a:spLocks noGrp="1"/>
          </p:cNvSpPr>
          <p:nvPr/>
        </p:nvSpPr>
        <p:spPr>
          <a:xfrm>
            <a:off x="7372350" y="2619375"/>
            <a:ext cx="2000250" cy="1962150"/>
          </a:xfrm>
          <a:prstGeom prst="roundRect">
            <a:avLst>
              <a:gd name="adj" fmla="val 5825"/>
            </a:avLst>
          </a:prstGeom>
          <a:solidFill>
            <a:srgbClr val="F0FBFA"/>
          </a:solidFill>
          <a:ln w="23813">
            <a:solidFill>
              <a:srgbClr val="198E84"/>
            </a:solidFill>
            <a:prstDash val="solid"/>
          </a:ln>
        </p:spPr>
        <p:style>
          <a:lnRef idx="0">
            <a:scrgbClr r="0" g="0" b="0"/>
          </a:lnRef>
          <a:fillRef idx="0">
            <a:scrgbClr r="0" g="0" b="0"/>
          </a:fillRef>
          <a:effectRef idx="6">
            <a:scrgbClr r="0" g="0" b="0"/>
          </a:effectRef>
          <a:fontRef idx="major"/>
        </p:style>
        <p:txBody>
          <a:bodyPr/>
          <a:lstStyle/>
          <a:p>
            <a:endParaRPr/>
          </a:p>
        </p:txBody>
      </p:sp>
      <p:sp>
        <p:nvSpPr>
          <p:cNvPr id="22" name="step-4-service">
            <a:extLst>
              <a:ext uri="{FF2B5EF4-FFF2-40B4-BE49-F238E27FC236}">
                <a16:creationId xmlns:a16="http://schemas.microsoft.com/office/drawing/2014/main" id="{DC6A9697-78D9-438F-85BC-F07224FD8973}"/>
              </a:ext>
            </a:extLst>
          </p:cNvPr>
          <p:cNvSpPr>
            <a:spLocks noGrp="1"/>
          </p:cNvSpPr>
          <p:nvPr/>
        </p:nvSpPr>
        <p:spPr>
          <a:xfrm>
            <a:off x="7543800" y="2800350"/>
            <a:ext cx="1657350" cy="190500"/>
          </a:xfrm>
          <a:prstGeom prst="rect">
            <a:avLst/>
          </a:prstGeom>
          <a:noFill/>
          <a:ln w="0">
            <a:noFill/>
            <a:prstDash val="solid"/>
          </a:ln>
        </p:spPr>
        <p:txBody>
          <a:bodyPr/>
          <a:lstStyle/>
          <a:p>
            <a:pPr>
              <a:buNone/>
              <a:defRPr sz="825" b="1">
                <a:solidFill>
                  <a:srgbClr val="198E84"/>
                </a:solidFill>
              </a:defRPr>
            </a:pPr>
            <a:r>
              <a:rPr sz="825" b="1">
                <a:solidFill>
                  <a:srgbClr val="198E84"/>
                </a:solidFill>
              </a:rPr>
              <a:t>AVAILABILITY &amp; BOOKING</a:t>
            </a:r>
          </a:p>
        </p:txBody>
      </p:sp>
      <p:sp>
        <p:nvSpPr>
          <p:cNvPr id="23" name="step-4-title">
            <a:extLst>
              <a:ext uri="{FF2B5EF4-FFF2-40B4-BE49-F238E27FC236}">
                <a16:creationId xmlns:a16="http://schemas.microsoft.com/office/drawing/2014/main" id="{B6630B07-DE32-4485-9440-3B6C60A64495}"/>
              </a:ext>
            </a:extLst>
          </p:cNvPr>
          <p:cNvSpPr>
            <a:spLocks noGrp="1"/>
          </p:cNvSpPr>
          <p:nvPr/>
        </p:nvSpPr>
        <p:spPr>
          <a:xfrm>
            <a:off x="7543800" y="3095625"/>
            <a:ext cx="1657350" cy="495300"/>
          </a:xfrm>
          <a:prstGeom prst="rect">
            <a:avLst/>
          </a:prstGeom>
          <a:noFill/>
          <a:ln w="0">
            <a:noFill/>
            <a:prstDash val="solid"/>
          </a:ln>
        </p:spPr>
        <p:txBody>
          <a:bodyPr/>
          <a:lstStyle/>
          <a:p>
            <a:pPr>
              <a:buNone/>
              <a:defRPr sz="1500" b="1">
                <a:solidFill>
                  <a:srgbClr val="172033"/>
                </a:solidFill>
              </a:defRPr>
            </a:pPr>
            <a:r>
              <a:rPr sz="1500" b="1">
                <a:solidFill>
                  <a:srgbClr val="172033"/>
                </a:solidFill>
              </a:rPr>
              <a:t>Select and book a slot</a:t>
            </a:r>
          </a:p>
        </p:txBody>
      </p:sp>
      <p:sp>
        <p:nvSpPr>
          <p:cNvPr id="24" name="step-4-detail">
            <a:extLst>
              <a:ext uri="{FF2B5EF4-FFF2-40B4-BE49-F238E27FC236}">
                <a16:creationId xmlns:a16="http://schemas.microsoft.com/office/drawing/2014/main" id="{58C0F051-F9ED-4393-AE91-982480E5CA3F}"/>
              </a:ext>
            </a:extLst>
          </p:cNvPr>
          <p:cNvSpPr>
            <a:spLocks noGrp="1"/>
          </p:cNvSpPr>
          <p:nvPr/>
        </p:nvSpPr>
        <p:spPr>
          <a:xfrm>
            <a:off x="7543800" y="3686175"/>
            <a:ext cx="1657350" cy="742950"/>
          </a:xfrm>
          <a:prstGeom prst="rect">
            <a:avLst/>
          </a:prstGeom>
          <a:noFill/>
          <a:ln w="0">
            <a:noFill/>
            <a:prstDash val="solid"/>
          </a:ln>
        </p:spPr>
        <p:txBody>
          <a:bodyPr/>
          <a:lstStyle/>
          <a:p>
            <a:pPr>
              <a:buNone/>
              <a:defRPr sz="1125">
                <a:solidFill>
                  <a:srgbClr val="4B5563"/>
                </a:solidFill>
              </a:defRPr>
            </a:pPr>
            <a:r>
              <a:rPr sz="1125">
                <a:solidFill>
                  <a:srgbClr val="4B5563"/>
                </a:solidFill>
              </a:rPr>
              <a:t>Check live dealer availability, place a short hold, and confirm once.</a:t>
            </a:r>
          </a:p>
        </p:txBody>
      </p:sp>
      <p:sp>
        <p:nvSpPr>
          <p:cNvPr id="25" name="step-5-node">
            <a:extLst>
              <a:ext uri="{FF2B5EF4-FFF2-40B4-BE49-F238E27FC236}">
                <a16:creationId xmlns:a16="http://schemas.microsoft.com/office/drawing/2014/main" id="{68920B75-9092-4103-909B-B6C708DE6DC1}"/>
              </a:ext>
            </a:extLst>
          </p:cNvPr>
          <p:cNvSpPr>
            <a:spLocks noGrp="1"/>
          </p:cNvSpPr>
          <p:nvPr/>
        </p:nvSpPr>
        <p:spPr>
          <a:xfrm>
            <a:off x="10382250" y="1857375"/>
            <a:ext cx="514350" cy="514350"/>
          </a:xfrm>
          <a:prstGeom prst="ellipse">
            <a:avLst/>
          </a:prstGeom>
          <a:solidFill>
            <a:srgbClr val="FFFFFF"/>
          </a:solidFill>
          <a:ln w="19050">
            <a:solidFill>
              <a:srgbClr val="B86713"/>
            </a:solidFill>
            <a:prstDash val="solid"/>
          </a:ln>
        </p:spPr>
        <p:txBody>
          <a:bodyPr/>
          <a:lstStyle/>
          <a:p>
            <a:pPr algn="ctr">
              <a:buNone/>
              <a:defRPr sz="1650" b="1">
                <a:solidFill>
                  <a:srgbClr val="B86713"/>
                </a:solidFill>
              </a:defRPr>
            </a:pPr>
            <a:r>
              <a:rPr sz="1650" b="1">
                <a:solidFill>
                  <a:srgbClr val="B86713"/>
                </a:solidFill>
              </a:rPr>
              <a:t>5</a:t>
            </a:r>
          </a:p>
        </p:txBody>
      </p:sp>
      <p:sp>
        <p:nvSpPr>
          <p:cNvPr id="26" name="step-5-card">
            <a:extLst>
              <a:ext uri="{FF2B5EF4-FFF2-40B4-BE49-F238E27FC236}">
                <a16:creationId xmlns:a16="http://schemas.microsoft.com/office/drawing/2014/main" id="{694EB896-EF45-4D87-BA7A-6C6C972B5A9A}"/>
              </a:ext>
            </a:extLst>
          </p:cNvPr>
          <p:cNvSpPr>
            <a:spLocks noGrp="1"/>
          </p:cNvSpPr>
          <p:nvPr/>
        </p:nvSpPr>
        <p:spPr>
          <a:xfrm>
            <a:off x="9648825" y="2619375"/>
            <a:ext cx="2000250" cy="1962150"/>
          </a:xfrm>
          <a:prstGeom prst="roundRect">
            <a:avLst>
              <a:gd name="adj" fmla="val 5825"/>
            </a:avLst>
          </a:prstGeom>
          <a:solidFill>
            <a:srgbClr val="FFF3E5"/>
          </a:solidFill>
          <a:ln w="14288">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27" name="step-5-service">
            <a:extLst>
              <a:ext uri="{FF2B5EF4-FFF2-40B4-BE49-F238E27FC236}">
                <a16:creationId xmlns:a16="http://schemas.microsoft.com/office/drawing/2014/main" id="{3EAA8DE0-893D-4840-B0CF-8E5D69C5B3CC}"/>
              </a:ext>
            </a:extLst>
          </p:cNvPr>
          <p:cNvSpPr>
            <a:spLocks noGrp="1"/>
          </p:cNvSpPr>
          <p:nvPr/>
        </p:nvSpPr>
        <p:spPr>
          <a:xfrm>
            <a:off x="9820275" y="2800350"/>
            <a:ext cx="1657350" cy="190500"/>
          </a:xfrm>
          <a:prstGeom prst="rect">
            <a:avLst/>
          </a:prstGeom>
          <a:noFill/>
          <a:ln w="0">
            <a:noFill/>
            <a:prstDash val="solid"/>
          </a:ln>
        </p:spPr>
        <p:txBody>
          <a:bodyPr/>
          <a:lstStyle/>
          <a:p>
            <a:pPr>
              <a:buNone/>
              <a:defRPr sz="825" b="1">
                <a:solidFill>
                  <a:srgbClr val="B86713"/>
                </a:solidFill>
              </a:defRPr>
            </a:pPr>
            <a:r>
              <a:rPr sz="825" b="1">
                <a:solidFill>
                  <a:srgbClr val="B86713"/>
                </a:solidFill>
              </a:rPr>
              <a:t>NOTIFICATIONS</a:t>
            </a:r>
          </a:p>
        </p:txBody>
      </p:sp>
      <p:sp>
        <p:nvSpPr>
          <p:cNvPr id="28" name="step-5-title">
            <a:extLst>
              <a:ext uri="{FF2B5EF4-FFF2-40B4-BE49-F238E27FC236}">
                <a16:creationId xmlns:a16="http://schemas.microsoft.com/office/drawing/2014/main" id="{FFE94BD2-7392-428F-9B89-F9C338D3A85B}"/>
              </a:ext>
            </a:extLst>
          </p:cNvPr>
          <p:cNvSpPr>
            <a:spLocks noGrp="1"/>
          </p:cNvSpPr>
          <p:nvPr/>
        </p:nvSpPr>
        <p:spPr>
          <a:xfrm>
            <a:off x="9820275" y="3095625"/>
            <a:ext cx="1657350" cy="495300"/>
          </a:xfrm>
          <a:prstGeom prst="rect">
            <a:avLst/>
          </a:prstGeom>
          <a:noFill/>
          <a:ln w="0">
            <a:noFill/>
            <a:prstDash val="solid"/>
          </a:ln>
        </p:spPr>
        <p:txBody>
          <a:bodyPr/>
          <a:lstStyle/>
          <a:p>
            <a:pPr>
              <a:buNone/>
              <a:defRPr sz="1500" b="1">
                <a:solidFill>
                  <a:srgbClr val="172033"/>
                </a:solidFill>
              </a:defRPr>
            </a:pPr>
            <a:r>
              <a:rPr sz="1500" b="1">
                <a:solidFill>
                  <a:srgbClr val="172033"/>
                </a:solidFill>
              </a:rPr>
              <a:t>Confirm and remind</a:t>
            </a:r>
          </a:p>
        </p:txBody>
      </p:sp>
      <p:sp>
        <p:nvSpPr>
          <p:cNvPr id="29" name="step-5-detail">
            <a:extLst>
              <a:ext uri="{FF2B5EF4-FFF2-40B4-BE49-F238E27FC236}">
                <a16:creationId xmlns:a16="http://schemas.microsoft.com/office/drawing/2014/main" id="{C65329CC-7C9B-433A-80A0-5C47DD9F2ED6}"/>
              </a:ext>
            </a:extLst>
          </p:cNvPr>
          <p:cNvSpPr>
            <a:spLocks noGrp="1"/>
          </p:cNvSpPr>
          <p:nvPr/>
        </p:nvSpPr>
        <p:spPr>
          <a:xfrm>
            <a:off x="9820275" y="3686175"/>
            <a:ext cx="1657350" cy="742950"/>
          </a:xfrm>
          <a:prstGeom prst="rect">
            <a:avLst/>
          </a:prstGeom>
          <a:noFill/>
          <a:ln w="0">
            <a:noFill/>
            <a:prstDash val="solid"/>
          </a:ln>
        </p:spPr>
        <p:txBody>
          <a:bodyPr/>
          <a:lstStyle/>
          <a:p>
            <a:pPr>
              <a:buNone/>
              <a:defRPr sz="1125">
                <a:solidFill>
                  <a:srgbClr val="4B5563"/>
                </a:solidFill>
              </a:defRPr>
            </a:pPr>
            <a:r>
              <a:rPr sz="1125">
                <a:solidFill>
                  <a:srgbClr val="4B5563"/>
                </a:solidFill>
              </a:rPr>
              <a:t>Send confirmation and scheduled reminders by email or SMS preference.</a:t>
            </a:r>
          </a:p>
        </p:txBody>
      </p:sp>
      <p:cxnSp>
        <p:nvCxnSpPr>
          <p:cNvPr id="132" name="Straight Arrow Connector 65"/>
          <p:cNvCxnSpPr>
            <a:stCxn id="6" idx="3"/>
            <a:endCxn id="11" idx="1"/>
          </p:cNvCxnSpPr>
          <p:nvPr/>
        </p:nvCxnSpPr>
        <p:spPr>
          <a:xfrm>
            <a:off x="2543175" y="3600450"/>
            <a:ext cx="276225" cy="0"/>
          </a:xfrm>
          <a:prstGeom prst="straightConnector1">
            <a:avLst/>
          </a:prstGeom>
          <a:ln w="19050">
            <a:solidFill>
              <a:srgbClr val="198E84"/>
            </a:solidFill>
            <a:prstDash val="solid"/>
            <a:tailEnd type="triangle" w="sm" len="sm"/>
          </a:ln>
        </p:spPr>
      </p:cxnSp>
      <p:cxnSp>
        <p:nvCxnSpPr>
          <p:cNvPr id="133" name="Straight Arrow Connector 66"/>
          <p:cNvCxnSpPr>
            <a:stCxn id="11" idx="3"/>
            <a:endCxn id="16" idx="1"/>
          </p:cNvCxnSpPr>
          <p:nvPr/>
        </p:nvCxnSpPr>
        <p:spPr>
          <a:xfrm>
            <a:off x="4819650" y="3600450"/>
            <a:ext cx="276225" cy="0"/>
          </a:xfrm>
          <a:prstGeom prst="straightConnector1">
            <a:avLst/>
          </a:prstGeom>
          <a:ln w="19050">
            <a:solidFill>
              <a:srgbClr val="198E84"/>
            </a:solidFill>
            <a:prstDash val="solid"/>
            <a:tailEnd type="triangle" w="sm" len="sm"/>
          </a:ln>
        </p:spPr>
      </p:cxnSp>
      <p:cxnSp>
        <p:nvCxnSpPr>
          <p:cNvPr id="134" name="Straight Arrow Connector 67"/>
          <p:cNvCxnSpPr>
            <a:stCxn id="16" idx="3"/>
            <a:endCxn id="21" idx="1"/>
          </p:cNvCxnSpPr>
          <p:nvPr/>
        </p:nvCxnSpPr>
        <p:spPr>
          <a:xfrm>
            <a:off x="7096125" y="3600450"/>
            <a:ext cx="276225" cy="0"/>
          </a:xfrm>
          <a:prstGeom prst="straightConnector1">
            <a:avLst/>
          </a:prstGeom>
          <a:ln w="19050">
            <a:solidFill>
              <a:srgbClr val="198E84"/>
            </a:solidFill>
            <a:prstDash val="solid"/>
            <a:tailEnd type="triangle" w="sm" len="sm"/>
          </a:ln>
        </p:spPr>
      </p:cxnSp>
      <p:cxnSp>
        <p:nvCxnSpPr>
          <p:cNvPr id="135" name="Straight Arrow Connector 68"/>
          <p:cNvCxnSpPr>
            <a:stCxn id="21" idx="3"/>
            <a:endCxn id="26" idx="1"/>
          </p:cNvCxnSpPr>
          <p:nvPr/>
        </p:nvCxnSpPr>
        <p:spPr>
          <a:xfrm>
            <a:off x="9372600" y="3600450"/>
            <a:ext cx="276225" cy="0"/>
          </a:xfrm>
          <a:prstGeom prst="straightConnector1">
            <a:avLst/>
          </a:prstGeom>
          <a:ln w="19050">
            <a:solidFill>
              <a:srgbClr val="198E84"/>
            </a:solidFill>
            <a:prstDash val="solid"/>
            <a:tailEnd type="triangle" w="sm" len="sm"/>
          </a:ln>
        </p:spPr>
      </p:cxnSp>
      <p:sp>
        <p:nvSpPr>
          <p:cNvPr id="34" name="journey-foundation">
            <a:extLst>
              <a:ext uri="{FF2B5EF4-FFF2-40B4-BE49-F238E27FC236}">
                <a16:creationId xmlns:a16="http://schemas.microsoft.com/office/drawing/2014/main" id="{E4324269-8869-4835-8F5C-9A24E6FA0098}"/>
              </a:ext>
            </a:extLst>
          </p:cNvPr>
          <p:cNvSpPr>
            <a:spLocks noGrp="1"/>
          </p:cNvSpPr>
          <p:nvPr/>
        </p:nvSpPr>
        <p:spPr>
          <a:xfrm>
            <a:off x="647700" y="5057775"/>
            <a:ext cx="10896600" cy="685800"/>
          </a:xfrm>
          <a:prstGeom prst="roundRect">
            <a:avLst>
              <a:gd name="adj" fmla="val 16667"/>
            </a:avLst>
          </a:prstGeom>
          <a:solidFill>
            <a:srgbClr val="172033"/>
          </a:solidFill>
          <a:ln w="0">
            <a:solidFill>
              <a:srgbClr val="172033"/>
            </a:solidFill>
            <a:prstDash val="solid"/>
          </a:ln>
        </p:spPr>
        <p:txBody>
          <a:bodyPr/>
          <a:lstStyle/>
          <a:p>
            <a:pPr algn="ctr">
              <a:buNone/>
              <a:defRPr sz="1350" b="1">
                <a:solidFill>
                  <a:srgbClr val="FFFFFF"/>
                </a:solidFill>
              </a:defRPr>
            </a:pPr>
            <a:r>
              <a:rPr sz="1350" b="1">
                <a:solidFill>
                  <a:srgbClr val="FFFFFF"/>
                </a:solidFill>
              </a:rPr>
              <a:t>One consistent customer experience, backed by independently deployable dealer, vehicle, service, booking, and notification capabilities.</a:t>
            </a:r>
          </a:p>
        </p:txBody>
      </p:sp>
      <p:sp>
        <p:nvSpPr>
          <p:cNvPr id="35" name="edge-cases-label">
            <a:extLst>
              <a:ext uri="{FF2B5EF4-FFF2-40B4-BE49-F238E27FC236}">
                <a16:creationId xmlns:a16="http://schemas.microsoft.com/office/drawing/2014/main" id="{B293B0B7-D05A-45BB-9AE5-A1BAC28315EC}"/>
              </a:ext>
            </a:extLst>
          </p:cNvPr>
          <p:cNvSpPr>
            <a:spLocks noGrp="1"/>
          </p:cNvSpPr>
          <p:nvPr/>
        </p:nvSpPr>
        <p:spPr>
          <a:xfrm>
            <a:off x="647700" y="6010275"/>
            <a:ext cx="1619250" cy="190500"/>
          </a:xfrm>
          <a:prstGeom prst="rect">
            <a:avLst/>
          </a:prstGeom>
          <a:noFill/>
          <a:ln w="0">
            <a:noFill/>
            <a:prstDash val="solid"/>
          </a:ln>
        </p:spPr>
        <p:txBody>
          <a:bodyPr/>
          <a:lstStyle/>
          <a:p>
            <a:pPr>
              <a:buNone/>
              <a:defRPr sz="900" b="1">
                <a:solidFill>
                  <a:srgbClr val="198E84"/>
                </a:solidFill>
              </a:defRPr>
            </a:pPr>
            <a:r>
              <a:rPr sz="900" b="1">
                <a:solidFill>
                  <a:srgbClr val="198E84"/>
                </a:solidFill>
              </a:rPr>
              <a:t>BUILT-IN RECOVERY</a:t>
            </a:r>
          </a:p>
        </p:txBody>
      </p:sp>
      <p:sp>
        <p:nvSpPr>
          <p:cNvPr id="36" name="edge-cases">
            <a:extLst>
              <a:ext uri="{FF2B5EF4-FFF2-40B4-BE49-F238E27FC236}">
                <a16:creationId xmlns:a16="http://schemas.microsoft.com/office/drawing/2014/main" id="{FCA9B69F-A5FC-484F-8B9B-752C41C0CD40}"/>
              </a:ext>
            </a:extLst>
          </p:cNvPr>
          <p:cNvSpPr>
            <a:spLocks noGrp="1"/>
          </p:cNvSpPr>
          <p:nvPr/>
        </p:nvSpPr>
        <p:spPr>
          <a:xfrm>
            <a:off x="2286000" y="5962650"/>
            <a:ext cx="9258300" cy="266700"/>
          </a:xfrm>
          <a:prstGeom prst="rect">
            <a:avLst/>
          </a:prstGeom>
          <a:noFill/>
          <a:ln w="0">
            <a:noFill/>
            <a:prstDash val="solid"/>
          </a:ln>
        </p:spPr>
        <p:txBody>
          <a:bodyPr/>
          <a:lstStyle/>
          <a:p>
            <a:pPr>
              <a:buNone/>
              <a:defRPr sz="1200">
                <a:solidFill>
                  <a:srgbClr val="4B5563"/>
                </a:solidFill>
              </a:defRPr>
            </a:pPr>
            <a:r>
              <a:rPr sz="1200">
                <a:solidFill>
                  <a:srgbClr val="4B5563"/>
                </a:solidFill>
              </a:rPr>
              <a:t>GPS denied • invalid or unavailable VIN • no matching service • no appointment slots • dealer system unavailable</a:t>
            </a:r>
          </a:p>
        </p:txBody>
      </p:sp>
    </p:spTree>
    <p:extLst>
      <p:ext uri="{BB962C8B-B14F-4D97-AF65-F5344CB8AC3E}">
        <p14:creationId xmlns:p14="http://schemas.microsoft.com/office/powerpoint/2010/main" val="1987247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eyebrow">
            <a:extLst>
              <a:ext uri="{FF2B5EF4-FFF2-40B4-BE49-F238E27FC236}">
                <a16:creationId xmlns:a16="http://schemas.microsoft.com/office/drawing/2014/main" id="{A82A2350-A61F-4BC2-916F-0E2945FABAE9}"/>
              </a:ext>
            </a:extLst>
          </p:cNvPr>
          <p:cNvSpPr>
            <a:spLocks noGrp="1"/>
          </p:cNvSpPr>
          <p:nvPr/>
        </p:nvSpPr>
        <p:spPr>
          <a:xfrm>
            <a:off x="514350" y="238125"/>
            <a:ext cx="323850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PROPOSED SOLUTION ARCHITECTURE</a:t>
            </a:r>
          </a:p>
        </p:txBody>
      </p:sp>
      <p:sp>
        <p:nvSpPr>
          <p:cNvPr id="2" name="title">
            <a:extLst>
              <a:ext uri="{FF2B5EF4-FFF2-40B4-BE49-F238E27FC236}">
                <a16:creationId xmlns:a16="http://schemas.microsoft.com/office/drawing/2014/main" id="{828BE6E8-9A1D-4A65-BBE9-47A2247DCB21}"/>
              </a:ext>
            </a:extLst>
          </p:cNvPr>
          <p:cNvSpPr>
            <a:spLocks noGrp="1"/>
          </p:cNvSpPr>
          <p:nvPr/>
        </p:nvSpPr>
        <p:spPr>
          <a:xfrm>
            <a:off x="514350" y="457200"/>
            <a:ext cx="11163300" cy="419100"/>
          </a:xfrm>
          <a:prstGeom prst="rect">
            <a:avLst/>
          </a:prstGeom>
          <a:noFill/>
          <a:ln w="0">
            <a:noFill/>
            <a:prstDash val="solid"/>
          </a:ln>
        </p:spPr>
        <p:txBody>
          <a:bodyPr/>
          <a:lstStyle/>
          <a:p>
            <a:pPr>
              <a:buNone/>
              <a:defRPr sz="2625" b="1">
                <a:solidFill>
                  <a:srgbClr val="111827"/>
                </a:solidFill>
              </a:defRPr>
            </a:pPr>
            <a:r>
              <a:rPr sz="2625" b="1" dirty="0">
                <a:solidFill>
                  <a:srgbClr val="111827"/>
                </a:solidFill>
              </a:rPr>
              <a:t>A secure multi-AZ platform federates dealer-owned scheduling systems</a:t>
            </a:r>
          </a:p>
        </p:txBody>
      </p:sp>
      <p:sp>
        <p:nvSpPr>
          <p:cNvPr id="3" name="subtitle">
            <a:extLst>
              <a:ext uri="{FF2B5EF4-FFF2-40B4-BE49-F238E27FC236}">
                <a16:creationId xmlns:a16="http://schemas.microsoft.com/office/drawing/2014/main" id="{08F30805-E462-4FC4-BD11-DFA7A396375F}"/>
              </a:ext>
            </a:extLst>
          </p:cNvPr>
          <p:cNvSpPr>
            <a:spLocks noGrp="1"/>
          </p:cNvSpPr>
          <p:nvPr/>
        </p:nvSpPr>
        <p:spPr>
          <a:xfrm>
            <a:off x="514350" y="895350"/>
            <a:ext cx="11049000" cy="266700"/>
          </a:xfrm>
          <a:prstGeom prst="rect">
            <a:avLst/>
          </a:prstGeom>
          <a:noFill/>
          <a:ln w="0">
            <a:noFill/>
            <a:prstDash val="solid"/>
          </a:ln>
        </p:spPr>
        <p:txBody>
          <a:bodyPr/>
          <a:lstStyle/>
          <a:p>
            <a:pPr>
              <a:buNone/>
              <a:defRPr sz="1200">
                <a:solidFill>
                  <a:srgbClr val="5B6472"/>
                </a:solidFill>
              </a:defRPr>
            </a:pPr>
            <a:r>
              <a:rPr sz="1200">
                <a:solidFill>
                  <a:srgbClr val="5B6472"/>
                </a:solidFill>
              </a:rPr>
              <a:t>The cloud owns the customer journey and booking state; VIN, repair history, and appointment inventory remain authoritative in brownfield systems.</a:t>
            </a:r>
          </a:p>
        </p:txBody>
      </p:sp>
      <p:sp>
        <p:nvSpPr>
          <p:cNvPr id="4" name="aws-region">
            <a:extLst>
              <a:ext uri="{FF2B5EF4-FFF2-40B4-BE49-F238E27FC236}">
                <a16:creationId xmlns:a16="http://schemas.microsoft.com/office/drawing/2014/main" id="{116D0B29-2D2E-42C5-8C25-E8580728D9F2}"/>
              </a:ext>
            </a:extLst>
          </p:cNvPr>
          <p:cNvSpPr>
            <a:spLocks noGrp="1"/>
          </p:cNvSpPr>
          <p:nvPr/>
        </p:nvSpPr>
        <p:spPr>
          <a:xfrm>
            <a:off x="1743075" y="1285875"/>
            <a:ext cx="7524750" cy="4648200"/>
          </a:xfrm>
          <a:prstGeom prst="roundRect">
            <a:avLst>
              <a:gd name="adj" fmla="val 2459"/>
            </a:avLst>
          </a:prstGeom>
          <a:solidFill>
            <a:srgbClr val="FBFCFE"/>
          </a:solidFill>
          <a:ln w="17145">
            <a:solidFill>
              <a:srgbClr val="2767A8"/>
            </a:solidFill>
            <a:prstDash val="solid"/>
          </a:ln>
        </p:spPr>
        <p:txBody>
          <a:bodyPr/>
          <a:lstStyle/>
          <a:p>
            <a:endParaRPr/>
          </a:p>
        </p:txBody>
      </p:sp>
      <p:sp>
        <p:nvSpPr>
          <p:cNvPr id="5" name="region-label">
            <a:extLst>
              <a:ext uri="{FF2B5EF4-FFF2-40B4-BE49-F238E27FC236}">
                <a16:creationId xmlns:a16="http://schemas.microsoft.com/office/drawing/2014/main" id="{5DA37D3E-B8C4-4B6E-8E35-18BDA555439F}"/>
              </a:ext>
            </a:extLst>
          </p:cNvPr>
          <p:cNvSpPr>
            <a:spLocks noGrp="1"/>
          </p:cNvSpPr>
          <p:nvPr/>
        </p:nvSpPr>
        <p:spPr>
          <a:xfrm>
            <a:off x="1952625" y="1371600"/>
            <a:ext cx="2381250" cy="190500"/>
          </a:xfrm>
          <a:prstGeom prst="rect">
            <a:avLst/>
          </a:prstGeom>
          <a:noFill/>
          <a:ln w="0">
            <a:noFill/>
            <a:prstDash val="solid"/>
          </a:ln>
        </p:spPr>
        <p:txBody>
          <a:bodyPr/>
          <a:lstStyle/>
          <a:p>
            <a:pPr>
              <a:buNone/>
              <a:defRPr sz="975" b="1">
                <a:solidFill>
                  <a:srgbClr val="2767A8"/>
                </a:solidFill>
              </a:defRPr>
            </a:pPr>
            <a:r>
              <a:rPr sz="975" b="1">
                <a:solidFill>
                  <a:srgbClr val="2767A8"/>
                </a:solidFill>
              </a:rPr>
              <a:t>AWS REGION • MULTI-AZ</a:t>
            </a:r>
          </a:p>
        </p:txBody>
      </p:sp>
      <p:sp>
        <p:nvSpPr>
          <p:cNvPr id="6" name="customer">
            <a:extLst>
              <a:ext uri="{FF2B5EF4-FFF2-40B4-BE49-F238E27FC236}">
                <a16:creationId xmlns:a16="http://schemas.microsoft.com/office/drawing/2014/main" id="{6362D291-00EB-47CB-8342-4E04A150863F}"/>
              </a:ext>
            </a:extLst>
          </p:cNvPr>
          <p:cNvSpPr>
            <a:spLocks noGrp="1"/>
          </p:cNvSpPr>
          <p:nvPr/>
        </p:nvSpPr>
        <p:spPr>
          <a:xfrm>
            <a:off x="266700" y="2609850"/>
            <a:ext cx="1285875" cy="990600"/>
          </a:xfrm>
          <a:prstGeom prst="roundRect">
            <a:avLst>
              <a:gd name="adj" fmla="val 7692"/>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7" name="customer-title">
            <a:extLst>
              <a:ext uri="{FF2B5EF4-FFF2-40B4-BE49-F238E27FC236}">
                <a16:creationId xmlns:a16="http://schemas.microsoft.com/office/drawing/2014/main" id="{83FFADF5-6656-4A7F-9C4D-6244B7AC1AC2}"/>
              </a:ext>
            </a:extLst>
          </p:cNvPr>
          <p:cNvSpPr>
            <a:spLocks noGrp="1"/>
          </p:cNvSpPr>
          <p:nvPr/>
        </p:nvSpPr>
        <p:spPr>
          <a:xfrm>
            <a:off x="361950" y="2695575"/>
            <a:ext cx="1095375" cy="238125"/>
          </a:xfrm>
          <a:prstGeom prst="rect">
            <a:avLst/>
          </a:prstGeom>
          <a:noFill/>
          <a:ln w="0">
            <a:noFill/>
            <a:prstDash val="solid"/>
          </a:ln>
        </p:spPr>
        <p:txBody>
          <a:bodyPr/>
          <a:lstStyle/>
          <a:p>
            <a:pPr algn="ctr">
              <a:buNone/>
              <a:defRPr sz="1350" b="1">
                <a:solidFill>
                  <a:srgbClr val="172033"/>
                </a:solidFill>
              </a:defRPr>
            </a:pPr>
            <a:r>
              <a:rPr sz="1350" b="1">
                <a:solidFill>
                  <a:srgbClr val="172033"/>
                </a:solidFill>
              </a:rPr>
              <a:t>Customer</a:t>
            </a:r>
          </a:p>
        </p:txBody>
      </p:sp>
      <p:sp>
        <p:nvSpPr>
          <p:cNvPr id="8" name="customer-detail">
            <a:extLst>
              <a:ext uri="{FF2B5EF4-FFF2-40B4-BE49-F238E27FC236}">
                <a16:creationId xmlns:a16="http://schemas.microsoft.com/office/drawing/2014/main" id="{B794E23A-1762-402E-94CF-12EC48B2BF41}"/>
              </a:ext>
            </a:extLst>
          </p:cNvPr>
          <p:cNvSpPr>
            <a:spLocks noGrp="1"/>
          </p:cNvSpPr>
          <p:nvPr/>
        </p:nvSpPr>
        <p:spPr>
          <a:xfrm>
            <a:off x="361950" y="2981325"/>
            <a:ext cx="1095375" cy="552450"/>
          </a:xfrm>
          <a:prstGeom prst="rect">
            <a:avLst/>
          </a:prstGeom>
          <a:noFill/>
          <a:ln w="0">
            <a:noFill/>
            <a:prstDash val="solid"/>
          </a:ln>
        </p:spPr>
        <p:txBody>
          <a:bodyPr/>
          <a:lstStyle/>
          <a:p>
            <a:pPr algn="ctr">
              <a:buNone/>
              <a:defRPr sz="900">
                <a:solidFill>
                  <a:srgbClr val="4B5563"/>
                </a:solidFill>
              </a:defRPr>
            </a:pPr>
            <a:r>
              <a:rPr sz="900">
                <a:solidFill>
                  <a:srgbClr val="4B5563"/>
                </a:solidFill>
              </a:rPr>
              <a:t>Web / mobile</a:t>
            </a:r>
          </a:p>
          <a:p>
            <a:pPr algn="ctr">
              <a:buNone/>
              <a:defRPr sz="900">
                <a:solidFill>
                  <a:srgbClr val="4B5563"/>
                </a:solidFill>
              </a:defRPr>
            </a:pPr>
            <a:r>
              <a:rPr sz="900">
                <a:solidFill>
                  <a:srgbClr val="4B5563"/>
                </a:solidFill>
              </a:rPr>
              <a:t>Guest or signed in</a:t>
            </a:r>
          </a:p>
        </p:txBody>
      </p:sp>
      <p:sp>
        <p:nvSpPr>
          <p:cNvPr id="9" name="dealer-staff">
            <a:extLst>
              <a:ext uri="{FF2B5EF4-FFF2-40B4-BE49-F238E27FC236}">
                <a16:creationId xmlns:a16="http://schemas.microsoft.com/office/drawing/2014/main" id="{D36DAFB4-2D72-4C44-AB42-59B9CBBBD156}"/>
              </a:ext>
            </a:extLst>
          </p:cNvPr>
          <p:cNvSpPr>
            <a:spLocks noGrp="1"/>
          </p:cNvSpPr>
          <p:nvPr/>
        </p:nvSpPr>
        <p:spPr>
          <a:xfrm>
            <a:off x="266700" y="3886200"/>
            <a:ext cx="1285875" cy="990600"/>
          </a:xfrm>
          <a:prstGeom prst="roundRect">
            <a:avLst>
              <a:gd name="adj" fmla="val 7692"/>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dealer-staff-title">
            <a:extLst>
              <a:ext uri="{FF2B5EF4-FFF2-40B4-BE49-F238E27FC236}">
                <a16:creationId xmlns:a16="http://schemas.microsoft.com/office/drawing/2014/main" id="{CD19D6E0-05F7-4209-ADC6-FC70F3CD805A}"/>
              </a:ext>
            </a:extLst>
          </p:cNvPr>
          <p:cNvSpPr>
            <a:spLocks noGrp="1"/>
          </p:cNvSpPr>
          <p:nvPr/>
        </p:nvSpPr>
        <p:spPr>
          <a:xfrm>
            <a:off x="361950" y="3971925"/>
            <a:ext cx="1095375" cy="238125"/>
          </a:xfrm>
          <a:prstGeom prst="rect">
            <a:avLst/>
          </a:prstGeom>
          <a:noFill/>
          <a:ln w="0">
            <a:noFill/>
            <a:prstDash val="solid"/>
          </a:ln>
        </p:spPr>
        <p:txBody>
          <a:bodyPr/>
          <a:lstStyle/>
          <a:p>
            <a:pPr algn="ctr">
              <a:buNone/>
              <a:defRPr sz="1125" b="1">
                <a:solidFill>
                  <a:srgbClr val="172033"/>
                </a:solidFill>
              </a:defRPr>
            </a:pPr>
            <a:r>
              <a:rPr sz="1125" b="1">
                <a:solidFill>
                  <a:srgbClr val="172033"/>
                </a:solidFill>
              </a:rPr>
              <a:t>Dealer personnel</a:t>
            </a:r>
          </a:p>
        </p:txBody>
      </p:sp>
      <p:sp>
        <p:nvSpPr>
          <p:cNvPr id="11" name="dealer-staff-detail">
            <a:extLst>
              <a:ext uri="{FF2B5EF4-FFF2-40B4-BE49-F238E27FC236}">
                <a16:creationId xmlns:a16="http://schemas.microsoft.com/office/drawing/2014/main" id="{4182A117-9EB8-4F39-BCE4-C651701F0080}"/>
              </a:ext>
            </a:extLst>
          </p:cNvPr>
          <p:cNvSpPr>
            <a:spLocks noGrp="1"/>
          </p:cNvSpPr>
          <p:nvPr/>
        </p:nvSpPr>
        <p:spPr>
          <a:xfrm>
            <a:off x="361950" y="4295775"/>
            <a:ext cx="1095375" cy="514350"/>
          </a:xfrm>
          <a:prstGeom prst="rect">
            <a:avLst/>
          </a:prstGeom>
          <a:noFill/>
          <a:ln w="0">
            <a:noFill/>
            <a:prstDash val="solid"/>
          </a:ln>
        </p:spPr>
        <p:txBody>
          <a:bodyPr/>
          <a:lstStyle/>
          <a:p>
            <a:pPr algn="ctr">
              <a:buNone/>
              <a:defRPr sz="825">
                <a:solidFill>
                  <a:srgbClr val="4B5563"/>
                </a:solidFill>
              </a:defRPr>
            </a:pPr>
            <a:r>
              <a:rPr sz="825">
                <a:solidFill>
                  <a:srgbClr val="4B5563"/>
                </a:solidFill>
              </a:rPr>
              <a:t>Dealer-scoped access</a:t>
            </a:r>
          </a:p>
        </p:txBody>
      </p:sp>
      <p:sp>
        <p:nvSpPr>
          <p:cNvPr id="12" name="controls">
            <a:extLst>
              <a:ext uri="{FF2B5EF4-FFF2-40B4-BE49-F238E27FC236}">
                <a16:creationId xmlns:a16="http://schemas.microsoft.com/office/drawing/2014/main" id="{327FBD32-C018-4C53-9C56-A1889195DE4E}"/>
              </a:ext>
            </a:extLst>
          </p:cNvPr>
          <p:cNvSpPr>
            <a:spLocks noGrp="1"/>
          </p:cNvSpPr>
          <p:nvPr/>
        </p:nvSpPr>
        <p:spPr>
          <a:xfrm>
            <a:off x="2000250" y="1619250"/>
            <a:ext cx="7029450" cy="457200"/>
          </a:xfrm>
          <a:prstGeom prst="roundRect">
            <a:avLst>
              <a:gd name="adj" fmla="val 16667"/>
            </a:avLst>
          </a:prstGeom>
          <a:solidFill>
            <a:srgbClr val="F4F7FA"/>
          </a:solidFill>
          <a:ln w="13335">
            <a:solidFill>
              <a:srgbClr val="8491A3"/>
            </a:solidFill>
            <a:prstDash val="solid"/>
          </a:ln>
        </p:spPr>
        <p:txBody>
          <a:bodyPr/>
          <a:lstStyle/>
          <a:p>
            <a:endParaRPr/>
          </a:p>
        </p:txBody>
      </p:sp>
      <p:sp>
        <p:nvSpPr>
          <p:cNvPr id="13" name="controls-title">
            <a:extLst>
              <a:ext uri="{FF2B5EF4-FFF2-40B4-BE49-F238E27FC236}">
                <a16:creationId xmlns:a16="http://schemas.microsoft.com/office/drawing/2014/main" id="{37248238-CDBB-4E23-9807-929556542886}"/>
              </a:ext>
            </a:extLst>
          </p:cNvPr>
          <p:cNvSpPr>
            <a:spLocks noGrp="1"/>
          </p:cNvSpPr>
          <p:nvPr/>
        </p:nvSpPr>
        <p:spPr>
          <a:xfrm>
            <a:off x="3571875" y="1704975"/>
            <a:ext cx="5362575" cy="190500"/>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Security &amp; operations</a:t>
            </a:r>
          </a:p>
        </p:txBody>
      </p:sp>
      <p:sp>
        <p:nvSpPr>
          <p:cNvPr id="14" name="controls-detail">
            <a:extLst>
              <a:ext uri="{FF2B5EF4-FFF2-40B4-BE49-F238E27FC236}">
                <a16:creationId xmlns:a16="http://schemas.microsoft.com/office/drawing/2014/main" id="{F32A991A-F63B-4EA0-9AAA-7341F64A528A}"/>
              </a:ext>
            </a:extLst>
          </p:cNvPr>
          <p:cNvSpPr>
            <a:spLocks noGrp="1"/>
          </p:cNvSpPr>
          <p:nvPr/>
        </p:nvSpPr>
        <p:spPr>
          <a:xfrm>
            <a:off x="2095500" y="1857375"/>
            <a:ext cx="6838950" cy="152400"/>
          </a:xfrm>
          <a:prstGeom prst="rect">
            <a:avLst/>
          </a:prstGeom>
          <a:noFill/>
          <a:ln w="0">
            <a:noFill/>
            <a:prstDash val="solid"/>
          </a:ln>
        </p:spPr>
        <p:txBody>
          <a:bodyPr/>
          <a:lstStyle/>
          <a:p>
            <a:pPr algn="ctr">
              <a:buNone/>
              <a:defRPr sz="900">
                <a:solidFill>
                  <a:srgbClr val="4B5563"/>
                </a:solidFill>
              </a:defRPr>
            </a:pPr>
            <a:r>
              <a:rPr sz="900">
                <a:solidFill>
                  <a:srgbClr val="4B5563"/>
                </a:solidFill>
              </a:rPr>
              <a:t>WAF / Shield • KMS • Secrets Manager • CloudWatch / X-Ray • CloudTrail</a:t>
            </a:r>
          </a:p>
        </p:txBody>
      </p:sp>
      <p:pic>
        <p:nvPicPr>
          <p:cNvPr id="422" name="Picture 137"/>
          <p:cNvPicPr>
            <a:picLocks noChangeAspect="1"/>
          </p:cNvPicPr>
          <p:nvPr/>
        </p:nvPicPr>
        <p:blipFill>
          <a:blip r:embed="rId3"/>
          <a:stretch/>
        </p:blipFill>
        <p:spPr>
          <a:xfrm>
            <a:off x="2095500" y="1724025"/>
            <a:ext cx="200025" cy="200025"/>
          </a:xfrm>
          <a:prstGeom prst="rect">
            <a:avLst/>
          </a:prstGeom>
        </p:spPr>
      </p:pic>
      <p:pic>
        <p:nvPicPr>
          <p:cNvPr id="423" name="Picture 138"/>
          <p:cNvPicPr>
            <a:picLocks noChangeAspect="1"/>
          </p:cNvPicPr>
          <p:nvPr/>
        </p:nvPicPr>
        <p:blipFill>
          <a:blip r:embed="rId4"/>
          <a:stretch/>
        </p:blipFill>
        <p:spPr>
          <a:xfrm>
            <a:off x="2362200" y="1724025"/>
            <a:ext cx="200025" cy="200025"/>
          </a:xfrm>
          <a:prstGeom prst="rect">
            <a:avLst/>
          </a:prstGeom>
        </p:spPr>
      </p:pic>
      <p:pic>
        <p:nvPicPr>
          <p:cNvPr id="424" name="Picture 139"/>
          <p:cNvPicPr>
            <a:picLocks noChangeAspect="1"/>
          </p:cNvPicPr>
          <p:nvPr/>
        </p:nvPicPr>
        <p:blipFill>
          <a:blip r:embed="rId5"/>
          <a:stretch/>
        </p:blipFill>
        <p:spPr>
          <a:xfrm>
            <a:off x="2628900" y="1724025"/>
            <a:ext cx="200025" cy="200025"/>
          </a:xfrm>
          <a:prstGeom prst="rect">
            <a:avLst/>
          </a:prstGeom>
        </p:spPr>
      </p:pic>
      <p:pic>
        <p:nvPicPr>
          <p:cNvPr id="425" name="Picture 140"/>
          <p:cNvPicPr>
            <a:picLocks noChangeAspect="1"/>
          </p:cNvPicPr>
          <p:nvPr/>
        </p:nvPicPr>
        <p:blipFill>
          <a:blip r:embed="rId6"/>
          <a:stretch/>
        </p:blipFill>
        <p:spPr>
          <a:xfrm>
            <a:off x="2895600" y="1724025"/>
            <a:ext cx="200025" cy="200025"/>
          </a:xfrm>
          <a:prstGeom prst="rect">
            <a:avLst/>
          </a:prstGeom>
        </p:spPr>
      </p:pic>
      <p:pic>
        <p:nvPicPr>
          <p:cNvPr id="426" name="Picture 141"/>
          <p:cNvPicPr>
            <a:picLocks noChangeAspect="1"/>
          </p:cNvPicPr>
          <p:nvPr/>
        </p:nvPicPr>
        <p:blipFill>
          <a:blip r:embed="rId7"/>
          <a:stretch/>
        </p:blipFill>
        <p:spPr>
          <a:xfrm>
            <a:off x="3162300" y="1724025"/>
            <a:ext cx="200025" cy="200025"/>
          </a:xfrm>
          <a:prstGeom prst="rect">
            <a:avLst/>
          </a:prstGeom>
        </p:spPr>
      </p:pic>
      <p:sp>
        <p:nvSpPr>
          <p:cNvPr id="20" name="edge">
            <a:extLst>
              <a:ext uri="{FF2B5EF4-FFF2-40B4-BE49-F238E27FC236}">
                <a16:creationId xmlns:a16="http://schemas.microsoft.com/office/drawing/2014/main" id="{FE38236D-3A38-4DAC-BB9A-FBE8BD6257BA}"/>
              </a:ext>
            </a:extLst>
          </p:cNvPr>
          <p:cNvSpPr>
            <a:spLocks noGrp="1"/>
          </p:cNvSpPr>
          <p:nvPr/>
        </p:nvSpPr>
        <p:spPr>
          <a:xfrm>
            <a:off x="2000250" y="2247900"/>
            <a:ext cx="1219200" cy="609600"/>
          </a:xfrm>
          <a:prstGeom prst="roundRect">
            <a:avLst>
              <a:gd name="adj" fmla="val 12500"/>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21" name="edge-title">
            <a:extLst>
              <a:ext uri="{FF2B5EF4-FFF2-40B4-BE49-F238E27FC236}">
                <a16:creationId xmlns:a16="http://schemas.microsoft.com/office/drawing/2014/main" id="{9300FD0E-E581-423F-93B8-8E8C031FC238}"/>
              </a:ext>
            </a:extLst>
          </p:cNvPr>
          <p:cNvSpPr>
            <a:spLocks noGrp="1"/>
          </p:cNvSpPr>
          <p:nvPr/>
        </p:nvSpPr>
        <p:spPr>
          <a:xfrm>
            <a:off x="2457450" y="2333625"/>
            <a:ext cx="66675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Web delivery</a:t>
            </a:r>
          </a:p>
        </p:txBody>
      </p:sp>
      <p:sp>
        <p:nvSpPr>
          <p:cNvPr id="22" name="edge-detail">
            <a:extLst>
              <a:ext uri="{FF2B5EF4-FFF2-40B4-BE49-F238E27FC236}">
                <a16:creationId xmlns:a16="http://schemas.microsoft.com/office/drawing/2014/main" id="{5EB25E0E-3000-4CC8-9869-BA56C7B83371}"/>
              </a:ext>
            </a:extLst>
          </p:cNvPr>
          <p:cNvSpPr>
            <a:spLocks noGrp="1"/>
          </p:cNvSpPr>
          <p:nvPr/>
        </p:nvSpPr>
        <p:spPr>
          <a:xfrm>
            <a:off x="20955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CloudFront + S3</a:t>
            </a:r>
          </a:p>
        </p:txBody>
      </p:sp>
      <p:pic>
        <p:nvPicPr>
          <p:cNvPr id="430" name="Picture 145"/>
          <p:cNvPicPr>
            <a:picLocks noChangeAspect="1"/>
          </p:cNvPicPr>
          <p:nvPr/>
        </p:nvPicPr>
        <p:blipFill>
          <a:blip r:embed="rId8"/>
          <a:stretch/>
        </p:blipFill>
        <p:spPr>
          <a:xfrm>
            <a:off x="2066925" y="2324100"/>
            <a:ext cx="190500" cy="190500"/>
          </a:xfrm>
          <a:prstGeom prst="rect">
            <a:avLst/>
          </a:prstGeom>
        </p:spPr>
      </p:pic>
      <p:pic>
        <p:nvPicPr>
          <p:cNvPr id="431" name="Picture 146"/>
          <p:cNvPicPr>
            <a:picLocks noChangeAspect="1"/>
          </p:cNvPicPr>
          <p:nvPr/>
        </p:nvPicPr>
        <p:blipFill>
          <a:blip r:embed="rId9"/>
          <a:stretch/>
        </p:blipFill>
        <p:spPr>
          <a:xfrm>
            <a:off x="2266950" y="2324100"/>
            <a:ext cx="190500" cy="190500"/>
          </a:xfrm>
          <a:prstGeom prst="rect">
            <a:avLst/>
          </a:prstGeom>
        </p:spPr>
      </p:pic>
      <p:sp>
        <p:nvSpPr>
          <p:cNvPr id="25" name="identity">
            <a:extLst>
              <a:ext uri="{FF2B5EF4-FFF2-40B4-BE49-F238E27FC236}">
                <a16:creationId xmlns:a16="http://schemas.microsoft.com/office/drawing/2014/main" id="{E686EA1E-FF95-41EC-98B0-11C0AE189871}"/>
              </a:ext>
            </a:extLst>
          </p:cNvPr>
          <p:cNvSpPr>
            <a:spLocks noGrp="1"/>
          </p:cNvSpPr>
          <p:nvPr/>
        </p:nvSpPr>
        <p:spPr>
          <a:xfrm>
            <a:off x="3371850" y="2247900"/>
            <a:ext cx="1219200" cy="609600"/>
          </a:xfrm>
          <a:prstGeom prst="roundRect">
            <a:avLst>
              <a:gd name="adj" fmla="val 12500"/>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26" name="identity-title">
            <a:extLst>
              <a:ext uri="{FF2B5EF4-FFF2-40B4-BE49-F238E27FC236}">
                <a16:creationId xmlns:a16="http://schemas.microsoft.com/office/drawing/2014/main" id="{19E323D6-BB70-46C8-AE55-A81BCB8A84F1}"/>
              </a:ext>
            </a:extLst>
          </p:cNvPr>
          <p:cNvSpPr>
            <a:spLocks noGrp="1"/>
          </p:cNvSpPr>
          <p:nvPr/>
        </p:nvSpPr>
        <p:spPr>
          <a:xfrm>
            <a:off x="37338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Amazon Cognito</a:t>
            </a:r>
          </a:p>
        </p:txBody>
      </p:sp>
      <p:sp>
        <p:nvSpPr>
          <p:cNvPr id="27" name="identity-detail">
            <a:extLst>
              <a:ext uri="{FF2B5EF4-FFF2-40B4-BE49-F238E27FC236}">
                <a16:creationId xmlns:a16="http://schemas.microsoft.com/office/drawing/2014/main" id="{8AFD4BCB-C616-416B-A6A1-19F207787B2D}"/>
              </a:ext>
            </a:extLst>
          </p:cNvPr>
          <p:cNvSpPr>
            <a:spLocks noGrp="1"/>
          </p:cNvSpPr>
          <p:nvPr/>
        </p:nvSpPr>
        <p:spPr>
          <a:xfrm>
            <a:off x="34671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Customer identity</a:t>
            </a:r>
          </a:p>
        </p:txBody>
      </p:sp>
      <p:pic>
        <p:nvPicPr>
          <p:cNvPr id="435" name="Picture 150"/>
          <p:cNvPicPr>
            <a:picLocks noChangeAspect="1"/>
          </p:cNvPicPr>
          <p:nvPr/>
        </p:nvPicPr>
        <p:blipFill>
          <a:blip r:embed="rId10"/>
          <a:stretch/>
        </p:blipFill>
        <p:spPr>
          <a:xfrm>
            <a:off x="3448050" y="2314575"/>
            <a:ext cx="219075" cy="219075"/>
          </a:xfrm>
          <a:prstGeom prst="rect">
            <a:avLst/>
          </a:prstGeom>
        </p:spPr>
      </p:pic>
      <p:sp>
        <p:nvSpPr>
          <p:cNvPr id="29" name="api">
            <a:extLst>
              <a:ext uri="{FF2B5EF4-FFF2-40B4-BE49-F238E27FC236}">
                <a16:creationId xmlns:a16="http://schemas.microsoft.com/office/drawing/2014/main" id="{01D02DA1-5554-429B-ABE6-D1339824A64C}"/>
              </a:ext>
            </a:extLst>
          </p:cNvPr>
          <p:cNvSpPr>
            <a:spLocks noGrp="1"/>
          </p:cNvSpPr>
          <p:nvPr/>
        </p:nvSpPr>
        <p:spPr>
          <a:xfrm>
            <a:off x="4743450" y="2247900"/>
            <a:ext cx="1219200" cy="609600"/>
          </a:xfrm>
          <a:prstGeom prst="roundRect">
            <a:avLst>
              <a:gd name="adj" fmla="val 12500"/>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30" name="api-title">
            <a:extLst>
              <a:ext uri="{FF2B5EF4-FFF2-40B4-BE49-F238E27FC236}">
                <a16:creationId xmlns:a16="http://schemas.microsoft.com/office/drawing/2014/main" id="{C8D834E9-C117-4779-82DE-E90195073FE2}"/>
              </a:ext>
            </a:extLst>
          </p:cNvPr>
          <p:cNvSpPr>
            <a:spLocks noGrp="1"/>
          </p:cNvSpPr>
          <p:nvPr/>
        </p:nvSpPr>
        <p:spPr>
          <a:xfrm>
            <a:off x="51054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API Gateway</a:t>
            </a:r>
          </a:p>
        </p:txBody>
      </p:sp>
      <p:sp>
        <p:nvSpPr>
          <p:cNvPr id="31" name="api-detail">
            <a:extLst>
              <a:ext uri="{FF2B5EF4-FFF2-40B4-BE49-F238E27FC236}">
                <a16:creationId xmlns:a16="http://schemas.microsoft.com/office/drawing/2014/main" id="{06E29F76-0613-4C02-9C76-549403A8F788}"/>
              </a:ext>
            </a:extLst>
          </p:cNvPr>
          <p:cNvSpPr>
            <a:spLocks noGrp="1"/>
          </p:cNvSpPr>
          <p:nvPr/>
        </p:nvSpPr>
        <p:spPr>
          <a:xfrm>
            <a:off x="4838700" y="2628900"/>
            <a:ext cx="1028700" cy="161925"/>
          </a:xfrm>
          <a:prstGeom prst="rect">
            <a:avLst/>
          </a:prstGeom>
          <a:noFill/>
          <a:ln w="0">
            <a:noFill/>
            <a:prstDash val="solid"/>
          </a:ln>
        </p:spPr>
        <p:txBody>
          <a:bodyPr/>
          <a:lstStyle/>
          <a:p>
            <a:pPr algn="ctr">
              <a:buNone/>
              <a:defRPr sz="750">
                <a:solidFill>
                  <a:srgbClr val="4B5563"/>
                </a:solidFill>
              </a:defRPr>
            </a:pPr>
            <a:r>
              <a:rPr sz="750">
                <a:solidFill>
                  <a:srgbClr val="4B5563"/>
                </a:solidFill>
              </a:rPr>
              <a:t>REST APIs + throttling</a:t>
            </a:r>
          </a:p>
        </p:txBody>
      </p:sp>
      <p:pic>
        <p:nvPicPr>
          <p:cNvPr id="439" name="Picture 154"/>
          <p:cNvPicPr>
            <a:picLocks noChangeAspect="1"/>
          </p:cNvPicPr>
          <p:nvPr/>
        </p:nvPicPr>
        <p:blipFill>
          <a:blip r:embed="rId11"/>
          <a:stretch/>
        </p:blipFill>
        <p:spPr>
          <a:xfrm>
            <a:off x="4819650" y="2314575"/>
            <a:ext cx="219075" cy="219075"/>
          </a:xfrm>
          <a:prstGeom prst="rect">
            <a:avLst/>
          </a:prstGeom>
        </p:spPr>
      </p:pic>
      <p:sp>
        <p:nvSpPr>
          <p:cNvPr id="33" name="workflow">
            <a:extLst>
              <a:ext uri="{FF2B5EF4-FFF2-40B4-BE49-F238E27FC236}">
                <a16:creationId xmlns:a16="http://schemas.microsoft.com/office/drawing/2014/main" id="{C4FBF564-E02A-4B80-8DEA-D7FFE5EE0112}"/>
              </a:ext>
            </a:extLst>
          </p:cNvPr>
          <p:cNvSpPr>
            <a:spLocks noGrp="1"/>
          </p:cNvSpPr>
          <p:nvPr/>
        </p:nvSpPr>
        <p:spPr>
          <a:xfrm>
            <a:off x="6115050" y="2247900"/>
            <a:ext cx="1219200" cy="609600"/>
          </a:xfrm>
          <a:prstGeom prst="roundRect">
            <a:avLst>
              <a:gd name="adj" fmla="val 12500"/>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34" name="workflow-title">
            <a:extLst>
              <a:ext uri="{FF2B5EF4-FFF2-40B4-BE49-F238E27FC236}">
                <a16:creationId xmlns:a16="http://schemas.microsoft.com/office/drawing/2014/main" id="{1EB58596-AEC0-4CE6-B4D3-06F81CE0EDC5}"/>
              </a:ext>
            </a:extLst>
          </p:cNvPr>
          <p:cNvSpPr>
            <a:spLocks noGrp="1"/>
          </p:cNvSpPr>
          <p:nvPr/>
        </p:nvSpPr>
        <p:spPr>
          <a:xfrm>
            <a:off x="64770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Step Functions</a:t>
            </a:r>
          </a:p>
        </p:txBody>
      </p:sp>
      <p:sp>
        <p:nvSpPr>
          <p:cNvPr id="35" name="workflow-detail">
            <a:extLst>
              <a:ext uri="{FF2B5EF4-FFF2-40B4-BE49-F238E27FC236}">
                <a16:creationId xmlns:a16="http://schemas.microsoft.com/office/drawing/2014/main" id="{F56426AB-F5DF-4A54-B7AB-2794EF82B612}"/>
              </a:ext>
            </a:extLst>
          </p:cNvPr>
          <p:cNvSpPr>
            <a:spLocks noGrp="1"/>
          </p:cNvSpPr>
          <p:nvPr/>
        </p:nvSpPr>
        <p:spPr>
          <a:xfrm>
            <a:off x="62103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Booking saga</a:t>
            </a:r>
          </a:p>
        </p:txBody>
      </p:sp>
      <p:pic>
        <p:nvPicPr>
          <p:cNvPr id="443" name="Picture 158"/>
          <p:cNvPicPr>
            <a:picLocks noChangeAspect="1"/>
          </p:cNvPicPr>
          <p:nvPr/>
        </p:nvPicPr>
        <p:blipFill>
          <a:blip r:embed="rId12"/>
          <a:stretch/>
        </p:blipFill>
        <p:spPr>
          <a:xfrm>
            <a:off x="6191250" y="2314575"/>
            <a:ext cx="219075" cy="219075"/>
          </a:xfrm>
          <a:prstGeom prst="rect">
            <a:avLst/>
          </a:prstGeom>
        </p:spPr>
      </p:pic>
      <p:sp>
        <p:nvSpPr>
          <p:cNvPr id="37" name="domain-boundary">
            <a:extLst>
              <a:ext uri="{FF2B5EF4-FFF2-40B4-BE49-F238E27FC236}">
                <a16:creationId xmlns:a16="http://schemas.microsoft.com/office/drawing/2014/main" id="{7850BF46-1E58-4489-8006-15DCFDCFE2FD}"/>
              </a:ext>
            </a:extLst>
          </p:cNvPr>
          <p:cNvSpPr>
            <a:spLocks noGrp="1"/>
          </p:cNvSpPr>
          <p:nvPr/>
        </p:nvSpPr>
        <p:spPr>
          <a:xfrm>
            <a:off x="2000250" y="3048000"/>
            <a:ext cx="5334000" cy="1752600"/>
          </a:xfrm>
          <a:prstGeom prst="roundRect">
            <a:avLst>
              <a:gd name="adj" fmla="val 4348"/>
            </a:avLst>
          </a:prstGeom>
          <a:solidFill>
            <a:srgbClr val="FFFFFF"/>
          </a:solidFill>
          <a:ln w="11430">
            <a:solidFill>
              <a:srgbClr val="9AA4B2"/>
            </a:solidFill>
            <a:prstDash val="solid"/>
          </a:ln>
        </p:spPr>
        <p:txBody>
          <a:bodyPr/>
          <a:lstStyle/>
          <a:p>
            <a:endParaRPr/>
          </a:p>
        </p:txBody>
      </p:sp>
      <p:sp>
        <p:nvSpPr>
          <p:cNvPr id="38" name="domain-label">
            <a:extLst>
              <a:ext uri="{FF2B5EF4-FFF2-40B4-BE49-F238E27FC236}">
                <a16:creationId xmlns:a16="http://schemas.microsoft.com/office/drawing/2014/main" id="{9269CE86-FFCB-4AC5-B946-B16DED199ECC}"/>
              </a:ext>
            </a:extLst>
          </p:cNvPr>
          <p:cNvSpPr>
            <a:spLocks noGrp="1"/>
          </p:cNvSpPr>
          <p:nvPr/>
        </p:nvSpPr>
        <p:spPr>
          <a:xfrm>
            <a:off x="2400300" y="3114675"/>
            <a:ext cx="3905250" cy="171450"/>
          </a:xfrm>
          <a:prstGeom prst="rect">
            <a:avLst/>
          </a:prstGeom>
          <a:noFill/>
          <a:ln w="0">
            <a:noFill/>
            <a:prstDash val="solid"/>
          </a:ln>
        </p:spPr>
        <p:txBody>
          <a:bodyPr/>
          <a:lstStyle/>
          <a:p>
            <a:pPr>
              <a:buNone/>
              <a:defRPr sz="825" b="1">
                <a:solidFill>
                  <a:srgbClr val="5B6472"/>
                </a:solidFill>
              </a:defRPr>
            </a:pPr>
            <a:r>
              <a:rPr sz="825" b="1">
                <a:solidFill>
                  <a:srgbClr val="5B6472"/>
                </a:solidFill>
              </a:rPr>
              <a:t>DOMAIN SERVICES • LAMBDA / CONTAINER ADAPTERS</a:t>
            </a:r>
          </a:p>
        </p:txBody>
      </p:sp>
      <p:pic>
        <p:nvPicPr>
          <p:cNvPr id="446" name="Picture 161"/>
          <p:cNvPicPr>
            <a:picLocks noChangeAspect="1"/>
          </p:cNvPicPr>
          <p:nvPr/>
        </p:nvPicPr>
        <p:blipFill>
          <a:blip r:embed="rId13"/>
          <a:stretch/>
        </p:blipFill>
        <p:spPr>
          <a:xfrm>
            <a:off x="2143125" y="3086100"/>
            <a:ext cx="200025" cy="200025"/>
          </a:xfrm>
          <a:prstGeom prst="rect">
            <a:avLst/>
          </a:prstGeom>
        </p:spPr>
      </p:pic>
      <p:sp>
        <p:nvSpPr>
          <p:cNvPr id="40" name="dealer-discovery">
            <a:extLst>
              <a:ext uri="{FF2B5EF4-FFF2-40B4-BE49-F238E27FC236}">
                <a16:creationId xmlns:a16="http://schemas.microsoft.com/office/drawing/2014/main" id="{00C490FE-192E-4EB1-9167-C964288DABAD}"/>
              </a:ext>
            </a:extLst>
          </p:cNvPr>
          <p:cNvSpPr>
            <a:spLocks noGrp="1"/>
          </p:cNvSpPr>
          <p:nvPr/>
        </p:nvSpPr>
        <p:spPr>
          <a:xfrm>
            <a:off x="2143125" y="3314700"/>
            <a:ext cx="1123950" cy="685800"/>
          </a:xfrm>
          <a:prstGeom prst="roundRect">
            <a:avLst>
              <a:gd name="adj" fmla="val 11111"/>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41" name="dealer-discovery-title">
            <a:extLst>
              <a:ext uri="{FF2B5EF4-FFF2-40B4-BE49-F238E27FC236}">
                <a16:creationId xmlns:a16="http://schemas.microsoft.com/office/drawing/2014/main" id="{194EC997-1A51-4CAE-A26C-78EACE0D7E4F}"/>
              </a:ext>
            </a:extLst>
          </p:cNvPr>
          <p:cNvSpPr>
            <a:spLocks noGrp="1"/>
          </p:cNvSpPr>
          <p:nvPr/>
        </p:nvSpPr>
        <p:spPr>
          <a:xfrm>
            <a:off x="22383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Dealer discovery</a:t>
            </a:r>
          </a:p>
        </p:txBody>
      </p:sp>
      <p:sp>
        <p:nvSpPr>
          <p:cNvPr id="42" name="dealer-discovery-detail">
            <a:extLst>
              <a:ext uri="{FF2B5EF4-FFF2-40B4-BE49-F238E27FC236}">
                <a16:creationId xmlns:a16="http://schemas.microsoft.com/office/drawing/2014/main" id="{7546EA6D-52DF-4476-9C9F-42E12D5E3A1B}"/>
              </a:ext>
            </a:extLst>
          </p:cNvPr>
          <p:cNvSpPr>
            <a:spLocks noGrp="1"/>
          </p:cNvSpPr>
          <p:nvPr/>
        </p:nvSpPr>
        <p:spPr>
          <a:xfrm>
            <a:off x="22383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ZIP / geo search</a:t>
            </a:r>
          </a:p>
        </p:txBody>
      </p:sp>
      <p:sp>
        <p:nvSpPr>
          <p:cNvPr id="43" name="vehicle-service">
            <a:extLst>
              <a:ext uri="{FF2B5EF4-FFF2-40B4-BE49-F238E27FC236}">
                <a16:creationId xmlns:a16="http://schemas.microsoft.com/office/drawing/2014/main" id="{F37FB3CE-0E41-41CF-88DB-92ABEBED36B9}"/>
              </a:ext>
            </a:extLst>
          </p:cNvPr>
          <p:cNvSpPr>
            <a:spLocks noGrp="1"/>
          </p:cNvSpPr>
          <p:nvPr/>
        </p:nvSpPr>
        <p:spPr>
          <a:xfrm>
            <a:off x="3400425" y="3314700"/>
            <a:ext cx="1123950" cy="685800"/>
          </a:xfrm>
          <a:prstGeom prst="roundRect">
            <a:avLst>
              <a:gd name="adj" fmla="val 11111"/>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44" name="vehicle-service-title">
            <a:extLst>
              <a:ext uri="{FF2B5EF4-FFF2-40B4-BE49-F238E27FC236}">
                <a16:creationId xmlns:a16="http://schemas.microsoft.com/office/drawing/2014/main" id="{47E86809-A27D-4B02-A70F-3405B333E303}"/>
              </a:ext>
            </a:extLst>
          </p:cNvPr>
          <p:cNvSpPr>
            <a:spLocks noGrp="1"/>
          </p:cNvSpPr>
          <p:nvPr/>
        </p:nvSpPr>
        <p:spPr>
          <a:xfrm>
            <a:off x="34956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Vehicle service</a:t>
            </a:r>
          </a:p>
        </p:txBody>
      </p:sp>
      <p:sp>
        <p:nvSpPr>
          <p:cNvPr id="45" name="vehicle-service-detail">
            <a:extLst>
              <a:ext uri="{FF2B5EF4-FFF2-40B4-BE49-F238E27FC236}">
                <a16:creationId xmlns:a16="http://schemas.microsoft.com/office/drawing/2014/main" id="{500B4CA4-6139-4BC5-957A-D2454A1B7BF4}"/>
              </a:ext>
            </a:extLst>
          </p:cNvPr>
          <p:cNvSpPr>
            <a:spLocks noGrp="1"/>
          </p:cNvSpPr>
          <p:nvPr/>
        </p:nvSpPr>
        <p:spPr>
          <a:xfrm>
            <a:off x="34956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VIN + repair history</a:t>
            </a:r>
          </a:p>
        </p:txBody>
      </p:sp>
      <p:sp>
        <p:nvSpPr>
          <p:cNvPr id="46" name="availability-service">
            <a:extLst>
              <a:ext uri="{FF2B5EF4-FFF2-40B4-BE49-F238E27FC236}">
                <a16:creationId xmlns:a16="http://schemas.microsoft.com/office/drawing/2014/main" id="{AC735394-40AE-4A73-B658-B1E8A6E56AD3}"/>
              </a:ext>
            </a:extLst>
          </p:cNvPr>
          <p:cNvSpPr>
            <a:spLocks noGrp="1"/>
          </p:cNvSpPr>
          <p:nvPr/>
        </p:nvSpPr>
        <p:spPr>
          <a:xfrm>
            <a:off x="4657725" y="3314700"/>
            <a:ext cx="1123950" cy="685800"/>
          </a:xfrm>
          <a:prstGeom prst="roundRect">
            <a:avLst>
              <a:gd name="adj" fmla="val 11111"/>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47" name="availability-service-title">
            <a:extLst>
              <a:ext uri="{FF2B5EF4-FFF2-40B4-BE49-F238E27FC236}">
                <a16:creationId xmlns:a16="http://schemas.microsoft.com/office/drawing/2014/main" id="{283AC10F-6B87-408F-B1EE-86DFC6053C65}"/>
              </a:ext>
            </a:extLst>
          </p:cNvPr>
          <p:cNvSpPr>
            <a:spLocks noGrp="1"/>
          </p:cNvSpPr>
          <p:nvPr/>
        </p:nvSpPr>
        <p:spPr>
          <a:xfrm>
            <a:off x="47529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Availability</a:t>
            </a:r>
          </a:p>
        </p:txBody>
      </p:sp>
      <p:sp>
        <p:nvSpPr>
          <p:cNvPr id="48" name="availability-service-detail">
            <a:extLst>
              <a:ext uri="{FF2B5EF4-FFF2-40B4-BE49-F238E27FC236}">
                <a16:creationId xmlns:a16="http://schemas.microsoft.com/office/drawing/2014/main" id="{6822A51F-18C4-4B31-BD35-148BC4E9AE30}"/>
              </a:ext>
            </a:extLst>
          </p:cNvPr>
          <p:cNvSpPr>
            <a:spLocks noGrp="1"/>
          </p:cNvSpPr>
          <p:nvPr/>
        </p:nvSpPr>
        <p:spPr>
          <a:xfrm>
            <a:off x="47529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Search + short hold</a:t>
            </a:r>
          </a:p>
        </p:txBody>
      </p:sp>
      <p:sp>
        <p:nvSpPr>
          <p:cNvPr id="49" name="booking-service">
            <a:extLst>
              <a:ext uri="{FF2B5EF4-FFF2-40B4-BE49-F238E27FC236}">
                <a16:creationId xmlns:a16="http://schemas.microsoft.com/office/drawing/2014/main" id="{B2022815-04BB-44D2-8D5A-58E8E32A3553}"/>
              </a:ext>
            </a:extLst>
          </p:cNvPr>
          <p:cNvSpPr>
            <a:spLocks noGrp="1"/>
          </p:cNvSpPr>
          <p:nvPr/>
        </p:nvSpPr>
        <p:spPr>
          <a:xfrm>
            <a:off x="5915025" y="3314700"/>
            <a:ext cx="1123950" cy="685800"/>
          </a:xfrm>
          <a:prstGeom prst="roundRect">
            <a:avLst>
              <a:gd name="adj" fmla="val 11111"/>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50" name="booking-service-title">
            <a:extLst>
              <a:ext uri="{FF2B5EF4-FFF2-40B4-BE49-F238E27FC236}">
                <a16:creationId xmlns:a16="http://schemas.microsoft.com/office/drawing/2014/main" id="{CDA1BF63-7888-4033-9178-46062ABF48E3}"/>
              </a:ext>
            </a:extLst>
          </p:cNvPr>
          <p:cNvSpPr>
            <a:spLocks noGrp="1"/>
          </p:cNvSpPr>
          <p:nvPr/>
        </p:nvSpPr>
        <p:spPr>
          <a:xfrm>
            <a:off x="60102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Booking</a:t>
            </a:r>
          </a:p>
        </p:txBody>
      </p:sp>
      <p:sp>
        <p:nvSpPr>
          <p:cNvPr id="51" name="booking-service-detail">
            <a:extLst>
              <a:ext uri="{FF2B5EF4-FFF2-40B4-BE49-F238E27FC236}">
                <a16:creationId xmlns:a16="http://schemas.microsoft.com/office/drawing/2014/main" id="{FCB07202-369C-490F-ABFB-4FDEFC387419}"/>
              </a:ext>
            </a:extLst>
          </p:cNvPr>
          <p:cNvSpPr>
            <a:spLocks noGrp="1"/>
          </p:cNvSpPr>
          <p:nvPr/>
        </p:nvSpPr>
        <p:spPr>
          <a:xfrm>
            <a:off x="60102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Confirm + reconcile</a:t>
            </a:r>
          </a:p>
        </p:txBody>
      </p:sp>
      <p:sp>
        <p:nvSpPr>
          <p:cNvPr id="52" name="location-store">
            <a:extLst>
              <a:ext uri="{FF2B5EF4-FFF2-40B4-BE49-F238E27FC236}">
                <a16:creationId xmlns:a16="http://schemas.microsoft.com/office/drawing/2014/main" id="{395DB95C-AB26-4CC1-98E4-B0926CC5FA42}"/>
              </a:ext>
            </a:extLst>
          </p:cNvPr>
          <p:cNvSpPr>
            <a:spLocks noGrp="1"/>
          </p:cNvSpPr>
          <p:nvPr/>
        </p:nvSpPr>
        <p:spPr>
          <a:xfrm>
            <a:off x="21431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3" name="location-store-title">
            <a:extLst>
              <a:ext uri="{FF2B5EF4-FFF2-40B4-BE49-F238E27FC236}">
                <a16:creationId xmlns:a16="http://schemas.microsoft.com/office/drawing/2014/main" id="{6F7492B3-650A-48B4-8DEA-5D1586CF5598}"/>
              </a:ext>
            </a:extLst>
          </p:cNvPr>
          <p:cNvSpPr>
            <a:spLocks noGrp="1"/>
          </p:cNvSpPr>
          <p:nvPr/>
        </p:nvSpPr>
        <p:spPr>
          <a:xfrm>
            <a:off x="24669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Location Service</a:t>
            </a:r>
          </a:p>
        </p:txBody>
      </p:sp>
      <p:sp>
        <p:nvSpPr>
          <p:cNvPr id="54" name="location-store-detail">
            <a:extLst>
              <a:ext uri="{FF2B5EF4-FFF2-40B4-BE49-F238E27FC236}">
                <a16:creationId xmlns:a16="http://schemas.microsoft.com/office/drawing/2014/main" id="{249FEB81-CCE3-40C6-ADC3-E59812D9D266}"/>
              </a:ext>
            </a:extLst>
          </p:cNvPr>
          <p:cNvSpPr>
            <a:spLocks noGrp="1"/>
          </p:cNvSpPr>
          <p:nvPr/>
        </p:nvSpPr>
        <p:spPr>
          <a:xfrm>
            <a:off x="2238375" y="4457700"/>
            <a:ext cx="933450" cy="123825"/>
          </a:xfrm>
          <a:prstGeom prst="rect">
            <a:avLst/>
          </a:prstGeom>
          <a:noFill/>
          <a:ln w="0">
            <a:noFill/>
            <a:prstDash val="solid"/>
          </a:ln>
        </p:spPr>
        <p:txBody>
          <a:bodyPr/>
          <a:lstStyle/>
          <a:p>
            <a:pPr algn="ctr">
              <a:buNone/>
              <a:defRPr sz="750">
                <a:solidFill>
                  <a:srgbClr val="4B5563"/>
                </a:solidFill>
              </a:defRPr>
            </a:pPr>
            <a:r>
              <a:rPr sz="750">
                <a:solidFill>
                  <a:srgbClr val="4B5563"/>
                </a:solidFill>
              </a:rPr>
              <a:t>Dealer index</a:t>
            </a:r>
          </a:p>
        </p:txBody>
      </p:sp>
      <p:pic>
        <p:nvPicPr>
          <p:cNvPr id="462" name="Picture 177"/>
          <p:cNvPicPr>
            <a:picLocks noChangeAspect="1"/>
          </p:cNvPicPr>
          <p:nvPr/>
        </p:nvPicPr>
        <p:blipFill>
          <a:blip r:embed="rId14"/>
          <a:stretch/>
        </p:blipFill>
        <p:spPr>
          <a:xfrm>
            <a:off x="2219325" y="4191000"/>
            <a:ext cx="180975" cy="180975"/>
          </a:xfrm>
          <a:prstGeom prst="rect">
            <a:avLst/>
          </a:prstGeom>
        </p:spPr>
      </p:pic>
      <p:sp>
        <p:nvSpPr>
          <p:cNvPr id="56" name="state-store">
            <a:extLst>
              <a:ext uri="{FF2B5EF4-FFF2-40B4-BE49-F238E27FC236}">
                <a16:creationId xmlns:a16="http://schemas.microsoft.com/office/drawing/2014/main" id="{7A3A3E89-C23F-423D-B267-3B7E3FCDE840}"/>
              </a:ext>
            </a:extLst>
          </p:cNvPr>
          <p:cNvSpPr>
            <a:spLocks noGrp="1"/>
          </p:cNvSpPr>
          <p:nvPr/>
        </p:nvSpPr>
        <p:spPr>
          <a:xfrm>
            <a:off x="34004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7" name="state-store-title">
            <a:extLst>
              <a:ext uri="{FF2B5EF4-FFF2-40B4-BE49-F238E27FC236}">
                <a16:creationId xmlns:a16="http://schemas.microsoft.com/office/drawing/2014/main" id="{6DB9BD85-55A5-4FC7-A785-F841B058F8A6}"/>
              </a:ext>
            </a:extLst>
          </p:cNvPr>
          <p:cNvSpPr>
            <a:spLocks noGrp="1"/>
          </p:cNvSpPr>
          <p:nvPr/>
        </p:nvSpPr>
        <p:spPr>
          <a:xfrm>
            <a:off x="37242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DynamoDB</a:t>
            </a:r>
          </a:p>
        </p:txBody>
      </p:sp>
      <p:sp>
        <p:nvSpPr>
          <p:cNvPr id="58" name="state-store-detail">
            <a:extLst>
              <a:ext uri="{FF2B5EF4-FFF2-40B4-BE49-F238E27FC236}">
                <a16:creationId xmlns:a16="http://schemas.microsoft.com/office/drawing/2014/main" id="{754DB394-43DE-44E2-B377-CA90BF5311B9}"/>
              </a:ext>
            </a:extLst>
          </p:cNvPr>
          <p:cNvSpPr>
            <a:spLocks noGrp="1"/>
          </p:cNvSpPr>
          <p:nvPr/>
        </p:nvSpPr>
        <p:spPr>
          <a:xfrm>
            <a:off x="34956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Profile • booking • idempotency</a:t>
            </a:r>
          </a:p>
        </p:txBody>
      </p:sp>
      <p:pic>
        <p:nvPicPr>
          <p:cNvPr id="466" name="Picture 181"/>
          <p:cNvPicPr>
            <a:picLocks noChangeAspect="1"/>
          </p:cNvPicPr>
          <p:nvPr/>
        </p:nvPicPr>
        <p:blipFill>
          <a:blip r:embed="rId15"/>
          <a:stretch/>
        </p:blipFill>
        <p:spPr>
          <a:xfrm>
            <a:off x="3476625" y="4191000"/>
            <a:ext cx="180975" cy="180975"/>
          </a:xfrm>
          <a:prstGeom prst="rect">
            <a:avLst/>
          </a:prstGeom>
        </p:spPr>
      </p:pic>
      <p:sp>
        <p:nvSpPr>
          <p:cNvPr id="60" name="cache">
            <a:extLst>
              <a:ext uri="{FF2B5EF4-FFF2-40B4-BE49-F238E27FC236}">
                <a16:creationId xmlns:a16="http://schemas.microsoft.com/office/drawing/2014/main" id="{1869570A-4834-47EB-A8B5-BAFB98B3CDEC}"/>
              </a:ext>
            </a:extLst>
          </p:cNvPr>
          <p:cNvSpPr>
            <a:spLocks noGrp="1"/>
          </p:cNvSpPr>
          <p:nvPr/>
        </p:nvSpPr>
        <p:spPr>
          <a:xfrm>
            <a:off x="46577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1" name="cache-title">
            <a:extLst>
              <a:ext uri="{FF2B5EF4-FFF2-40B4-BE49-F238E27FC236}">
                <a16:creationId xmlns:a16="http://schemas.microsoft.com/office/drawing/2014/main" id="{252D22BA-4A15-447E-A566-42125315EE03}"/>
              </a:ext>
            </a:extLst>
          </p:cNvPr>
          <p:cNvSpPr>
            <a:spLocks noGrp="1"/>
          </p:cNvSpPr>
          <p:nvPr/>
        </p:nvSpPr>
        <p:spPr>
          <a:xfrm>
            <a:off x="49815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Valkey cache</a:t>
            </a:r>
          </a:p>
        </p:txBody>
      </p:sp>
      <p:sp>
        <p:nvSpPr>
          <p:cNvPr id="62" name="cache-detail">
            <a:extLst>
              <a:ext uri="{FF2B5EF4-FFF2-40B4-BE49-F238E27FC236}">
                <a16:creationId xmlns:a16="http://schemas.microsoft.com/office/drawing/2014/main" id="{5208C1F3-93AA-465E-BFC1-0B921D3F4F6C}"/>
              </a:ext>
            </a:extLst>
          </p:cNvPr>
          <p:cNvSpPr>
            <a:spLocks noGrp="1"/>
          </p:cNvSpPr>
          <p:nvPr/>
        </p:nvSpPr>
        <p:spPr>
          <a:xfrm>
            <a:off x="47529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Short-lived slot views</a:t>
            </a:r>
          </a:p>
        </p:txBody>
      </p:sp>
      <p:pic>
        <p:nvPicPr>
          <p:cNvPr id="470" name="Picture 185"/>
          <p:cNvPicPr>
            <a:picLocks noChangeAspect="1"/>
          </p:cNvPicPr>
          <p:nvPr/>
        </p:nvPicPr>
        <p:blipFill>
          <a:blip r:embed="rId16"/>
          <a:stretch/>
        </p:blipFill>
        <p:spPr>
          <a:xfrm>
            <a:off x="4733925" y="4191000"/>
            <a:ext cx="180975" cy="180975"/>
          </a:xfrm>
          <a:prstGeom prst="rect">
            <a:avLst/>
          </a:prstGeom>
        </p:spPr>
      </p:pic>
      <p:sp>
        <p:nvSpPr>
          <p:cNvPr id="64" name="events">
            <a:extLst>
              <a:ext uri="{FF2B5EF4-FFF2-40B4-BE49-F238E27FC236}">
                <a16:creationId xmlns:a16="http://schemas.microsoft.com/office/drawing/2014/main" id="{E6EF6663-7D9B-4E0B-9686-9335D456B182}"/>
              </a:ext>
            </a:extLst>
          </p:cNvPr>
          <p:cNvSpPr>
            <a:spLocks noGrp="1"/>
          </p:cNvSpPr>
          <p:nvPr/>
        </p:nvSpPr>
        <p:spPr>
          <a:xfrm>
            <a:off x="59150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5" name="events-title">
            <a:extLst>
              <a:ext uri="{FF2B5EF4-FFF2-40B4-BE49-F238E27FC236}">
                <a16:creationId xmlns:a16="http://schemas.microsoft.com/office/drawing/2014/main" id="{1CB03C1E-051C-4BFA-AFDD-354AFA86925D}"/>
              </a:ext>
            </a:extLst>
          </p:cNvPr>
          <p:cNvSpPr>
            <a:spLocks noGrp="1"/>
          </p:cNvSpPr>
          <p:nvPr/>
        </p:nvSpPr>
        <p:spPr>
          <a:xfrm>
            <a:off x="6372225" y="4219575"/>
            <a:ext cx="571500" cy="266700"/>
          </a:xfrm>
          <a:prstGeom prst="rect">
            <a:avLst/>
          </a:prstGeom>
          <a:noFill/>
          <a:ln w="0">
            <a:noFill/>
            <a:prstDash val="solid"/>
          </a:ln>
        </p:spPr>
        <p:txBody>
          <a:bodyPr/>
          <a:lstStyle/>
          <a:p>
            <a:pPr algn="l">
              <a:buNone/>
              <a:defRPr sz="750" b="1">
                <a:solidFill>
                  <a:srgbClr val="172033"/>
                </a:solidFill>
              </a:defRPr>
            </a:pPr>
            <a:r>
              <a:rPr sz="750" b="1">
                <a:solidFill>
                  <a:srgbClr val="172033"/>
                </a:solidFill>
              </a:rPr>
              <a:t>Events + queues</a:t>
            </a:r>
          </a:p>
        </p:txBody>
      </p:sp>
      <p:sp>
        <p:nvSpPr>
          <p:cNvPr id="66" name="events-detail">
            <a:extLst>
              <a:ext uri="{FF2B5EF4-FFF2-40B4-BE49-F238E27FC236}">
                <a16:creationId xmlns:a16="http://schemas.microsoft.com/office/drawing/2014/main" id="{CEEF7DC6-4957-40B1-8A71-CD4AC1FE581B}"/>
              </a:ext>
            </a:extLst>
          </p:cNvPr>
          <p:cNvSpPr>
            <a:spLocks noGrp="1"/>
          </p:cNvSpPr>
          <p:nvPr/>
        </p:nvSpPr>
        <p:spPr>
          <a:xfrm>
            <a:off x="6010275" y="4457700"/>
            <a:ext cx="933450" cy="123825"/>
          </a:xfrm>
          <a:prstGeom prst="rect">
            <a:avLst/>
          </a:prstGeom>
          <a:noFill/>
          <a:ln w="0">
            <a:noFill/>
            <a:prstDash val="solid"/>
          </a:ln>
        </p:spPr>
        <p:txBody>
          <a:bodyPr/>
          <a:lstStyle/>
          <a:p>
            <a:pPr algn="ctr">
              <a:buNone/>
              <a:defRPr sz="600">
                <a:solidFill>
                  <a:srgbClr val="4B5563"/>
                </a:solidFill>
              </a:defRPr>
            </a:pPr>
            <a:r>
              <a:rPr sz="600">
                <a:solidFill>
                  <a:srgbClr val="4B5563"/>
                </a:solidFill>
              </a:rPr>
              <a:t>EventBridge • SQS • DLQs</a:t>
            </a:r>
          </a:p>
        </p:txBody>
      </p:sp>
      <p:pic>
        <p:nvPicPr>
          <p:cNvPr id="474" name="Picture 189"/>
          <p:cNvPicPr>
            <a:picLocks noChangeAspect="1"/>
          </p:cNvPicPr>
          <p:nvPr/>
        </p:nvPicPr>
        <p:blipFill>
          <a:blip r:embed="rId17"/>
          <a:stretch/>
        </p:blipFill>
        <p:spPr>
          <a:xfrm>
            <a:off x="5981700" y="4191000"/>
            <a:ext cx="171450" cy="171450"/>
          </a:xfrm>
          <a:prstGeom prst="rect">
            <a:avLst/>
          </a:prstGeom>
        </p:spPr>
      </p:pic>
      <p:pic>
        <p:nvPicPr>
          <p:cNvPr id="475" name="Picture 190"/>
          <p:cNvPicPr>
            <a:picLocks noChangeAspect="1"/>
          </p:cNvPicPr>
          <p:nvPr/>
        </p:nvPicPr>
        <p:blipFill>
          <a:blip r:embed="rId18"/>
          <a:stretch/>
        </p:blipFill>
        <p:spPr>
          <a:xfrm>
            <a:off x="6162675" y="4191000"/>
            <a:ext cx="171450" cy="171450"/>
          </a:xfrm>
          <a:prstGeom prst="rect">
            <a:avLst/>
          </a:prstGeom>
        </p:spPr>
      </p:pic>
      <p:sp>
        <p:nvSpPr>
          <p:cNvPr id="69" name="integration-boundary">
            <a:extLst>
              <a:ext uri="{FF2B5EF4-FFF2-40B4-BE49-F238E27FC236}">
                <a16:creationId xmlns:a16="http://schemas.microsoft.com/office/drawing/2014/main" id="{1CA012A0-0511-4907-BC7B-EC9D4AA80606}"/>
              </a:ext>
            </a:extLst>
          </p:cNvPr>
          <p:cNvSpPr>
            <a:spLocks noGrp="1"/>
          </p:cNvSpPr>
          <p:nvPr/>
        </p:nvSpPr>
        <p:spPr>
          <a:xfrm>
            <a:off x="7524750" y="2247900"/>
            <a:ext cx="1504950" cy="2552700"/>
          </a:xfrm>
          <a:prstGeom prst="roundRect">
            <a:avLst>
              <a:gd name="adj" fmla="val 5063"/>
            </a:avLst>
          </a:prstGeom>
          <a:solidFill>
            <a:srgbClr val="F5FBFA"/>
          </a:solidFill>
          <a:ln w="14288">
            <a:solidFill>
              <a:srgbClr val="198E84"/>
            </a:solidFill>
            <a:prstDash val="solid"/>
          </a:ln>
        </p:spPr>
        <p:txBody>
          <a:bodyPr/>
          <a:lstStyle/>
          <a:p>
            <a:endParaRPr/>
          </a:p>
        </p:txBody>
      </p:sp>
      <p:sp>
        <p:nvSpPr>
          <p:cNvPr id="70" name="integration-label">
            <a:extLst>
              <a:ext uri="{FF2B5EF4-FFF2-40B4-BE49-F238E27FC236}">
                <a16:creationId xmlns:a16="http://schemas.microsoft.com/office/drawing/2014/main" id="{25924C9D-2812-468D-8FF3-EF6A2B7DF31D}"/>
              </a:ext>
            </a:extLst>
          </p:cNvPr>
          <p:cNvSpPr>
            <a:spLocks noGrp="1"/>
          </p:cNvSpPr>
          <p:nvPr/>
        </p:nvSpPr>
        <p:spPr>
          <a:xfrm>
            <a:off x="7667625" y="2390775"/>
            <a:ext cx="1219200" cy="361950"/>
          </a:xfrm>
          <a:prstGeom prst="rect">
            <a:avLst/>
          </a:prstGeom>
          <a:noFill/>
          <a:ln w="0">
            <a:noFill/>
            <a:prstDash val="solid"/>
          </a:ln>
        </p:spPr>
        <p:txBody>
          <a:bodyPr/>
          <a:lstStyle/>
          <a:p>
            <a:pPr algn="ctr">
              <a:buNone/>
              <a:defRPr sz="900" b="1">
                <a:solidFill>
                  <a:srgbClr val="198E84"/>
                </a:solidFill>
              </a:defRPr>
            </a:pPr>
            <a:r>
              <a:rPr sz="900" b="1">
                <a:solidFill>
                  <a:srgbClr val="198E84"/>
                </a:solidFill>
              </a:rPr>
              <a:t>STANDARDIZED</a:t>
            </a:r>
          </a:p>
          <a:p>
            <a:pPr algn="ctr">
              <a:buNone/>
              <a:defRPr sz="900" b="1">
                <a:solidFill>
                  <a:srgbClr val="198E84"/>
                </a:solidFill>
              </a:defRPr>
            </a:pPr>
            <a:r>
              <a:rPr sz="900" b="1">
                <a:solidFill>
                  <a:srgbClr val="198E84"/>
                </a:solidFill>
              </a:rPr>
              <a:t>INTEGRATION LAYER</a:t>
            </a:r>
          </a:p>
        </p:txBody>
      </p:sp>
      <p:sp>
        <p:nvSpPr>
          <p:cNvPr id="71" name="vin-adapter">
            <a:extLst>
              <a:ext uri="{FF2B5EF4-FFF2-40B4-BE49-F238E27FC236}">
                <a16:creationId xmlns:a16="http://schemas.microsoft.com/office/drawing/2014/main" id="{A886EA06-D479-45D8-BE81-07412A75B932}"/>
              </a:ext>
            </a:extLst>
          </p:cNvPr>
          <p:cNvSpPr>
            <a:spLocks noGrp="1"/>
          </p:cNvSpPr>
          <p:nvPr/>
        </p:nvSpPr>
        <p:spPr>
          <a:xfrm>
            <a:off x="7677150" y="28575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2" name="vin-adapter-title">
            <a:extLst>
              <a:ext uri="{FF2B5EF4-FFF2-40B4-BE49-F238E27FC236}">
                <a16:creationId xmlns:a16="http://schemas.microsoft.com/office/drawing/2014/main" id="{AFE181AC-BEA0-4356-93CA-095CAECAE9EC}"/>
              </a:ext>
            </a:extLst>
          </p:cNvPr>
          <p:cNvSpPr>
            <a:spLocks noGrp="1"/>
          </p:cNvSpPr>
          <p:nvPr/>
        </p:nvSpPr>
        <p:spPr>
          <a:xfrm>
            <a:off x="7772400" y="29432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VIN adapter</a:t>
            </a:r>
          </a:p>
        </p:txBody>
      </p:sp>
      <p:sp>
        <p:nvSpPr>
          <p:cNvPr id="73" name="vin-adapter-detail">
            <a:extLst>
              <a:ext uri="{FF2B5EF4-FFF2-40B4-BE49-F238E27FC236}">
                <a16:creationId xmlns:a16="http://schemas.microsoft.com/office/drawing/2014/main" id="{C38949A2-E04E-4279-AB43-71ABD8AC0F74}"/>
              </a:ext>
            </a:extLst>
          </p:cNvPr>
          <p:cNvSpPr>
            <a:spLocks noGrp="1"/>
          </p:cNvSpPr>
          <p:nvPr/>
        </p:nvSpPr>
        <p:spPr>
          <a:xfrm>
            <a:off x="7772400" y="32004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Timeout + circuit breaker</a:t>
            </a:r>
          </a:p>
        </p:txBody>
      </p:sp>
      <p:sp>
        <p:nvSpPr>
          <p:cNvPr id="74" name="history-adapter">
            <a:extLst>
              <a:ext uri="{FF2B5EF4-FFF2-40B4-BE49-F238E27FC236}">
                <a16:creationId xmlns:a16="http://schemas.microsoft.com/office/drawing/2014/main" id="{61D0D46A-F524-4591-8F5A-1AABF7B2B6AE}"/>
              </a:ext>
            </a:extLst>
          </p:cNvPr>
          <p:cNvSpPr>
            <a:spLocks noGrp="1"/>
          </p:cNvSpPr>
          <p:nvPr/>
        </p:nvSpPr>
        <p:spPr>
          <a:xfrm>
            <a:off x="7677150" y="356235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5" name="history-adapter-title">
            <a:extLst>
              <a:ext uri="{FF2B5EF4-FFF2-40B4-BE49-F238E27FC236}">
                <a16:creationId xmlns:a16="http://schemas.microsoft.com/office/drawing/2014/main" id="{A500552B-3EC2-4982-B764-61F8A158AA99}"/>
              </a:ext>
            </a:extLst>
          </p:cNvPr>
          <p:cNvSpPr>
            <a:spLocks noGrp="1"/>
          </p:cNvSpPr>
          <p:nvPr/>
        </p:nvSpPr>
        <p:spPr>
          <a:xfrm>
            <a:off x="7772400" y="3648075"/>
            <a:ext cx="1009650" cy="257175"/>
          </a:xfrm>
          <a:prstGeom prst="rect">
            <a:avLst/>
          </a:prstGeom>
          <a:noFill/>
          <a:ln w="0">
            <a:noFill/>
            <a:prstDash val="solid"/>
          </a:ln>
        </p:spPr>
        <p:txBody>
          <a:bodyPr/>
          <a:lstStyle/>
          <a:p>
            <a:pPr algn="ctr">
              <a:buNone/>
              <a:defRPr sz="825" b="1">
                <a:solidFill>
                  <a:srgbClr val="172033"/>
                </a:solidFill>
              </a:defRPr>
            </a:pPr>
            <a:r>
              <a:rPr sz="825" b="1">
                <a:solidFill>
                  <a:srgbClr val="172033"/>
                </a:solidFill>
              </a:rPr>
              <a:t>Mainframe adapter</a:t>
            </a:r>
          </a:p>
        </p:txBody>
      </p:sp>
      <p:sp>
        <p:nvSpPr>
          <p:cNvPr id="76" name="history-adapter-detail">
            <a:extLst>
              <a:ext uri="{FF2B5EF4-FFF2-40B4-BE49-F238E27FC236}">
                <a16:creationId xmlns:a16="http://schemas.microsoft.com/office/drawing/2014/main" id="{7A9DB4D9-98A4-4776-A2B9-C8DA50C640D3}"/>
              </a:ext>
            </a:extLst>
          </p:cNvPr>
          <p:cNvSpPr>
            <a:spLocks noGrp="1"/>
          </p:cNvSpPr>
          <p:nvPr/>
        </p:nvSpPr>
        <p:spPr>
          <a:xfrm>
            <a:off x="7772400" y="390525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MQ + schema mapping</a:t>
            </a:r>
          </a:p>
        </p:txBody>
      </p:sp>
      <p:sp>
        <p:nvSpPr>
          <p:cNvPr id="77" name="dealer-adapter">
            <a:extLst>
              <a:ext uri="{FF2B5EF4-FFF2-40B4-BE49-F238E27FC236}">
                <a16:creationId xmlns:a16="http://schemas.microsoft.com/office/drawing/2014/main" id="{5D870178-9150-42E3-862D-F7E558462D62}"/>
              </a:ext>
            </a:extLst>
          </p:cNvPr>
          <p:cNvSpPr>
            <a:spLocks noGrp="1"/>
          </p:cNvSpPr>
          <p:nvPr/>
        </p:nvSpPr>
        <p:spPr>
          <a:xfrm>
            <a:off x="7677150" y="42672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8" name="dealer-adapter-title">
            <a:extLst>
              <a:ext uri="{FF2B5EF4-FFF2-40B4-BE49-F238E27FC236}">
                <a16:creationId xmlns:a16="http://schemas.microsoft.com/office/drawing/2014/main" id="{5907FD2F-6093-42BC-B585-3850F7330E1E}"/>
              </a:ext>
            </a:extLst>
          </p:cNvPr>
          <p:cNvSpPr>
            <a:spLocks noGrp="1"/>
          </p:cNvSpPr>
          <p:nvPr/>
        </p:nvSpPr>
        <p:spPr>
          <a:xfrm>
            <a:off x="7772400" y="43529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Dealer adapters</a:t>
            </a:r>
          </a:p>
        </p:txBody>
      </p:sp>
      <p:sp>
        <p:nvSpPr>
          <p:cNvPr id="79" name="dealer-adapter-detail">
            <a:extLst>
              <a:ext uri="{FF2B5EF4-FFF2-40B4-BE49-F238E27FC236}">
                <a16:creationId xmlns:a16="http://schemas.microsoft.com/office/drawing/2014/main" id="{76F0DEBF-2B5E-43CA-AA22-B4CD9B73034C}"/>
              </a:ext>
            </a:extLst>
          </p:cNvPr>
          <p:cNvSpPr>
            <a:spLocks noGrp="1"/>
          </p:cNvSpPr>
          <p:nvPr/>
        </p:nvSpPr>
        <p:spPr>
          <a:xfrm>
            <a:off x="7772400" y="46101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mTLS • hold / confirm</a:t>
            </a:r>
          </a:p>
        </p:txBody>
      </p:sp>
      <p:sp>
        <p:nvSpPr>
          <p:cNvPr id="80" name="notification">
            <a:extLst>
              <a:ext uri="{FF2B5EF4-FFF2-40B4-BE49-F238E27FC236}">
                <a16:creationId xmlns:a16="http://schemas.microsoft.com/office/drawing/2014/main" id="{42C3688C-1201-405B-9427-24421F0B4B3B}"/>
              </a:ext>
            </a:extLst>
          </p:cNvPr>
          <p:cNvSpPr>
            <a:spLocks noGrp="1"/>
          </p:cNvSpPr>
          <p:nvPr/>
        </p:nvSpPr>
        <p:spPr>
          <a:xfrm>
            <a:off x="2000250" y="5000625"/>
            <a:ext cx="2324100" cy="552450"/>
          </a:xfrm>
          <a:prstGeom prst="roundRect">
            <a:avLst>
              <a:gd name="adj" fmla="val 13793"/>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81" name="notification-title">
            <a:extLst>
              <a:ext uri="{FF2B5EF4-FFF2-40B4-BE49-F238E27FC236}">
                <a16:creationId xmlns:a16="http://schemas.microsoft.com/office/drawing/2014/main" id="{2D1CF0A8-F1E0-415A-B6B9-C14A6283B260}"/>
              </a:ext>
            </a:extLst>
          </p:cNvPr>
          <p:cNvSpPr>
            <a:spLocks noGrp="1"/>
          </p:cNvSpPr>
          <p:nvPr/>
        </p:nvSpPr>
        <p:spPr>
          <a:xfrm>
            <a:off x="2619375" y="5086350"/>
            <a:ext cx="1609725"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Notifications</a:t>
            </a:r>
          </a:p>
        </p:txBody>
      </p:sp>
      <p:sp>
        <p:nvSpPr>
          <p:cNvPr id="82" name="notification-detail">
            <a:extLst>
              <a:ext uri="{FF2B5EF4-FFF2-40B4-BE49-F238E27FC236}">
                <a16:creationId xmlns:a16="http://schemas.microsoft.com/office/drawing/2014/main" id="{1503A968-7E83-469A-A8DD-73159F8D6247}"/>
              </a:ext>
            </a:extLst>
          </p:cNvPr>
          <p:cNvSpPr>
            <a:spLocks noGrp="1"/>
          </p:cNvSpPr>
          <p:nvPr/>
        </p:nvSpPr>
        <p:spPr>
          <a:xfrm>
            <a:off x="2095500" y="5295900"/>
            <a:ext cx="21336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SES email • SNS SMS • reminders</a:t>
            </a:r>
          </a:p>
        </p:txBody>
      </p:sp>
      <p:pic>
        <p:nvPicPr>
          <p:cNvPr id="490" name="Picture 205"/>
          <p:cNvPicPr>
            <a:picLocks noChangeAspect="1"/>
          </p:cNvPicPr>
          <p:nvPr/>
        </p:nvPicPr>
        <p:blipFill>
          <a:blip r:embed="rId19"/>
          <a:stretch/>
        </p:blipFill>
        <p:spPr>
          <a:xfrm>
            <a:off x="2095500" y="5076825"/>
            <a:ext cx="209550" cy="209550"/>
          </a:xfrm>
          <a:prstGeom prst="rect">
            <a:avLst/>
          </a:prstGeom>
        </p:spPr>
      </p:pic>
      <p:pic>
        <p:nvPicPr>
          <p:cNvPr id="491" name="Picture 206"/>
          <p:cNvPicPr>
            <a:picLocks noChangeAspect="1"/>
          </p:cNvPicPr>
          <p:nvPr/>
        </p:nvPicPr>
        <p:blipFill>
          <a:blip r:embed="rId20"/>
          <a:stretch/>
        </p:blipFill>
        <p:spPr>
          <a:xfrm>
            <a:off x="2324100" y="5076825"/>
            <a:ext cx="209550" cy="209550"/>
          </a:xfrm>
          <a:prstGeom prst="rect">
            <a:avLst/>
          </a:prstGeom>
        </p:spPr>
      </p:pic>
      <p:sp>
        <p:nvSpPr>
          <p:cNvPr id="85" name="reliability">
            <a:extLst>
              <a:ext uri="{FF2B5EF4-FFF2-40B4-BE49-F238E27FC236}">
                <a16:creationId xmlns:a16="http://schemas.microsoft.com/office/drawing/2014/main" id="{483253D2-C37C-45D2-BBEE-31A440545352}"/>
              </a:ext>
            </a:extLst>
          </p:cNvPr>
          <p:cNvSpPr>
            <a:spLocks noGrp="1"/>
          </p:cNvSpPr>
          <p:nvPr/>
        </p:nvSpPr>
        <p:spPr>
          <a:xfrm>
            <a:off x="4476750" y="5000625"/>
            <a:ext cx="2857500" cy="552450"/>
          </a:xfrm>
          <a:prstGeom prst="roundRect">
            <a:avLst>
              <a:gd name="adj" fmla="val 13793"/>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86" name="reliability-title">
            <a:extLst>
              <a:ext uri="{FF2B5EF4-FFF2-40B4-BE49-F238E27FC236}">
                <a16:creationId xmlns:a16="http://schemas.microsoft.com/office/drawing/2014/main" id="{AD67A391-F38F-4350-8FFF-E343BC7C29BA}"/>
              </a:ext>
            </a:extLst>
          </p:cNvPr>
          <p:cNvSpPr>
            <a:spLocks noGrp="1"/>
          </p:cNvSpPr>
          <p:nvPr/>
        </p:nvSpPr>
        <p:spPr>
          <a:xfrm>
            <a:off x="4572000" y="5086350"/>
            <a:ext cx="2667000" cy="238125"/>
          </a:xfrm>
          <a:prstGeom prst="rect">
            <a:avLst/>
          </a:prstGeom>
          <a:noFill/>
          <a:ln w="0">
            <a:noFill/>
            <a:prstDash val="solid"/>
          </a:ln>
        </p:spPr>
        <p:txBody>
          <a:bodyPr/>
          <a:lstStyle/>
          <a:p>
            <a:pPr algn="ctr">
              <a:buNone/>
              <a:defRPr sz="1050" b="1">
                <a:solidFill>
                  <a:srgbClr val="172033"/>
                </a:solidFill>
              </a:defRPr>
            </a:pPr>
            <a:r>
              <a:rPr sz="1050" b="1">
                <a:solidFill>
                  <a:srgbClr val="172033"/>
                </a:solidFill>
              </a:rPr>
              <a:t>Reliability controls</a:t>
            </a:r>
          </a:p>
        </p:txBody>
      </p:sp>
      <p:sp>
        <p:nvSpPr>
          <p:cNvPr id="87" name="reliability-detail">
            <a:extLst>
              <a:ext uri="{FF2B5EF4-FFF2-40B4-BE49-F238E27FC236}">
                <a16:creationId xmlns:a16="http://schemas.microsoft.com/office/drawing/2014/main" id="{5F6ECB13-F510-4019-AB80-EAA55F5699CC}"/>
              </a:ext>
            </a:extLst>
          </p:cNvPr>
          <p:cNvSpPr>
            <a:spLocks noGrp="1"/>
          </p:cNvSpPr>
          <p:nvPr/>
        </p:nvSpPr>
        <p:spPr>
          <a:xfrm>
            <a:off x="4572000" y="5295900"/>
            <a:ext cx="26670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Retries • DLQs • reconciliation • audit trail</a:t>
            </a:r>
          </a:p>
        </p:txBody>
      </p:sp>
      <p:sp>
        <p:nvSpPr>
          <p:cNvPr id="88" name="vin-system">
            <a:extLst>
              <a:ext uri="{FF2B5EF4-FFF2-40B4-BE49-F238E27FC236}">
                <a16:creationId xmlns:a16="http://schemas.microsoft.com/office/drawing/2014/main" id="{B63A5D20-43D5-47C3-8A89-EC8910395CC2}"/>
              </a:ext>
            </a:extLst>
          </p:cNvPr>
          <p:cNvSpPr>
            <a:spLocks noGrp="1"/>
          </p:cNvSpPr>
          <p:nvPr/>
        </p:nvSpPr>
        <p:spPr>
          <a:xfrm>
            <a:off x="9477375" y="2143125"/>
            <a:ext cx="2266950" cy="723900"/>
          </a:xfrm>
          <a:prstGeom prst="roundRect">
            <a:avLst>
              <a:gd name="adj" fmla="val 10526"/>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89" name="vin-system-title">
            <a:extLst>
              <a:ext uri="{FF2B5EF4-FFF2-40B4-BE49-F238E27FC236}">
                <a16:creationId xmlns:a16="http://schemas.microsoft.com/office/drawing/2014/main" id="{10EBBCBC-8677-46CA-9989-50DCF82D2189}"/>
              </a:ext>
            </a:extLst>
          </p:cNvPr>
          <p:cNvSpPr>
            <a:spLocks noGrp="1"/>
          </p:cNvSpPr>
          <p:nvPr/>
        </p:nvSpPr>
        <p:spPr>
          <a:xfrm>
            <a:off x="9572625" y="22288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On-prem VIN API</a:t>
            </a:r>
          </a:p>
        </p:txBody>
      </p:sp>
      <p:sp>
        <p:nvSpPr>
          <p:cNvPr id="90" name="vin-system-detail">
            <a:extLst>
              <a:ext uri="{FF2B5EF4-FFF2-40B4-BE49-F238E27FC236}">
                <a16:creationId xmlns:a16="http://schemas.microsoft.com/office/drawing/2014/main" id="{AE2BCD41-1926-4350-B46B-AF1002B3B4E8}"/>
              </a:ext>
            </a:extLst>
          </p:cNvPr>
          <p:cNvSpPr>
            <a:spLocks noGrp="1"/>
          </p:cNvSpPr>
          <p:nvPr/>
        </p:nvSpPr>
        <p:spPr>
          <a:xfrm>
            <a:off x="9572625" y="252412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Vehicle authority</a:t>
            </a:r>
          </a:p>
        </p:txBody>
      </p:sp>
      <p:sp>
        <p:nvSpPr>
          <p:cNvPr id="91" name="mainframe">
            <a:extLst>
              <a:ext uri="{FF2B5EF4-FFF2-40B4-BE49-F238E27FC236}">
                <a16:creationId xmlns:a16="http://schemas.microsoft.com/office/drawing/2014/main" id="{8380FCC7-7460-48A1-B92D-B2594754260E}"/>
              </a:ext>
            </a:extLst>
          </p:cNvPr>
          <p:cNvSpPr>
            <a:spLocks noGrp="1"/>
          </p:cNvSpPr>
          <p:nvPr/>
        </p:nvSpPr>
        <p:spPr>
          <a:xfrm>
            <a:off x="9477375" y="3190875"/>
            <a:ext cx="2266950" cy="723900"/>
          </a:xfrm>
          <a:prstGeom prst="roundRect">
            <a:avLst>
              <a:gd name="adj" fmla="val 10526"/>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92" name="mainframe-title">
            <a:extLst>
              <a:ext uri="{FF2B5EF4-FFF2-40B4-BE49-F238E27FC236}">
                <a16:creationId xmlns:a16="http://schemas.microsoft.com/office/drawing/2014/main" id="{28F5C265-FD84-4A72-BE72-B1A44F8FA0EF}"/>
              </a:ext>
            </a:extLst>
          </p:cNvPr>
          <p:cNvSpPr>
            <a:spLocks noGrp="1"/>
          </p:cNvSpPr>
          <p:nvPr/>
        </p:nvSpPr>
        <p:spPr>
          <a:xfrm>
            <a:off x="9572625" y="3276600"/>
            <a:ext cx="2076450" cy="238125"/>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Mainframe repair history</a:t>
            </a:r>
          </a:p>
        </p:txBody>
      </p:sp>
      <p:sp>
        <p:nvSpPr>
          <p:cNvPr id="93" name="mainframe-detail">
            <a:extLst>
              <a:ext uri="{FF2B5EF4-FFF2-40B4-BE49-F238E27FC236}">
                <a16:creationId xmlns:a16="http://schemas.microsoft.com/office/drawing/2014/main" id="{E2BE10C9-2C59-4D42-BAB1-69A586A2501A}"/>
              </a:ext>
            </a:extLst>
          </p:cNvPr>
          <p:cNvSpPr>
            <a:spLocks noGrp="1"/>
          </p:cNvSpPr>
          <p:nvPr/>
        </p:nvSpPr>
        <p:spPr>
          <a:xfrm>
            <a:off x="9572625" y="357187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Service-record authority</a:t>
            </a:r>
          </a:p>
        </p:txBody>
      </p:sp>
      <p:sp>
        <p:nvSpPr>
          <p:cNvPr id="94" name="dealer-systems">
            <a:extLst>
              <a:ext uri="{FF2B5EF4-FFF2-40B4-BE49-F238E27FC236}">
                <a16:creationId xmlns:a16="http://schemas.microsoft.com/office/drawing/2014/main" id="{7517BA57-3218-482E-93FF-865719CC3E8D}"/>
              </a:ext>
            </a:extLst>
          </p:cNvPr>
          <p:cNvSpPr>
            <a:spLocks noGrp="1"/>
          </p:cNvSpPr>
          <p:nvPr/>
        </p:nvSpPr>
        <p:spPr>
          <a:xfrm>
            <a:off x="9477375" y="4238625"/>
            <a:ext cx="2266950" cy="800100"/>
          </a:xfrm>
          <a:prstGeom prst="roundRect">
            <a:avLst>
              <a:gd name="adj" fmla="val 9524"/>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95" name="dealer-systems-title">
            <a:extLst>
              <a:ext uri="{FF2B5EF4-FFF2-40B4-BE49-F238E27FC236}">
                <a16:creationId xmlns:a16="http://schemas.microsoft.com/office/drawing/2014/main" id="{0EB1E15A-1C6F-4AFF-812A-4DBCE104B4D5}"/>
              </a:ext>
            </a:extLst>
          </p:cNvPr>
          <p:cNvSpPr>
            <a:spLocks noGrp="1"/>
          </p:cNvSpPr>
          <p:nvPr/>
        </p:nvSpPr>
        <p:spPr>
          <a:xfrm>
            <a:off x="9572625" y="43243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2,500+ dealer systems</a:t>
            </a:r>
          </a:p>
        </p:txBody>
      </p:sp>
      <p:sp>
        <p:nvSpPr>
          <p:cNvPr id="96" name="dealer-systems-detail">
            <a:extLst>
              <a:ext uri="{FF2B5EF4-FFF2-40B4-BE49-F238E27FC236}">
                <a16:creationId xmlns:a16="http://schemas.microsoft.com/office/drawing/2014/main" id="{B2C90152-2130-41EF-BED2-7DC6825571BB}"/>
              </a:ext>
            </a:extLst>
          </p:cNvPr>
          <p:cNvSpPr>
            <a:spLocks noGrp="1"/>
          </p:cNvSpPr>
          <p:nvPr/>
        </p:nvSpPr>
        <p:spPr>
          <a:xfrm>
            <a:off x="9572625" y="4638675"/>
            <a:ext cx="2076450" cy="333375"/>
          </a:xfrm>
          <a:prstGeom prst="rect">
            <a:avLst/>
          </a:prstGeom>
          <a:noFill/>
          <a:ln w="0">
            <a:noFill/>
            <a:prstDash val="solid"/>
          </a:ln>
        </p:spPr>
        <p:txBody>
          <a:bodyPr/>
          <a:lstStyle/>
          <a:p>
            <a:pPr algn="ctr">
              <a:buNone/>
              <a:defRPr sz="900">
                <a:solidFill>
                  <a:srgbClr val="4B5563"/>
                </a:solidFill>
              </a:defRPr>
            </a:pPr>
            <a:r>
              <a:rPr sz="900">
                <a:solidFill>
                  <a:srgbClr val="4B5563"/>
                </a:solidFill>
              </a:rPr>
              <a:t>Authoritative slots + appointments</a:t>
            </a:r>
          </a:p>
        </p:txBody>
      </p:sp>
      <p:sp>
        <p:nvSpPr>
          <p:cNvPr id="97" name="brownfield-label">
            <a:extLst>
              <a:ext uri="{FF2B5EF4-FFF2-40B4-BE49-F238E27FC236}">
                <a16:creationId xmlns:a16="http://schemas.microsoft.com/office/drawing/2014/main" id="{5DD23B0C-1EC2-4749-B739-14B352FC99D9}"/>
              </a:ext>
            </a:extLst>
          </p:cNvPr>
          <p:cNvSpPr>
            <a:spLocks noGrp="1"/>
          </p:cNvSpPr>
          <p:nvPr/>
        </p:nvSpPr>
        <p:spPr>
          <a:xfrm>
            <a:off x="9477375" y="1695450"/>
            <a:ext cx="2266950" cy="209550"/>
          </a:xfrm>
          <a:prstGeom prst="rect">
            <a:avLst/>
          </a:prstGeom>
          <a:noFill/>
          <a:ln w="0">
            <a:noFill/>
            <a:prstDash val="solid"/>
          </a:ln>
        </p:spPr>
        <p:txBody>
          <a:bodyPr/>
          <a:lstStyle/>
          <a:p>
            <a:pPr algn="ctr">
              <a:buNone/>
              <a:defRPr sz="975" b="1">
                <a:solidFill>
                  <a:srgbClr val="5B6472"/>
                </a:solidFill>
              </a:defRPr>
            </a:pPr>
            <a:r>
              <a:rPr sz="975" b="1">
                <a:solidFill>
                  <a:srgbClr val="5B6472"/>
                </a:solidFill>
              </a:rPr>
              <a:t>BROWNFIELD SYSTEMS</a:t>
            </a:r>
          </a:p>
        </p:txBody>
      </p:sp>
      <p:sp>
        <p:nvSpPr>
          <p:cNvPr id="98" name="dr">
            <a:extLst>
              <a:ext uri="{FF2B5EF4-FFF2-40B4-BE49-F238E27FC236}">
                <a16:creationId xmlns:a16="http://schemas.microsoft.com/office/drawing/2014/main" id="{74D41CC7-3D13-4347-A1DD-44094967C0CF}"/>
              </a:ext>
            </a:extLst>
          </p:cNvPr>
          <p:cNvSpPr>
            <a:spLocks noGrp="1"/>
          </p:cNvSpPr>
          <p:nvPr/>
        </p:nvSpPr>
        <p:spPr>
          <a:xfrm>
            <a:off x="1743075" y="6115050"/>
            <a:ext cx="7524750" cy="523875"/>
          </a:xfrm>
          <a:prstGeom prst="roundRect">
            <a:avLst>
              <a:gd name="adj" fmla="val 14545"/>
            </a:avLst>
          </a:prstGeom>
          <a:solidFill>
            <a:srgbClr val="F4F7FA"/>
          </a:solidFill>
          <a:ln w="13335">
            <a:solidFill>
              <a:srgbClr val="5B6472"/>
            </a:solidFill>
            <a:prstDash val="solid"/>
          </a:ln>
        </p:spPr>
        <p:txBody>
          <a:bodyPr/>
          <a:lstStyle/>
          <a:p>
            <a:endParaRPr/>
          </a:p>
        </p:txBody>
      </p:sp>
      <p:sp>
        <p:nvSpPr>
          <p:cNvPr id="99" name="dr-title">
            <a:extLst>
              <a:ext uri="{FF2B5EF4-FFF2-40B4-BE49-F238E27FC236}">
                <a16:creationId xmlns:a16="http://schemas.microsoft.com/office/drawing/2014/main" id="{6BA22BEF-44E7-4FFF-84D3-90657F5727E0}"/>
              </a:ext>
            </a:extLst>
          </p:cNvPr>
          <p:cNvSpPr>
            <a:spLocks noGrp="1"/>
          </p:cNvSpPr>
          <p:nvPr/>
        </p:nvSpPr>
        <p:spPr>
          <a:xfrm>
            <a:off x="2200275" y="6200775"/>
            <a:ext cx="6972300"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Secondary AWS Region • warm standby</a:t>
            </a:r>
          </a:p>
        </p:txBody>
      </p:sp>
      <p:sp>
        <p:nvSpPr>
          <p:cNvPr id="100" name="dr-detail">
            <a:extLst>
              <a:ext uri="{FF2B5EF4-FFF2-40B4-BE49-F238E27FC236}">
                <a16:creationId xmlns:a16="http://schemas.microsoft.com/office/drawing/2014/main" id="{D3597560-5542-46E0-85B4-EB7932D252F7}"/>
              </a:ext>
            </a:extLst>
          </p:cNvPr>
          <p:cNvSpPr>
            <a:spLocks noGrp="1"/>
          </p:cNvSpPr>
          <p:nvPr/>
        </p:nvSpPr>
        <p:spPr>
          <a:xfrm>
            <a:off x="1838325" y="6391275"/>
            <a:ext cx="7334250" cy="180975"/>
          </a:xfrm>
          <a:prstGeom prst="rect">
            <a:avLst/>
          </a:prstGeom>
          <a:noFill/>
          <a:ln w="0">
            <a:noFill/>
            <a:prstDash val="solid"/>
          </a:ln>
        </p:spPr>
        <p:txBody>
          <a:bodyPr/>
          <a:lstStyle/>
          <a:p>
            <a:pPr algn="ctr">
              <a:buNone/>
              <a:defRPr sz="825">
                <a:solidFill>
                  <a:srgbClr val="4B5563"/>
                </a:solidFill>
              </a:defRPr>
            </a:pPr>
            <a:r>
              <a:rPr sz="825">
                <a:solidFill>
                  <a:srgbClr val="4B5563"/>
                </a:solidFill>
              </a:rPr>
              <a:t>Route 53 failover • DynamoDB Global Tables • replicated assets • IaC recovery</a:t>
            </a:r>
          </a:p>
        </p:txBody>
      </p:sp>
      <p:pic>
        <p:nvPicPr>
          <p:cNvPr id="508" name="Picture 223"/>
          <p:cNvPicPr>
            <a:picLocks noChangeAspect="1"/>
          </p:cNvPicPr>
          <p:nvPr/>
        </p:nvPicPr>
        <p:blipFill>
          <a:blip r:embed="rId21"/>
          <a:stretch/>
        </p:blipFill>
        <p:spPr>
          <a:xfrm>
            <a:off x="1857375" y="6181725"/>
            <a:ext cx="238125" cy="238125"/>
          </a:xfrm>
          <a:prstGeom prst="rect">
            <a:avLst/>
          </a:prstGeom>
        </p:spPr>
      </p:pic>
      <p:cxnSp>
        <p:nvCxnSpPr>
          <p:cNvPr id="509" name="Connector: Elbow 224"/>
          <p:cNvCxnSpPr>
            <a:stCxn id="6" idx="3"/>
            <a:endCxn id="20" idx="1"/>
          </p:cNvCxnSpPr>
          <p:nvPr/>
        </p:nvCxnSpPr>
        <p:spPr>
          <a:xfrm flipV="1">
            <a:off x="1552575" y="2552700"/>
            <a:ext cx="447675" cy="552450"/>
          </a:xfrm>
          <a:prstGeom prst="bentConnector3">
            <a:avLst>
              <a:gd name="adj1" fmla="val 50000"/>
            </a:avLst>
          </a:prstGeom>
          <a:ln w="17145">
            <a:solidFill>
              <a:srgbClr val="2767A8"/>
            </a:solidFill>
            <a:prstDash val="solid"/>
            <a:tailEnd type="triangle" w="sm" len="sm"/>
          </a:ln>
        </p:spPr>
      </p:cxnSp>
      <p:cxnSp>
        <p:nvCxnSpPr>
          <p:cNvPr id="510" name="Connector: Elbow 225"/>
          <p:cNvCxnSpPr>
            <a:stCxn id="9" idx="3"/>
            <a:endCxn id="29" idx="1"/>
          </p:cNvCxnSpPr>
          <p:nvPr/>
        </p:nvCxnSpPr>
        <p:spPr>
          <a:xfrm flipV="1">
            <a:off x="1552575" y="2552700"/>
            <a:ext cx="3190875" cy="1828800"/>
          </a:xfrm>
          <a:prstGeom prst="bentConnector3">
            <a:avLst>
              <a:gd name="adj1" fmla="val 50000"/>
            </a:avLst>
          </a:prstGeom>
          <a:ln w="17145">
            <a:solidFill>
              <a:srgbClr val="6D4FB3"/>
            </a:solidFill>
            <a:prstDash val="dash"/>
            <a:tailEnd type="triangle" w="sm" len="sm"/>
          </a:ln>
        </p:spPr>
      </p:cxnSp>
      <p:cxnSp>
        <p:nvCxnSpPr>
          <p:cNvPr id="511" name="Straight Arrow Connector 226"/>
          <p:cNvCxnSpPr>
            <a:stCxn id="20" idx="3"/>
            <a:endCxn id="29" idx="1"/>
          </p:cNvCxnSpPr>
          <p:nvPr/>
        </p:nvCxnSpPr>
        <p:spPr>
          <a:xfrm>
            <a:off x="3219450" y="2552700"/>
            <a:ext cx="1524000" cy="0"/>
          </a:xfrm>
          <a:prstGeom prst="straightConnector1">
            <a:avLst/>
          </a:prstGeom>
          <a:ln w="17145">
            <a:solidFill>
              <a:srgbClr val="7A8492"/>
            </a:solidFill>
            <a:prstDash val="solid"/>
            <a:tailEnd type="triangle" w="sm" len="sm"/>
          </a:ln>
        </p:spPr>
      </p:cxnSp>
      <p:cxnSp>
        <p:nvCxnSpPr>
          <p:cNvPr id="512" name="Straight Arrow Connector 227"/>
          <p:cNvCxnSpPr>
            <a:stCxn id="25" idx="3"/>
            <a:endCxn id="29" idx="1"/>
          </p:cNvCxnSpPr>
          <p:nvPr/>
        </p:nvCxnSpPr>
        <p:spPr>
          <a:xfrm>
            <a:off x="4591050" y="2552700"/>
            <a:ext cx="152400" cy="0"/>
          </a:xfrm>
          <a:prstGeom prst="straightConnector1">
            <a:avLst/>
          </a:prstGeom>
          <a:ln w="17145">
            <a:solidFill>
              <a:srgbClr val="7A8492"/>
            </a:solidFill>
            <a:prstDash val="solid"/>
            <a:tailEnd type="triangle" w="sm" len="sm"/>
          </a:ln>
        </p:spPr>
      </p:cxnSp>
      <p:cxnSp>
        <p:nvCxnSpPr>
          <p:cNvPr id="513" name="Straight Arrow Connector 228"/>
          <p:cNvCxnSpPr>
            <a:stCxn id="29" idx="3"/>
            <a:endCxn id="33" idx="1"/>
          </p:cNvCxnSpPr>
          <p:nvPr/>
        </p:nvCxnSpPr>
        <p:spPr>
          <a:xfrm>
            <a:off x="5962650" y="2552700"/>
            <a:ext cx="152400" cy="0"/>
          </a:xfrm>
          <a:prstGeom prst="straightConnector1">
            <a:avLst/>
          </a:prstGeom>
          <a:ln w="17145">
            <a:solidFill>
              <a:srgbClr val="7A8492"/>
            </a:solidFill>
            <a:prstDash val="solid"/>
            <a:tailEnd type="triangle" w="sm" len="sm"/>
          </a:ln>
        </p:spPr>
      </p:cxnSp>
      <p:cxnSp>
        <p:nvCxnSpPr>
          <p:cNvPr id="514" name="Connector: Elbow 229"/>
          <p:cNvCxnSpPr>
            <a:stCxn id="33" idx="2"/>
            <a:endCxn id="40" idx="0"/>
          </p:cNvCxnSpPr>
          <p:nvPr/>
        </p:nvCxnSpPr>
        <p:spPr>
          <a:xfrm flipH="1">
            <a:off x="2705100" y="2857500"/>
            <a:ext cx="4019550" cy="457200"/>
          </a:xfrm>
          <a:prstGeom prst="bentConnector4">
            <a:avLst>
              <a:gd name="adj1" fmla="val 0"/>
              <a:gd name="adj2" fmla="val 50000"/>
            </a:avLst>
          </a:prstGeom>
          <a:ln w="17145">
            <a:solidFill>
              <a:srgbClr val="147A58"/>
            </a:solidFill>
            <a:prstDash val="solid"/>
            <a:tailEnd type="triangle" w="sm" len="sm"/>
          </a:ln>
        </p:spPr>
      </p:cxnSp>
      <p:cxnSp>
        <p:nvCxnSpPr>
          <p:cNvPr id="515" name="Connector: Elbow 230"/>
          <p:cNvCxnSpPr>
            <a:stCxn id="33" idx="2"/>
            <a:endCxn id="43" idx="0"/>
          </p:cNvCxnSpPr>
          <p:nvPr/>
        </p:nvCxnSpPr>
        <p:spPr>
          <a:xfrm flipH="1">
            <a:off x="3962400" y="2857500"/>
            <a:ext cx="2762250" cy="457200"/>
          </a:xfrm>
          <a:prstGeom prst="bentConnector4">
            <a:avLst>
              <a:gd name="adj1" fmla="val 0"/>
              <a:gd name="adj2" fmla="val 50000"/>
            </a:avLst>
          </a:prstGeom>
          <a:ln w="17145">
            <a:solidFill>
              <a:srgbClr val="147A58"/>
            </a:solidFill>
            <a:prstDash val="solid"/>
            <a:tailEnd type="triangle" w="sm" len="sm"/>
          </a:ln>
        </p:spPr>
      </p:cxnSp>
      <p:cxnSp>
        <p:nvCxnSpPr>
          <p:cNvPr id="516" name="Connector: Elbow 231"/>
          <p:cNvCxnSpPr>
            <a:stCxn id="33" idx="2"/>
            <a:endCxn id="46" idx="0"/>
          </p:cNvCxnSpPr>
          <p:nvPr/>
        </p:nvCxnSpPr>
        <p:spPr>
          <a:xfrm flipH="1">
            <a:off x="5219700" y="2857500"/>
            <a:ext cx="1504950" cy="457200"/>
          </a:xfrm>
          <a:prstGeom prst="bentConnector4">
            <a:avLst>
              <a:gd name="adj1" fmla="val 0"/>
              <a:gd name="adj2" fmla="val 50000"/>
            </a:avLst>
          </a:prstGeom>
          <a:ln w="17145">
            <a:solidFill>
              <a:srgbClr val="147A58"/>
            </a:solidFill>
            <a:prstDash val="solid"/>
            <a:tailEnd type="triangle" w="sm" len="sm"/>
          </a:ln>
        </p:spPr>
      </p:cxnSp>
      <p:cxnSp>
        <p:nvCxnSpPr>
          <p:cNvPr id="517" name="Connector: Elbow 232"/>
          <p:cNvCxnSpPr>
            <a:stCxn id="33" idx="2"/>
            <a:endCxn id="49" idx="0"/>
          </p:cNvCxnSpPr>
          <p:nvPr/>
        </p:nvCxnSpPr>
        <p:spPr>
          <a:xfrm flipH="1">
            <a:off x="6477000" y="2857500"/>
            <a:ext cx="247650" cy="457200"/>
          </a:xfrm>
          <a:prstGeom prst="bentConnector4">
            <a:avLst>
              <a:gd name="adj1" fmla="val 0"/>
              <a:gd name="adj2" fmla="val 50000"/>
            </a:avLst>
          </a:prstGeom>
          <a:ln w="17145">
            <a:solidFill>
              <a:srgbClr val="147A58"/>
            </a:solidFill>
            <a:prstDash val="solid"/>
            <a:tailEnd type="triangle" w="sm" len="sm"/>
          </a:ln>
        </p:spPr>
      </p:cxnSp>
      <p:cxnSp>
        <p:nvCxnSpPr>
          <p:cNvPr id="518" name="Straight Arrow Connector 233"/>
          <p:cNvCxnSpPr>
            <a:stCxn id="40" idx="2"/>
            <a:endCxn id="52" idx="0"/>
          </p:cNvCxnSpPr>
          <p:nvPr/>
        </p:nvCxnSpPr>
        <p:spPr>
          <a:xfrm>
            <a:off x="2705100" y="4000500"/>
            <a:ext cx="0" cy="133350"/>
          </a:xfrm>
          <a:prstGeom prst="straightConnector1">
            <a:avLst/>
          </a:prstGeom>
          <a:ln w="17145">
            <a:solidFill>
              <a:srgbClr val="7A8492"/>
            </a:solidFill>
            <a:prstDash val="solid"/>
            <a:tailEnd type="triangle" w="sm" len="sm"/>
          </a:ln>
        </p:spPr>
      </p:cxnSp>
      <p:cxnSp>
        <p:nvCxnSpPr>
          <p:cNvPr id="519" name="Connector: Elbow 234"/>
          <p:cNvCxnSpPr>
            <a:stCxn id="49" idx="2"/>
            <a:endCxn id="56" idx="0"/>
          </p:cNvCxnSpPr>
          <p:nvPr/>
        </p:nvCxnSpPr>
        <p:spPr>
          <a:xfrm flipH="1">
            <a:off x="3962400" y="4000500"/>
            <a:ext cx="2514600" cy="133350"/>
          </a:xfrm>
          <a:prstGeom prst="bentConnector4">
            <a:avLst>
              <a:gd name="adj1" fmla="val 0"/>
              <a:gd name="adj2" fmla="val 50000"/>
            </a:avLst>
          </a:prstGeom>
          <a:ln w="17145">
            <a:solidFill>
              <a:srgbClr val="7A8492"/>
            </a:solidFill>
            <a:prstDash val="solid"/>
            <a:tailEnd type="triangle" w="sm" len="sm"/>
          </a:ln>
        </p:spPr>
      </p:cxnSp>
      <p:cxnSp>
        <p:nvCxnSpPr>
          <p:cNvPr id="520" name="Straight Arrow Connector 235"/>
          <p:cNvCxnSpPr>
            <a:stCxn id="46" idx="2"/>
            <a:endCxn id="60" idx="0"/>
          </p:cNvCxnSpPr>
          <p:nvPr/>
        </p:nvCxnSpPr>
        <p:spPr>
          <a:xfrm>
            <a:off x="5219700" y="4000500"/>
            <a:ext cx="0" cy="133350"/>
          </a:xfrm>
          <a:prstGeom prst="straightConnector1">
            <a:avLst/>
          </a:prstGeom>
          <a:ln w="17145">
            <a:solidFill>
              <a:srgbClr val="7A8492"/>
            </a:solidFill>
            <a:prstDash val="solid"/>
            <a:tailEnd type="triangle" w="sm" len="sm"/>
          </a:ln>
        </p:spPr>
      </p:cxnSp>
      <p:cxnSp>
        <p:nvCxnSpPr>
          <p:cNvPr id="521" name="Straight Arrow Connector 236"/>
          <p:cNvCxnSpPr>
            <a:stCxn id="49" idx="2"/>
            <a:endCxn id="64" idx="0"/>
          </p:cNvCxnSpPr>
          <p:nvPr/>
        </p:nvCxnSpPr>
        <p:spPr>
          <a:xfrm>
            <a:off x="6477000" y="4000500"/>
            <a:ext cx="0" cy="133350"/>
          </a:xfrm>
          <a:prstGeom prst="straightConnector1">
            <a:avLst/>
          </a:prstGeom>
          <a:ln w="17145">
            <a:solidFill>
              <a:srgbClr val="7A8492"/>
            </a:solidFill>
            <a:prstDash val="solid"/>
            <a:tailEnd type="triangle" w="sm" len="sm"/>
          </a:ln>
        </p:spPr>
      </p:cxnSp>
      <p:cxnSp>
        <p:nvCxnSpPr>
          <p:cNvPr id="522" name="Connector: Elbow 237"/>
          <p:cNvCxnSpPr>
            <a:stCxn id="64" idx="2"/>
            <a:endCxn id="80" idx="0"/>
          </p:cNvCxnSpPr>
          <p:nvPr/>
        </p:nvCxnSpPr>
        <p:spPr>
          <a:xfrm flipH="1">
            <a:off x="3162300" y="4648200"/>
            <a:ext cx="3314700" cy="352425"/>
          </a:xfrm>
          <a:prstGeom prst="bentConnector4">
            <a:avLst>
              <a:gd name="adj1" fmla="val 0"/>
              <a:gd name="adj2" fmla="val 50000"/>
            </a:avLst>
          </a:prstGeom>
          <a:ln w="17145">
            <a:solidFill>
              <a:srgbClr val="B86713"/>
            </a:solidFill>
            <a:prstDash val="solid"/>
            <a:tailEnd type="triangle" w="sm" len="sm"/>
          </a:ln>
        </p:spPr>
      </p:cxnSp>
      <p:cxnSp>
        <p:nvCxnSpPr>
          <p:cNvPr id="523" name="Connector: Elbow 238"/>
          <p:cNvCxnSpPr>
            <a:stCxn id="43" idx="3"/>
            <a:endCxn id="71" idx="1"/>
          </p:cNvCxnSpPr>
          <p:nvPr/>
        </p:nvCxnSpPr>
        <p:spPr>
          <a:xfrm flipV="1">
            <a:off x="4524375" y="3152775"/>
            <a:ext cx="3152775" cy="504825"/>
          </a:xfrm>
          <a:prstGeom prst="bentConnector3">
            <a:avLst>
              <a:gd name="adj1" fmla="val 50000"/>
            </a:avLst>
          </a:prstGeom>
          <a:ln w="17145">
            <a:solidFill>
              <a:srgbClr val="198E84"/>
            </a:solidFill>
            <a:prstDash val="solid"/>
            <a:tailEnd type="triangle" w="sm" len="sm"/>
          </a:ln>
        </p:spPr>
      </p:cxnSp>
      <p:cxnSp>
        <p:nvCxnSpPr>
          <p:cNvPr id="524" name="Connector: Elbow 239"/>
          <p:cNvCxnSpPr>
            <a:stCxn id="43" idx="3"/>
            <a:endCxn id="74" idx="1"/>
          </p:cNvCxnSpPr>
          <p:nvPr/>
        </p:nvCxnSpPr>
        <p:spPr>
          <a:xfrm>
            <a:off x="4524375" y="3657600"/>
            <a:ext cx="3152775" cy="200025"/>
          </a:xfrm>
          <a:prstGeom prst="bentConnector3">
            <a:avLst>
              <a:gd name="adj1" fmla="val 50000"/>
            </a:avLst>
          </a:prstGeom>
          <a:ln w="17145">
            <a:solidFill>
              <a:srgbClr val="198E84"/>
            </a:solidFill>
            <a:prstDash val="solid"/>
            <a:tailEnd type="triangle" w="sm" len="sm"/>
          </a:ln>
        </p:spPr>
      </p:cxnSp>
      <p:cxnSp>
        <p:nvCxnSpPr>
          <p:cNvPr id="525" name="Connector: Elbow 240"/>
          <p:cNvCxnSpPr>
            <a:stCxn id="46" idx="3"/>
            <a:endCxn id="77" idx="1"/>
          </p:cNvCxnSpPr>
          <p:nvPr/>
        </p:nvCxnSpPr>
        <p:spPr>
          <a:xfrm>
            <a:off x="5781675" y="3657600"/>
            <a:ext cx="1895475" cy="904875"/>
          </a:xfrm>
          <a:prstGeom prst="bentConnector3">
            <a:avLst>
              <a:gd name="adj1" fmla="val 50000"/>
            </a:avLst>
          </a:prstGeom>
          <a:ln w="17145">
            <a:solidFill>
              <a:srgbClr val="198E84"/>
            </a:solidFill>
            <a:prstDash val="solid"/>
            <a:tailEnd type="triangle" w="sm" len="sm"/>
          </a:ln>
        </p:spPr>
      </p:cxnSp>
      <p:cxnSp>
        <p:nvCxnSpPr>
          <p:cNvPr id="526" name="Connector: Elbow 241"/>
          <p:cNvCxnSpPr>
            <a:stCxn id="49" idx="3"/>
            <a:endCxn id="77" idx="1"/>
          </p:cNvCxnSpPr>
          <p:nvPr/>
        </p:nvCxnSpPr>
        <p:spPr>
          <a:xfrm>
            <a:off x="7038975" y="3657600"/>
            <a:ext cx="638175" cy="904875"/>
          </a:xfrm>
          <a:prstGeom prst="bentConnector3">
            <a:avLst>
              <a:gd name="adj1" fmla="val 50000"/>
            </a:avLst>
          </a:prstGeom>
          <a:ln w="17145">
            <a:solidFill>
              <a:srgbClr val="198E84"/>
            </a:solidFill>
            <a:prstDash val="solid"/>
            <a:tailEnd type="triangle" w="sm" len="sm"/>
          </a:ln>
        </p:spPr>
      </p:cxnSp>
      <p:cxnSp>
        <p:nvCxnSpPr>
          <p:cNvPr id="527" name="Connector: Elbow 242"/>
          <p:cNvCxnSpPr>
            <a:stCxn id="71" idx="3"/>
            <a:endCxn id="88" idx="1"/>
          </p:cNvCxnSpPr>
          <p:nvPr/>
        </p:nvCxnSpPr>
        <p:spPr>
          <a:xfrm flipV="1">
            <a:off x="8877300" y="2505075"/>
            <a:ext cx="600075" cy="647700"/>
          </a:xfrm>
          <a:prstGeom prst="bentConnector3">
            <a:avLst>
              <a:gd name="adj1" fmla="val 50000"/>
            </a:avLst>
          </a:prstGeom>
          <a:ln w="17145">
            <a:solidFill>
              <a:srgbClr val="2767A8"/>
            </a:solidFill>
            <a:prstDash val="solid"/>
            <a:tailEnd type="triangle" w="sm" len="sm"/>
          </a:ln>
        </p:spPr>
      </p:cxnSp>
      <p:cxnSp>
        <p:nvCxnSpPr>
          <p:cNvPr id="528" name="Connector: Elbow 243"/>
          <p:cNvCxnSpPr>
            <a:stCxn id="74" idx="3"/>
            <a:endCxn id="91" idx="1"/>
          </p:cNvCxnSpPr>
          <p:nvPr/>
        </p:nvCxnSpPr>
        <p:spPr>
          <a:xfrm flipV="1">
            <a:off x="8877300" y="3552825"/>
            <a:ext cx="600075" cy="304800"/>
          </a:xfrm>
          <a:prstGeom prst="bentConnector3">
            <a:avLst>
              <a:gd name="adj1" fmla="val 50000"/>
            </a:avLst>
          </a:prstGeom>
          <a:ln w="17145">
            <a:solidFill>
              <a:srgbClr val="6D4FB3"/>
            </a:solidFill>
            <a:prstDash val="solid"/>
            <a:tailEnd type="triangle" w="sm" len="sm"/>
          </a:ln>
        </p:spPr>
      </p:cxnSp>
      <p:cxnSp>
        <p:nvCxnSpPr>
          <p:cNvPr id="529" name="Connector: Elbow 244"/>
          <p:cNvCxnSpPr>
            <a:stCxn id="77" idx="3"/>
            <a:endCxn id="94" idx="1"/>
          </p:cNvCxnSpPr>
          <p:nvPr/>
        </p:nvCxnSpPr>
        <p:spPr>
          <a:xfrm>
            <a:off x="8877300" y="4562475"/>
            <a:ext cx="600075" cy="76200"/>
          </a:xfrm>
          <a:prstGeom prst="bentConnector3">
            <a:avLst>
              <a:gd name="adj1" fmla="val 50000"/>
            </a:avLst>
          </a:prstGeom>
          <a:ln w="17145">
            <a:solidFill>
              <a:srgbClr val="B86713"/>
            </a:solidFill>
            <a:prstDash val="solid"/>
            <a:tailEnd type="triangle" w="sm" len="sm"/>
          </a:ln>
        </p:spPr>
      </p:cxnSp>
      <p:cxnSp>
        <p:nvCxnSpPr>
          <p:cNvPr id="530" name="Connector: Elbow 245"/>
          <p:cNvCxnSpPr>
            <a:stCxn id="85" idx="2"/>
            <a:endCxn id="98" idx="0"/>
          </p:cNvCxnSpPr>
          <p:nvPr/>
        </p:nvCxnSpPr>
        <p:spPr>
          <a:xfrm flipH="1">
            <a:off x="5505450" y="5553075"/>
            <a:ext cx="400050" cy="561975"/>
          </a:xfrm>
          <a:prstGeom prst="bentConnector4">
            <a:avLst>
              <a:gd name="adj1" fmla="val 0"/>
              <a:gd name="adj2" fmla="val 50000"/>
            </a:avLst>
          </a:prstGeom>
          <a:ln w="17145">
            <a:solidFill>
              <a:srgbClr val="5B6472"/>
            </a:solidFill>
            <a:prstDash val="dash"/>
            <a:tailEnd type="triangle" w="sm" len="sm"/>
          </a:ln>
        </p:spPr>
      </p:cxnSp>
    </p:spTree>
    <p:extLst>
      <p:ext uri="{BB962C8B-B14F-4D97-AF65-F5344CB8AC3E}">
        <p14:creationId xmlns:p14="http://schemas.microsoft.com/office/powerpoint/2010/main" val="1430279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eyebrow">
            <a:extLst>
              <a:ext uri="{FF2B5EF4-FFF2-40B4-BE49-F238E27FC236}">
                <a16:creationId xmlns:a16="http://schemas.microsoft.com/office/drawing/2014/main" id="{AB6C62D4-5614-4C2A-86B3-981C56BEAC0C}"/>
              </a:ext>
            </a:extLst>
          </p:cNvPr>
          <p:cNvSpPr>
            <a:spLocks noGrp="1"/>
          </p:cNvSpPr>
          <p:nvPr/>
        </p:nvSpPr>
        <p:spPr>
          <a:xfrm>
            <a:off x="571500" y="323850"/>
            <a:ext cx="2667000" cy="180975"/>
          </a:xfrm>
          <a:prstGeom prst="rect">
            <a:avLst/>
          </a:prstGeom>
          <a:noFill/>
          <a:ln w="0">
            <a:noFill/>
            <a:prstDash val="solid"/>
          </a:ln>
        </p:spPr>
        <p:txBody>
          <a:bodyPr/>
          <a:lstStyle/>
          <a:p>
            <a:pPr>
              <a:defRPr sz="825" b="1">
                <a:solidFill>
                  <a:srgbClr val="008296"/>
                </a:solidFill>
              </a:defRPr>
            </a:pPr>
            <a:r>
              <a:rPr sz="825" b="1">
                <a:solidFill>
                  <a:srgbClr val="008296"/>
                </a:solidFill>
              </a:rPr>
              <a:t>AWS SERVICE DECISIONS</a:t>
            </a:r>
          </a:p>
        </p:txBody>
      </p:sp>
      <p:sp>
        <p:nvSpPr>
          <p:cNvPr id="2" name="title">
            <a:extLst>
              <a:ext uri="{FF2B5EF4-FFF2-40B4-BE49-F238E27FC236}">
                <a16:creationId xmlns:a16="http://schemas.microsoft.com/office/drawing/2014/main" id="{9DA2AD5A-AB87-4020-95F0-15A858B21ECB}"/>
              </a:ext>
            </a:extLst>
          </p:cNvPr>
          <p:cNvSpPr>
            <a:spLocks noGrp="1"/>
          </p:cNvSpPr>
          <p:nvPr/>
        </p:nvSpPr>
        <p:spPr>
          <a:xfrm>
            <a:off x="571500" y="552450"/>
            <a:ext cx="11049000" cy="409575"/>
          </a:xfrm>
          <a:prstGeom prst="rect">
            <a:avLst/>
          </a:prstGeom>
          <a:noFill/>
          <a:ln w="0">
            <a:noFill/>
            <a:prstDash val="solid"/>
          </a:ln>
        </p:spPr>
        <p:txBody>
          <a:bodyPr/>
          <a:lstStyle/>
          <a:p>
            <a:pPr>
              <a:defRPr sz="2175" b="1">
                <a:solidFill>
                  <a:srgbClr val="183B56"/>
                </a:solidFill>
              </a:defRPr>
            </a:pPr>
            <a:r>
              <a:rPr sz="2175" b="1">
                <a:solidFill>
                  <a:srgbClr val="183B56"/>
                </a:solidFill>
              </a:rPr>
              <a:t>Each AWS service is chosen for a specific workload—and an explicit trade-off</a:t>
            </a:r>
          </a:p>
        </p:txBody>
      </p:sp>
      <p:sp>
        <p:nvSpPr>
          <p:cNvPr id="3" name="subtitle">
            <a:extLst>
              <a:ext uri="{FF2B5EF4-FFF2-40B4-BE49-F238E27FC236}">
                <a16:creationId xmlns:a16="http://schemas.microsoft.com/office/drawing/2014/main" id="{0F2B21EA-88F9-4CE4-B970-09F5128D9A83}"/>
              </a:ext>
            </a:extLst>
          </p:cNvPr>
          <p:cNvSpPr>
            <a:spLocks noGrp="1"/>
          </p:cNvSpPr>
          <p:nvPr/>
        </p:nvSpPr>
        <p:spPr>
          <a:xfrm>
            <a:off x="571500" y="1000125"/>
            <a:ext cx="11049000" cy="228600"/>
          </a:xfrm>
          <a:prstGeom prst="rect">
            <a:avLst/>
          </a:prstGeom>
          <a:noFill/>
          <a:ln w="0">
            <a:noFill/>
            <a:prstDash val="solid"/>
          </a:ln>
        </p:spPr>
        <p:txBody>
          <a:bodyPr/>
          <a:lstStyle/>
          <a:p>
            <a:pPr>
              <a:defRPr sz="1050">
                <a:solidFill>
                  <a:srgbClr val="557086"/>
                </a:solidFill>
              </a:defRPr>
            </a:pPr>
            <a:r>
              <a:rPr sz="1050">
                <a:solidFill>
                  <a:srgbClr val="557086"/>
                </a:solidFill>
              </a:rPr>
              <a:t>Managed services reduce undifferentiated operations; containers and custom authorization remain targeted exceptions.</a:t>
            </a:r>
          </a:p>
        </p:txBody>
      </p:sp>
      <p:sp>
        <p:nvSpPr>
          <p:cNvPr id="4" name="header-rule">
            <a:extLst>
              <a:ext uri="{FF2B5EF4-FFF2-40B4-BE49-F238E27FC236}">
                <a16:creationId xmlns:a16="http://schemas.microsoft.com/office/drawing/2014/main" id="{FDF5DEB6-7FA8-441B-AF86-AB08C3C4CDA4}"/>
              </a:ext>
            </a:extLst>
          </p:cNvPr>
          <p:cNvSpPr>
            <a:spLocks noGrp="1"/>
          </p:cNvSpPr>
          <p:nvPr/>
        </p:nvSpPr>
        <p:spPr>
          <a:xfrm>
            <a:off x="571500" y="1304925"/>
            <a:ext cx="11049000" cy="19050"/>
          </a:xfrm>
          <a:prstGeom prst="rect">
            <a:avLst/>
          </a:prstGeom>
          <a:solidFill>
            <a:srgbClr val="00A8C6"/>
          </a:solidFill>
          <a:ln w="0">
            <a:solidFill>
              <a:srgbClr val="00A8C6"/>
            </a:solidFill>
            <a:prstDash val="solid"/>
          </a:ln>
        </p:spPr>
        <p:txBody>
          <a:bodyPr/>
          <a:lstStyle/>
          <a:p>
            <a:endParaRPr lang="en-US"/>
          </a:p>
        </p:txBody>
      </p:sp>
      <p:sp>
        <p:nvSpPr>
          <p:cNvPr id="5" name="table-frame">
            <a:extLst>
              <a:ext uri="{FF2B5EF4-FFF2-40B4-BE49-F238E27FC236}">
                <a16:creationId xmlns:a16="http://schemas.microsoft.com/office/drawing/2014/main" id="{08917C93-C857-42B6-8099-9C1011E225B5}"/>
              </a:ext>
            </a:extLst>
          </p:cNvPr>
          <p:cNvSpPr>
            <a:spLocks noGrp="1"/>
          </p:cNvSpPr>
          <p:nvPr/>
        </p:nvSpPr>
        <p:spPr>
          <a:xfrm>
            <a:off x="571500" y="1428750"/>
            <a:ext cx="11049000" cy="4514850"/>
          </a:xfrm>
          <a:prstGeom prst="roundRect">
            <a:avLst>
              <a:gd name="adj" fmla="val 1688"/>
            </a:avLst>
          </a:prstGeom>
          <a:solidFill>
            <a:srgbClr val="FFFFFF"/>
          </a:solidFill>
          <a:ln w="9525">
            <a:solidFill>
              <a:srgbClr val="C7D5DE"/>
            </a:solidFill>
            <a:prstDash val="solid"/>
          </a:ln>
        </p:spPr>
        <p:txBody>
          <a:bodyPr/>
          <a:lstStyle/>
          <a:p>
            <a:endParaRPr lang="en-US"/>
          </a:p>
        </p:txBody>
      </p:sp>
      <p:sp>
        <p:nvSpPr>
          <p:cNvPr id="6" name="table-header">
            <a:extLst>
              <a:ext uri="{FF2B5EF4-FFF2-40B4-BE49-F238E27FC236}">
                <a16:creationId xmlns:a16="http://schemas.microsoft.com/office/drawing/2014/main" id="{B64A16FD-75C1-434E-9A85-DEFC183453CD}"/>
              </a:ext>
            </a:extLst>
          </p:cNvPr>
          <p:cNvSpPr>
            <a:spLocks noGrp="1"/>
          </p:cNvSpPr>
          <p:nvPr/>
        </p:nvSpPr>
        <p:spPr>
          <a:xfrm>
            <a:off x="571500" y="1428750"/>
            <a:ext cx="11049000" cy="323850"/>
          </a:xfrm>
          <a:prstGeom prst="rect">
            <a:avLst/>
          </a:prstGeom>
          <a:solidFill>
            <a:srgbClr val="183B56"/>
          </a:solidFill>
          <a:ln w="0">
            <a:solidFill>
              <a:srgbClr val="183B56"/>
            </a:solidFill>
            <a:prstDash val="solid"/>
          </a:ln>
        </p:spPr>
        <p:txBody>
          <a:bodyPr/>
          <a:lstStyle/>
          <a:p>
            <a:endParaRPr lang="en-US"/>
          </a:p>
        </p:txBody>
      </p:sp>
      <p:sp>
        <p:nvSpPr>
          <p:cNvPr id="7" name="header-0">
            <a:extLst>
              <a:ext uri="{FF2B5EF4-FFF2-40B4-BE49-F238E27FC236}">
                <a16:creationId xmlns:a16="http://schemas.microsoft.com/office/drawing/2014/main" id="{623D56CB-48E2-424B-97EE-F62F37ABE174}"/>
              </a:ext>
            </a:extLst>
          </p:cNvPr>
          <p:cNvSpPr>
            <a:spLocks noGrp="1"/>
          </p:cNvSpPr>
          <p:nvPr/>
        </p:nvSpPr>
        <p:spPr>
          <a:xfrm>
            <a:off x="685800" y="1514475"/>
            <a:ext cx="2105025" cy="161925"/>
          </a:xfrm>
          <a:prstGeom prst="rect">
            <a:avLst/>
          </a:prstGeom>
          <a:noFill/>
          <a:ln w="0">
            <a:noFill/>
            <a:prstDash val="solid"/>
          </a:ln>
        </p:spPr>
        <p:txBody>
          <a:bodyPr/>
          <a:lstStyle/>
          <a:p>
            <a:pPr>
              <a:defRPr sz="788" b="1">
                <a:solidFill>
                  <a:srgbClr val="FFFFFF"/>
                </a:solidFill>
              </a:defRPr>
            </a:pPr>
            <a:r>
              <a:rPr sz="788" b="1">
                <a:solidFill>
                  <a:srgbClr val="FFFFFF"/>
                </a:solidFill>
              </a:rPr>
              <a:t>AWS SERVICE</a:t>
            </a:r>
          </a:p>
        </p:txBody>
      </p:sp>
      <p:sp>
        <p:nvSpPr>
          <p:cNvPr id="8" name="header-1">
            <a:extLst>
              <a:ext uri="{FF2B5EF4-FFF2-40B4-BE49-F238E27FC236}">
                <a16:creationId xmlns:a16="http://schemas.microsoft.com/office/drawing/2014/main" id="{5AE9A798-5817-4156-9924-DC9E31D0F42B}"/>
              </a:ext>
            </a:extLst>
          </p:cNvPr>
          <p:cNvSpPr>
            <a:spLocks noGrp="1"/>
          </p:cNvSpPr>
          <p:nvPr/>
        </p:nvSpPr>
        <p:spPr>
          <a:xfrm>
            <a:off x="3019425" y="1514475"/>
            <a:ext cx="2009775" cy="161925"/>
          </a:xfrm>
          <a:prstGeom prst="rect">
            <a:avLst/>
          </a:prstGeom>
          <a:noFill/>
          <a:ln w="0">
            <a:noFill/>
            <a:prstDash val="solid"/>
          </a:ln>
        </p:spPr>
        <p:txBody>
          <a:bodyPr/>
          <a:lstStyle/>
          <a:p>
            <a:pPr>
              <a:defRPr sz="788" b="1">
                <a:solidFill>
                  <a:srgbClr val="FFFFFF"/>
                </a:solidFill>
              </a:defRPr>
            </a:pPr>
            <a:r>
              <a:rPr sz="788" b="1">
                <a:solidFill>
                  <a:srgbClr val="FFFFFF"/>
                </a:solidFill>
              </a:rPr>
              <a:t>ROLE IN THIS SOLUTION</a:t>
            </a:r>
          </a:p>
        </p:txBody>
      </p:sp>
      <p:sp>
        <p:nvSpPr>
          <p:cNvPr id="9" name="header-2">
            <a:extLst>
              <a:ext uri="{FF2B5EF4-FFF2-40B4-BE49-F238E27FC236}">
                <a16:creationId xmlns:a16="http://schemas.microsoft.com/office/drawing/2014/main" id="{52D38C80-EC49-42DD-94C6-81A51A9BF72B}"/>
              </a:ext>
            </a:extLst>
          </p:cNvPr>
          <p:cNvSpPr>
            <a:spLocks noGrp="1"/>
          </p:cNvSpPr>
          <p:nvPr/>
        </p:nvSpPr>
        <p:spPr>
          <a:xfrm>
            <a:off x="5257800" y="1514475"/>
            <a:ext cx="2771775" cy="161925"/>
          </a:xfrm>
          <a:prstGeom prst="rect">
            <a:avLst/>
          </a:prstGeom>
          <a:noFill/>
          <a:ln w="0">
            <a:noFill/>
            <a:prstDash val="solid"/>
          </a:ln>
        </p:spPr>
        <p:txBody>
          <a:bodyPr/>
          <a:lstStyle/>
          <a:p>
            <a:pPr>
              <a:defRPr sz="788" b="1">
                <a:solidFill>
                  <a:srgbClr val="FFFFFF"/>
                </a:solidFill>
              </a:defRPr>
            </a:pPr>
            <a:r>
              <a:rPr sz="788" b="1">
                <a:solidFill>
                  <a:srgbClr val="FFFFFF"/>
                </a:solidFill>
              </a:rPr>
              <a:t>WHY IT FITS</a:t>
            </a:r>
          </a:p>
        </p:txBody>
      </p:sp>
      <p:sp>
        <p:nvSpPr>
          <p:cNvPr id="10" name="header-3">
            <a:extLst>
              <a:ext uri="{FF2B5EF4-FFF2-40B4-BE49-F238E27FC236}">
                <a16:creationId xmlns:a16="http://schemas.microsoft.com/office/drawing/2014/main" id="{70B92578-7CAB-404F-9473-9B900109E16C}"/>
              </a:ext>
            </a:extLst>
          </p:cNvPr>
          <p:cNvSpPr>
            <a:spLocks noGrp="1"/>
          </p:cNvSpPr>
          <p:nvPr/>
        </p:nvSpPr>
        <p:spPr>
          <a:xfrm>
            <a:off x="8258175" y="1514475"/>
            <a:ext cx="3248025" cy="161925"/>
          </a:xfrm>
          <a:prstGeom prst="rect">
            <a:avLst/>
          </a:prstGeom>
          <a:noFill/>
          <a:ln w="0">
            <a:noFill/>
            <a:prstDash val="solid"/>
          </a:ln>
        </p:spPr>
        <p:txBody>
          <a:bodyPr/>
          <a:lstStyle/>
          <a:p>
            <a:pPr>
              <a:defRPr sz="788" b="1">
                <a:solidFill>
                  <a:srgbClr val="FFFFFF"/>
                </a:solidFill>
              </a:defRPr>
            </a:pPr>
            <a:r>
              <a:rPr sz="788" b="1">
                <a:solidFill>
                  <a:srgbClr val="FFFFFF"/>
                </a:solidFill>
              </a:rPr>
              <a:t>TRADE-OFF / MITIGATION</a:t>
            </a:r>
          </a:p>
        </p:txBody>
      </p:sp>
      <p:pic>
        <p:nvPicPr>
          <p:cNvPr id="80" name="Picture 79"/>
          <p:cNvPicPr>
            <a:picLocks noChangeAspect="1"/>
          </p:cNvPicPr>
          <p:nvPr/>
        </p:nvPicPr>
        <p:blipFill>
          <a:blip r:embed="rId3"/>
          <a:stretch/>
        </p:blipFill>
        <p:spPr>
          <a:xfrm>
            <a:off x="676275" y="1866900"/>
            <a:ext cx="285750" cy="285750"/>
          </a:xfrm>
          <a:prstGeom prst="rect">
            <a:avLst/>
          </a:prstGeom>
        </p:spPr>
      </p:pic>
      <p:sp>
        <p:nvSpPr>
          <p:cNvPr id="12" name="service-0">
            <a:extLst>
              <a:ext uri="{FF2B5EF4-FFF2-40B4-BE49-F238E27FC236}">
                <a16:creationId xmlns:a16="http://schemas.microsoft.com/office/drawing/2014/main" id="{20C8CDA1-76D1-4FF8-9A28-86029AFF6177}"/>
              </a:ext>
            </a:extLst>
          </p:cNvPr>
          <p:cNvSpPr>
            <a:spLocks noGrp="1"/>
          </p:cNvSpPr>
          <p:nvPr/>
        </p:nvSpPr>
        <p:spPr>
          <a:xfrm>
            <a:off x="1047750" y="1914525"/>
            <a:ext cx="1743075" cy="219075"/>
          </a:xfrm>
          <a:prstGeom prst="rect">
            <a:avLst/>
          </a:prstGeom>
          <a:noFill/>
          <a:ln w="0">
            <a:noFill/>
            <a:prstDash val="solid"/>
          </a:ln>
        </p:spPr>
        <p:txBody>
          <a:bodyPr/>
          <a:lstStyle/>
          <a:p>
            <a:pPr>
              <a:defRPr sz="938" b="1">
                <a:solidFill>
                  <a:srgbClr val="183B56"/>
                </a:solidFill>
              </a:defRPr>
            </a:pPr>
            <a:r>
              <a:rPr sz="938" b="1">
                <a:solidFill>
                  <a:srgbClr val="183B56"/>
                </a:solidFill>
              </a:rPr>
              <a:t>CloudFront + S3</a:t>
            </a:r>
          </a:p>
        </p:txBody>
      </p:sp>
      <p:sp>
        <p:nvSpPr>
          <p:cNvPr id="13" name="role-0">
            <a:extLst>
              <a:ext uri="{FF2B5EF4-FFF2-40B4-BE49-F238E27FC236}">
                <a16:creationId xmlns:a16="http://schemas.microsoft.com/office/drawing/2014/main" id="{BB2E93AF-A3EF-4CBF-8369-2DCE957E4E1E}"/>
              </a:ext>
            </a:extLst>
          </p:cNvPr>
          <p:cNvSpPr>
            <a:spLocks noGrp="1"/>
          </p:cNvSpPr>
          <p:nvPr/>
        </p:nvSpPr>
        <p:spPr>
          <a:xfrm>
            <a:off x="3019425" y="1866900"/>
            <a:ext cx="2009775" cy="323850"/>
          </a:xfrm>
          <a:prstGeom prst="rect">
            <a:avLst/>
          </a:prstGeom>
          <a:noFill/>
          <a:ln w="0">
            <a:noFill/>
            <a:prstDash val="solid"/>
          </a:ln>
        </p:spPr>
        <p:txBody>
          <a:bodyPr/>
          <a:lstStyle/>
          <a:p>
            <a:pPr>
              <a:defRPr sz="863" b="1">
                <a:solidFill>
                  <a:srgbClr val="36586F"/>
                </a:solidFill>
              </a:defRPr>
            </a:pPr>
            <a:r>
              <a:rPr sz="863" b="1">
                <a:solidFill>
                  <a:srgbClr val="36586F"/>
                </a:solidFill>
              </a:rPr>
              <a:t>Customer web delivery</a:t>
            </a:r>
          </a:p>
        </p:txBody>
      </p:sp>
      <p:sp>
        <p:nvSpPr>
          <p:cNvPr id="14" name="why-0">
            <a:extLst>
              <a:ext uri="{FF2B5EF4-FFF2-40B4-BE49-F238E27FC236}">
                <a16:creationId xmlns:a16="http://schemas.microsoft.com/office/drawing/2014/main" id="{52E58E48-306E-4CF6-ABA3-CFA1E4EAAFB3}"/>
              </a:ext>
            </a:extLst>
          </p:cNvPr>
          <p:cNvSpPr>
            <a:spLocks noGrp="1"/>
          </p:cNvSpPr>
          <p:nvPr/>
        </p:nvSpPr>
        <p:spPr>
          <a:xfrm>
            <a:off x="5257800" y="1828800"/>
            <a:ext cx="2771775" cy="390525"/>
          </a:xfrm>
          <a:prstGeom prst="rect">
            <a:avLst/>
          </a:prstGeom>
          <a:noFill/>
          <a:ln w="0">
            <a:noFill/>
            <a:prstDash val="solid"/>
          </a:ln>
        </p:spPr>
        <p:txBody>
          <a:bodyPr/>
          <a:lstStyle/>
          <a:p>
            <a:pPr>
              <a:defRPr sz="810">
                <a:solidFill>
                  <a:srgbClr val="36586F"/>
                </a:solidFill>
              </a:defRPr>
            </a:pPr>
            <a:r>
              <a:rPr sz="810">
                <a:solidFill>
                  <a:srgbClr val="36586F"/>
                </a:solidFill>
              </a:rPr>
              <a:t>Global, low-latency delivery for a responsive SPA at national scale.</a:t>
            </a:r>
          </a:p>
        </p:txBody>
      </p:sp>
      <p:sp>
        <p:nvSpPr>
          <p:cNvPr id="15" name="trade-0">
            <a:extLst>
              <a:ext uri="{FF2B5EF4-FFF2-40B4-BE49-F238E27FC236}">
                <a16:creationId xmlns:a16="http://schemas.microsoft.com/office/drawing/2014/main" id="{61399467-B79A-45B9-99CC-BAF1C0ACF974}"/>
              </a:ext>
            </a:extLst>
          </p:cNvPr>
          <p:cNvSpPr>
            <a:spLocks noGrp="1"/>
          </p:cNvSpPr>
          <p:nvPr/>
        </p:nvSpPr>
        <p:spPr>
          <a:xfrm>
            <a:off x="8258175" y="1828800"/>
            <a:ext cx="3248025" cy="390525"/>
          </a:xfrm>
          <a:prstGeom prst="rect">
            <a:avLst/>
          </a:prstGeom>
          <a:noFill/>
          <a:ln w="0">
            <a:noFill/>
            <a:prstDash val="solid"/>
          </a:ln>
        </p:spPr>
        <p:txBody>
          <a:bodyPr/>
          <a:lstStyle/>
          <a:p>
            <a:pPr>
              <a:defRPr sz="810">
                <a:solidFill>
                  <a:srgbClr val="36586F"/>
                </a:solidFill>
              </a:defRPr>
            </a:pPr>
            <a:r>
              <a:rPr sz="810">
                <a:solidFill>
                  <a:srgbClr val="36586F"/>
                </a:solidFill>
              </a:rPr>
              <a:t>Cached assets can become stale. Use versioned files, controlled TTLs, and targeted invalidation.</a:t>
            </a:r>
          </a:p>
        </p:txBody>
      </p:sp>
      <p:sp>
        <p:nvSpPr>
          <p:cNvPr id="16" name="row-fill-1">
            <a:extLst>
              <a:ext uri="{FF2B5EF4-FFF2-40B4-BE49-F238E27FC236}">
                <a16:creationId xmlns:a16="http://schemas.microsoft.com/office/drawing/2014/main" id="{BF8CE365-55FB-442A-8FD2-06BDEA689E53}"/>
              </a:ext>
            </a:extLst>
          </p:cNvPr>
          <p:cNvSpPr>
            <a:spLocks noGrp="1"/>
          </p:cNvSpPr>
          <p:nvPr/>
        </p:nvSpPr>
        <p:spPr>
          <a:xfrm>
            <a:off x="581025" y="2276475"/>
            <a:ext cx="11029950" cy="523875"/>
          </a:xfrm>
          <a:prstGeom prst="rect">
            <a:avLst/>
          </a:prstGeom>
          <a:solidFill>
            <a:srgbClr val="F4F8FA"/>
          </a:solidFill>
          <a:ln w="0">
            <a:noFill/>
            <a:prstDash val="solid"/>
          </a:ln>
        </p:spPr>
        <p:txBody>
          <a:bodyPr/>
          <a:lstStyle/>
          <a:p>
            <a:endParaRPr lang="en-US"/>
          </a:p>
        </p:txBody>
      </p:sp>
      <p:sp>
        <p:nvSpPr>
          <p:cNvPr id="17" name="row-rule-1">
            <a:extLst>
              <a:ext uri="{FF2B5EF4-FFF2-40B4-BE49-F238E27FC236}">
                <a16:creationId xmlns:a16="http://schemas.microsoft.com/office/drawing/2014/main" id="{575DF698-0A60-4F6A-A41E-874C4E89B5C4}"/>
              </a:ext>
            </a:extLst>
          </p:cNvPr>
          <p:cNvSpPr>
            <a:spLocks noGrp="1"/>
          </p:cNvSpPr>
          <p:nvPr/>
        </p:nvSpPr>
        <p:spPr>
          <a:xfrm>
            <a:off x="571500" y="2276475"/>
            <a:ext cx="11049000" cy="9525"/>
          </a:xfrm>
          <a:prstGeom prst="rect">
            <a:avLst/>
          </a:prstGeom>
          <a:solidFill>
            <a:srgbClr val="DCE6EC"/>
          </a:solidFill>
          <a:ln w="0">
            <a:solidFill>
              <a:srgbClr val="DCE6EC"/>
            </a:solidFill>
            <a:prstDash val="solid"/>
          </a:ln>
        </p:spPr>
        <p:txBody>
          <a:bodyPr/>
          <a:lstStyle/>
          <a:p>
            <a:endParaRPr lang="en-US"/>
          </a:p>
        </p:txBody>
      </p:sp>
      <p:pic>
        <p:nvPicPr>
          <p:cNvPr id="87" name="Picture 86"/>
          <p:cNvPicPr>
            <a:picLocks noChangeAspect="1"/>
          </p:cNvPicPr>
          <p:nvPr/>
        </p:nvPicPr>
        <p:blipFill>
          <a:blip r:embed="rId4"/>
          <a:stretch/>
        </p:blipFill>
        <p:spPr>
          <a:xfrm>
            <a:off x="676275" y="2390775"/>
            <a:ext cx="285750" cy="285750"/>
          </a:xfrm>
          <a:prstGeom prst="rect">
            <a:avLst/>
          </a:prstGeom>
        </p:spPr>
      </p:pic>
      <p:sp>
        <p:nvSpPr>
          <p:cNvPr id="19" name="service-1">
            <a:extLst>
              <a:ext uri="{FF2B5EF4-FFF2-40B4-BE49-F238E27FC236}">
                <a16:creationId xmlns:a16="http://schemas.microsoft.com/office/drawing/2014/main" id="{1DE694E0-512C-432A-8F95-0E741408D6DA}"/>
              </a:ext>
            </a:extLst>
          </p:cNvPr>
          <p:cNvSpPr>
            <a:spLocks noGrp="1"/>
          </p:cNvSpPr>
          <p:nvPr/>
        </p:nvSpPr>
        <p:spPr>
          <a:xfrm>
            <a:off x="1047750" y="2438400"/>
            <a:ext cx="1743075" cy="219075"/>
          </a:xfrm>
          <a:prstGeom prst="rect">
            <a:avLst/>
          </a:prstGeom>
          <a:noFill/>
          <a:ln w="0">
            <a:noFill/>
            <a:prstDash val="solid"/>
          </a:ln>
        </p:spPr>
        <p:txBody>
          <a:bodyPr/>
          <a:lstStyle/>
          <a:p>
            <a:pPr>
              <a:defRPr sz="938" b="1">
                <a:solidFill>
                  <a:srgbClr val="183B56"/>
                </a:solidFill>
              </a:defRPr>
            </a:pPr>
            <a:r>
              <a:rPr sz="938" b="1">
                <a:solidFill>
                  <a:srgbClr val="183B56"/>
                </a:solidFill>
              </a:rPr>
              <a:t>API Gateway</a:t>
            </a:r>
          </a:p>
        </p:txBody>
      </p:sp>
      <p:sp>
        <p:nvSpPr>
          <p:cNvPr id="20" name="role-1">
            <a:extLst>
              <a:ext uri="{FF2B5EF4-FFF2-40B4-BE49-F238E27FC236}">
                <a16:creationId xmlns:a16="http://schemas.microsoft.com/office/drawing/2014/main" id="{FEC980CE-A3F7-4811-A1C3-D0A3F448CE74}"/>
              </a:ext>
            </a:extLst>
          </p:cNvPr>
          <p:cNvSpPr>
            <a:spLocks noGrp="1"/>
          </p:cNvSpPr>
          <p:nvPr/>
        </p:nvSpPr>
        <p:spPr>
          <a:xfrm>
            <a:off x="3019425" y="2390775"/>
            <a:ext cx="2009775" cy="323850"/>
          </a:xfrm>
          <a:prstGeom prst="rect">
            <a:avLst/>
          </a:prstGeom>
          <a:noFill/>
          <a:ln w="0">
            <a:noFill/>
            <a:prstDash val="solid"/>
          </a:ln>
        </p:spPr>
        <p:txBody>
          <a:bodyPr/>
          <a:lstStyle/>
          <a:p>
            <a:pPr>
              <a:defRPr sz="863" b="1">
                <a:solidFill>
                  <a:srgbClr val="36586F"/>
                </a:solidFill>
              </a:defRPr>
            </a:pPr>
            <a:r>
              <a:rPr sz="863" b="1">
                <a:solidFill>
                  <a:srgbClr val="36586F"/>
                </a:solidFill>
              </a:rPr>
              <a:t>Public REST entry point</a:t>
            </a:r>
          </a:p>
        </p:txBody>
      </p:sp>
      <p:sp>
        <p:nvSpPr>
          <p:cNvPr id="21" name="why-1">
            <a:extLst>
              <a:ext uri="{FF2B5EF4-FFF2-40B4-BE49-F238E27FC236}">
                <a16:creationId xmlns:a16="http://schemas.microsoft.com/office/drawing/2014/main" id="{2F1C25C4-9849-48A5-BB9C-22C631342CA1}"/>
              </a:ext>
            </a:extLst>
          </p:cNvPr>
          <p:cNvSpPr>
            <a:spLocks noGrp="1"/>
          </p:cNvSpPr>
          <p:nvPr/>
        </p:nvSpPr>
        <p:spPr>
          <a:xfrm>
            <a:off x="5257800" y="2352675"/>
            <a:ext cx="2771775" cy="390525"/>
          </a:xfrm>
          <a:prstGeom prst="rect">
            <a:avLst/>
          </a:prstGeom>
          <a:noFill/>
          <a:ln w="0">
            <a:noFill/>
            <a:prstDash val="solid"/>
          </a:ln>
        </p:spPr>
        <p:txBody>
          <a:bodyPr/>
          <a:lstStyle/>
          <a:p>
            <a:pPr>
              <a:defRPr sz="810">
                <a:solidFill>
                  <a:srgbClr val="36586F"/>
                </a:solidFill>
              </a:defRPr>
            </a:pPr>
            <a:r>
              <a:rPr sz="810">
                <a:solidFill>
                  <a:srgbClr val="36586F"/>
                </a:solidFill>
              </a:rPr>
              <a:t>Managed authentication, throttling, quotas, validation, and API lifecycle controls.</a:t>
            </a:r>
          </a:p>
        </p:txBody>
      </p:sp>
      <p:sp>
        <p:nvSpPr>
          <p:cNvPr id="22" name="trade-1">
            <a:extLst>
              <a:ext uri="{FF2B5EF4-FFF2-40B4-BE49-F238E27FC236}">
                <a16:creationId xmlns:a16="http://schemas.microsoft.com/office/drawing/2014/main" id="{DCD9B600-9F27-46B2-B88C-D780F10151E7}"/>
              </a:ext>
            </a:extLst>
          </p:cNvPr>
          <p:cNvSpPr>
            <a:spLocks noGrp="1"/>
          </p:cNvSpPr>
          <p:nvPr/>
        </p:nvSpPr>
        <p:spPr>
          <a:xfrm>
            <a:off x="8258175" y="2352675"/>
            <a:ext cx="3248025" cy="390525"/>
          </a:xfrm>
          <a:prstGeom prst="rect">
            <a:avLst/>
          </a:prstGeom>
          <a:noFill/>
          <a:ln w="0">
            <a:noFill/>
            <a:prstDash val="solid"/>
          </a:ln>
        </p:spPr>
        <p:txBody>
          <a:bodyPr/>
          <a:lstStyle/>
          <a:p>
            <a:pPr>
              <a:defRPr sz="810">
                <a:solidFill>
                  <a:srgbClr val="36586F"/>
                </a:solidFill>
              </a:defRPr>
            </a:pPr>
            <a:r>
              <a:rPr sz="810">
                <a:solidFill>
                  <a:srgbClr val="36586F"/>
                </a:solidFill>
              </a:rPr>
              <a:t>Per-request cost and service limits. Set payload/time budgets and usage plans; keep long work asynchronous.</a:t>
            </a:r>
          </a:p>
        </p:txBody>
      </p:sp>
      <p:sp>
        <p:nvSpPr>
          <p:cNvPr id="23" name="row-rule-2">
            <a:extLst>
              <a:ext uri="{FF2B5EF4-FFF2-40B4-BE49-F238E27FC236}">
                <a16:creationId xmlns:a16="http://schemas.microsoft.com/office/drawing/2014/main" id="{5C0E1A89-7A6A-4EF0-842F-E7EF0D95FF5B}"/>
              </a:ext>
            </a:extLst>
          </p:cNvPr>
          <p:cNvSpPr>
            <a:spLocks noGrp="1"/>
          </p:cNvSpPr>
          <p:nvPr/>
        </p:nvSpPr>
        <p:spPr>
          <a:xfrm>
            <a:off x="571500" y="2800350"/>
            <a:ext cx="11049000" cy="9525"/>
          </a:xfrm>
          <a:prstGeom prst="rect">
            <a:avLst/>
          </a:prstGeom>
          <a:solidFill>
            <a:srgbClr val="DCE6EC"/>
          </a:solidFill>
          <a:ln w="0">
            <a:solidFill>
              <a:srgbClr val="DCE6EC"/>
            </a:solidFill>
            <a:prstDash val="solid"/>
          </a:ln>
        </p:spPr>
        <p:txBody>
          <a:bodyPr/>
          <a:lstStyle/>
          <a:p>
            <a:endParaRPr lang="en-US"/>
          </a:p>
        </p:txBody>
      </p:sp>
      <p:pic>
        <p:nvPicPr>
          <p:cNvPr id="93" name="Picture 92"/>
          <p:cNvPicPr>
            <a:picLocks noChangeAspect="1"/>
          </p:cNvPicPr>
          <p:nvPr/>
        </p:nvPicPr>
        <p:blipFill>
          <a:blip r:embed="rId5"/>
          <a:stretch/>
        </p:blipFill>
        <p:spPr>
          <a:xfrm>
            <a:off x="676275" y="2914650"/>
            <a:ext cx="285750" cy="285750"/>
          </a:xfrm>
          <a:prstGeom prst="rect">
            <a:avLst/>
          </a:prstGeom>
        </p:spPr>
      </p:pic>
      <p:sp>
        <p:nvSpPr>
          <p:cNvPr id="25" name="service-2">
            <a:extLst>
              <a:ext uri="{FF2B5EF4-FFF2-40B4-BE49-F238E27FC236}">
                <a16:creationId xmlns:a16="http://schemas.microsoft.com/office/drawing/2014/main" id="{72D1C0E1-ED1F-48C0-B1FC-27F5D723C45D}"/>
              </a:ext>
            </a:extLst>
          </p:cNvPr>
          <p:cNvSpPr>
            <a:spLocks noGrp="1"/>
          </p:cNvSpPr>
          <p:nvPr/>
        </p:nvSpPr>
        <p:spPr>
          <a:xfrm>
            <a:off x="1047750" y="2962275"/>
            <a:ext cx="1743075" cy="219075"/>
          </a:xfrm>
          <a:prstGeom prst="rect">
            <a:avLst/>
          </a:prstGeom>
          <a:noFill/>
          <a:ln w="0">
            <a:noFill/>
            <a:prstDash val="solid"/>
          </a:ln>
        </p:spPr>
        <p:txBody>
          <a:bodyPr/>
          <a:lstStyle/>
          <a:p>
            <a:pPr>
              <a:defRPr sz="938" b="1">
                <a:solidFill>
                  <a:srgbClr val="183B56"/>
                </a:solidFill>
              </a:defRPr>
            </a:pPr>
            <a:r>
              <a:rPr sz="938" b="1">
                <a:solidFill>
                  <a:srgbClr val="183B56"/>
                </a:solidFill>
              </a:rPr>
              <a:t>Cognito + authorizers</a:t>
            </a:r>
          </a:p>
        </p:txBody>
      </p:sp>
      <p:sp>
        <p:nvSpPr>
          <p:cNvPr id="26" name="role-2">
            <a:extLst>
              <a:ext uri="{FF2B5EF4-FFF2-40B4-BE49-F238E27FC236}">
                <a16:creationId xmlns:a16="http://schemas.microsoft.com/office/drawing/2014/main" id="{80706F6F-3419-47D6-86EC-9D0BF469B0F6}"/>
              </a:ext>
            </a:extLst>
          </p:cNvPr>
          <p:cNvSpPr>
            <a:spLocks noGrp="1"/>
          </p:cNvSpPr>
          <p:nvPr/>
        </p:nvSpPr>
        <p:spPr>
          <a:xfrm>
            <a:off x="3019425" y="2914650"/>
            <a:ext cx="2009775" cy="323850"/>
          </a:xfrm>
          <a:prstGeom prst="rect">
            <a:avLst/>
          </a:prstGeom>
          <a:noFill/>
          <a:ln w="0">
            <a:noFill/>
            <a:prstDash val="solid"/>
          </a:ln>
        </p:spPr>
        <p:txBody>
          <a:bodyPr/>
          <a:lstStyle/>
          <a:p>
            <a:pPr>
              <a:defRPr sz="863" b="1">
                <a:solidFill>
                  <a:srgbClr val="36586F"/>
                </a:solidFill>
              </a:defRPr>
            </a:pPr>
            <a:r>
              <a:rPr sz="863" b="1">
                <a:solidFill>
                  <a:srgbClr val="36586F"/>
                </a:solidFill>
              </a:rPr>
              <a:t>Customer and dealer identity</a:t>
            </a:r>
          </a:p>
        </p:txBody>
      </p:sp>
      <p:sp>
        <p:nvSpPr>
          <p:cNvPr id="27" name="why-2">
            <a:extLst>
              <a:ext uri="{FF2B5EF4-FFF2-40B4-BE49-F238E27FC236}">
                <a16:creationId xmlns:a16="http://schemas.microsoft.com/office/drawing/2014/main" id="{8BD75A27-2686-4C0B-BDEC-1DFB4DE59B33}"/>
              </a:ext>
            </a:extLst>
          </p:cNvPr>
          <p:cNvSpPr>
            <a:spLocks noGrp="1"/>
          </p:cNvSpPr>
          <p:nvPr/>
        </p:nvSpPr>
        <p:spPr>
          <a:xfrm>
            <a:off x="5257800" y="2876550"/>
            <a:ext cx="2771775" cy="390525"/>
          </a:xfrm>
          <a:prstGeom prst="rect">
            <a:avLst/>
          </a:prstGeom>
          <a:noFill/>
          <a:ln w="0">
            <a:noFill/>
            <a:prstDash val="solid"/>
          </a:ln>
        </p:spPr>
        <p:txBody>
          <a:bodyPr/>
          <a:lstStyle/>
          <a:p>
            <a:pPr>
              <a:defRPr sz="810">
                <a:solidFill>
                  <a:srgbClr val="36586F"/>
                </a:solidFill>
              </a:defRPr>
            </a:pPr>
            <a:r>
              <a:rPr sz="810">
                <a:solidFill>
                  <a:srgbClr val="36586F"/>
                </a:solidFill>
              </a:rPr>
              <a:t>Native JWT for normal customer APIs; custom dealer, legacy-token, or entitlement logic only when required.</a:t>
            </a:r>
          </a:p>
        </p:txBody>
      </p:sp>
      <p:sp>
        <p:nvSpPr>
          <p:cNvPr id="28" name="trade-2">
            <a:extLst>
              <a:ext uri="{FF2B5EF4-FFF2-40B4-BE49-F238E27FC236}">
                <a16:creationId xmlns:a16="http://schemas.microsoft.com/office/drawing/2014/main" id="{D65F66BE-3874-4CE4-BAF9-368122F153F4}"/>
              </a:ext>
            </a:extLst>
          </p:cNvPr>
          <p:cNvSpPr>
            <a:spLocks noGrp="1"/>
          </p:cNvSpPr>
          <p:nvPr/>
        </p:nvSpPr>
        <p:spPr>
          <a:xfrm>
            <a:off x="8258175" y="2876550"/>
            <a:ext cx="3248025" cy="390525"/>
          </a:xfrm>
          <a:prstGeom prst="rect">
            <a:avLst/>
          </a:prstGeom>
          <a:noFill/>
          <a:ln w="0">
            <a:noFill/>
            <a:prstDash val="solid"/>
          </a:ln>
        </p:spPr>
        <p:txBody>
          <a:bodyPr/>
          <a:lstStyle/>
          <a:p>
            <a:pPr>
              <a:defRPr sz="810">
                <a:solidFill>
                  <a:srgbClr val="36586F"/>
                </a:solidFill>
              </a:defRPr>
            </a:pPr>
            <a:r>
              <a:rPr sz="810">
                <a:solidFill>
                  <a:srgbClr val="36586F"/>
                </a:solidFill>
              </a:rPr>
              <a:t>Custom authorizers add latency and cache risk. Keep their use narrow and recheck dealer scope in services.</a:t>
            </a:r>
          </a:p>
        </p:txBody>
      </p:sp>
      <p:sp>
        <p:nvSpPr>
          <p:cNvPr id="29" name="row-fill-3">
            <a:extLst>
              <a:ext uri="{FF2B5EF4-FFF2-40B4-BE49-F238E27FC236}">
                <a16:creationId xmlns:a16="http://schemas.microsoft.com/office/drawing/2014/main" id="{9E43BB32-CA5A-4AA7-88CC-3D5BDA39A730}"/>
              </a:ext>
            </a:extLst>
          </p:cNvPr>
          <p:cNvSpPr>
            <a:spLocks noGrp="1"/>
          </p:cNvSpPr>
          <p:nvPr/>
        </p:nvSpPr>
        <p:spPr>
          <a:xfrm>
            <a:off x="581025" y="3324225"/>
            <a:ext cx="11029950" cy="523875"/>
          </a:xfrm>
          <a:prstGeom prst="rect">
            <a:avLst/>
          </a:prstGeom>
          <a:solidFill>
            <a:srgbClr val="F4F8FA"/>
          </a:solidFill>
          <a:ln w="0">
            <a:noFill/>
            <a:prstDash val="solid"/>
          </a:ln>
        </p:spPr>
        <p:txBody>
          <a:bodyPr/>
          <a:lstStyle/>
          <a:p>
            <a:endParaRPr lang="en-US"/>
          </a:p>
        </p:txBody>
      </p:sp>
      <p:sp>
        <p:nvSpPr>
          <p:cNvPr id="30" name="row-rule-3">
            <a:extLst>
              <a:ext uri="{FF2B5EF4-FFF2-40B4-BE49-F238E27FC236}">
                <a16:creationId xmlns:a16="http://schemas.microsoft.com/office/drawing/2014/main" id="{F67A365E-40DA-46D4-9BC4-A41AF80246AE}"/>
              </a:ext>
            </a:extLst>
          </p:cNvPr>
          <p:cNvSpPr>
            <a:spLocks noGrp="1"/>
          </p:cNvSpPr>
          <p:nvPr/>
        </p:nvSpPr>
        <p:spPr>
          <a:xfrm>
            <a:off x="571500" y="3324225"/>
            <a:ext cx="11049000" cy="9525"/>
          </a:xfrm>
          <a:prstGeom prst="rect">
            <a:avLst/>
          </a:prstGeom>
          <a:solidFill>
            <a:srgbClr val="DCE6EC"/>
          </a:solidFill>
          <a:ln w="0">
            <a:solidFill>
              <a:srgbClr val="DCE6EC"/>
            </a:solidFill>
            <a:prstDash val="solid"/>
          </a:ln>
        </p:spPr>
        <p:txBody>
          <a:bodyPr/>
          <a:lstStyle/>
          <a:p>
            <a:endParaRPr lang="en-US"/>
          </a:p>
        </p:txBody>
      </p:sp>
      <p:pic>
        <p:nvPicPr>
          <p:cNvPr id="100" name="Picture 99"/>
          <p:cNvPicPr>
            <a:picLocks noChangeAspect="1"/>
          </p:cNvPicPr>
          <p:nvPr/>
        </p:nvPicPr>
        <p:blipFill>
          <a:blip r:embed="rId6"/>
          <a:stretch/>
        </p:blipFill>
        <p:spPr>
          <a:xfrm>
            <a:off x="676275" y="3438525"/>
            <a:ext cx="285750" cy="285750"/>
          </a:xfrm>
          <a:prstGeom prst="rect">
            <a:avLst/>
          </a:prstGeom>
        </p:spPr>
      </p:pic>
      <p:sp>
        <p:nvSpPr>
          <p:cNvPr id="32" name="service-3">
            <a:extLst>
              <a:ext uri="{FF2B5EF4-FFF2-40B4-BE49-F238E27FC236}">
                <a16:creationId xmlns:a16="http://schemas.microsoft.com/office/drawing/2014/main" id="{7C47282C-F028-4E14-AD39-CC48ABD78528}"/>
              </a:ext>
            </a:extLst>
          </p:cNvPr>
          <p:cNvSpPr>
            <a:spLocks noGrp="1"/>
          </p:cNvSpPr>
          <p:nvPr/>
        </p:nvSpPr>
        <p:spPr>
          <a:xfrm>
            <a:off x="1047750" y="3486150"/>
            <a:ext cx="1743075" cy="219075"/>
          </a:xfrm>
          <a:prstGeom prst="rect">
            <a:avLst/>
          </a:prstGeom>
          <a:noFill/>
          <a:ln w="0">
            <a:noFill/>
            <a:prstDash val="solid"/>
          </a:ln>
        </p:spPr>
        <p:txBody>
          <a:bodyPr/>
          <a:lstStyle/>
          <a:p>
            <a:pPr>
              <a:defRPr sz="938" b="1">
                <a:solidFill>
                  <a:srgbClr val="183B56"/>
                </a:solidFill>
              </a:defRPr>
            </a:pPr>
            <a:r>
              <a:rPr sz="938" b="1">
                <a:solidFill>
                  <a:srgbClr val="183B56"/>
                </a:solidFill>
              </a:rPr>
              <a:t>Lambda + Step Functions</a:t>
            </a:r>
          </a:p>
        </p:txBody>
      </p:sp>
      <p:sp>
        <p:nvSpPr>
          <p:cNvPr id="33" name="role-3">
            <a:extLst>
              <a:ext uri="{FF2B5EF4-FFF2-40B4-BE49-F238E27FC236}">
                <a16:creationId xmlns:a16="http://schemas.microsoft.com/office/drawing/2014/main" id="{7D928396-F36F-4515-8985-EED778F11C74}"/>
              </a:ext>
            </a:extLst>
          </p:cNvPr>
          <p:cNvSpPr>
            <a:spLocks noGrp="1"/>
          </p:cNvSpPr>
          <p:nvPr/>
        </p:nvSpPr>
        <p:spPr>
          <a:xfrm>
            <a:off x="3019425" y="3438525"/>
            <a:ext cx="2009775" cy="323850"/>
          </a:xfrm>
          <a:prstGeom prst="rect">
            <a:avLst/>
          </a:prstGeom>
          <a:noFill/>
          <a:ln w="0">
            <a:noFill/>
            <a:prstDash val="solid"/>
          </a:ln>
        </p:spPr>
        <p:txBody>
          <a:bodyPr/>
          <a:lstStyle/>
          <a:p>
            <a:pPr>
              <a:defRPr sz="863" b="1">
                <a:solidFill>
                  <a:srgbClr val="36586F"/>
                </a:solidFill>
              </a:defRPr>
            </a:pPr>
            <a:r>
              <a:rPr sz="863" b="1">
                <a:solidFill>
                  <a:srgbClr val="36586F"/>
                </a:solidFill>
              </a:rPr>
              <a:t>Bursty APIs and booking saga</a:t>
            </a:r>
          </a:p>
        </p:txBody>
      </p:sp>
      <p:sp>
        <p:nvSpPr>
          <p:cNvPr id="34" name="why-3">
            <a:extLst>
              <a:ext uri="{FF2B5EF4-FFF2-40B4-BE49-F238E27FC236}">
                <a16:creationId xmlns:a16="http://schemas.microsoft.com/office/drawing/2014/main" id="{5A7531ED-D911-4198-81DF-3B49785DAD1B}"/>
              </a:ext>
            </a:extLst>
          </p:cNvPr>
          <p:cNvSpPr>
            <a:spLocks noGrp="1"/>
          </p:cNvSpPr>
          <p:nvPr/>
        </p:nvSpPr>
        <p:spPr>
          <a:xfrm>
            <a:off x="5257800" y="3400425"/>
            <a:ext cx="2771775" cy="390525"/>
          </a:xfrm>
          <a:prstGeom prst="rect">
            <a:avLst/>
          </a:prstGeom>
          <a:noFill/>
          <a:ln w="0">
            <a:noFill/>
            <a:prstDash val="solid"/>
          </a:ln>
        </p:spPr>
        <p:txBody>
          <a:bodyPr/>
          <a:lstStyle/>
          <a:p>
            <a:pPr>
              <a:defRPr sz="810">
                <a:solidFill>
                  <a:srgbClr val="36586F"/>
                </a:solidFill>
              </a:defRPr>
            </a:pPr>
            <a:r>
              <a:rPr sz="810">
                <a:solidFill>
                  <a:srgbClr val="36586F"/>
                </a:solidFill>
              </a:rPr>
              <a:t>Elastic, pay-per-use execution with explicit workflow state, retries, and compensation.</a:t>
            </a:r>
          </a:p>
        </p:txBody>
      </p:sp>
      <p:sp>
        <p:nvSpPr>
          <p:cNvPr id="35" name="trade-3">
            <a:extLst>
              <a:ext uri="{FF2B5EF4-FFF2-40B4-BE49-F238E27FC236}">
                <a16:creationId xmlns:a16="http://schemas.microsoft.com/office/drawing/2014/main" id="{C203825C-F5B8-48B7-8664-2E54312B7A4F}"/>
              </a:ext>
            </a:extLst>
          </p:cNvPr>
          <p:cNvSpPr>
            <a:spLocks noGrp="1"/>
          </p:cNvSpPr>
          <p:nvPr/>
        </p:nvSpPr>
        <p:spPr>
          <a:xfrm>
            <a:off x="8258175" y="3400425"/>
            <a:ext cx="3248025" cy="390525"/>
          </a:xfrm>
          <a:prstGeom prst="rect">
            <a:avLst/>
          </a:prstGeom>
          <a:noFill/>
          <a:ln w="0">
            <a:noFill/>
            <a:prstDash val="solid"/>
          </a:ln>
        </p:spPr>
        <p:txBody>
          <a:bodyPr/>
          <a:lstStyle/>
          <a:p>
            <a:pPr>
              <a:defRPr sz="810">
                <a:solidFill>
                  <a:srgbClr val="36586F"/>
                </a:solidFill>
              </a:defRPr>
            </a:pPr>
            <a:r>
              <a:rPr sz="810">
                <a:solidFill>
                  <a:srgbClr val="36586F"/>
                </a:solidFill>
              </a:rPr>
              <a:t>Cold starts, duration limits, and workflow charges. Keep functions short and idempotent; containerize persistent work.</a:t>
            </a:r>
          </a:p>
        </p:txBody>
      </p:sp>
      <p:sp>
        <p:nvSpPr>
          <p:cNvPr id="36" name="row-rule-4">
            <a:extLst>
              <a:ext uri="{FF2B5EF4-FFF2-40B4-BE49-F238E27FC236}">
                <a16:creationId xmlns:a16="http://schemas.microsoft.com/office/drawing/2014/main" id="{0655A301-58A3-4821-B5FA-91CB3FBA664F}"/>
              </a:ext>
            </a:extLst>
          </p:cNvPr>
          <p:cNvSpPr>
            <a:spLocks noGrp="1"/>
          </p:cNvSpPr>
          <p:nvPr/>
        </p:nvSpPr>
        <p:spPr>
          <a:xfrm>
            <a:off x="571500" y="3848100"/>
            <a:ext cx="11049000" cy="9525"/>
          </a:xfrm>
          <a:prstGeom prst="rect">
            <a:avLst/>
          </a:prstGeom>
          <a:solidFill>
            <a:srgbClr val="DCE6EC"/>
          </a:solidFill>
          <a:ln w="0">
            <a:solidFill>
              <a:srgbClr val="DCE6EC"/>
            </a:solidFill>
            <a:prstDash val="solid"/>
          </a:ln>
        </p:spPr>
        <p:txBody>
          <a:bodyPr/>
          <a:lstStyle/>
          <a:p>
            <a:endParaRPr lang="en-US"/>
          </a:p>
        </p:txBody>
      </p:sp>
      <p:pic>
        <p:nvPicPr>
          <p:cNvPr id="106" name="Picture 105"/>
          <p:cNvPicPr>
            <a:picLocks noChangeAspect="1"/>
          </p:cNvPicPr>
          <p:nvPr/>
        </p:nvPicPr>
        <p:blipFill>
          <a:blip r:embed="rId7"/>
          <a:stretch/>
        </p:blipFill>
        <p:spPr>
          <a:xfrm>
            <a:off x="676275" y="3962400"/>
            <a:ext cx="285750" cy="285750"/>
          </a:xfrm>
          <a:prstGeom prst="rect">
            <a:avLst/>
          </a:prstGeom>
        </p:spPr>
      </p:pic>
      <p:sp>
        <p:nvSpPr>
          <p:cNvPr id="38" name="service-4">
            <a:extLst>
              <a:ext uri="{FF2B5EF4-FFF2-40B4-BE49-F238E27FC236}">
                <a16:creationId xmlns:a16="http://schemas.microsoft.com/office/drawing/2014/main" id="{598052C8-7C53-4107-8B08-6BE60550860E}"/>
              </a:ext>
            </a:extLst>
          </p:cNvPr>
          <p:cNvSpPr>
            <a:spLocks noGrp="1"/>
          </p:cNvSpPr>
          <p:nvPr/>
        </p:nvSpPr>
        <p:spPr>
          <a:xfrm>
            <a:off x="1047750" y="4010025"/>
            <a:ext cx="1743075" cy="219075"/>
          </a:xfrm>
          <a:prstGeom prst="rect">
            <a:avLst/>
          </a:prstGeom>
          <a:noFill/>
          <a:ln w="0">
            <a:noFill/>
            <a:prstDash val="solid"/>
          </a:ln>
        </p:spPr>
        <p:txBody>
          <a:bodyPr/>
          <a:lstStyle/>
          <a:p>
            <a:pPr>
              <a:defRPr sz="938" b="1">
                <a:solidFill>
                  <a:srgbClr val="183B56"/>
                </a:solidFill>
              </a:defRPr>
            </a:pPr>
            <a:r>
              <a:rPr sz="938" b="1">
                <a:solidFill>
                  <a:srgbClr val="183B56"/>
                </a:solidFill>
              </a:rPr>
              <a:t>ECS on Fargate</a:t>
            </a:r>
          </a:p>
        </p:txBody>
      </p:sp>
      <p:sp>
        <p:nvSpPr>
          <p:cNvPr id="39" name="role-4">
            <a:extLst>
              <a:ext uri="{FF2B5EF4-FFF2-40B4-BE49-F238E27FC236}">
                <a16:creationId xmlns:a16="http://schemas.microsoft.com/office/drawing/2014/main" id="{6ACD593E-07DF-401C-A4A4-6A9CE1AD1DE9}"/>
              </a:ext>
            </a:extLst>
          </p:cNvPr>
          <p:cNvSpPr>
            <a:spLocks noGrp="1"/>
          </p:cNvSpPr>
          <p:nvPr/>
        </p:nvSpPr>
        <p:spPr>
          <a:xfrm>
            <a:off x="3019425" y="3962400"/>
            <a:ext cx="2009775" cy="323850"/>
          </a:xfrm>
          <a:prstGeom prst="rect">
            <a:avLst/>
          </a:prstGeom>
          <a:noFill/>
          <a:ln w="0">
            <a:noFill/>
            <a:prstDash val="solid"/>
          </a:ln>
        </p:spPr>
        <p:txBody>
          <a:bodyPr/>
          <a:lstStyle/>
          <a:p>
            <a:pPr>
              <a:defRPr sz="863" b="1">
                <a:solidFill>
                  <a:srgbClr val="36586F"/>
                </a:solidFill>
              </a:defRPr>
            </a:pPr>
            <a:r>
              <a:rPr sz="863" b="1">
                <a:solidFill>
                  <a:srgbClr val="36586F"/>
                </a:solidFill>
              </a:rPr>
              <a:t>Dealer, VIN, and mainframe adapters</a:t>
            </a:r>
          </a:p>
        </p:txBody>
      </p:sp>
      <p:sp>
        <p:nvSpPr>
          <p:cNvPr id="40" name="why-4">
            <a:extLst>
              <a:ext uri="{FF2B5EF4-FFF2-40B4-BE49-F238E27FC236}">
                <a16:creationId xmlns:a16="http://schemas.microsoft.com/office/drawing/2014/main" id="{61CA97D7-0F21-4AB8-885B-DCEE8D799F5A}"/>
              </a:ext>
            </a:extLst>
          </p:cNvPr>
          <p:cNvSpPr>
            <a:spLocks noGrp="1"/>
          </p:cNvSpPr>
          <p:nvPr/>
        </p:nvSpPr>
        <p:spPr>
          <a:xfrm>
            <a:off x="5257800" y="3924300"/>
            <a:ext cx="2771775" cy="390525"/>
          </a:xfrm>
          <a:prstGeom prst="rect">
            <a:avLst/>
          </a:prstGeom>
          <a:noFill/>
          <a:ln w="0">
            <a:noFill/>
            <a:prstDash val="solid"/>
          </a:ln>
        </p:spPr>
        <p:txBody>
          <a:bodyPr/>
          <a:lstStyle/>
          <a:p>
            <a:pPr>
              <a:defRPr sz="810">
                <a:solidFill>
                  <a:srgbClr val="36586F"/>
                </a:solidFill>
              </a:defRPr>
            </a:pPr>
            <a:r>
              <a:rPr sz="810">
                <a:solidFill>
                  <a:srgbClr val="36586F"/>
                </a:solidFill>
              </a:rPr>
              <a:t>Stable runtimes for protocol libraries, connection pools, and independently scaled integration workers.</a:t>
            </a:r>
          </a:p>
        </p:txBody>
      </p:sp>
      <p:sp>
        <p:nvSpPr>
          <p:cNvPr id="41" name="trade-4">
            <a:extLst>
              <a:ext uri="{FF2B5EF4-FFF2-40B4-BE49-F238E27FC236}">
                <a16:creationId xmlns:a16="http://schemas.microsoft.com/office/drawing/2014/main" id="{9B0886EC-08C6-4373-A09E-EB2F13F78F48}"/>
              </a:ext>
            </a:extLst>
          </p:cNvPr>
          <p:cNvSpPr>
            <a:spLocks noGrp="1"/>
          </p:cNvSpPr>
          <p:nvPr/>
        </p:nvSpPr>
        <p:spPr>
          <a:xfrm>
            <a:off x="8258175" y="3924300"/>
            <a:ext cx="3248025" cy="390525"/>
          </a:xfrm>
          <a:prstGeom prst="rect">
            <a:avLst/>
          </a:prstGeom>
          <a:noFill/>
          <a:ln w="0">
            <a:noFill/>
            <a:prstDash val="solid"/>
          </a:ln>
        </p:spPr>
        <p:txBody>
          <a:bodyPr/>
          <a:lstStyle/>
          <a:p>
            <a:pPr>
              <a:defRPr sz="810">
                <a:solidFill>
                  <a:srgbClr val="36586F"/>
                </a:solidFill>
              </a:defRPr>
            </a:pPr>
            <a:r>
              <a:rPr sz="810">
                <a:solidFill>
                  <a:srgbClr val="36586F"/>
                </a:solidFill>
              </a:rPr>
              <a:t>Baseline task cost and container operations. Use minimum tasks, autoscaling, and standardized images.</a:t>
            </a:r>
          </a:p>
        </p:txBody>
      </p:sp>
      <p:sp>
        <p:nvSpPr>
          <p:cNvPr id="42" name="row-fill-5">
            <a:extLst>
              <a:ext uri="{FF2B5EF4-FFF2-40B4-BE49-F238E27FC236}">
                <a16:creationId xmlns:a16="http://schemas.microsoft.com/office/drawing/2014/main" id="{B4BE7992-255F-489D-B3A9-8A72850D3CCA}"/>
              </a:ext>
            </a:extLst>
          </p:cNvPr>
          <p:cNvSpPr>
            <a:spLocks noGrp="1"/>
          </p:cNvSpPr>
          <p:nvPr/>
        </p:nvSpPr>
        <p:spPr>
          <a:xfrm>
            <a:off x="581025" y="4371975"/>
            <a:ext cx="11029950" cy="523875"/>
          </a:xfrm>
          <a:prstGeom prst="rect">
            <a:avLst/>
          </a:prstGeom>
          <a:solidFill>
            <a:srgbClr val="F4F8FA"/>
          </a:solidFill>
          <a:ln w="0">
            <a:noFill/>
            <a:prstDash val="solid"/>
          </a:ln>
        </p:spPr>
        <p:txBody>
          <a:bodyPr/>
          <a:lstStyle/>
          <a:p>
            <a:endParaRPr lang="en-US"/>
          </a:p>
        </p:txBody>
      </p:sp>
      <p:sp>
        <p:nvSpPr>
          <p:cNvPr id="43" name="row-rule-5">
            <a:extLst>
              <a:ext uri="{FF2B5EF4-FFF2-40B4-BE49-F238E27FC236}">
                <a16:creationId xmlns:a16="http://schemas.microsoft.com/office/drawing/2014/main" id="{F8B1E54D-2AB0-47B3-9E1E-5D41C033F696}"/>
              </a:ext>
            </a:extLst>
          </p:cNvPr>
          <p:cNvSpPr>
            <a:spLocks noGrp="1"/>
          </p:cNvSpPr>
          <p:nvPr/>
        </p:nvSpPr>
        <p:spPr>
          <a:xfrm>
            <a:off x="571500" y="4371975"/>
            <a:ext cx="11049000" cy="9525"/>
          </a:xfrm>
          <a:prstGeom prst="rect">
            <a:avLst/>
          </a:prstGeom>
          <a:solidFill>
            <a:srgbClr val="DCE6EC"/>
          </a:solidFill>
          <a:ln w="0">
            <a:solidFill>
              <a:srgbClr val="DCE6EC"/>
            </a:solidFill>
            <a:prstDash val="solid"/>
          </a:ln>
        </p:spPr>
        <p:txBody>
          <a:bodyPr/>
          <a:lstStyle/>
          <a:p>
            <a:endParaRPr lang="en-US"/>
          </a:p>
        </p:txBody>
      </p:sp>
      <p:pic>
        <p:nvPicPr>
          <p:cNvPr id="113" name="Picture 112"/>
          <p:cNvPicPr>
            <a:picLocks noChangeAspect="1"/>
          </p:cNvPicPr>
          <p:nvPr/>
        </p:nvPicPr>
        <p:blipFill>
          <a:blip r:embed="rId8"/>
          <a:stretch/>
        </p:blipFill>
        <p:spPr>
          <a:xfrm>
            <a:off x="676275" y="4486275"/>
            <a:ext cx="285750" cy="285750"/>
          </a:xfrm>
          <a:prstGeom prst="rect">
            <a:avLst/>
          </a:prstGeom>
        </p:spPr>
      </p:pic>
      <p:sp>
        <p:nvSpPr>
          <p:cNvPr id="45" name="service-5">
            <a:extLst>
              <a:ext uri="{FF2B5EF4-FFF2-40B4-BE49-F238E27FC236}">
                <a16:creationId xmlns:a16="http://schemas.microsoft.com/office/drawing/2014/main" id="{291C8137-960D-4994-895B-80B1EC87CF5A}"/>
              </a:ext>
            </a:extLst>
          </p:cNvPr>
          <p:cNvSpPr>
            <a:spLocks noGrp="1"/>
          </p:cNvSpPr>
          <p:nvPr/>
        </p:nvSpPr>
        <p:spPr>
          <a:xfrm>
            <a:off x="1047750" y="4533900"/>
            <a:ext cx="1743075" cy="219075"/>
          </a:xfrm>
          <a:prstGeom prst="rect">
            <a:avLst/>
          </a:prstGeom>
          <a:noFill/>
          <a:ln w="0">
            <a:noFill/>
            <a:prstDash val="solid"/>
          </a:ln>
        </p:spPr>
        <p:txBody>
          <a:bodyPr/>
          <a:lstStyle/>
          <a:p>
            <a:pPr>
              <a:defRPr sz="938" b="1">
                <a:solidFill>
                  <a:srgbClr val="183B56"/>
                </a:solidFill>
              </a:defRPr>
            </a:pPr>
            <a:r>
              <a:rPr sz="938" b="1">
                <a:solidFill>
                  <a:srgbClr val="183B56"/>
                </a:solidFill>
              </a:rPr>
              <a:t>DynamoDB + ElastiCache</a:t>
            </a:r>
          </a:p>
        </p:txBody>
      </p:sp>
      <p:sp>
        <p:nvSpPr>
          <p:cNvPr id="46" name="role-5">
            <a:extLst>
              <a:ext uri="{FF2B5EF4-FFF2-40B4-BE49-F238E27FC236}">
                <a16:creationId xmlns:a16="http://schemas.microsoft.com/office/drawing/2014/main" id="{8A986FCA-85A5-40A6-9376-3DBB4CDC3587}"/>
              </a:ext>
            </a:extLst>
          </p:cNvPr>
          <p:cNvSpPr>
            <a:spLocks noGrp="1"/>
          </p:cNvSpPr>
          <p:nvPr/>
        </p:nvSpPr>
        <p:spPr>
          <a:xfrm>
            <a:off x="3019425" y="4486275"/>
            <a:ext cx="2009775" cy="323850"/>
          </a:xfrm>
          <a:prstGeom prst="rect">
            <a:avLst/>
          </a:prstGeom>
          <a:noFill/>
          <a:ln w="0">
            <a:noFill/>
            <a:prstDash val="solid"/>
          </a:ln>
        </p:spPr>
        <p:txBody>
          <a:bodyPr/>
          <a:lstStyle/>
          <a:p>
            <a:pPr>
              <a:defRPr sz="863" b="1">
                <a:solidFill>
                  <a:srgbClr val="36586F"/>
                </a:solidFill>
              </a:defRPr>
            </a:pPr>
            <a:r>
              <a:rPr sz="863" b="1">
                <a:solidFill>
                  <a:srgbClr val="36586F"/>
                </a:solidFill>
              </a:rPr>
              <a:t>Workflow state and slot views</a:t>
            </a:r>
          </a:p>
        </p:txBody>
      </p:sp>
      <p:sp>
        <p:nvSpPr>
          <p:cNvPr id="47" name="why-5">
            <a:extLst>
              <a:ext uri="{FF2B5EF4-FFF2-40B4-BE49-F238E27FC236}">
                <a16:creationId xmlns:a16="http://schemas.microsoft.com/office/drawing/2014/main" id="{80A7BBCB-6A02-425A-8875-0EA2EE5A13D0}"/>
              </a:ext>
            </a:extLst>
          </p:cNvPr>
          <p:cNvSpPr>
            <a:spLocks noGrp="1"/>
          </p:cNvSpPr>
          <p:nvPr/>
        </p:nvSpPr>
        <p:spPr>
          <a:xfrm>
            <a:off x="5257800" y="4448175"/>
            <a:ext cx="2771775" cy="390525"/>
          </a:xfrm>
          <a:prstGeom prst="rect">
            <a:avLst/>
          </a:prstGeom>
          <a:noFill/>
          <a:ln w="0">
            <a:noFill/>
            <a:prstDash val="solid"/>
          </a:ln>
        </p:spPr>
        <p:txBody>
          <a:bodyPr/>
          <a:lstStyle/>
          <a:p>
            <a:pPr>
              <a:defRPr sz="810">
                <a:solidFill>
                  <a:srgbClr val="36586F"/>
                </a:solidFill>
              </a:defRPr>
            </a:pPr>
            <a:r>
              <a:rPr sz="810">
                <a:solidFill>
                  <a:srgbClr val="36586F"/>
                </a:solidFill>
              </a:rPr>
              <a:t>High-scale conditional writes plus fast reads for customer, vehicle, and booking access patterns.</a:t>
            </a:r>
          </a:p>
        </p:txBody>
      </p:sp>
      <p:sp>
        <p:nvSpPr>
          <p:cNvPr id="48" name="trade-5">
            <a:extLst>
              <a:ext uri="{FF2B5EF4-FFF2-40B4-BE49-F238E27FC236}">
                <a16:creationId xmlns:a16="http://schemas.microsoft.com/office/drawing/2014/main" id="{A6E7CB06-02E7-4C4B-A500-CF84973D2446}"/>
              </a:ext>
            </a:extLst>
          </p:cNvPr>
          <p:cNvSpPr>
            <a:spLocks noGrp="1"/>
          </p:cNvSpPr>
          <p:nvPr/>
        </p:nvSpPr>
        <p:spPr>
          <a:xfrm>
            <a:off x="8258175" y="4448175"/>
            <a:ext cx="3248025" cy="390525"/>
          </a:xfrm>
          <a:prstGeom prst="rect">
            <a:avLst/>
          </a:prstGeom>
          <a:noFill/>
          <a:ln w="0">
            <a:noFill/>
            <a:prstDash val="solid"/>
          </a:ln>
        </p:spPr>
        <p:txBody>
          <a:bodyPr/>
          <a:lstStyle/>
          <a:p>
            <a:pPr>
              <a:defRPr sz="810">
                <a:solidFill>
                  <a:srgbClr val="36586F"/>
                </a:solidFill>
              </a:defRPr>
            </a:pPr>
            <a:r>
              <a:rPr sz="810">
                <a:solidFill>
                  <a:srgbClr val="36586F"/>
                </a:solidFill>
              </a:rPr>
              <a:t>Key design and cache staleness matter. Use explicit access patterns and TTLs; the dealer remains authoritative.</a:t>
            </a:r>
          </a:p>
        </p:txBody>
      </p:sp>
      <p:sp>
        <p:nvSpPr>
          <p:cNvPr id="49" name="row-rule-6">
            <a:extLst>
              <a:ext uri="{FF2B5EF4-FFF2-40B4-BE49-F238E27FC236}">
                <a16:creationId xmlns:a16="http://schemas.microsoft.com/office/drawing/2014/main" id="{813A3277-A5E7-477A-BE3A-BC6821B55052}"/>
              </a:ext>
            </a:extLst>
          </p:cNvPr>
          <p:cNvSpPr>
            <a:spLocks noGrp="1"/>
          </p:cNvSpPr>
          <p:nvPr/>
        </p:nvSpPr>
        <p:spPr>
          <a:xfrm>
            <a:off x="571500" y="4895850"/>
            <a:ext cx="11049000" cy="9525"/>
          </a:xfrm>
          <a:prstGeom prst="rect">
            <a:avLst/>
          </a:prstGeom>
          <a:solidFill>
            <a:srgbClr val="DCE6EC"/>
          </a:solidFill>
          <a:ln w="0">
            <a:solidFill>
              <a:srgbClr val="DCE6EC"/>
            </a:solidFill>
            <a:prstDash val="solid"/>
          </a:ln>
        </p:spPr>
        <p:txBody>
          <a:bodyPr/>
          <a:lstStyle/>
          <a:p>
            <a:endParaRPr lang="en-US"/>
          </a:p>
        </p:txBody>
      </p:sp>
      <p:pic>
        <p:nvPicPr>
          <p:cNvPr id="119" name="Picture 118"/>
          <p:cNvPicPr>
            <a:picLocks noChangeAspect="1"/>
          </p:cNvPicPr>
          <p:nvPr/>
        </p:nvPicPr>
        <p:blipFill>
          <a:blip r:embed="rId9"/>
          <a:stretch/>
        </p:blipFill>
        <p:spPr>
          <a:xfrm>
            <a:off x="676275" y="5010150"/>
            <a:ext cx="285750" cy="285750"/>
          </a:xfrm>
          <a:prstGeom prst="rect">
            <a:avLst/>
          </a:prstGeom>
        </p:spPr>
      </p:pic>
      <p:sp>
        <p:nvSpPr>
          <p:cNvPr id="51" name="service-6">
            <a:extLst>
              <a:ext uri="{FF2B5EF4-FFF2-40B4-BE49-F238E27FC236}">
                <a16:creationId xmlns:a16="http://schemas.microsoft.com/office/drawing/2014/main" id="{C20FDB9F-5CA1-468F-84C6-3B114CA9EF22}"/>
              </a:ext>
            </a:extLst>
          </p:cNvPr>
          <p:cNvSpPr>
            <a:spLocks noGrp="1"/>
          </p:cNvSpPr>
          <p:nvPr/>
        </p:nvSpPr>
        <p:spPr>
          <a:xfrm>
            <a:off x="1047750" y="5057775"/>
            <a:ext cx="1743075" cy="219075"/>
          </a:xfrm>
          <a:prstGeom prst="rect">
            <a:avLst/>
          </a:prstGeom>
          <a:noFill/>
          <a:ln w="0">
            <a:noFill/>
            <a:prstDash val="solid"/>
          </a:ln>
        </p:spPr>
        <p:txBody>
          <a:bodyPr/>
          <a:lstStyle/>
          <a:p>
            <a:pPr>
              <a:defRPr sz="938" b="1">
                <a:solidFill>
                  <a:srgbClr val="183B56"/>
                </a:solidFill>
              </a:defRPr>
            </a:pPr>
            <a:r>
              <a:rPr sz="938" b="1">
                <a:solidFill>
                  <a:srgbClr val="183B56"/>
                </a:solidFill>
              </a:rPr>
              <a:t>EventBridge + SQS + SES/SNS</a:t>
            </a:r>
          </a:p>
        </p:txBody>
      </p:sp>
      <p:sp>
        <p:nvSpPr>
          <p:cNvPr id="52" name="role-6">
            <a:extLst>
              <a:ext uri="{FF2B5EF4-FFF2-40B4-BE49-F238E27FC236}">
                <a16:creationId xmlns:a16="http://schemas.microsoft.com/office/drawing/2014/main" id="{9C8C8140-BC26-4233-AAD9-E23EF85AE972}"/>
              </a:ext>
            </a:extLst>
          </p:cNvPr>
          <p:cNvSpPr>
            <a:spLocks noGrp="1"/>
          </p:cNvSpPr>
          <p:nvPr/>
        </p:nvSpPr>
        <p:spPr>
          <a:xfrm>
            <a:off x="3019425" y="5010150"/>
            <a:ext cx="2009775" cy="323850"/>
          </a:xfrm>
          <a:prstGeom prst="rect">
            <a:avLst/>
          </a:prstGeom>
          <a:noFill/>
          <a:ln w="0">
            <a:noFill/>
            <a:prstDash val="solid"/>
          </a:ln>
        </p:spPr>
        <p:txBody>
          <a:bodyPr/>
          <a:lstStyle/>
          <a:p>
            <a:pPr>
              <a:defRPr sz="863" b="1">
                <a:solidFill>
                  <a:srgbClr val="36586F"/>
                </a:solidFill>
              </a:defRPr>
            </a:pPr>
            <a:r>
              <a:rPr sz="863" b="1">
                <a:solidFill>
                  <a:srgbClr val="36586F"/>
                </a:solidFill>
              </a:rPr>
              <a:t>Events, buffering, and messages</a:t>
            </a:r>
          </a:p>
        </p:txBody>
      </p:sp>
      <p:sp>
        <p:nvSpPr>
          <p:cNvPr id="53" name="why-6">
            <a:extLst>
              <a:ext uri="{FF2B5EF4-FFF2-40B4-BE49-F238E27FC236}">
                <a16:creationId xmlns:a16="http://schemas.microsoft.com/office/drawing/2014/main" id="{1ECDC43E-3AEF-4177-8B4C-FD7ECC56425F}"/>
              </a:ext>
            </a:extLst>
          </p:cNvPr>
          <p:cNvSpPr>
            <a:spLocks noGrp="1"/>
          </p:cNvSpPr>
          <p:nvPr/>
        </p:nvSpPr>
        <p:spPr>
          <a:xfrm>
            <a:off x="5257800" y="4972050"/>
            <a:ext cx="2771775" cy="390525"/>
          </a:xfrm>
          <a:prstGeom prst="rect">
            <a:avLst/>
          </a:prstGeom>
          <a:noFill/>
          <a:ln w="0">
            <a:noFill/>
            <a:prstDash val="solid"/>
          </a:ln>
        </p:spPr>
        <p:txBody>
          <a:bodyPr/>
          <a:lstStyle/>
          <a:p>
            <a:pPr>
              <a:defRPr sz="810">
                <a:solidFill>
                  <a:srgbClr val="36586F"/>
                </a:solidFill>
              </a:defRPr>
            </a:pPr>
            <a:r>
              <a:rPr sz="810">
                <a:solidFill>
                  <a:srgbClr val="36586F"/>
                </a:solidFill>
              </a:rPr>
              <a:t>Decouples booking from reminders and integrations while providing retry, DLQ, email, and SMS delivery.</a:t>
            </a:r>
          </a:p>
        </p:txBody>
      </p:sp>
      <p:sp>
        <p:nvSpPr>
          <p:cNvPr id="54" name="trade-6">
            <a:extLst>
              <a:ext uri="{FF2B5EF4-FFF2-40B4-BE49-F238E27FC236}">
                <a16:creationId xmlns:a16="http://schemas.microsoft.com/office/drawing/2014/main" id="{B2FA1BF7-0D7B-4D19-9623-CEB6CC4CD651}"/>
              </a:ext>
            </a:extLst>
          </p:cNvPr>
          <p:cNvSpPr>
            <a:spLocks noGrp="1"/>
          </p:cNvSpPr>
          <p:nvPr/>
        </p:nvSpPr>
        <p:spPr>
          <a:xfrm>
            <a:off x="8258175" y="4972050"/>
            <a:ext cx="3248025" cy="390525"/>
          </a:xfrm>
          <a:prstGeom prst="rect">
            <a:avLst/>
          </a:prstGeom>
          <a:noFill/>
          <a:ln w="0">
            <a:noFill/>
            <a:prstDash val="solid"/>
          </a:ln>
        </p:spPr>
        <p:txBody>
          <a:bodyPr/>
          <a:lstStyle/>
          <a:p>
            <a:pPr>
              <a:defRPr sz="810">
                <a:solidFill>
                  <a:srgbClr val="36586F"/>
                </a:solidFill>
              </a:defRPr>
            </a:pPr>
            <a:r>
              <a:rPr sz="810">
                <a:solidFill>
                  <a:srgbClr val="36586F"/>
                </a:solidFill>
              </a:rPr>
              <a:t>Delivery is eventually consistent and may duplicate. Make consumers idempotent and reconcile outcomes.</a:t>
            </a:r>
          </a:p>
        </p:txBody>
      </p:sp>
      <p:sp>
        <p:nvSpPr>
          <p:cNvPr id="55" name="row-fill-7">
            <a:extLst>
              <a:ext uri="{FF2B5EF4-FFF2-40B4-BE49-F238E27FC236}">
                <a16:creationId xmlns:a16="http://schemas.microsoft.com/office/drawing/2014/main" id="{32519FE3-9C96-4F68-A6EF-43C568A9C89E}"/>
              </a:ext>
            </a:extLst>
          </p:cNvPr>
          <p:cNvSpPr>
            <a:spLocks noGrp="1"/>
          </p:cNvSpPr>
          <p:nvPr/>
        </p:nvSpPr>
        <p:spPr>
          <a:xfrm>
            <a:off x="581025" y="5419725"/>
            <a:ext cx="11029950" cy="523875"/>
          </a:xfrm>
          <a:prstGeom prst="rect">
            <a:avLst/>
          </a:prstGeom>
          <a:solidFill>
            <a:srgbClr val="F4F8FA"/>
          </a:solidFill>
          <a:ln w="0">
            <a:noFill/>
            <a:prstDash val="solid"/>
          </a:ln>
        </p:spPr>
        <p:txBody>
          <a:bodyPr/>
          <a:lstStyle/>
          <a:p>
            <a:endParaRPr lang="en-US"/>
          </a:p>
        </p:txBody>
      </p:sp>
      <p:sp>
        <p:nvSpPr>
          <p:cNvPr id="56" name="row-rule-7">
            <a:extLst>
              <a:ext uri="{FF2B5EF4-FFF2-40B4-BE49-F238E27FC236}">
                <a16:creationId xmlns:a16="http://schemas.microsoft.com/office/drawing/2014/main" id="{15A70FFE-E0EE-4C18-B59F-D06EDC4787FC}"/>
              </a:ext>
            </a:extLst>
          </p:cNvPr>
          <p:cNvSpPr>
            <a:spLocks noGrp="1"/>
          </p:cNvSpPr>
          <p:nvPr/>
        </p:nvSpPr>
        <p:spPr>
          <a:xfrm>
            <a:off x="571500" y="5419725"/>
            <a:ext cx="11049000" cy="9525"/>
          </a:xfrm>
          <a:prstGeom prst="rect">
            <a:avLst/>
          </a:prstGeom>
          <a:solidFill>
            <a:srgbClr val="DCE6EC"/>
          </a:solidFill>
          <a:ln w="0">
            <a:solidFill>
              <a:srgbClr val="DCE6EC"/>
            </a:solidFill>
            <a:prstDash val="solid"/>
          </a:ln>
        </p:spPr>
        <p:txBody>
          <a:bodyPr/>
          <a:lstStyle/>
          <a:p>
            <a:endParaRPr lang="en-US"/>
          </a:p>
        </p:txBody>
      </p:sp>
      <p:pic>
        <p:nvPicPr>
          <p:cNvPr id="126" name="Picture 125"/>
          <p:cNvPicPr>
            <a:picLocks noChangeAspect="1"/>
          </p:cNvPicPr>
          <p:nvPr/>
        </p:nvPicPr>
        <p:blipFill>
          <a:blip r:embed="rId10"/>
          <a:stretch/>
        </p:blipFill>
        <p:spPr>
          <a:xfrm>
            <a:off x="676275" y="5534025"/>
            <a:ext cx="285750" cy="285750"/>
          </a:xfrm>
          <a:prstGeom prst="rect">
            <a:avLst/>
          </a:prstGeom>
        </p:spPr>
      </p:pic>
      <p:sp>
        <p:nvSpPr>
          <p:cNvPr id="58" name="service-7">
            <a:extLst>
              <a:ext uri="{FF2B5EF4-FFF2-40B4-BE49-F238E27FC236}">
                <a16:creationId xmlns:a16="http://schemas.microsoft.com/office/drawing/2014/main" id="{7404F2E6-7AA1-4D70-BC83-3AA23EF53155}"/>
              </a:ext>
            </a:extLst>
          </p:cNvPr>
          <p:cNvSpPr>
            <a:spLocks noGrp="1"/>
          </p:cNvSpPr>
          <p:nvPr/>
        </p:nvSpPr>
        <p:spPr>
          <a:xfrm>
            <a:off x="1047750" y="5581650"/>
            <a:ext cx="1743075" cy="219075"/>
          </a:xfrm>
          <a:prstGeom prst="rect">
            <a:avLst/>
          </a:prstGeom>
          <a:noFill/>
          <a:ln w="0">
            <a:noFill/>
            <a:prstDash val="solid"/>
          </a:ln>
        </p:spPr>
        <p:txBody>
          <a:bodyPr/>
          <a:lstStyle/>
          <a:p>
            <a:pPr>
              <a:defRPr sz="938" b="1">
                <a:solidFill>
                  <a:srgbClr val="183B56"/>
                </a:solidFill>
              </a:defRPr>
            </a:pPr>
            <a:r>
              <a:rPr sz="938" b="1">
                <a:solidFill>
                  <a:srgbClr val="183B56"/>
                </a:solidFill>
              </a:rPr>
              <a:t>CloudWatch + Route 53 + replication</a:t>
            </a:r>
          </a:p>
        </p:txBody>
      </p:sp>
      <p:sp>
        <p:nvSpPr>
          <p:cNvPr id="59" name="role-7">
            <a:extLst>
              <a:ext uri="{FF2B5EF4-FFF2-40B4-BE49-F238E27FC236}">
                <a16:creationId xmlns:a16="http://schemas.microsoft.com/office/drawing/2014/main" id="{9AECF695-A24D-455B-87BB-AFE94C85B6FA}"/>
              </a:ext>
            </a:extLst>
          </p:cNvPr>
          <p:cNvSpPr>
            <a:spLocks noGrp="1"/>
          </p:cNvSpPr>
          <p:nvPr/>
        </p:nvSpPr>
        <p:spPr>
          <a:xfrm>
            <a:off x="3019425" y="5534025"/>
            <a:ext cx="2009775" cy="323850"/>
          </a:xfrm>
          <a:prstGeom prst="rect">
            <a:avLst/>
          </a:prstGeom>
          <a:noFill/>
          <a:ln w="0">
            <a:noFill/>
            <a:prstDash val="solid"/>
          </a:ln>
        </p:spPr>
        <p:txBody>
          <a:bodyPr/>
          <a:lstStyle/>
          <a:p>
            <a:pPr>
              <a:defRPr sz="863" b="1">
                <a:solidFill>
                  <a:srgbClr val="36586F"/>
                </a:solidFill>
              </a:defRPr>
            </a:pPr>
            <a:r>
              <a:rPr sz="863" b="1">
                <a:solidFill>
                  <a:srgbClr val="36586F"/>
                </a:solidFill>
              </a:rPr>
              <a:t>Observability and warm standby</a:t>
            </a:r>
          </a:p>
        </p:txBody>
      </p:sp>
      <p:sp>
        <p:nvSpPr>
          <p:cNvPr id="60" name="why-7">
            <a:extLst>
              <a:ext uri="{FF2B5EF4-FFF2-40B4-BE49-F238E27FC236}">
                <a16:creationId xmlns:a16="http://schemas.microsoft.com/office/drawing/2014/main" id="{A646A77D-3294-43DC-B767-71E815774ED3}"/>
              </a:ext>
            </a:extLst>
          </p:cNvPr>
          <p:cNvSpPr>
            <a:spLocks noGrp="1"/>
          </p:cNvSpPr>
          <p:nvPr/>
        </p:nvSpPr>
        <p:spPr>
          <a:xfrm>
            <a:off x="5257800" y="5495925"/>
            <a:ext cx="2771775" cy="390525"/>
          </a:xfrm>
          <a:prstGeom prst="rect">
            <a:avLst/>
          </a:prstGeom>
          <a:noFill/>
          <a:ln w="0">
            <a:noFill/>
            <a:prstDash val="solid"/>
          </a:ln>
        </p:spPr>
        <p:txBody>
          <a:bodyPr/>
          <a:lstStyle/>
          <a:p>
            <a:pPr>
              <a:defRPr sz="810">
                <a:solidFill>
                  <a:srgbClr val="36586F"/>
                </a:solidFill>
              </a:defRPr>
            </a:pPr>
            <a:r>
              <a:rPr sz="810" dirty="0">
                <a:solidFill>
                  <a:srgbClr val="36586F"/>
                </a:solidFill>
              </a:rPr>
              <a:t>Journey telemetry, audit evidence, health-based routing, and cross-Region recovery of critical state.</a:t>
            </a:r>
          </a:p>
        </p:txBody>
      </p:sp>
      <p:sp>
        <p:nvSpPr>
          <p:cNvPr id="61" name="trade-7">
            <a:extLst>
              <a:ext uri="{FF2B5EF4-FFF2-40B4-BE49-F238E27FC236}">
                <a16:creationId xmlns:a16="http://schemas.microsoft.com/office/drawing/2014/main" id="{5A9C12BE-ABE9-4A4C-A105-686971D22071}"/>
              </a:ext>
            </a:extLst>
          </p:cNvPr>
          <p:cNvSpPr>
            <a:spLocks noGrp="1"/>
          </p:cNvSpPr>
          <p:nvPr/>
        </p:nvSpPr>
        <p:spPr>
          <a:xfrm>
            <a:off x="8258175" y="5495925"/>
            <a:ext cx="3248025" cy="390525"/>
          </a:xfrm>
          <a:prstGeom prst="rect">
            <a:avLst/>
          </a:prstGeom>
          <a:noFill/>
          <a:ln w="0">
            <a:noFill/>
            <a:prstDash val="solid"/>
          </a:ln>
        </p:spPr>
        <p:txBody>
          <a:bodyPr/>
          <a:lstStyle/>
          <a:p>
            <a:pPr>
              <a:defRPr sz="810">
                <a:solidFill>
                  <a:srgbClr val="36586F"/>
                </a:solidFill>
              </a:defRPr>
            </a:pPr>
            <a:r>
              <a:rPr sz="810">
                <a:solidFill>
                  <a:srgbClr val="36586F"/>
                </a:solidFill>
              </a:rPr>
              <a:t>Telemetry and replication increase cost; multi-Region writes create conflict risk. Use retention controls and single-writer fencing.</a:t>
            </a:r>
          </a:p>
        </p:txBody>
      </p:sp>
      <p:sp>
        <p:nvSpPr>
          <p:cNvPr id="62" name="column-rule-1">
            <a:extLst>
              <a:ext uri="{FF2B5EF4-FFF2-40B4-BE49-F238E27FC236}">
                <a16:creationId xmlns:a16="http://schemas.microsoft.com/office/drawing/2014/main" id="{A23BD336-6EBA-4967-8F78-1418086BDF4F}"/>
              </a:ext>
            </a:extLst>
          </p:cNvPr>
          <p:cNvSpPr>
            <a:spLocks noGrp="1"/>
          </p:cNvSpPr>
          <p:nvPr/>
        </p:nvSpPr>
        <p:spPr>
          <a:xfrm>
            <a:off x="2905125" y="1428750"/>
            <a:ext cx="9525" cy="4514850"/>
          </a:xfrm>
          <a:prstGeom prst="rect">
            <a:avLst/>
          </a:prstGeom>
          <a:solidFill>
            <a:srgbClr val="D3E0E7"/>
          </a:solidFill>
          <a:ln w="0">
            <a:solidFill>
              <a:srgbClr val="D3E0E7"/>
            </a:solidFill>
            <a:prstDash val="solid"/>
          </a:ln>
        </p:spPr>
        <p:txBody>
          <a:bodyPr/>
          <a:lstStyle/>
          <a:p>
            <a:endParaRPr lang="en-US"/>
          </a:p>
        </p:txBody>
      </p:sp>
      <p:sp>
        <p:nvSpPr>
          <p:cNvPr id="63" name="column-rule-2">
            <a:extLst>
              <a:ext uri="{FF2B5EF4-FFF2-40B4-BE49-F238E27FC236}">
                <a16:creationId xmlns:a16="http://schemas.microsoft.com/office/drawing/2014/main" id="{43717292-8140-4DAB-B2FC-ACB9729718CE}"/>
              </a:ext>
            </a:extLst>
          </p:cNvPr>
          <p:cNvSpPr>
            <a:spLocks noGrp="1"/>
          </p:cNvSpPr>
          <p:nvPr/>
        </p:nvSpPr>
        <p:spPr>
          <a:xfrm>
            <a:off x="5143500" y="1428750"/>
            <a:ext cx="9525" cy="4514850"/>
          </a:xfrm>
          <a:prstGeom prst="rect">
            <a:avLst/>
          </a:prstGeom>
          <a:solidFill>
            <a:srgbClr val="D3E0E7"/>
          </a:solidFill>
          <a:ln w="0">
            <a:solidFill>
              <a:srgbClr val="D3E0E7"/>
            </a:solidFill>
            <a:prstDash val="solid"/>
          </a:ln>
        </p:spPr>
        <p:txBody>
          <a:bodyPr/>
          <a:lstStyle/>
          <a:p>
            <a:endParaRPr lang="en-US"/>
          </a:p>
        </p:txBody>
      </p:sp>
      <p:sp>
        <p:nvSpPr>
          <p:cNvPr id="64" name="column-rule-3">
            <a:extLst>
              <a:ext uri="{FF2B5EF4-FFF2-40B4-BE49-F238E27FC236}">
                <a16:creationId xmlns:a16="http://schemas.microsoft.com/office/drawing/2014/main" id="{18F74737-C95A-44D8-84F9-B3BF24A4AE71}"/>
              </a:ext>
            </a:extLst>
          </p:cNvPr>
          <p:cNvSpPr>
            <a:spLocks noGrp="1"/>
          </p:cNvSpPr>
          <p:nvPr/>
        </p:nvSpPr>
        <p:spPr>
          <a:xfrm>
            <a:off x="8143875" y="1428750"/>
            <a:ext cx="9525" cy="4514850"/>
          </a:xfrm>
          <a:prstGeom prst="rect">
            <a:avLst/>
          </a:prstGeom>
          <a:solidFill>
            <a:srgbClr val="D3E0E7"/>
          </a:solidFill>
          <a:ln w="0">
            <a:solidFill>
              <a:srgbClr val="D3E0E7"/>
            </a:solidFill>
            <a:prstDash val="solid"/>
          </a:ln>
        </p:spPr>
        <p:txBody>
          <a:bodyPr/>
          <a:lstStyle/>
          <a:p>
            <a:endParaRPr lang="en-US"/>
          </a:p>
        </p:txBody>
      </p:sp>
      <p:sp>
        <p:nvSpPr>
          <p:cNvPr id="65" name="principle-banner">
            <a:extLst>
              <a:ext uri="{FF2B5EF4-FFF2-40B4-BE49-F238E27FC236}">
                <a16:creationId xmlns:a16="http://schemas.microsoft.com/office/drawing/2014/main" id="{FB3C4BBC-B3FD-4D82-BE9D-8F4E925725F3}"/>
              </a:ext>
            </a:extLst>
          </p:cNvPr>
          <p:cNvSpPr>
            <a:spLocks noGrp="1"/>
          </p:cNvSpPr>
          <p:nvPr/>
        </p:nvSpPr>
        <p:spPr>
          <a:xfrm>
            <a:off x="571500" y="6076950"/>
            <a:ext cx="11049000" cy="361950"/>
          </a:xfrm>
          <a:prstGeom prst="roundRect">
            <a:avLst>
              <a:gd name="adj" fmla="val 21053"/>
            </a:avLst>
          </a:prstGeom>
          <a:solidFill>
            <a:srgbClr val="EAF7FA"/>
          </a:solidFill>
          <a:ln w="9525">
            <a:solidFill>
              <a:srgbClr val="B9E5ED"/>
            </a:solidFill>
            <a:prstDash val="solid"/>
          </a:ln>
        </p:spPr>
        <p:txBody>
          <a:bodyPr/>
          <a:lstStyle/>
          <a:p>
            <a:endParaRPr lang="en-US"/>
          </a:p>
        </p:txBody>
      </p:sp>
      <p:sp>
        <p:nvSpPr>
          <p:cNvPr id="66" name="principle-label">
            <a:extLst>
              <a:ext uri="{FF2B5EF4-FFF2-40B4-BE49-F238E27FC236}">
                <a16:creationId xmlns:a16="http://schemas.microsoft.com/office/drawing/2014/main" id="{3083D433-1CED-4F2D-B7FD-C864921F8DE4}"/>
              </a:ext>
            </a:extLst>
          </p:cNvPr>
          <p:cNvSpPr>
            <a:spLocks noGrp="1"/>
          </p:cNvSpPr>
          <p:nvPr/>
        </p:nvSpPr>
        <p:spPr>
          <a:xfrm>
            <a:off x="723900" y="6181725"/>
            <a:ext cx="1285875" cy="152400"/>
          </a:xfrm>
          <a:prstGeom prst="rect">
            <a:avLst/>
          </a:prstGeom>
          <a:noFill/>
          <a:ln w="0">
            <a:noFill/>
            <a:prstDash val="solid"/>
          </a:ln>
        </p:spPr>
        <p:txBody>
          <a:bodyPr/>
          <a:lstStyle/>
          <a:p>
            <a:pPr>
              <a:defRPr sz="713" b="1">
                <a:solidFill>
                  <a:srgbClr val="008296"/>
                </a:solidFill>
              </a:defRPr>
            </a:pPr>
            <a:r>
              <a:rPr sz="713" b="1">
                <a:solidFill>
                  <a:srgbClr val="008296"/>
                </a:solidFill>
              </a:rPr>
              <a:t>DECISION PRINCIPLE</a:t>
            </a:r>
          </a:p>
        </p:txBody>
      </p:sp>
      <p:sp>
        <p:nvSpPr>
          <p:cNvPr id="67" name="principle-text">
            <a:extLst>
              <a:ext uri="{FF2B5EF4-FFF2-40B4-BE49-F238E27FC236}">
                <a16:creationId xmlns:a16="http://schemas.microsoft.com/office/drawing/2014/main" id="{B83D3B98-78E8-4A37-809C-27B8EE75B083}"/>
              </a:ext>
            </a:extLst>
          </p:cNvPr>
          <p:cNvSpPr>
            <a:spLocks noGrp="1"/>
          </p:cNvSpPr>
          <p:nvPr/>
        </p:nvSpPr>
        <p:spPr>
          <a:xfrm>
            <a:off x="2028825" y="6162675"/>
            <a:ext cx="9382125" cy="190500"/>
          </a:xfrm>
          <a:prstGeom prst="rect">
            <a:avLst/>
          </a:prstGeom>
          <a:noFill/>
          <a:ln w="0">
            <a:noFill/>
            <a:prstDash val="solid"/>
          </a:ln>
        </p:spPr>
        <p:txBody>
          <a:bodyPr/>
          <a:lstStyle/>
          <a:p>
            <a:pPr>
              <a:defRPr sz="863" b="1">
                <a:solidFill>
                  <a:srgbClr val="183B56"/>
                </a:solidFill>
              </a:defRPr>
            </a:pPr>
            <a:r>
              <a:rPr sz="863" b="1">
                <a:solidFill>
                  <a:srgbClr val="183B56"/>
                </a:solidFill>
              </a:rPr>
              <a:t>Prefer the simplest managed service that meets the workload; preserve dealer authority and isolate legacy complexity behind adapters.</a:t>
            </a:r>
          </a:p>
        </p:txBody>
      </p:sp>
      <p:sp>
        <p:nvSpPr>
          <p:cNvPr id="68" name="footer">
            <a:extLst>
              <a:ext uri="{FF2B5EF4-FFF2-40B4-BE49-F238E27FC236}">
                <a16:creationId xmlns:a16="http://schemas.microsoft.com/office/drawing/2014/main" id="{CBC31B59-A510-402F-A81D-10E4F44CA70F}"/>
              </a:ext>
            </a:extLst>
          </p:cNvPr>
          <p:cNvSpPr>
            <a:spLocks noGrp="1"/>
          </p:cNvSpPr>
          <p:nvPr/>
        </p:nvSpPr>
        <p:spPr>
          <a:xfrm>
            <a:off x="571500" y="6591300"/>
            <a:ext cx="4953000" cy="133350"/>
          </a:xfrm>
          <a:prstGeom prst="rect">
            <a:avLst/>
          </a:prstGeom>
          <a:noFill/>
          <a:ln w="0">
            <a:noFill/>
            <a:prstDash val="solid"/>
          </a:ln>
        </p:spPr>
        <p:txBody>
          <a:bodyPr/>
          <a:lstStyle/>
          <a:p>
            <a:pPr>
              <a:defRPr sz="638">
                <a:solidFill>
                  <a:srgbClr val="6D8899"/>
                </a:solidFill>
              </a:defRPr>
            </a:pPr>
            <a:r>
              <a:rPr sz="638">
                <a:solidFill>
                  <a:srgbClr val="6D8899"/>
                </a:solidFill>
              </a:rPr>
              <a:t>CLOUD PLATFORM ARCHITECTURE  •  SERVICE DECISIONS</a:t>
            </a:r>
          </a:p>
        </p:txBody>
      </p:sp>
      <p:sp>
        <p:nvSpPr>
          <p:cNvPr id="69" name="page-number">
            <a:extLst>
              <a:ext uri="{FF2B5EF4-FFF2-40B4-BE49-F238E27FC236}">
                <a16:creationId xmlns:a16="http://schemas.microsoft.com/office/drawing/2014/main" id="{0852CA84-0BB6-4BE3-93FD-2616C6DB1306}"/>
              </a:ext>
            </a:extLst>
          </p:cNvPr>
          <p:cNvSpPr>
            <a:spLocks noGrp="1"/>
          </p:cNvSpPr>
          <p:nvPr/>
        </p:nvSpPr>
        <p:spPr>
          <a:xfrm>
            <a:off x="11239500" y="6572250"/>
            <a:ext cx="381000" cy="152400"/>
          </a:xfrm>
          <a:prstGeom prst="rect">
            <a:avLst/>
          </a:prstGeom>
          <a:noFill/>
          <a:ln w="0">
            <a:noFill/>
            <a:prstDash val="solid"/>
          </a:ln>
        </p:spPr>
        <p:txBody>
          <a:bodyPr/>
          <a:lstStyle/>
          <a:p>
            <a:pPr algn="r">
              <a:defRPr sz="675" b="1">
                <a:solidFill>
                  <a:srgbClr val="6D8899"/>
                </a:solidFill>
              </a:defRPr>
            </a:pPr>
            <a:r>
              <a:rPr sz="675" b="1">
                <a:solidFill>
                  <a:srgbClr val="6D8899"/>
                </a:solidFill>
              </a:rPr>
              <a:t>20</a:t>
            </a:r>
          </a:p>
        </p:txBody>
      </p:sp>
    </p:spTree>
    <p:extLst>
      <p:ext uri="{BB962C8B-B14F-4D97-AF65-F5344CB8AC3E}">
        <p14:creationId xmlns:p14="http://schemas.microsoft.com/office/powerpoint/2010/main" val="3586621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verage-1">
            <a:extLst>
              <a:ext uri="{FF2B5EF4-FFF2-40B4-BE49-F238E27FC236}">
                <a16:creationId xmlns:a16="http://schemas.microsoft.com/office/drawing/2014/main" id="{4EA1F233-BFF7-F720-1B7F-79F7F5CCE455}"/>
              </a:ext>
            </a:extLst>
          </p:cNvPr>
          <p:cNvSpPr>
            <a:spLocks noGrp="1"/>
          </p:cNvSpPr>
          <p:nvPr/>
        </p:nvSpPr>
        <p:spPr>
          <a:xfrm>
            <a:off x="3514444" y="2247900"/>
            <a:ext cx="5163111" cy="1759324"/>
          </a:xfrm>
          <a:prstGeom prst="roundRect">
            <a:avLst>
              <a:gd name="adj" fmla="val 10526"/>
            </a:avLst>
          </a:prstGeom>
          <a:solidFill>
            <a:srgbClr val="FFFFFF"/>
          </a:solidFill>
          <a:ln w="14288">
            <a:solidFill>
              <a:srgbClr val="2767A8"/>
            </a:solidFill>
            <a:prstDash val="solid"/>
          </a:ln>
        </p:spPr>
        <p:txBody>
          <a:bodyPr/>
          <a:lstStyle/>
          <a:p>
            <a:pPr algn="ctr">
              <a:buNone/>
              <a:defRPr sz="1275" b="1">
                <a:solidFill>
                  <a:srgbClr val="273244"/>
                </a:solidFill>
              </a:defRPr>
            </a:pPr>
            <a:r>
              <a:rPr sz="4800" b="1">
                <a:solidFill>
                  <a:srgbClr val="273244"/>
                </a:solidFill>
              </a:rPr>
              <a:t>Customer journeys</a:t>
            </a:r>
          </a:p>
        </p:txBody>
      </p:sp>
    </p:spTree>
    <p:extLst>
      <p:ext uri="{BB962C8B-B14F-4D97-AF65-F5344CB8AC3E}">
        <p14:creationId xmlns:p14="http://schemas.microsoft.com/office/powerpoint/2010/main" val="1445739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eyebrow">
            <a:extLst>
              <a:ext uri="{FF2B5EF4-FFF2-40B4-BE49-F238E27FC236}">
                <a16:creationId xmlns:a16="http://schemas.microsoft.com/office/drawing/2014/main" id="{BCB0B260-F1BF-41F4-B5FB-9CE335B0564B}"/>
              </a:ext>
            </a:extLst>
          </p:cNvPr>
          <p:cNvSpPr>
            <a:spLocks noGrp="1"/>
          </p:cNvSpPr>
          <p:nvPr/>
        </p:nvSpPr>
        <p:spPr>
          <a:xfrm>
            <a:off x="514350" y="238125"/>
            <a:ext cx="323850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PROPOSED SOLUTION ARCHITECTURE</a:t>
            </a:r>
          </a:p>
        </p:txBody>
      </p:sp>
      <p:sp>
        <p:nvSpPr>
          <p:cNvPr id="2" name="title">
            <a:extLst>
              <a:ext uri="{FF2B5EF4-FFF2-40B4-BE49-F238E27FC236}">
                <a16:creationId xmlns:a16="http://schemas.microsoft.com/office/drawing/2014/main" id="{715588E7-63FF-46E1-BFD5-0D61FC4DE4C5}"/>
              </a:ext>
            </a:extLst>
          </p:cNvPr>
          <p:cNvSpPr>
            <a:spLocks noGrp="1"/>
          </p:cNvSpPr>
          <p:nvPr/>
        </p:nvSpPr>
        <p:spPr>
          <a:xfrm>
            <a:off x="514350" y="457200"/>
            <a:ext cx="11163300" cy="419100"/>
          </a:xfrm>
          <a:prstGeom prst="rect">
            <a:avLst/>
          </a:prstGeom>
          <a:noFill/>
          <a:ln w="0">
            <a:noFill/>
            <a:prstDash val="solid"/>
          </a:ln>
        </p:spPr>
        <p:txBody>
          <a:bodyPr/>
          <a:lstStyle/>
          <a:p>
            <a:r>
              <a:rPr sz="2800"/>
              <a:t>Journey 1 — Find a dealership:</a:t>
            </a:r>
          </a:p>
        </p:txBody>
      </p:sp>
      <p:sp>
        <p:nvSpPr>
          <p:cNvPr id="3" name="subtitle">
            <a:extLst>
              <a:ext uri="{FF2B5EF4-FFF2-40B4-BE49-F238E27FC236}">
                <a16:creationId xmlns:a16="http://schemas.microsoft.com/office/drawing/2014/main" id="{EB7AC8A3-61E0-49A3-8416-B2CD8C4B12B1}"/>
              </a:ext>
            </a:extLst>
          </p:cNvPr>
          <p:cNvSpPr>
            <a:spLocks noGrp="1"/>
          </p:cNvSpPr>
          <p:nvPr/>
        </p:nvSpPr>
        <p:spPr>
          <a:xfrm>
            <a:off x="514350" y="895350"/>
            <a:ext cx="11049000" cy="266700"/>
          </a:xfrm>
          <a:prstGeom prst="rect">
            <a:avLst/>
          </a:prstGeom>
          <a:noFill/>
          <a:ln w="0">
            <a:noFill/>
            <a:prstDash val="solid"/>
          </a:ln>
        </p:spPr>
        <p:txBody>
          <a:bodyPr/>
          <a:lstStyle/>
          <a:p>
            <a:pPr>
              <a:buNone/>
              <a:defRPr sz="1200">
                <a:solidFill>
                  <a:srgbClr val="5B6472"/>
                </a:solidFill>
              </a:defRPr>
            </a:pPr>
            <a:r>
              <a:rPr sz="1200">
                <a:solidFill>
                  <a:srgbClr val="5B6472"/>
                </a:solidFill>
              </a:rPr>
              <a:t>The cloud owns the customer journey and booking state; VIN, repair history, and appointment inventory remain authoritative in brownfield systems.</a:t>
            </a:r>
          </a:p>
        </p:txBody>
      </p:sp>
      <p:sp>
        <p:nvSpPr>
          <p:cNvPr id="4" name="aws-region">
            <a:extLst>
              <a:ext uri="{FF2B5EF4-FFF2-40B4-BE49-F238E27FC236}">
                <a16:creationId xmlns:a16="http://schemas.microsoft.com/office/drawing/2014/main" id="{BB3B4521-663A-45A4-BB97-2D8A5C914729}"/>
              </a:ext>
            </a:extLst>
          </p:cNvPr>
          <p:cNvSpPr>
            <a:spLocks noGrp="1"/>
          </p:cNvSpPr>
          <p:nvPr/>
        </p:nvSpPr>
        <p:spPr>
          <a:xfrm>
            <a:off x="1743075" y="1285875"/>
            <a:ext cx="7524750" cy="4648200"/>
          </a:xfrm>
          <a:prstGeom prst="roundRect">
            <a:avLst>
              <a:gd name="adj" fmla="val 2459"/>
            </a:avLst>
          </a:prstGeom>
          <a:solidFill>
            <a:srgbClr val="FBFCFE"/>
          </a:solidFill>
          <a:ln w="17145">
            <a:solidFill>
              <a:srgbClr val="2767A8"/>
            </a:solidFill>
            <a:prstDash val="solid"/>
          </a:ln>
        </p:spPr>
        <p:txBody>
          <a:bodyPr/>
          <a:lstStyle/>
          <a:p>
            <a:endParaRPr/>
          </a:p>
        </p:txBody>
      </p:sp>
      <p:sp>
        <p:nvSpPr>
          <p:cNvPr id="5" name="region-label">
            <a:extLst>
              <a:ext uri="{FF2B5EF4-FFF2-40B4-BE49-F238E27FC236}">
                <a16:creationId xmlns:a16="http://schemas.microsoft.com/office/drawing/2014/main" id="{C5F49A12-9A1F-4FC3-BABA-87EEAB046B0D}"/>
              </a:ext>
            </a:extLst>
          </p:cNvPr>
          <p:cNvSpPr>
            <a:spLocks noGrp="1"/>
          </p:cNvSpPr>
          <p:nvPr/>
        </p:nvSpPr>
        <p:spPr>
          <a:xfrm>
            <a:off x="1952625" y="1371600"/>
            <a:ext cx="2381250" cy="190500"/>
          </a:xfrm>
          <a:prstGeom prst="rect">
            <a:avLst/>
          </a:prstGeom>
          <a:noFill/>
          <a:ln w="0">
            <a:noFill/>
            <a:prstDash val="solid"/>
          </a:ln>
        </p:spPr>
        <p:txBody>
          <a:bodyPr/>
          <a:lstStyle/>
          <a:p>
            <a:pPr>
              <a:buNone/>
              <a:defRPr sz="975" b="1">
                <a:solidFill>
                  <a:srgbClr val="2767A8"/>
                </a:solidFill>
              </a:defRPr>
            </a:pPr>
            <a:r>
              <a:rPr sz="975" b="1">
                <a:solidFill>
                  <a:srgbClr val="2767A8"/>
                </a:solidFill>
              </a:rPr>
              <a:t>AWS REGION • MULTI-AZ</a:t>
            </a:r>
          </a:p>
        </p:txBody>
      </p:sp>
      <p:sp>
        <p:nvSpPr>
          <p:cNvPr id="6" name="customer">
            <a:extLst>
              <a:ext uri="{FF2B5EF4-FFF2-40B4-BE49-F238E27FC236}">
                <a16:creationId xmlns:a16="http://schemas.microsoft.com/office/drawing/2014/main" id="{09DF7284-71E8-4950-976C-02C7C7BCFAD5}"/>
              </a:ext>
            </a:extLst>
          </p:cNvPr>
          <p:cNvSpPr>
            <a:spLocks noGrp="1"/>
          </p:cNvSpPr>
          <p:nvPr/>
        </p:nvSpPr>
        <p:spPr>
          <a:xfrm>
            <a:off x="266700" y="2609850"/>
            <a:ext cx="1285875" cy="990600"/>
          </a:xfrm>
          <a:prstGeom prst="roundRect">
            <a:avLst>
              <a:gd name="adj" fmla="val 7692"/>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7" name="customer-title">
            <a:extLst>
              <a:ext uri="{FF2B5EF4-FFF2-40B4-BE49-F238E27FC236}">
                <a16:creationId xmlns:a16="http://schemas.microsoft.com/office/drawing/2014/main" id="{99E3AFA4-8E27-45C8-B942-02B4619BE66D}"/>
              </a:ext>
            </a:extLst>
          </p:cNvPr>
          <p:cNvSpPr>
            <a:spLocks noGrp="1"/>
          </p:cNvSpPr>
          <p:nvPr/>
        </p:nvSpPr>
        <p:spPr>
          <a:xfrm>
            <a:off x="361950" y="2695575"/>
            <a:ext cx="1095375" cy="238125"/>
          </a:xfrm>
          <a:prstGeom prst="rect">
            <a:avLst/>
          </a:prstGeom>
          <a:noFill/>
          <a:ln w="0">
            <a:noFill/>
            <a:prstDash val="solid"/>
          </a:ln>
        </p:spPr>
        <p:txBody>
          <a:bodyPr/>
          <a:lstStyle/>
          <a:p>
            <a:pPr algn="ctr">
              <a:buNone/>
              <a:defRPr sz="1350" b="1">
                <a:solidFill>
                  <a:srgbClr val="172033"/>
                </a:solidFill>
              </a:defRPr>
            </a:pPr>
            <a:r>
              <a:rPr sz="1350" b="1">
                <a:solidFill>
                  <a:srgbClr val="172033"/>
                </a:solidFill>
              </a:rPr>
              <a:t>Customer</a:t>
            </a:r>
          </a:p>
        </p:txBody>
      </p:sp>
      <p:sp>
        <p:nvSpPr>
          <p:cNvPr id="8" name="customer-detail">
            <a:extLst>
              <a:ext uri="{FF2B5EF4-FFF2-40B4-BE49-F238E27FC236}">
                <a16:creationId xmlns:a16="http://schemas.microsoft.com/office/drawing/2014/main" id="{2C43F554-E164-4420-9841-495E95308DE5}"/>
              </a:ext>
            </a:extLst>
          </p:cNvPr>
          <p:cNvSpPr>
            <a:spLocks noGrp="1"/>
          </p:cNvSpPr>
          <p:nvPr/>
        </p:nvSpPr>
        <p:spPr>
          <a:xfrm>
            <a:off x="361950" y="2981325"/>
            <a:ext cx="1095375" cy="552450"/>
          </a:xfrm>
          <a:prstGeom prst="rect">
            <a:avLst/>
          </a:prstGeom>
          <a:noFill/>
          <a:ln w="0">
            <a:noFill/>
            <a:prstDash val="solid"/>
          </a:ln>
        </p:spPr>
        <p:txBody>
          <a:bodyPr/>
          <a:lstStyle/>
          <a:p>
            <a:pPr algn="ctr">
              <a:buNone/>
              <a:defRPr sz="900">
                <a:solidFill>
                  <a:srgbClr val="4B5563"/>
                </a:solidFill>
              </a:defRPr>
            </a:pPr>
            <a:r>
              <a:rPr sz="900">
                <a:solidFill>
                  <a:srgbClr val="4B5563"/>
                </a:solidFill>
              </a:rPr>
              <a:t>Web / mobile</a:t>
            </a:r>
          </a:p>
          <a:p>
            <a:pPr algn="ctr">
              <a:buNone/>
              <a:defRPr sz="900">
                <a:solidFill>
                  <a:srgbClr val="4B5563"/>
                </a:solidFill>
              </a:defRPr>
            </a:pPr>
            <a:r>
              <a:rPr sz="900">
                <a:solidFill>
                  <a:srgbClr val="4B5563"/>
                </a:solidFill>
              </a:rPr>
              <a:t>Guest or signed in</a:t>
            </a:r>
          </a:p>
        </p:txBody>
      </p:sp>
      <p:sp>
        <p:nvSpPr>
          <p:cNvPr id="9" name="dealer-staff">
            <a:extLst>
              <a:ext uri="{FF2B5EF4-FFF2-40B4-BE49-F238E27FC236}">
                <a16:creationId xmlns:a16="http://schemas.microsoft.com/office/drawing/2014/main" id="{9104DB18-B107-4789-A710-596DA29DF771}"/>
              </a:ext>
            </a:extLst>
          </p:cNvPr>
          <p:cNvSpPr>
            <a:spLocks noGrp="1"/>
          </p:cNvSpPr>
          <p:nvPr/>
        </p:nvSpPr>
        <p:spPr>
          <a:xfrm>
            <a:off x="266700" y="3886200"/>
            <a:ext cx="1285875" cy="990600"/>
          </a:xfrm>
          <a:prstGeom prst="roundRect">
            <a:avLst>
              <a:gd name="adj" fmla="val 7692"/>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dealer-staff-title">
            <a:extLst>
              <a:ext uri="{FF2B5EF4-FFF2-40B4-BE49-F238E27FC236}">
                <a16:creationId xmlns:a16="http://schemas.microsoft.com/office/drawing/2014/main" id="{651FE2BD-0503-4D17-A5AB-008298C4DCA0}"/>
              </a:ext>
            </a:extLst>
          </p:cNvPr>
          <p:cNvSpPr>
            <a:spLocks noGrp="1"/>
          </p:cNvSpPr>
          <p:nvPr/>
        </p:nvSpPr>
        <p:spPr>
          <a:xfrm>
            <a:off x="361950" y="3971925"/>
            <a:ext cx="1095375" cy="238125"/>
          </a:xfrm>
          <a:prstGeom prst="rect">
            <a:avLst/>
          </a:prstGeom>
          <a:noFill/>
          <a:ln w="0">
            <a:noFill/>
            <a:prstDash val="solid"/>
          </a:ln>
        </p:spPr>
        <p:txBody>
          <a:bodyPr/>
          <a:lstStyle/>
          <a:p>
            <a:pPr algn="ctr">
              <a:buNone/>
              <a:defRPr sz="1125" b="1">
                <a:solidFill>
                  <a:srgbClr val="172033"/>
                </a:solidFill>
              </a:defRPr>
            </a:pPr>
            <a:r>
              <a:rPr sz="1125" b="1">
                <a:solidFill>
                  <a:srgbClr val="172033"/>
                </a:solidFill>
              </a:rPr>
              <a:t>Dealer personnel</a:t>
            </a:r>
          </a:p>
        </p:txBody>
      </p:sp>
      <p:sp>
        <p:nvSpPr>
          <p:cNvPr id="11" name="dealer-staff-detail">
            <a:extLst>
              <a:ext uri="{FF2B5EF4-FFF2-40B4-BE49-F238E27FC236}">
                <a16:creationId xmlns:a16="http://schemas.microsoft.com/office/drawing/2014/main" id="{70CD0FB8-8216-424F-A349-DDC26F021BEB}"/>
              </a:ext>
            </a:extLst>
          </p:cNvPr>
          <p:cNvSpPr>
            <a:spLocks noGrp="1"/>
          </p:cNvSpPr>
          <p:nvPr/>
        </p:nvSpPr>
        <p:spPr>
          <a:xfrm>
            <a:off x="361950" y="4295775"/>
            <a:ext cx="1095375" cy="514350"/>
          </a:xfrm>
          <a:prstGeom prst="rect">
            <a:avLst/>
          </a:prstGeom>
          <a:noFill/>
          <a:ln w="0">
            <a:noFill/>
            <a:prstDash val="solid"/>
          </a:ln>
        </p:spPr>
        <p:txBody>
          <a:bodyPr/>
          <a:lstStyle/>
          <a:p>
            <a:pPr algn="ctr">
              <a:buNone/>
              <a:defRPr sz="825">
                <a:solidFill>
                  <a:srgbClr val="4B5563"/>
                </a:solidFill>
              </a:defRPr>
            </a:pPr>
            <a:r>
              <a:rPr sz="825">
                <a:solidFill>
                  <a:srgbClr val="4B5563"/>
                </a:solidFill>
              </a:rPr>
              <a:t>Dealer-scoped access</a:t>
            </a:r>
          </a:p>
        </p:txBody>
      </p:sp>
      <p:sp>
        <p:nvSpPr>
          <p:cNvPr id="12" name="controls">
            <a:extLst>
              <a:ext uri="{FF2B5EF4-FFF2-40B4-BE49-F238E27FC236}">
                <a16:creationId xmlns:a16="http://schemas.microsoft.com/office/drawing/2014/main" id="{BDBBA466-992A-4E19-96A3-9845987B0AFC}"/>
              </a:ext>
            </a:extLst>
          </p:cNvPr>
          <p:cNvSpPr>
            <a:spLocks noGrp="1"/>
          </p:cNvSpPr>
          <p:nvPr/>
        </p:nvSpPr>
        <p:spPr>
          <a:xfrm>
            <a:off x="2000250" y="1619250"/>
            <a:ext cx="7029450" cy="457200"/>
          </a:xfrm>
          <a:prstGeom prst="roundRect">
            <a:avLst>
              <a:gd name="adj" fmla="val 16667"/>
            </a:avLst>
          </a:prstGeom>
          <a:solidFill>
            <a:srgbClr val="F4F7FA"/>
          </a:solidFill>
          <a:ln w="13335">
            <a:solidFill>
              <a:srgbClr val="8491A3"/>
            </a:solidFill>
            <a:prstDash val="solid"/>
          </a:ln>
        </p:spPr>
        <p:txBody>
          <a:bodyPr/>
          <a:lstStyle/>
          <a:p>
            <a:endParaRPr/>
          </a:p>
        </p:txBody>
      </p:sp>
      <p:sp>
        <p:nvSpPr>
          <p:cNvPr id="13" name="controls-title">
            <a:extLst>
              <a:ext uri="{FF2B5EF4-FFF2-40B4-BE49-F238E27FC236}">
                <a16:creationId xmlns:a16="http://schemas.microsoft.com/office/drawing/2014/main" id="{345A70D5-1B6D-4BC0-B3AC-E21DDEC0A8D9}"/>
              </a:ext>
            </a:extLst>
          </p:cNvPr>
          <p:cNvSpPr>
            <a:spLocks noGrp="1"/>
          </p:cNvSpPr>
          <p:nvPr/>
        </p:nvSpPr>
        <p:spPr>
          <a:xfrm>
            <a:off x="3571875" y="1704975"/>
            <a:ext cx="5362575" cy="190500"/>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Security &amp; operations</a:t>
            </a:r>
          </a:p>
        </p:txBody>
      </p:sp>
      <p:sp>
        <p:nvSpPr>
          <p:cNvPr id="14" name="controls-detail">
            <a:extLst>
              <a:ext uri="{FF2B5EF4-FFF2-40B4-BE49-F238E27FC236}">
                <a16:creationId xmlns:a16="http://schemas.microsoft.com/office/drawing/2014/main" id="{9AF48167-2809-41E9-A160-42DC9E861D16}"/>
              </a:ext>
            </a:extLst>
          </p:cNvPr>
          <p:cNvSpPr>
            <a:spLocks noGrp="1"/>
          </p:cNvSpPr>
          <p:nvPr/>
        </p:nvSpPr>
        <p:spPr>
          <a:xfrm>
            <a:off x="2095500" y="1857375"/>
            <a:ext cx="6838950" cy="152400"/>
          </a:xfrm>
          <a:prstGeom prst="rect">
            <a:avLst/>
          </a:prstGeom>
          <a:noFill/>
          <a:ln w="0">
            <a:noFill/>
            <a:prstDash val="solid"/>
          </a:ln>
        </p:spPr>
        <p:txBody>
          <a:bodyPr/>
          <a:lstStyle/>
          <a:p>
            <a:pPr algn="ctr">
              <a:buNone/>
              <a:defRPr sz="900">
                <a:solidFill>
                  <a:srgbClr val="4B5563"/>
                </a:solidFill>
              </a:defRPr>
            </a:pPr>
            <a:r>
              <a:rPr sz="900">
                <a:solidFill>
                  <a:srgbClr val="4B5563"/>
                </a:solidFill>
              </a:rPr>
              <a:t>WAF / Shield • KMS • Secrets Manager • CloudWatch / X-Ray • CloudTrail</a:t>
            </a:r>
          </a:p>
        </p:txBody>
      </p:sp>
      <p:pic>
        <p:nvPicPr>
          <p:cNvPr id="458" name="Picture 149"/>
          <p:cNvPicPr>
            <a:picLocks noChangeAspect="1"/>
          </p:cNvPicPr>
          <p:nvPr/>
        </p:nvPicPr>
        <p:blipFill>
          <a:blip r:embed="rId3"/>
          <a:stretch/>
        </p:blipFill>
        <p:spPr>
          <a:xfrm>
            <a:off x="2095500" y="1724025"/>
            <a:ext cx="200025" cy="200025"/>
          </a:xfrm>
          <a:prstGeom prst="rect">
            <a:avLst/>
          </a:prstGeom>
        </p:spPr>
      </p:pic>
      <p:pic>
        <p:nvPicPr>
          <p:cNvPr id="459" name="Picture 150"/>
          <p:cNvPicPr>
            <a:picLocks noChangeAspect="1"/>
          </p:cNvPicPr>
          <p:nvPr/>
        </p:nvPicPr>
        <p:blipFill>
          <a:blip r:embed="rId4"/>
          <a:stretch/>
        </p:blipFill>
        <p:spPr>
          <a:xfrm>
            <a:off x="2362200" y="1724025"/>
            <a:ext cx="200025" cy="200025"/>
          </a:xfrm>
          <a:prstGeom prst="rect">
            <a:avLst/>
          </a:prstGeom>
        </p:spPr>
      </p:pic>
      <p:pic>
        <p:nvPicPr>
          <p:cNvPr id="460" name="Picture 151"/>
          <p:cNvPicPr>
            <a:picLocks noChangeAspect="1"/>
          </p:cNvPicPr>
          <p:nvPr/>
        </p:nvPicPr>
        <p:blipFill>
          <a:blip r:embed="rId5"/>
          <a:stretch/>
        </p:blipFill>
        <p:spPr>
          <a:xfrm>
            <a:off x="2628900" y="1724025"/>
            <a:ext cx="200025" cy="200025"/>
          </a:xfrm>
          <a:prstGeom prst="rect">
            <a:avLst/>
          </a:prstGeom>
        </p:spPr>
      </p:pic>
      <p:pic>
        <p:nvPicPr>
          <p:cNvPr id="461" name="Picture 152"/>
          <p:cNvPicPr>
            <a:picLocks noChangeAspect="1"/>
          </p:cNvPicPr>
          <p:nvPr/>
        </p:nvPicPr>
        <p:blipFill>
          <a:blip r:embed="rId6"/>
          <a:stretch/>
        </p:blipFill>
        <p:spPr>
          <a:xfrm>
            <a:off x="2895600" y="1724025"/>
            <a:ext cx="200025" cy="200025"/>
          </a:xfrm>
          <a:prstGeom prst="rect">
            <a:avLst/>
          </a:prstGeom>
        </p:spPr>
      </p:pic>
      <p:pic>
        <p:nvPicPr>
          <p:cNvPr id="462" name="Picture 153"/>
          <p:cNvPicPr>
            <a:picLocks noChangeAspect="1"/>
          </p:cNvPicPr>
          <p:nvPr/>
        </p:nvPicPr>
        <p:blipFill>
          <a:blip r:embed="rId7"/>
          <a:stretch/>
        </p:blipFill>
        <p:spPr>
          <a:xfrm>
            <a:off x="3162300" y="1724025"/>
            <a:ext cx="200025" cy="200025"/>
          </a:xfrm>
          <a:prstGeom prst="rect">
            <a:avLst/>
          </a:prstGeom>
        </p:spPr>
      </p:pic>
      <p:sp>
        <p:nvSpPr>
          <p:cNvPr id="20" name="edge">
            <a:extLst>
              <a:ext uri="{FF2B5EF4-FFF2-40B4-BE49-F238E27FC236}">
                <a16:creationId xmlns:a16="http://schemas.microsoft.com/office/drawing/2014/main" id="{92BAF990-2AE8-4203-9FCE-1A846B37314D}"/>
              </a:ext>
            </a:extLst>
          </p:cNvPr>
          <p:cNvSpPr>
            <a:spLocks noGrp="1"/>
          </p:cNvSpPr>
          <p:nvPr/>
        </p:nvSpPr>
        <p:spPr>
          <a:xfrm>
            <a:off x="2000250" y="2247900"/>
            <a:ext cx="1219200" cy="609600"/>
          </a:xfrm>
          <a:prstGeom prst="roundRect">
            <a:avLst>
              <a:gd name="adj" fmla="val 12500"/>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21" name="edge-title">
            <a:extLst>
              <a:ext uri="{FF2B5EF4-FFF2-40B4-BE49-F238E27FC236}">
                <a16:creationId xmlns:a16="http://schemas.microsoft.com/office/drawing/2014/main" id="{03C67BCD-8F2C-453A-854E-D7F6A508CF96}"/>
              </a:ext>
            </a:extLst>
          </p:cNvPr>
          <p:cNvSpPr>
            <a:spLocks noGrp="1"/>
          </p:cNvSpPr>
          <p:nvPr/>
        </p:nvSpPr>
        <p:spPr>
          <a:xfrm>
            <a:off x="2457450" y="2333625"/>
            <a:ext cx="66675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Web delivery</a:t>
            </a:r>
          </a:p>
        </p:txBody>
      </p:sp>
      <p:sp>
        <p:nvSpPr>
          <p:cNvPr id="22" name="edge-detail">
            <a:extLst>
              <a:ext uri="{FF2B5EF4-FFF2-40B4-BE49-F238E27FC236}">
                <a16:creationId xmlns:a16="http://schemas.microsoft.com/office/drawing/2014/main" id="{B69AC73E-E097-4335-9BF5-BFE4DC63B77E}"/>
              </a:ext>
            </a:extLst>
          </p:cNvPr>
          <p:cNvSpPr>
            <a:spLocks noGrp="1"/>
          </p:cNvSpPr>
          <p:nvPr/>
        </p:nvSpPr>
        <p:spPr>
          <a:xfrm>
            <a:off x="20955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CloudFront + S3</a:t>
            </a:r>
          </a:p>
        </p:txBody>
      </p:sp>
      <p:pic>
        <p:nvPicPr>
          <p:cNvPr id="466" name="Picture 157"/>
          <p:cNvPicPr>
            <a:picLocks noChangeAspect="1"/>
          </p:cNvPicPr>
          <p:nvPr/>
        </p:nvPicPr>
        <p:blipFill>
          <a:blip r:embed="rId8"/>
          <a:stretch/>
        </p:blipFill>
        <p:spPr>
          <a:xfrm>
            <a:off x="2066925" y="2324100"/>
            <a:ext cx="190500" cy="190500"/>
          </a:xfrm>
          <a:prstGeom prst="rect">
            <a:avLst/>
          </a:prstGeom>
        </p:spPr>
      </p:pic>
      <p:pic>
        <p:nvPicPr>
          <p:cNvPr id="467" name="Picture 158"/>
          <p:cNvPicPr>
            <a:picLocks noChangeAspect="1"/>
          </p:cNvPicPr>
          <p:nvPr/>
        </p:nvPicPr>
        <p:blipFill>
          <a:blip r:embed="rId9"/>
          <a:stretch/>
        </p:blipFill>
        <p:spPr>
          <a:xfrm>
            <a:off x="2266950" y="2324100"/>
            <a:ext cx="190500" cy="190500"/>
          </a:xfrm>
          <a:prstGeom prst="rect">
            <a:avLst/>
          </a:prstGeom>
        </p:spPr>
      </p:pic>
      <p:sp>
        <p:nvSpPr>
          <p:cNvPr id="25" name="identity">
            <a:extLst>
              <a:ext uri="{FF2B5EF4-FFF2-40B4-BE49-F238E27FC236}">
                <a16:creationId xmlns:a16="http://schemas.microsoft.com/office/drawing/2014/main" id="{9079D034-F449-4A96-987D-C71C1A07CD45}"/>
              </a:ext>
            </a:extLst>
          </p:cNvPr>
          <p:cNvSpPr>
            <a:spLocks noGrp="1"/>
          </p:cNvSpPr>
          <p:nvPr/>
        </p:nvSpPr>
        <p:spPr>
          <a:xfrm>
            <a:off x="3371850" y="2247900"/>
            <a:ext cx="1219200" cy="609600"/>
          </a:xfrm>
          <a:prstGeom prst="roundRect">
            <a:avLst>
              <a:gd name="adj" fmla="val 12500"/>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26" name="identity-title">
            <a:extLst>
              <a:ext uri="{FF2B5EF4-FFF2-40B4-BE49-F238E27FC236}">
                <a16:creationId xmlns:a16="http://schemas.microsoft.com/office/drawing/2014/main" id="{0701D49D-27B6-4983-8DB0-3EA790D2D256}"/>
              </a:ext>
            </a:extLst>
          </p:cNvPr>
          <p:cNvSpPr>
            <a:spLocks noGrp="1"/>
          </p:cNvSpPr>
          <p:nvPr/>
        </p:nvSpPr>
        <p:spPr>
          <a:xfrm>
            <a:off x="37338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Amazon Cognito</a:t>
            </a:r>
          </a:p>
        </p:txBody>
      </p:sp>
      <p:sp>
        <p:nvSpPr>
          <p:cNvPr id="27" name="identity-detail">
            <a:extLst>
              <a:ext uri="{FF2B5EF4-FFF2-40B4-BE49-F238E27FC236}">
                <a16:creationId xmlns:a16="http://schemas.microsoft.com/office/drawing/2014/main" id="{175DAA09-8B82-428B-A7A7-35CB87527A40}"/>
              </a:ext>
            </a:extLst>
          </p:cNvPr>
          <p:cNvSpPr>
            <a:spLocks noGrp="1"/>
          </p:cNvSpPr>
          <p:nvPr/>
        </p:nvSpPr>
        <p:spPr>
          <a:xfrm>
            <a:off x="34671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Customer identity</a:t>
            </a:r>
          </a:p>
        </p:txBody>
      </p:sp>
      <p:pic>
        <p:nvPicPr>
          <p:cNvPr id="471" name="Picture 162"/>
          <p:cNvPicPr>
            <a:picLocks noChangeAspect="1"/>
          </p:cNvPicPr>
          <p:nvPr/>
        </p:nvPicPr>
        <p:blipFill>
          <a:blip r:embed="rId10"/>
          <a:stretch/>
        </p:blipFill>
        <p:spPr>
          <a:xfrm>
            <a:off x="3448050" y="2314575"/>
            <a:ext cx="219075" cy="219075"/>
          </a:xfrm>
          <a:prstGeom prst="rect">
            <a:avLst/>
          </a:prstGeom>
        </p:spPr>
      </p:pic>
      <p:sp>
        <p:nvSpPr>
          <p:cNvPr id="29" name="api">
            <a:extLst>
              <a:ext uri="{FF2B5EF4-FFF2-40B4-BE49-F238E27FC236}">
                <a16:creationId xmlns:a16="http://schemas.microsoft.com/office/drawing/2014/main" id="{66672A18-C1C7-437B-862B-C92EC7B69921}"/>
              </a:ext>
            </a:extLst>
          </p:cNvPr>
          <p:cNvSpPr>
            <a:spLocks noGrp="1"/>
          </p:cNvSpPr>
          <p:nvPr/>
        </p:nvSpPr>
        <p:spPr>
          <a:xfrm>
            <a:off x="4743450" y="2247900"/>
            <a:ext cx="1219200" cy="609600"/>
          </a:xfrm>
          <a:prstGeom prst="roundRect">
            <a:avLst>
              <a:gd name="adj" fmla="val 12500"/>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30" name="api-title">
            <a:extLst>
              <a:ext uri="{FF2B5EF4-FFF2-40B4-BE49-F238E27FC236}">
                <a16:creationId xmlns:a16="http://schemas.microsoft.com/office/drawing/2014/main" id="{ABAD0A91-F94C-4F48-8737-31FCEFBECE0C}"/>
              </a:ext>
            </a:extLst>
          </p:cNvPr>
          <p:cNvSpPr>
            <a:spLocks noGrp="1"/>
          </p:cNvSpPr>
          <p:nvPr/>
        </p:nvSpPr>
        <p:spPr>
          <a:xfrm>
            <a:off x="51054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API Gateway</a:t>
            </a:r>
          </a:p>
        </p:txBody>
      </p:sp>
      <p:sp>
        <p:nvSpPr>
          <p:cNvPr id="31" name="api-detail">
            <a:extLst>
              <a:ext uri="{FF2B5EF4-FFF2-40B4-BE49-F238E27FC236}">
                <a16:creationId xmlns:a16="http://schemas.microsoft.com/office/drawing/2014/main" id="{C57B147D-FF7F-4412-878D-67F690C8DD44}"/>
              </a:ext>
            </a:extLst>
          </p:cNvPr>
          <p:cNvSpPr>
            <a:spLocks noGrp="1"/>
          </p:cNvSpPr>
          <p:nvPr/>
        </p:nvSpPr>
        <p:spPr>
          <a:xfrm>
            <a:off x="4838700" y="2628900"/>
            <a:ext cx="1028700" cy="161925"/>
          </a:xfrm>
          <a:prstGeom prst="rect">
            <a:avLst/>
          </a:prstGeom>
          <a:noFill/>
          <a:ln w="0">
            <a:noFill/>
            <a:prstDash val="solid"/>
          </a:ln>
        </p:spPr>
        <p:txBody>
          <a:bodyPr/>
          <a:lstStyle/>
          <a:p>
            <a:pPr algn="ctr">
              <a:buNone/>
              <a:defRPr sz="750">
                <a:solidFill>
                  <a:srgbClr val="4B5563"/>
                </a:solidFill>
              </a:defRPr>
            </a:pPr>
            <a:r>
              <a:rPr sz="750">
                <a:solidFill>
                  <a:srgbClr val="4B5563"/>
                </a:solidFill>
              </a:rPr>
              <a:t>REST APIs + throttling</a:t>
            </a:r>
          </a:p>
        </p:txBody>
      </p:sp>
      <p:pic>
        <p:nvPicPr>
          <p:cNvPr id="475" name="Picture 166"/>
          <p:cNvPicPr>
            <a:picLocks noChangeAspect="1"/>
          </p:cNvPicPr>
          <p:nvPr/>
        </p:nvPicPr>
        <p:blipFill>
          <a:blip r:embed="rId11"/>
          <a:stretch/>
        </p:blipFill>
        <p:spPr>
          <a:xfrm>
            <a:off x="4819650" y="2314575"/>
            <a:ext cx="219075" cy="219075"/>
          </a:xfrm>
          <a:prstGeom prst="rect">
            <a:avLst/>
          </a:prstGeom>
        </p:spPr>
      </p:pic>
      <p:sp>
        <p:nvSpPr>
          <p:cNvPr id="33" name="workflow">
            <a:extLst>
              <a:ext uri="{FF2B5EF4-FFF2-40B4-BE49-F238E27FC236}">
                <a16:creationId xmlns:a16="http://schemas.microsoft.com/office/drawing/2014/main" id="{811175D2-FF9A-47C5-A74C-B905D3218F04}"/>
              </a:ext>
            </a:extLst>
          </p:cNvPr>
          <p:cNvSpPr>
            <a:spLocks noGrp="1"/>
          </p:cNvSpPr>
          <p:nvPr/>
        </p:nvSpPr>
        <p:spPr>
          <a:xfrm>
            <a:off x="6115050" y="2247900"/>
            <a:ext cx="1219200" cy="609600"/>
          </a:xfrm>
          <a:prstGeom prst="roundRect">
            <a:avLst>
              <a:gd name="adj" fmla="val 12500"/>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34" name="workflow-title">
            <a:extLst>
              <a:ext uri="{FF2B5EF4-FFF2-40B4-BE49-F238E27FC236}">
                <a16:creationId xmlns:a16="http://schemas.microsoft.com/office/drawing/2014/main" id="{1406B22B-594B-4F6D-9855-52D79BFE0D4A}"/>
              </a:ext>
            </a:extLst>
          </p:cNvPr>
          <p:cNvSpPr>
            <a:spLocks noGrp="1"/>
          </p:cNvSpPr>
          <p:nvPr/>
        </p:nvSpPr>
        <p:spPr>
          <a:xfrm>
            <a:off x="64770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Step Functions</a:t>
            </a:r>
          </a:p>
        </p:txBody>
      </p:sp>
      <p:sp>
        <p:nvSpPr>
          <p:cNvPr id="35" name="workflow-detail">
            <a:extLst>
              <a:ext uri="{FF2B5EF4-FFF2-40B4-BE49-F238E27FC236}">
                <a16:creationId xmlns:a16="http://schemas.microsoft.com/office/drawing/2014/main" id="{DF73D229-2867-49D1-B96F-F6F55405EDEF}"/>
              </a:ext>
            </a:extLst>
          </p:cNvPr>
          <p:cNvSpPr>
            <a:spLocks noGrp="1"/>
          </p:cNvSpPr>
          <p:nvPr/>
        </p:nvSpPr>
        <p:spPr>
          <a:xfrm>
            <a:off x="62103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Booking saga</a:t>
            </a:r>
          </a:p>
        </p:txBody>
      </p:sp>
      <p:pic>
        <p:nvPicPr>
          <p:cNvPr id="479" name="Picture 170"/>
          <p:cNvPicPr>
            <a:picLocks noChangeAspect="1"/>
          </p:cNvPicPr>
          <p:nvPr/>
        </p:nvPicPr>
        <p:blipFill>
          <a:blip r:embed="rId12"/>
          <a:stretch/>
        </p:blipFill>
        <p:spPr>
          <a:xfrm>
            <a:off x="6191250" y="2314575"/>
            <a:ext cx="219075" cy="219075"/>
          </a:xfrm>
          <a:prstGeom prst="rect">
            <a:avLst/>
          </a:prstGeom>
        </p:spPr>
      </p:pic>
      <p:sp>
        <p:nvSpPr>
          <p:cNvPr id="37" name="domain-boundary">
            <a:extLst>
              <a:ext uri="{FF2B5EF4-FFF2-40B4-BE49-F238E27FC236}">
                <a16:creationId xmlns:a16="http://schemas.microsoft.com/office/drawing/2014/main" id="{C3E5BFBE-FC46-43CA-9BC2-722C0F48C662}"/>
              </a:ext>
            </a:extLst>
          </p:cNvPr>
          <p:cNvSpPr>
            <a:spLocks noGrp="1"/>
          </p:cNvSpPr>
          <p:nvPr/>
        </p:nvSpPr>
        <p:spPr>
          <a:xfrm>
            <a:off x="2000250" y="3048000"/>
            <a:ext cx="5334000" cy="1752600"/>
          </a:xfrm>
          <a:prstGeom prst="roundRect">
            <a:avLst>
              <a:gd name="adj" fmla="val 4348"/>
            </a:avLst>
          </a:prstGeom>
          <a:solidFill>
            <a:srgbClr val="FFFFFF"/>
          </a:solidFill>
          <a:ln w="11430">
            <a:solidFill>
              <a:srgbClr val="9AA4B2"/>
            </a:solidFill>
            <a:prstDash val="solid"/>
          </a:ln>
        </p:spPr>
        <p:txBody>
          <a:bodyPr/>
          <a:lstStyle/>
          <a:p>
            <a:endParaRPr/>
          </a:p>
        </p:txBody>
      </p:sp>
      <p:sp>
        <p:nvSpPr>
          <p:cNvPr id="38" name="domain-label">
            <a:extLst>
              <a:ext uri="{FF2B5EF4-FFF2-40B4-BE49-F238E27FC236}">
                <a16:creationId xmlns:a16="http://schemas.microsoft.com/office/drawing/2014/main" id="{C0F688DD-CA09-4655-81E4-970F02D82C0D}"/>
              </a:ext>
            </a:extLst>
          </p:cNvPr>
          <p:cNvSpPr>
            <a:spLocks noGrp="1"/>
          </p:cNvSpPr>
          <p:nvPr/>
        </p:nvSpPr>
        <p:spPr>
          <a:xfrm>
            <a:off x="2400300" y="3114675"/>
            <a:ext cx="3905250" cy="171450"/>
          </a:xfrm>
          <a:prstGeom prst="rect">
            <a:avLst/>
          </a:prstGeom>
          <a:noFill/>
          <a:ln w="0">
            <a:noFill/>
            <a:prstDash val="solid"/>
          </a:ln>
        </p:spPr>
        <p:txBody>
          <a:bodyPr/>
          <a:lstStyle/>
          <a:p>
            <a:pPr>
              <a:buNone/>
              <a:defRPr sz="825" b="1">
                <a:solidFill>
                  <a:srgbClr val="5B6472"/>
                </a:solidFill>
              </a:defRPr>
            </a:pPr>
            <a:r>
              <a:rPr sz="825" b="1">
                <a:solidFill>
                  <a:srgbClr val="5B6472"/>
                </a:solidFill>
              </a:rPr>
              <a:t>DOMAIN SERVICES • LAMBDA / CONTAINER ADAPTERS</a:t>
            </a:r>
          </a:p>
        </p:txBody>
      </p:sp>
      <p:pic>
        <p:nvPicPr>
          <p:cNvPr id="482" name="Picture 173"/>
          <p:cNvPicPr>
            <a:picLocks noChangeAspect="1"/>
          </p:cNvPicPr>
          <p:nvPr/>
        </p:nvPicPr>
        <p:blipFill>
          <a:blip r:embed="rId13"/>
          <a:stretch/>
        </p:blipFill>
        <p:spPr>
          <a:xfrm>
            <a:off x="2143125" y="3086100"/>
            <a:ext cx="200025" cy="200025"/>
          </a:xfrm>
          <a:prstGeom prst="rect">
            <a:avLst/>
          </a:prstGeom>
        </p:spPr>
      </p:pic>
      <p:sp>
        <p:nvSpPr>
          <p:cNvPr id="40" name="dealer-discovery">
            <a:extLst>
              <a:ext uri="{FF2B5EF4-FFF2-40B4-BE49-F238E27FC236}">
                <a16:creationId xmlns:a16="http://schemas.microsoft.com/office/drawing/2014/main" id="{EFF68930-B435-41A9-B14B-D41D1C247BB0}"/>
              </a:ext>
            </a:extLst>
          </p:cNvPr>
          <p:cNvSpPr>
            <a:spLocks noGrp="1"/>
          </p:cNvSpPr>
          <p:nvPr/>
        </p:nvSpPr>
        <p:spPr>
          <a:xfrm>
            <a:off x="2143125" y="3314700"/>
            <a:ext cx="1123950" cy="685800"/>
          </a:xfrm>
          <a:prstGeom prst="roundRect">
            <a:avLst>
              <a:gd name="adj" fmla="val 11111"/>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41" name="dealer-discovery-title">
            <a:extLst>
              <a:ext uri="{FF2B5EF4-FFF2-40B4-BE49-F238E27FC236}">
                <a16:creationId xmlns:a16="http://schemas.microsoft.com/office/drawing/2014/main" id="{2B44E4D0-FF86-414D-99AD-3C3E2FE38581}"/>
              </a:ext>
            </a:extLst>
          </p:cNvPr>
          <p:cNvSpPr>
            <a:spLocks noGrp="1"/>
          </p:cNvSpPr>
          <p:nvPr/>
        </p:nvSpPr>
        <p:spPr>
          <a:xfrm>
            <a:off x="22383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Dealer discovery</a:t>
            </a:r>
          </a:p>
        </p:txBody>
      </p:sp>
      <p:sp>
        <p:nvSpPr>
          <p:cNvPr id="42" name="dealer-discovery-detail">
            <a:extLst>
              <a:ext uri="{FF2B5EF4-FFF2-40B4-BE49-F238E27FC236}">
                <a16:creationId xmlns:a16="http://schemas.microsoft.com/office/drawing/2014/main" id="{E3C5BC0B-7F70-4178-81DE-92F145619890}"/>
              </a:ext>
            </a:extLst>
          </p:cNvPr>
          <p:cNvSpPr>
            <a:spLocks noGrp="1"/>
          </p:cNvSpPr>
          <p:nvPr/>
        </p:nvSpPr>
        <p:spPr>
          <a:xfrm>
            <a:off x="22383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ZIP / geo search</a:t>
            </a:r>
          </a:p>
        </p:txBody>
      </p:sp>
      <p:sp>
        <p:nvSpPr>
          <p:cNvPr id="43" name="vehicle-service">
            <a:extLst>
              <a:ext uri="{FF2B5EF4-FFF2-40B4-BE49-F238E27FC236}">
                <a16:creationId xmlns:a16="http://schemas.microsoft.com/office/drawing/2014/main" id="{0D228527-D81A-4DE3-9DBA-FCBEE6DF7370}"/>
              </a:ext>
            </a:extLst>
          </p:cNvPr>
          <p:cNvSpPr>
            <a:spLocks noGrp="1"/>
          </p:cNvSpPr>
          <p:nvPr/>
        </p:nvSpPr>
        <p:spPr>
          <a:xfrm>
            <a:off x="3400425" y="3314700"/>
            <a:ext cx="1123950" cy="685800"/>
          </a:xfrm>
          <a:prstGeom prst="roundRect">
            <a:avLst>
              <a:gd name="adj" fmla="val 11111"/>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44" name="vehicle-service-title">
            <a:extLst>
              <a:ext uri="{FF2B5EF4-FFF2-40B4-BE49-F238E27FC236}">
                <a16:creationId xmlns:a16="http://schemas.microsoft.com/office/drawing/2014/main" id="{287471A6-9C2A-4FFC-9655-93E41D6EE1B6}"/>
              </a:ext>
            </a:extLst>
          </p:cNvPr>
          <p:cNvSpPr>
            <a:spLocks noGrp="1"/>
          </p:cNvSpPr>
          <p:nvPr/>
        </p:nvSpPr>
        <p:spPr>
          <a:xfrm>
            <a:off x="34956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Vehicle service</a:t>
            </a:r>
          </a:p>
        </p:txBody>
      </p:sp>
      <p:sp>
        <p:nvSpPr>
          <p:cNvPr id="45" name="vehicle-service-detail">
            <a:extLst>
              <a:ext uri="{FF2B5EF4-FFF2-40B4-BE49-F238E27FC236}">
                <a16:creationId xmlns:a16="http://schemas.microsoft.com/office/drawing/2014/main" id="{33A797EE-66C0-49A5-A9D6-5C8C54AC685A}"/>
              </a:ext>
            </a:extLst>
          </p:cNvPr>
          <p:cNvSpPr>
            <a:spLocks noGrp="1"/>
          </p:cNvSpPr>
          <p:nvPr/>
        </p:nvSpPr>
        <p:spPr>
          <a:xfrm>
            <a:off x="34956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VIN + repair history</a:t>
            </a:r>
          </a:p>
        </p:txBody>
      </p:sp>
      <p:sp>
        <p:nvSpPr>
          <p:cNvPr id="46" name="availability-service">
            <a:extLst>
              <a:ext uri="{FF2B5EF4-FFF2-40B4-BE49-F238E27FC236}">
                <a16:creationId xmlns:a16="http://schemas.microsoft.com/office/drawing/2014/main" id="{FF5D8B1D-000D-4BA7-82E8-EA28498F33C2}"/>
              </a:ext>
            </a:extLst>
          </p:cNvPr>
          <p:cNvSpPr>
            <a:spLocks noGrp="1"/>
          </p:cNvSpPr>
          <p:nvPr/>
        </p:nvSpPr>
        <p:spPr>
          <a:xfrm>
            <a:off x="4657725" y="3314700"/>
            <a:ext cx="1123950" cy="685800"/>
          </a:xfrm>
          <a:prstGeom prst="roundRect">
            <a:avLst>
              <a:gd name="adj" fmla="val 11111"/>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47" name="availability-service-title">
            <a:extLst>
              <a:ext uri="{FF2B5EF4-FFF2-40B4-BE49-F238E27FC236}">
                <a16:creationId xmlns:a16="http://schemas.microsoft.com/office/drawing/2014/main" id="{FC9B7F33-31CC-41AD-8B4D-9CA81A79F2FA}"/>
              </a:ext>
            </a:extLst>
          </p:cNvPr>
          <p:cNvSpPr>
            <a:spLocks noGrp="1"/>
          </p:cNvSpPr>
          <p:nvPr/>
        </p:nvSpPr>
        <p:spPr>
          <a:xfrm>
            <a:off x="47529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Availability</a:t>
            </a:r>
          </a:p>
        </p:txBody>
      </p:sp>
      <p:sp>
        <p:nvSpPr>
          <p:cNvPr id="48" name="availability-service-detail">
            <a:extLst>
              <a:ext uri="{FF2B5EF4-FFF2-40B4-BE49-F238E27FC236}">
                <a16:creationId xmlns:a16="http://schemas.microsoft.com/office/drawing/2014/main" id="{9B1164B9-0468-4131-9701-EA68B0B6B746}"/>
              </a:ext>
            </a:extLst>
          </p:cNvPr>
          <p:cNvSpPr>
            <a:spLocks noGrp="1"/>
          </p:cNvSpPr>
          <p:nvPr/>
        </p:nvSpPr>
        <p:spPr>
          <a:xfrm>
            <a:off x="47529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Search + short hold</a:t>
            </a:r>
          </a:p>
        </p:txBody>
      </p:sp>
      <p:sp>
        <p:nvSpPr>
          <p:cNvPr id="49" name="booking-service">
            <a:extLst>
              <a:ext uri="{FF2B5EF4-FFF2-40B4-BE49-F238E27FC236}">
                <a16:creationId xmlns:a16="http://schemas.microsoft.com/office/drawing/2014/main" id="{D440F2A8-1195-44B0-9C8B-0D7C2F97F1CC}"/>
              </a:ext>
            </a:extLst>
          </p:cNvPr>
          <p:cNvSpPr>
            <a:spLocks noGrp="1"/>
          </p:cNvSpPr>
          <p:nvPr/>
        </p:nvSpPr>
        <p:spPr>
          <a:xfrm>
            <a:off x="5915025" y="3314700"/>
            <a:ext cx="1123950" cy="685800"/>
          </a:xfrm>
          <a:prstGeom prst="roundRect">
            <a:avLst>
              <a:gd name="adj" fmla="val 11111"/>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50" name="booking-service-title">
            <a:extLst>
              <a:ext uri="{FF2B5EF4-FFF2-40B4-BE49-F238E27FC236}">
                <a16:creationId xmlns:a16="http://schemas.microsoft.com/office/drawing/2014/main" id="{B8E17AD3-EAA3-433B-9430-DFAE7EBE72F7}"/>
              </a:ext>
            </a:extLst>
          </p:cNvPr>
          <p:cNvSpPr>
            <a:spLocks noGrp="1"/>
          </p:cNvSpPr>
          <p:nvPr/>
        </p:nvSpPr>
        <p:spPr>
          <a:xfrm>
            <a:off x="60102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Booking</a:t>
            </a:r>
          </a:p>
        </p:txBody>
      </p:sp>
      <p:sp>
        <p:nvSpPr>
          <p:cNvPr id="51" name="booking-service-detail">
            <a:extLst>
              <a:ext uri="{FF2B5EF4-FFF2-40B4-BE49-F238E27FC236}">
                <a16:creationId xmlns:a16="http://schemas.microsoft.com/office/drawing/2014/main" id="{028C4864-072B-414D-AEA8-07F4E1F14CDE}"/>
              </a:ext>
            </a:extLst>
          </p:cNvPr>
          <p:cNvSpPr>
            <a:spLocks noGrp="1"/>
          </p:cNvSpPr>
          <p:nvPr/>
        </p:nvSpPr>
        <p:spPr>
          <a:xfrm>
            <a:off x="60102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Confirm + reconcile</a:t>
            </a:r>
          </a:p>
        </p:txBody>
      </p:sp>
      <p:sp>
        <p:nvSpPr>
          <p:cNvPr id="52" name="location-store">
            <a:extLst>
              <a:ext uri="{FF2B5EF4-FFF2-40B4-BE49-F238E27FC236}">
                <a16:creationId xmlns:a16="http://schemas.microsoft.com/office/drawing/2014/main" id="{7EF6D795-8D30-4C7A-AFF1-16FB7AA74BEC}"/>
              </a:ext>
            </a:extLst>
          </p:cNvPr>
          <p:cNvSpPr>
            <a:spLocks noGrp="1"/>
          </p:cNvSpPr>
          <p:nvPr/>
        </p:nvSpPr>
        <p:spPr>
          <a:xfrm>
            <a:off x="21431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3" name="location-store-title">
            <a:extLst>
              <a:ext uri="{FF2B5EF4-FFF2-40B4-BE49-F238E27FC236}">
                <a16:creationId xmlns:a16="http://schemas.microsoft.com/office/drawing/2014/main" id="{1926E1CE-AA86-4A99-A2D2-DC3E5BE63700}"/>
              </a:ext>
            </a:extLst>
          </p:cNvPr>
          <p:cNvSpPr>
            <a:spLocks noGrp="1"/>
          </p:cNvSpPr>
          <p:nvPr/>
        </p:nvSpPr>
        <p:spPr>
          <a:xfrm>
            <a:off x="24669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Location Service</a:t>
            </a:r>
          </a:p>
        </p:txBody>
      </p:sp>
      <p:sp>
        <p:nvSpPr>
          <p:cNvPr id="54" name="location-store-detail">
            <a:extLst>
              <a:ext uri="{FF2B5EF4-FFF2-40B4-BE49-F238E27FC236}">
                <a16:creationId xmlns:a16="http://schemas.microsoft.com/office/drawing/2014/main" id="{1AECB717-3FD4-4FC6-9EBE-8FF2D47F494B}"/>
              </a:ext>
            </a:extLst>
          </p:cNvPr>
          <p:cNvSpPr>
            <a:spLocks noGrp="1"/>
          </p:cNvSpPr>
          <p:nvPr/>
        </p:nvSpPr>
        <p:spPr>
          <a:xfrm>
            <a:off x="2238375" y="4457700"/>
            <a:ext cx="933450" cy="123825"/>
          </a:xfrm>
          <a:prstGeom prst="rect">
            <a:avLst/>
          </a:prstGeom>
          <a:noFill/>
          <a:ln w="0">
            <a:noFill/>
            <a:prstDash val="solid"/>
          </a:ln>
        </p:spPr>
        <p:txBody>
          <a:bodyPr/>
          <a:lstStyle/>
          <a:p>
            <a:pPr algn="ctr">
              <a:buNone/>
              <a:defRPr sz="750">
                <a:solidFill>
                  <a:srgbClr val="4B5563"/>
                </a:solidFill>
              </a:defRPr>
            </a:pPr>
            <a:r>
              <a:rPr sz="750">
                <a:solidFill>
                  <a:srgbClr val="4B5563"/>
                </a:solidFill>
              </a:rPr>
              <a:t>Dealer index</a:t>
            </a:r>
          </a:p>
        </p:txBody>
      </p:sp>
      <p:pic>
        <p:nvPicPr>
          <p:cNvPr id="498" name="Picture 189"/>
          <p:cNvPicPr>
            <a:picLocks noChangeAspect="1"/>
          </p:cNvPicPr>
          <p:nvPr/>
        </p:nvPicPr>
        <p:blipFill>
          <a:blip r:embed="rId14"/>
          <a:stretch/>
        </p:blipFill>
        <p:spPr>
          <a:xfrm>
            <a:off x="2219325" y="4191000"/>
            <a:ext cx="180975" cy="180975"/>
          </a:xfrm>
          <a:prstGeom prst="rect">
            <a:avLst/>
          </a:prstGeom>
        </p:spPr>
      </p:pic>
      <p:sp>
        <p:nvSpPr>
          <p:cNvPr id="56" name="state-store">
            <a:extLst>
              <a:ext uri="{FF2B5EF4-FFF2-40B4-BE49-F238E27FC236}">
                <a16:creationId xmlns:a16="http://schemas.microsoft.com/office/drawing/2014/main" id="{C1EDFF08-0B95-4398-8F85-405D90511662}"/>
              </a:ext>
            </a:extLst>
          </p:cNvPr>
          <p:cNvSpPr>
            <a:spLocks noGrp="1"/>
          </p:cNvSpPr>
          <p:nvPr/>
        </p:nvSpPr>
        <p:spPr>
          <a:xfrm>
            <a:off x="34004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7" name="state-store-title">
            <a:extLst>
              <a:ext uri="{FF2B5EF4-FFF2-40B4-BE49-F238E27FC236}">
                <a16:creationId xmlns:a16="http://schemas.microsoft.com/office/drawing/2014/main" id="{D81997B4-03E9-4877-9765-2B3FC10C2D52}"/>
              </a:ext>
            </a:extLst>
          </p:cNvPr>
          <p:cNvSpPr>
            <a:spLocks noGrp="1"/>
          </p:cNvSpPr>
          <p:nvPr/>
        </p:nvSpPr>
        <p:spPr>
          <a:xfrm>
            <a:off x="37242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DynamoDB</a:t>
            </a:r>
          </a:p>
        </p:txBody>
      </p:sp>
      <p:sp>
        <p:nvSpPr>
          <p:cNvPr id="58" name="state-store-detail">
            <a:extLst>
              <a:ext uri="{FF2B5EF4-FFF2-40B4-BE49-F238E27FC236}">
                <a16:creationId xmlns:a16="http://schemas.microsoft.com/office/drawing/2014/main" id="{A61FD084-08CA-4288-A5B8-A615019269FC}"/>
              </a:ext>
            </a:extLst>
          </p:cNvPr>
          <p:cNvSpPr>
            <a:spLocks noGrp="1"/>
          </p:cNvSpPr>
          <p:nvPr/>
        </p:nvSpPr>
        <p:spPr>
          <a:xfrm>
            <a:off x="34956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Profile • booking • idempotency</a:t>
            </a:r>
          </a:p>
        </p:txBody>
      </p:sp>
      <p:pic>
        <p:nvPicPr>
          <p:cNvPr id="502" name="Picture 193"/>
          <p:cNvPicPr>
            <a:picLocks noChangeAspect="1"/>
          </p:cNvPicPr>
          <p:nvPr/>
        </p:nvPicPr>
        <p:blipFill>
          <a:blip r:embed="rId15"/>
          <a:stretch/>
        </p:blipFill>
        <p:spPr>
          <a:xfrm>
            <a:off x="3476625" y="4191000"/>
            <a:ext cx="180975" cy="180975"/>
          </a:xfrm>
          <a:prstGeom prst="rect">
            <a:avLst/>
          </a:prstGeom>
        </p:spPr>
      </p:pic>
      <p:sp>
        <p:nvSpPr>
          <p:cNvPr id="60" name="cache">
            <a:extLst>
              <a:ext uri="{FF2B5EF4-FFF2-40B4-BE49-F238E27FC236}">
                <a16:creationId xmlns:a16="http://schemas.microsoft.com/office/drawing/2014/main" id="{5BECCF9C-CD04-4C97-826B-4D22792050F6}"/>
              </a:ext>
            </a:extLst>
          </p:cNvPr>
          <p:cNvSpPr>
            <a:spLocks noGrp="1"/>
          </p:cNvSpPr>
          <p:nvPr/>
        </p:nvSpPr>
        <p:spPr>
          <a:xfrm>
            <a:off x="46577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1" name="cache-title">
            <a:extLst>
              <a:ext uri="{FF2B5EF4-FFF2-40B4-BE49-F238E27FC236}">
                <a16:creationId xmlns:a16="http://schemas.microsoft.com/office/drawing/2014/main" id="{482FAD0B-E868-4D8B-B3BB-86865E76C325}"/>
              </a:ext>
            </a:extLst>
          </p:cNvPr>
          <p:cNvSpPr>
            <a:spLocks noGrp="1"/>
          </p:cNvSpPr>
          <p:nvPr/>
        </p:nvSpPr>
        <p:spPr>
          <a:xfrm>
            <a:off x="49815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Valkey cache</a:t>
            </a:r>
          </a:p>
        </p:txBody>
      </p:sp>
      <p:sp>
        <p:nvSpPr>
          <p:cNvPr id="62" name="cache-detail">
            <a:extLst>
              <a:ext uri="{FF2B5EF4-FFF2-40B4-BE49-F238E27FC236}">
                <a16:creationId xmlns:a16="http://schemas.microsoft.com/office/drawing/2014/main" id="{7046A313-5538-4611-83A4-02A00EC7712B}"/>
              </a:ext>
            </a:extLst>
          </p:cNvPr>
          <p:cNvSpPr>
            <a:spLocks noGrp="1"/>
          </p:cNvSpPr>
          <p:nvPr/>
        </p:nvSpPr>
        <p:spPr>
          <a:xfrm>
            <a:off x="47529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Short-lived slot views</a:t>
            </a:r>
          </a:p>
        </p:txBody>
      </p:sp>
      <p:pic>
        <p:nvPicPr>
          <p:cNvPr id="506" name="Picture 197"/>
          <p:cNvPicPr>
            <a:picLocks noChangeAspect="1"/>
          </p:cNvPicPr>
          <p:nvPr/>
        </p:nvPicPr>
        <p:blipFill>
          <a:blip r:embed="rId16"/>
          <a:stretch/>
        </p:blipFill>
        <p:spPr>
          <a:xfrm>
            <a:off x="4733925" y="4191000"/>
            <a:ext cx="180975" cy="180975"/>
          </a:xfrm>
          <a:prstGeom prst="rect">
            <a:avLst/>
          </a:prstGeom>
        </p:spPr>
      </p:pic>
      <p:sp>
        <p:nvSpPr>
          <p:cNvPr id="64" name="events">
            <a:extLst>
              <a:ext uri="{FF2B5EF4-FFF2-40B4-BE49-F238E27FC236}">
                <a16:creationId xmlns:a16="http://schemas.microsoft.com/office/drawing/2014/main" id="{D5882383-9C00-452A-8E24-5BBCDEFE4F0B}"/>
              </a:ext>
            </a:extLst>
          </p:cNvPr>
          <p:cNvSpPr>
            <a:spLocks noGrp="1"/>
          </p:cNvSpPr>
          <p:nvPr/>
        </p:nvSpPr>
        <p:spPr>
          <a:xfrm>
            <a:off x="59150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5" name="events-title">
            <a:extLst>
              <a:ext uri="{FF2B5EF4-FFF2-40B4-BE49-F238E27FC236}">
                <a16:creationId xmlns:a16="http://schemas.microsoft.com/office/drawing/2014/main" id="{00884603-2CAA-486E-839C-4AEF7EAA0845}"/>
              </a:ext>
            </a:extLst>
          </p:cNvPr>
          <p:cNvSpPr>
            <a:spLocks noGrp="1"/>
          </p:cNvSpPr>
          <p:nvPr/>
        </p:nvSpPr>
        <p:spPr>
          <a:xfrm>
            <a:off x="6372225" y="4219575"/>
            <a:ext cx="571500" cy="266700"/>
          </a:xfrm>
          <a:prstGeom prst="rect">
            <a:avLst/>
          </a:prstGeom>
          <a:noFill/>
          <a:ln w="0">
            <a:noFill/>
            <a:prstDash val="solid"/>
          </a:ln>
        </p:spPr>
        <p:txBody>
          <a:bodyPr/>
          <a:lstStyle/>
          <a:p>
            <a:pPr algn="l">
              <a:buNone/>
              <a:defRPr sz="750" b="1">
                <a:solidFill>
                  <a:srgbClr val="172033"/>
                </a:solidFill>
              </a:defRPr>
            </a:pPr>
            <a:r>
              <a:rPr sz="750" b="1">
                <a:solidFill>
                  <a:srgbClr val="172033"/>
                </a:solidFill>
              </a:rPr>
              <a:t>Events + queues</a:t>
            </a:r>
          </a:p>
        </p:txBody>
      </p:sp>
      <p:sp>
        <p:nvSpPr>
          <p:cNvPr id="66" name="events-detail">
            <a:extLst>
              <a:ext uri="{FF2B5EF4-FFF2-40B4-BE49-F238E27FC236}">
                <a16:creationId xmlns:a16="http://schemas.microsoft.com/office/drawing/2014/main" id="{041C8320-0B1E-4554-A35C-E6BF365FDD7B}"/>
              </a:ext>
            </a:extLst>
          </p:cNvPr>
          <p:cNvSpPr>
            <a:spLocks noGrp="1"/>
          </p:cNvSpPr>
          <p:nvPr/>
        </p:nvSpPr>
        <p:spPr>
          <a:xfrm>
            <a:off x="6010275" y="4457700"/>
            <a:ext cx="933450" cy="123825"/>
          </a:xfrm>
          <a:prstGeom prst="rect">
            <a:avLst/>
          </a:prstGeom>
          <a:noFill/>
          <a:ln w="0">
            <a:noFill/>
            <a:prstDash val="solid"/>
          </a:ln>
        </p:spPr>
        <p:txBody>
          <a:bodyPr/>
          <a:lstStyle/>
          <a:p>
            <a:pPr algn="ctr">
              <a:buNone/>
              <a:defRPr sz="600">
                <a:solidFill>
                  <a:srgbClr val="4B5563"/>
                </a:solidFill>
              </a:defRPr>
            </a:pPr>
            <a:r>
              <a:rPr sz="600">
                <a:solidFill>
                  <a:srgbClr val="4B5563"/>
                </a:solidFill>
              </a:rPr>
              <a:t>EventBridge • SQS • DLQs</a:t>
            </a:r>
          </a:p>
        </p:txBody>
      </p:sp>
      <p:pic>
        <p:nvPicPr>
          <p:cNvPr id="510" name="Picture 201"/>
          <p:cNvPicPr>
            <a:picLocks noChangeAspect="1"/>
          </p:cNvPicPr>
          <p:nvPr/>
        </p:nvPicPr>
        <p:blipFill>
          <a:blip r:embed="rId17"/>
          <a:stretch/>
        </p:blipFill>
        <p:spPr>
          <a:xfrm>
            <a:off x="5981700" y="4191000"/>
            <a:ext cx="171450" cy="171450"/>
          </a:xfrm>
          <a:prstGeom prst="rect">
            <a:avLst/>
          </a:prstGeom>
        </p:spPr>
      </p:pic>
      <p:pic>
        <p:nvPicPr>
          <p:cNvPr id="511" name="Picture 202"/>
          <p:cNvPicPr>
            <a:picLocks noChangeAspect="1"/>
          </p:cNvPicPr>
          <p:nvPr/>
        </p:nvPicPr>
        <p:blipFill>
          <a:blip r:embed="rId18"/>
          <a:stretch/>
        </p:blipFill>
        <p:spPr>
          <a:xfrm>
            <a:off x="6162675" y="4191000"/>
            <a:ext cx="171450" cy="171450"/>
          </a:xfrm>
          <a:prstGeom prst="rect">
            <a:avLst/>
          </a:prstGeom>
        </p:spPr>
      </p:pic>
      <p:sp>
        <p:nvSpPr>
          <p:cNvPr id="69" name="integration-boundary">
            <a:extLst>
              <a:ext uri="{FF2B5EF4-FFF2-40B4-BE49-F238E27FC236}">
                <a16:creationId xmlns:a16="http://schemas.microsoft.com/office/drawing/2014/main" id="{0195EB85-B4AF-4AD2-A798-A4B62F4D28D1}"/>
              </a:ext>
            </a:extLst>
          </p:cNvPr>
          <p:cNvSpPr>
            <a:spLocks noGrp="1"/>
          </p:cNvSpPr>
          <p:nvPr/>
        </p:nvSpPr>
        <p:spPr>
          <a:xfrm>
            <a:off x="7524750" y="2247900"/>
            <a:ext cx="1504950" cy="2552700"/>
          </a:xfrm>
          <a:prstGeom prst="roundRect">
            <a:avLst>
              <a:gd name="adj" fmla="val 5063"/>
            </a:avLst>
          </a:prstGeom>
          <a:solidFill>
            <a:srgbClr val="F5FBFA"/>
          </a:solidFill>
          <a:ln w="14288">
            <a:solidFill>
              <a:srgbClr val="198E84"/>
            </a:solidFill>
            <a:prstDash val="solid"/>
          </a:ln>
        </p:spPr>
        <p:txBody>
          <a:bodyPr/>
          <a:lstStyle/>
          <a:p>
            <a:endParaRPr/>
          </a:p>
        </p:txBody>
      </p:sp>
      <p:sp>
        <p:nvSpPr>
          <p:cNvPr id="70" name="integration-label">
            <a:extLst>
              <a:ext uri="{FF2B5EF4-FFF2-40B4-BE49-F238E27FC236}">
                <a16:creationId xmlns:a16="http://schemas.microsoft.com/office/drawing/2014/main" id="{20BCE8C6-D8E9-4C5B-8020-4B2BF72E20C4}"/>
              </a:ext>
            </a:extLst>
          </p:cNvPr>
          <p:cNvSpPr>
            <a:spLocks noGrp="1"/>
          </p:cNvSpPr>
          <p:nvPr/>
        </p:nvSpPr>
        <p:spPr>
          <a:xfrm>
            <a:off x="7667625" y="2390775"/>
            <a:ext cx="1219200" cy="361950"/>
          </a:xfrm>
          <a:prstGeom prst="rect">
            <a:avLst/>
          </a:prstGeom>
          <a:noFill/>
          <a:ln w="0">
            <a:noFill/>
            <a:prstDash val="solid"/>
          </a:ln>
        </p:spPr>
        <p:txBody>
          <a:bodyPr/>
          <a:lstStyle/>
          <a:p>
            <a:pPr algn="ctr">
              <a:buNone/>
              <a:defRPr sz="900" b="1">
                <a:solidFill>
                  <a:srgbClr val="198E84"/>
                </a:solidFill>
              </a:defRPr>
            </a:pPr>
            <a:r>
              <a:rPr sz="900" b="1">
                <a:solidFill>
                  <a:srgbClr val="198E84"/>
                </a:solidFill>
              </a:rPr>
              <a:t>STANDARDIZED</a:t>
            </a:r>
          </a:p>
          <a:p>
            <a:pPr algn="ctr">
              <a:buNone/>
              <a:defRPr sz="900" b="1">
                <a:solidFill>
                  <a:srgbClr val="198E84"/>
                </a:solidFill>
              </a:defRPr>
            </a:pPr>
            <a:r>
              <a:rPr sz="900" b="1">
                <a:solidFill>
                  <a:srgbClr val="198E84"/>
                </a:solidFill>
              </a:rPr>
              <a:t>INTEGRATION LAYER</a:t>
            </a:r>
          </a:p>
        </p:txBody>
      </p:sp>
      <p:sp>
        <p:nvSpPr>
          <p:cNvPr id="71" name="vin-adapter">
            <a:extLst>
              <a:ext uri="{FF2B5EF4-FFF2-40B4-BE49-F238E27FC236}">
                <a16:creationId xmlns:a16="http://schemas.microsoft.com/office/drawing/2014/main" id="{30397F95-0477-4AEA-9708-EAA8D97218E0}"/>
              </a:ext>
            </a:extLst>
          </p:cNvPr>
          <p:cNvSpPr>
            <a:spLocks noGrp="1"/>
          </p:cNvSpPr>
          <p:nvPr/>
        </p:nvSpPr>
        <p:spPr>
          <a:xfrm>
            <a:off x="7677150" y="28575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2" name="vin-adapter-title">
            <a:extLst>
              <a:ext uri="{FF2B5EF4-FFF2-40B4-BE49-F238E27FC236}">
                <a16:creationId xmlns:a16="http://schemas.microsoft.com/office/drawing/2014/main" id="{64FD6AB3-D154-49F4-AC5D-13406AB73FDC}"/>
              </a:ext>
            </a:extLst>
          </p:cNvPr>
          <p:cNvSpPr>
            <a:spLocks noGrp="1"/>
          </p:cNvSpPr>
          <p:nvPr/>
        </p:nvSpPr>
        <p:spPr>
          <a:xfrm>
            <a:off x="7772400" y="29432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VIN adapter</a:t>
            </a:r>
          </a:p>
        </p:txBody>
      </p:sp>
      <p:sp>
        <p:nvSpPr>
          <p:cNvPr id="73" name="vin-adapter-detail">
            <a:extLst>
              <a:ext uri="{FF2B5EF4-FFF2-40B4-BE49-F238E27FC236}">
                <a16:creationId xmlns:a16="http://schemas.microsoft.com/office/drawing/2014/main" id="{FDFC0796-FF9A-4B06-9D69-AEDB0CEAFF76}"/>
              </a:ext>
            </a:extLst>
          </p:cNvPr>
          <p:cNvSpPr>
            <a:spLocks noGrp="1"/>
          </p:cNvSpPr>
          <p:nvPr/>
        </p:nvSpPr>
        <p:spPr>
          <a:xfrm>
            <a:off x="7772400" y="32004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Timeout + circuit breaker</a:t>
            </a:r>
          </a:p>
        </p:txBody>
      </p:sp>
      <p:sp>
        <p:nvSpPr>
          <p:cNvPr id="74" name="history-adapter">
            <a:extLst>
              <a:ext uri="{FF2B5EF4-FFF2-40B4-BE49-F238E27FC236}">
                <a16:creationId xmlns:a16="http://schemas.microsoft.com/office/drawing/2014/main" id="{FE309A5F-3511-4BE3-AB34-F870B04B5CC0}"/>
              </a:ext>
            </a:extLst>
          </p:cNvPr>
          <p:cNvSpPr>
            <a:spLocks noGrp="1"/>
          </p:cNvSpPr>
          <p:nvPr/>
        </p:nvSpPr>
        <p:spPr>
          <a:xfrm>
            <a:off x="7677150" y="356235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5" name="history-adapter-title">
            <a:extLst>
              <a:ext uri="{FF2B5EF4-FFF2-40B4-BE49-F238E27FC236}">
                <a16:creationId xmlns:a16="http://schemas.microsoft.com/office/drawing/2014/main" id="{E9FEE3EF-A012-411A-B050-6E7CA50F3D66}"/>
              </a:ext>
            </a:extLst>
          </p:cNvPr>
          <p:cNvSpPr>
            <a:spLocks noGrp="1"/>
          </p:cNvSpPr>
          <p:nvPr/>
        </p:nvSpPr>
        <p:spPr>
          <a:xfrm>
            <a:off x="7772400" y="3648075"/>
            <a:ext cx="1009650" cy="257175"/>
          </a:xfrm>
          <a:prstGeom prst="rect">
            <a:avLst/>
          </a:prstGeom>
          <a:noFill/>
          <a:ln w="0">
            <a:noFill/>
            <a:prstDash val="solid"/>
          </a:ln>
        </p:spPr>
        <p:txBody>
          <a:bodyPr/>
          <a:lstStyle/>
          <a:p>
            <a:pPr algn="ctr">
              <a:buNone/>
              <a:defRPr sz="825" b="1">
                <a:solidFill>
                  <a:srgbClr val="172033"/>
                </a:solidFill>
              </a:defRPr>
            </a:pPr>
            <a:r>
              <a:rPr sz="825" b="1">
                <a:solidFill>
                  <a:srgbClr val="172033"/>
                </a:solidFill>
              </a:rPr>
              <a:t>Mainframe adapter</a:t>
            </a:r>
          </a:p>
        </p:txBody>
      </p:sp>
      <p:sp>
        <p:nvSpPr>
          <p:cNvPr id="76" name="history-adapter-detail">
            <a:extLst>
              <a:ext uri="{FF2B5EF4-FFF2-40B4-BE49-F238E27FC236}">
                <a16:creationId xmlns:a16="http://schemas.microsoft.com/office/drawing/2014/main" id="{5DABFE09-7C13-4111-AE12-5A7665DF5FA7}"/>
              </a:ext>
            </a:extLst>
          </p:cNvPr>
          <p:cNvSpPr>
            <a:spLocks noGrp="1"/>
          </p:cNvSpPr>
          <p:nvPr/>
        </p:nvSpPr>
        <p:spPr>
          <a:xfrm>
            <a:off x="7772400" y="390525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MQ + schema mapping</a:t>
            </a:r>
          </a:p>
        </p:txBody>
      </p:sp>
      <p:sp>
        <p:nvSpPr>
          <p:cNvPr id="77" name="dealer-adapter">
            <a:extLst>
              <a:ext uri="{FF2B5EF4-FFF2-40B4-BE49-F238E27FC236}">
                <a16:creationId xmlns:a16="http://schemas.microsoft.com/office/drawing/2014/main" id="{9386F60F-C8A9-40C8-83E0-267FAFEED1D1}"/>
              </a:ext>
            </a:extLst>
          </p:cNvPr>
          <p:cNvSpPr>
            <a:spLocks noGrp="1"/>
          </p:cNvSpPr>
          <p:nvPr/>
        </p:nvSpPr>
        <p:spPr>
          <a:xfrm>
            <a:off x="7677150" y="42672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8" name="dealer-adapter-title">
            <a:extLst>
              <a:ext uri="{FF2B5EF4-FFF2-40B4-BE49-F238E27FC236}">
                <a16:creationId xmlns:a16="http://schemas.microsoft.com/office/drawing/2014/main" id="{E640F1EA-46D8-4C51-895A-76E0A2E227AD}"/>
              </a:ext>
            </a:extLst>
          </p:cNvPr>
          <p:cNvSpPr>
            <a:spLocks noGrp="1"/>
          </p:cNvSpPr>
          <p:nvPr/>
        </p:nvSpPr>
        <p:spPr>
          <a:xfrm>
            <a:off x="7772400" y="43529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Dealer adapters</a:t>
            </a:r>
          </a:p>
        </p:txBody>
      </p:sp>
      <p:sp>
        <p:nvSpPr>
          <p:cNvPr id="79" name="dealer-adapter-detail">
            <a:extLst>
              <a:ext uri="{FF2B5EF4-FFF2-40B4-BE49-F238E27FC236}">
                <a16:creationId xmlns:a16="http://schemas.microsoft.com/office/drawing/2014/main" id="{107BDBEA-2258-4241-9895-DAA691338B57}"/>
              </a:ext>
            </a:extLst>
          </p:cNvPr>
          <p:cNvSpPr>
            <a:spLocks noGrp="1"/>
          </p:cNvSpPr>
          <p:nvPr/>
        </p:nvSpPr>
        <p:spPr>
          <a:xfrm>
            <a:off x="7772400" y="46101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mTLS • hold / confirm</a:t>
            </a:r>
          </a:p>
        </p:txBody>
      </p:sp>
      <p:sp>
        <p:nvSpPr>
          <p:cNvPr id="80" name="notification">
            <a:extLst>
              <a:ext uri="{FF2B5EF4-FFF2-40B4-BE49-F238E27FC236}">
                <a16:creationId xmlns:a16="http://schemas.microsoft.com/office/drawing/2014/main" id="{062EC79C-71EE-4AD8-A19F-87458B06EDAD}"/>
              </a:ext>
            </a:extLst>
          </p:cNvPr>
          <p:cNvSpPr>
            <a:spLocks noGrp="1"/>
          </p:cNvSpPr>
          <p:nvPr/>
        </p:nvSpPr>
        <p:spPr>
          <a:xfrm>
            <a:off x="2000250" y="5000625"/>
            <a:ext cx="2324100" cy="552450"/>
          </a:xfrm>
          <a:prstGeom prst="roundRect">
            <a:avLst>
              <a:gd name="adj" fmla="val 13793"/>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81" name="notification-title">
            <a:extLst>
              <a:ext uri="{FF2B5EF4-FFF2-40B4-BE49-F238E27FC236}">
                <a16:creationId xmlns:a16="http://schemas.microsoft.com/office/drawing/2014/main" id="{74309C89-69F6-436C-B8A5-E15BA4300ABB}"/>
              </a:ext>
            </a:extLst>
          </p:cNvPr>
          <p:cNvSpPr>
            <a:spLocks noGrp="1"/>
          </p:cNvSpPr>
          <p:nvPr/>
        </p:nvSpPr>
        <p:spPr>
          <a:xfrm>
            <a:off x="2619375" y="5086350"/>
            <a:ext cx="1609725"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Notifications</a:t>
            </a:r>
          </a:p>
        </p:txBody>
      </p:sp>
      <p:sp>
        <p:nvSpPr>
          <p:cNvPr id="82" name="notification-detail">
            <a:extLst>
              <a:ext uri="{FF2B5EF4-FFF2-40B4-BE49-F238E27FC236}">
                <a16:creationId xmlns:a16="http://schemas.microsoft.com/office/drawing/2014/main" id="{29A463C7-37F6-40CA-BB3C-E157D7E4A09D}"/>
              </a:ext>
            </a:extLst>
          </p:cNvPr>
          <p:cNvSpPr>
            <a:spLocks noGrp="1"/>
          </p:cNvSpPr>
          <p:nvPr/>
        </p:nvSpPr>
        <p:spPr>
          <a:xfrm>
            <a:off x="2095500" y="5295900"/>
            <a:ext cx="21336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SES email • SNS SMS • reminders</a:t>
            </a:r>
          </a:p>
        </p:txBody>
      </p:sp>
      <p:pic>
        <p:nvPicPr>
          <p:cNvPr id="526" name="Picture 217"/>
          <p:cNvPicPr>
            <a:picLocks noChangeAspect="1"/>
          </p:cNvPicPr>
          <p:nvPr/>
        </p:nvPicPr>
        <p:blipFill>
          <a:blip r:embed="rId19"/>
          <a:stretch/>
        </p:blipFill>
        <p:spPr>
          <a:xfrm>
            <a:off x="2095500" y="5076825"/>
            <a:ext cx="209550" cy="209550"/>
          </a:xfrm>
          <a:prstGeom prst="rect">
            <a:avLst/>
          </a:prstGeom>
        </p:spPr>
      </p:pic>
      <p:pic>
        <p:nvPicPr>
          <p:cNvPr id="527" name="Picture 218"/>
          <p:cNvPicPr>
            <a:picLocks noChangeAspect="1"/>
          </p:cNvPicPr>
          <p:nvPr/>
        </p:nvPicPr>
        <p:blipFill>
          <a:blip r:embed="rId20"/>
          <a:stretch/>
        </p:blipFill>
        <p:spPr>
          <a:xfrm>
            <a:off x="2324100" y="5076825"/>
            <a:ext cx="209550" cy="209550"/>
          </a:xfrm>
          <a:prstGeom prst="rect">
            <a:avLst/>
          </a:prstGeom>
        </p:spPr>
      </p:pic>
      <p:sp>
        <p:nvSpPr>
          <p:cNvPr id="85" name="reliability">
            <a:extLst>
              <a:ext uri="{FF2B5EF4-FFF2-40B4-BE49-F238E27FC236}">
                <a16:creationId xmlns:a16="http://schemas.microsoft.com/office/drawing/2014/main" id="{BD61F3FB-B62E-4B78-8AE4-EAFBCC753686}"/>
              </a:ext>
            </a:extLst>
          </p:cNvPr>
          <p:cNvSpPr>
            <a:spLocks noGrp="1"/>
          </p:cNvSpPr>
          <p:nvPr/>
        </p:nvSpPr>
        <p:spPr>
          <a:xfrm>
            <a:off x="4476750" y="5000625"/>
            <a:ext cx="2857500" cy="552450"/>
          </a:xfrm>
          <a:prstGeom prst="roundRect">
            <a:avLst>
              <a:gd name="adj" fmla="val 13793"/>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86" name="reliability-title">
            <a:extLst>
              <a:ext uri="{FF2B5EF4-FFF2-40B4-BE49-F238E27FC236}">
                <a16:creationId xmlns:a16="http://schemas.microsoft.com/office/drawing/2014/main" id="{146E2E32-BCC0-4958-BADB-BC050057C162}"/>
              </a:ext>
            </a:extLst>
          </p:cNvPr>
          <p:cNvSpPr>
            <a:spLocks noGrp="1"/>
          </p:cNvSpPr>
          <p:nvPr/>
        </p:nvSpPr>
        <p:spPr>
          <a:xfrm>
            <a:off x="4572000" y="5086350"/>
            <a:ext cx="2667000" cy="238125"/>
          </a:xfrm>
          <a:prstGeom prst="rect">
            <a:avLst/>
          </a:prstGeom>
          <a:noFill/>
          <a:ln w="0">
            <a:noFill/>
            <a:prstDash val="solid"/>
          </a:ln>
        </p:spPr>
        <p:txBody>
          <a:bodyPr/>
          <a:lstStyle/>
          <a:p>
            <a:pPr algn="ctr">
              <a:buNone/>
              <a:defRPr sz="1050" b="1">
                <a:solidFill>
                  <a:srgbClr val="172033"/>
                </a:solidFill>
              </a:defRPr>
            </a:pPr>
            <a:r>
              <a:rPr sz="1050" b="1">
                <a:solidFill>
                  <a:srgbClr val="172033"/>
                </a:solidFill>
              </a:rPr>
              <a:t>Reliability controls</a:t>
            </a:r>
          </a:p>
        </p:txBody>
      </p:sp>
      <p:sp>
        <p:nvSpPr>
          <p:cNvPr id="87" name="reliability-detail">
            <a:extLst>
              <a:ext uri="{FF2B5EF4-FFF2-40B4-BE49-F238E27FC236}">
                <a16:creationId xmlns:a16="http://schemas.microsoft.com/office/drawing/2014/main" id="{FCC777E9-70F2-47A4-9C74-6997AD330FA8}"/>
              </a:ext>
            </a:extLst>
          </p:cNvPr>
          <p:cNvSpPr>
            <a:spLocks noGrp="1"/>
          </p:cNvSpPr>
          <p:nvPr/>
        </p:nvSpPr>
        <p:spPr>
          <a:xfrm>
            <a:off x="4572000" y="5295900"/>
            <a:ext cx="26670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Retries • DLQs • reconciliation • audit trail</a:t>
            </a:r>
          </a:p>
        </p:txBody>
      </p:sp>
      <p:sp>
        <p:nvSpPr>
          <p:cNvPr id="88" name="vin-system">
            <a:extLst>
              <a:ext uri="{FF2B5EF4-FFF2-40B4-BE49-F238E27FC236}">
                <a16:creationId xmlns:a16="http://schemas.microsoft.com/office/drawing/2014/main" id="{E6570843-E472-47EC-B5EB-4609EA243BF0}"/>
              </a:ext>
            </a:extLst>
          </p:cNvPr>
          <p:cNvSpPr>
            <a:spLocks noGrp="1"/>
          </p:cNvSpPr>
          <p:nvPr/>
        </p:nvSpPr>
        <p:spPr>
          <a:xfrm>
            <a:off x="9477375" y="2143125"/>
            <a:ext cx="2266950" cy="723900"/>
          </a:xfrm>
          <a:prstGeom prst="roundRect">
            <a:avLst>
              <a:gd name="adj" fmla="val 10526"/>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89" name="vin-system-title">
            <a:extLst>
              <a:ext uri="{FF2B5EF4-FFF2-40B4-BE49-F238E27FC236}">
                <a16:creationId xmlns:a16="http://schemas.microsoft.com/office/drawing/2014/main" id="{805C618F-02E7-41E0-80AA-9E87DEECD0DA}"/>
              </a:ext>
            </a:extLst>
          </p:cNvPr>
          <p:cNvSpPr>
            <a:spLocks noGrp="1"/>
          </p:cNvSpPr>
          <p:nvPr/>
        </p:nvSpPr>
        <p:spPr>
          <a:xfrm>
            <a:off x="9572625" y="22288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On-prem VIN API</a:t>
            </a:r>
          </a:p>
        </p:txBody>
      </p:sp>
      <p:sp>
        <p:nvSpPr>
          <p:cNvPr id="90" name="vin-system-detail">
            <a:extLst>
              <a:ext uri="{FF2B5EF4-FFF2-40B4-BE49-F238E27FC236}">
                <a16:creationId xmlns:a16="http://schemas.microsoft.com/office/drawing/2014/main" id="{EF271F43-85F5-4B4A-B7E2-AF1113214846}"/>
              </a:ext>
            </a:extLst>
          </p:cNvPr>
          <p:cNvSpPr>
            <a:spLocks noGrp="1"/>
          </p:cNvSpPr>
          <p:nvPr/>
        </p:nvSpPr>
        <p:spPr>
          <a:xfrm>
            <a:off x="9572625" y="252412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Vehicle authority</a:t>
            </a:r>
          </a:p>
        </p:txBody>
      </p:sp>
      <p:sp>
        <p:nvSpPr>
          <p:cNvPr id="91" name="mainframe">
            <a:extLst>
              <a:ext uri="{FF2B5EF4-FFF2-40B4-BE49-F238E27FC236}">
                <a16:creationId xmlns:a16="http://schemas.microsoft.com/office/drawing/2014/main" id="{11271DE1-9A46-4CEC-8C3A-7759C14EF3F9}"/>
              </a:ext>
            </a:extLst>
          </p:cNvPr>
          <p:cNvSpPr>
            <a:spLocks noGrp="1"/>
          </p:cNvSpPr>
          <p:nvPr/>
        </p:nvSpPr>
        <p:spPr>
          <a:xfrm>
            <a:off x="9477375" y="3190875"/>
            <a:ext cx="2266950" cy="723900"/>
          </a:xfrm>
          <a:prstGeom prst="roundRect">
            <a:avLst>
              <a:gd name="adj" fmla="val 10526"/>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92" name="mainframe-title">
            <a:extLst>
              <a:ext uri="{FF2B5EF4-FFF2-40B4-BE49-F238E27FC236}">
                <a16:creationId xmlns:a16="http://schemas.microsoft.com/office/drawing/2014/main" id="{0E73D571-7879-43A1-A377-4DA7E6D43AF1}"/>
              </a:ext>
            </a:extLst>
          </p:cNvPr>
          <p:cNvSpPr>
            <a:spLocks noGrp="1"/>
          </p:cNvSpPr>
          <p:nvPr/>
        </p:nvSpPr>
        <p:spPr>
          <a:xfrm>
            <a:off x="9572625" y="3276600"/>
            <a:ext cx="2076450" cy="238125"/>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Mainframe repair history</a:t>
            </a:r>
          </a:p>
        </p:txBody>
      </p:sp>
      <p:sp>
        <p:nvSpPr>
          <p:cNvPr id="93" name="mainframe-detail">
            <a:extLst>
              <a:ext uri="{FF2B5EF4-FFF2-40B4-BE49-F238E27FC236}">
                <a16:creationId xmlns:a16="http://schemas.microsoft.com/office/drawing/2014/main" id="{C78ACBBD-B81E-48F2-B8B3-05B9C259FDA8}"/>
              </a:ext>
            </a:extLst>
          </p:cNvPr>
          <p:cNvSpPr>
            <a:spLocks noGrp="1"/>
          </p:cNvSpPr>
          <p:nvPr/>
        </p:nvSpPr>
        <p:spPr>
          <a:xfrm>
            <a:off x="9572625" y="357187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Service-record authority</a:t>
            </a:r>
          </a:p>
        </p:txBody>
      </p:sp>
      <p:sp>
        <p:nvSpPr>
          <p:cNvPr id="94" name="dealer-systems">
            <a:extLst>
              <a:ext uri="{FF2B5EF4-FFF2-40B4-BE49-F238E27FC236}">
                <a16:creationId xmlns:a16="http://schemas.microsoft.com/office/drawing/2014/main" id="{561B61B0-B5B6-4BBE-8BE6-A9650AC7F3D4}"/>
              </a:ext>
            </a:extLst>
          </p:cNvPr>
          <p:cNvSpPr>
            <a:spLocks noGrp="1"/>
          </p:cNvSpPr>
          <p:nvPr/>
        </p:nvSpPr>
        <p:spPr>
          <a:xfrm>
            <a:off x="9477375" y="4238625"/>
            <a:ext cx="2266950" cy="800100"/>
          </a:xfrm>
          <a:prstGeom prst="roundRect">
            <a:avLst>
              <a:gd name="adj" fmla="val 9524"/>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95" name="dealer-systems-title">
            <a:extLst>
              <a:ext uri="{FF2B5EF4-FFF2-40B4-BE49-F238E27FC236}">
                <a16:creationId xmlns:a16="http://schemas.microsoft.com/office/drawing/2014/main" id="{60B20EE3-C98D-4085-8B84-170B2B99708A}"/>
              </a:ext>
            </a:extLst>
          </p:cNvPr>
          <p:cNvSpPr>
            <a:spLocks noGrp="1"/>
          </p:cNvSpPr>
          <p:nvPr/>
        </p:nvSpPr>
        <p:spPr>
          <a:xfrm>
            <a:off x="9572625" y="43243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2,500+ dealer systems</a:t>
            </a:r>
          </a:p>
        </p:txBody>
      </p:sp>
      <p:sp>
        <p:nvSpPr>
          <p:cNvPr id="96" name="dealer-systems-detail">
            <a:extLst>
              <a:ext uri="{FF2B5EF4-FFF2-40B4-BE49-F238E27FC236}">
                <a16:creationId xmlns:a16="http://schemas.microsoft.com/office/drawing/2014/main" id="{DF9F2D3D-6BC7-44E4-8A71-30B0B1B7A65F}"/>
              </a:ext>
            </a:extLst>
          </p:cNvPr>
          <p:cNvSpPr>
            <a:spLocks noGrp="1"/>
          </p:cNvSpPr>
          <p:nvPr/>
        </p:nvSpPr>
        <p:spPr>
          <a:xfrm>
            <a:off x="9572625" y="4638675"/>
            <a:ext cx="2076450" cy="333375"/>
          </a:xfrm>
          <a:prstGeom prst="rect">
            <a:avLst/>
          </a:prstGeom>
          <a:noFill/>
          <a:ln w="0">
            <a:noFill/>
            <a:prstDash val="solid"/>
          </a:ln>
        </p:spPr>
        <p:txBody>
          <a:bodyPr/>
          <a:lstStyle/>
          <a:p>
            <a:pPr algn="ctr">
              <a:buNone/>
              <a:defRPr sz="900">
                <a:solidFill>
                  <a:srgbClr val="4B5563"/>
                </a:solidFill>
              </a:defRPr>
            </a:pPr>
            <a:r>
              <a:rPr sz="900">
                <a:solidFill>
                  <a:srgbClr val="4B5563"/>
                </a:solidFill>
              </a:rPr>
              <a:t>Authoritative slots + appointments</a:t>
            </a:r>
          </a:p>
        </p:txBody>
      </p:sp>
      <p:sp>
        <p:nvSpPr>
          <p:cNvPr id="97" name="brownfield-label">
            <a:extLst>
              <a:ext uri="{FF2B5EF4-FFF2-40B4-BE49-F238E27FC236}">
                <a16:creationId xmlns:a16="http://schemas.microsoft.com/office/drawing/2014/main" id="{AE640936-3749-4662-93EC-DF5D3CCD0FC2}"/>
              </a:ext>
            </a:extLst>
          </p:cNvPr>
          <p:cNvSpPr>
            <a:spLocks noGrp="1"/>
          </p:cNvSpPr>
          <p:nvPr/>
        </p:nvSpPr>
        <p:spPr>
          <a:xfrm>
            <a:off x="9477375" y="1695450"/>
            <a:ext cx="2266950" cy="209550"/>
          </a:xfrm>
          <a:prstGeom prst="rect">
            <a:avLst/>
          </a:prstGeom>
          <a:noFill/>
          <a:ln w="0">
            <a:noFill/>
            <a:prstDash val="solid"/>
          </a:ln>
        </p:spPr>
        <p:txBody>
          <a:bodyPr/>
          <a:lstStyle/>
          <a:p>
            <a:pPr algn="ctr">
              <a:buNone/>
              <a:defRPr sz="975" b="1">
                <a:solidFill>
                  <a:srgbClr val="5B6472"/>
                </a:solidFill>
              </a:defRPr>
            </a:pPr>
            <a:r>
              <a:rPr sz="975" b="1">
                <a:solidFill>
                  <a:srgbClr val="5B6472"/>
                </a:solidFill>
              </a:rPr>
              <a:t>BROWNFIELD SYSTEMS</a:t>
            </a:r>
          </a:p>
        </p:txBody>
      </p:sp>
      <p:sp>
        <p:nvSpPr>
          <p:cNvPr id="98" name="dr">
            <a:extLst>
              <a:ext uri="{FF2B5EF4-FFF2-40B4-BE49-F238E27FC236}">
                <a16:creationId xmlns:a16="http://schemas.microsoft.com/office/drawing/2014/main" id="{97D85942-DAC6-4128-9E8C-9609C757B441}"/>
              </a:ext>
            </a:extLst>
          </p:cNvPr>
          <p:cNvSpPr>
            <a:spLocks noGrp="1"/>
          </p:cNvSpPr>
          <p:nvPr/>
        </p:nvSpPr>
        <p:spPr>
          <a:xfrm>
            <a:off x="1743075" y="6115050"/>
            <a:ext cx="7524750" cy="523875"/>
          </a:xfrm>
          <a:prstGeom prst="roundRect">
            <a:avLst>
              <a:gd name="adj" fmla="val 14545"/>
            </a:avLst>
          </a:prstGeom>
          <a:solidFill>
            <a:srgbClr val="F4F7FA"/>
          </a:solidFill>
          <a:ln w="13335">
            <a:solidFill>
              <a:srgbClr val="5B6472"/>
            </a:solidFill>
            <a:prstDash val="solid"/>
          </a:ln>
        </p:spPr>
        <p:txBody>
          <a:bodyPr/>
          <a:lstStyle/>
          <a:p>
            <a:endParaRPr/>
          </a:p>
        </p:txBody>
      </p:sp>
      <p:sp>
        <p:nvSpPr>
          <p:cNvPr id="99" name="dr-title">
            <a:extLst>
              <a:ext uri="{FF2B5EF4-FFF2-40B4-BE49-F238E27FC236}">
                <a16:creationId xmlns:a16="http://schemas.microsoft.com/office/drawing/2014/main" id="{5A00DAEA-26DC-4F49-9D7D-CDA4D30719F6}"/>
              </a:ext>
            </a:extLst>
          </p:cNvPr>
          <p:cNvSpPr>
            <a:spLocks noGrp="1"/>
          </p:cNvSpPr>
          <p:nvPr/>
        </p:nvSpPr>
        <p:spPr>
          <a:xfrm>
            <a:off x="2200275" y="6200775"/>
            <a:ext cx="6972300"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Secondary AWS Region • warm standby</a:t>
            </a:r>
          </a:p>
        </p:txBody>
      </p:sp>
      <p:sp>
        <p:nvSpPr>
          <p:cNvPr id="100" name="dr-detail">
            <a:extLst>
              <a:ext uri="{FF2B5EF4-FFF2-40B4-BE49-F238E27FC236}">
                <a16:creationId xmlns:a16="http://schemas.microsoft.com/office/drawing/2014/main" id="{FC47280D-4B14-49B7-A93A-CA99EAC2D3CA}"/>
              </a:ext>
            </a:extLst>
          </p:cNvPr>
          <p:cNvSpPr>
            <a:spLocks noGrp="1"/>
          </p:cNvSpPr>
          <p:nvPr/>
        </p:nvSpPr>
        <p:spPr>
          <a:xfrm>
            <a:off x="1838325" y="6391275"/>
            <a:ext cx="7334250" cy="180975"/>
          </a:xfrm>
          <a:prstGeom prst="rect">
            <a:avLst/>
          </a:prstGeom>
          <a:noFill/>
          <a:ln w="0">
            <a:noFill/>
            <a:prstDash val="solid"/>
          </a:ln>
        </p:spPr>
        <p:txBody>
          <a:bodyPr/>
          <a:lstStyle/>
          <a:p>
            <a:pPr algn="ctr">
              <a:buNone/>
              <a:defRPr sz="825">
                <a:solidFill>
                  <a:srgbClr val="4B5563"/>
                </a:solidFill>
              </a:defRPr>
            </a:pPr>
            <a:r>
              <a:rPr sz="825">
                <a:solidFill>
                  <a:srgbClr val="4B5563"/>
                </a:solidFill>
              </a:rPr>
              <a:t>Route 53 failover • DynamoDB Global Tables • replicated assets • IaC recovery</a:t>
            </a:r>
          </a:p>
        </p:txBody>
      </p:sp>
      <p:pic>
        <p:nvPicPr>
          <p:cNvPr id="544" name="Picture 235"/>
          <p:cNvPicPr>
            <a:picLocks noChangeAspect="1"/>
          </p:cNvPicPr>
          <p:nvPr/>
        </p:nvPicPr>
        <p:blipFill>
          <a:blip r:embed="rId21"/>
          <a:stretch/>
        </p:blipFill>
        <p:spPr>
          <a:xfrm>
            <a:off x="1857375" y="6181725"/>
            <a:ext cx="238125" cy="238125"/>
          </a:xfrm>
          <a:prstGeom prst="rect">
            <a:avLst/>
          </a:prstGeom>
        </p:spPr>
      </p:pic>
      <p:sp>
        <p:nvSpPr>
          <p:cNvPr id="102" name="find-dealer-journey-tag">
            <a:extLst>
              <a:ext uri="{FF2B5EF4-FFF2-40B4-BE49-F238E27FC236}">
                <a16:creationId xmlns:a16="http://schemas.microsoft.com/office/drawing/2014/main" id="{9BEDD6F1-0FCE-4523-91C2-2487656E7B76}"/>
              </a:ext>
            </a:extLst>
          </p:cNvPr>
          <p:cNvSpPr>
            <a:spLocks noGrp="1"/>
          </p:cNvSpPr>
          <p:nvPr/>
        </p:nvSpPr>
        <p:spPr>
          <a:xfrm>
            <a:off x="9496425" y="1304925"/>
            <a:ext cx="2247900" cy="304800"/>
          </a:xfrm>
          <a:prstGeom prst="roundRect">
            <a:avLst>
              <a:gd name="adj" fmla="val 25000"/>
            </a:avLst>
          </a:prstGeom>
          <a:solidFill>
            <a:srgbClr val="E8F7F5"/>
          </a:solidFill>
          <a:ln w="11430">
            <a:solidFill>
              <a:srgbClr val="08A89B"/>
            </a:solidFill>
            <a:prstDash val="solid"/>
          </a:ln>
        </p:spPr>
        <p:txBody>
          <a:bodyPr/>
          <a:lstStyle/>
          <a:p>
            <a:endParaRPr/>
          </a:p>
        </p:txBody>
      </p:sp>
      <p:sp>
        <p:nvSpPr>
          <p:cNvPr id="103" name="find-dealer-journey-tag-text">
            <a:extLst>
              <a:ext uri="{FF2B5EF4-FFF2-40B4-BE49-F238E27FC236}">
                <a16:creationId xmlns:a16="http://schemas.microsoft.com/office/drawing/2014/main" id="{3081DA35-B1D7-43B7-9E5C-59373E6A5EDB}"/>
              </a:ext>
            </a:extLst>
          </p:cNvPr>
          <p:cNvSpPr>
            <a:spLocks noGrp="1"/>
          </p:cNvSpPr>
          <p:nvPr/>
        </p:nvSpPr>
        <p:spPr>
          <a:xfrm>
            <a:off x="9591675" y="1371600"/>
            <a:ext cx="2057400" cy="171450"/>
          </a:xfrm>
          <a:prstGeom prst="rect">
            <a:avLst/>
          </a:prstGeom>
          <a:noFill/>
          <a:ln w="0">
            <a:noFill/>
            <a:prstDash val="solid"/>
          </a:ln>
        </p:spPr>
        <p:txBody>
          <a:bodyPr/>
          <a:lstStyle/>
          <a:p>
            <a:pPr algn="ctr">
              <a:buNone/>
              <a:defRPr sz="825" b="1">
                <a:solidFill>
                  <a:srgbClr val="087F75"/>
                </a:solidFill>
              </a:defRPr>
            </a:pPr>
            <a:r>
              <a:rPr sz="825" b="1">
                <a:solidFill>
                  <a:srgbClr val="087F75"/>
                </a:solidFill>
              </a:rPr>
              <a:t>JOURNEY 1  •  FIND A DEALERSHIP</a:t>
            </a:r>
          </a:p>
        </p:txBody>
      </p:sp>
      <p:sp>
        <p:nvSpPr>
          <p:cNvPr id="104" name="journey-step-1">
            <a:extLst>
              <a:ext uri="{FF2B5EF4-FFF2-40B4-BE49-F238E27FC236}">
                <a16:creationId xmlns:a16="http://schemas.microsoft.com/office/drawing/2014/main" id="{6AE54202-36C6-4F1A-BDFE-1A6AB0FB097A}"/>
              </a:ext>
            </a:extLst>
          </p:cNvPr>
          <p:cNvSpPr>
            <a:spLocks noGrp="1"/>
          </p:cNvSpPr>
          <p:nvPr/>
        </p:nvSpPr>
        <p:spPr>
          <a:xfrm>
            <a:off x="1400175" y="2524125"/>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5" name="journey-step-1-number">
            <a:extLst>
              <a:ext uri="{FF2B5EF4-FFF2-40B4-BE49-F238E27FC236}">
                <a16:creationId xmlns:a16="http://schemas.microsoft.com/office/drawing/2014/main" id="{07E2BD62-6C10-4BE3-8E8C-DCAF523A8D82}"/>
              </a:ext>
            </a:extLst>
          </p:cNvPr>
          <p:cNvSpPr>
            <a:spLocks noGrp="1"/>
          </p:cNvSpPr>
          <p:nvPr/>
        </p:nvSpPr>
        <p:spPr>
          <a:xfrm>
            <a:off x="1400175" y="2543175"/>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1</a:t>
            </a:r>
          </a:p>
        </p:txBody>
      </p:sp>
      <p:sp>
        <p:nvSpPr>
          <p:cNvPr id="106" name="journey-step-2">
            <a:extLst>
              <a:ext uri="{FF2B5EF4-FFF2-40B4-BE49-F238E27FC236}">
                <a16:creationId xmlns:a16="http://schemas.microsoft.com/office/drawing/2014/main" id="{EC36A72E-D2D5-49B0-B1AC-FF6AAAC07A83}"/>
              </a:ext>
            </a:extLst>
          </p:cNvPr>
          <p:cNvSpPr>
            <a:spLocks noGrp="1"/>
          </p:cNvSpPr>
          <p:nvPr/>
        </p:nvSpPr>
        <p:spPr>
          <a:xfrm>
            <a:off x="1885950" y="21336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7" name="journey-step-2-number">
            <a:extLst>
              <a:ext uri="{FF2B5EF4-FFF2-40B4-BE49-F238E27FC236}">
                <a16:creationId xmlns:a16="http://schemas.microsoft.com/office/drawing/2014/main" id="{D88216BA-8CA7-41E1-8472-0A59DC474CD4}"/>
              </a:ext>
            </a:extLst>
          </p:cNvPr>
          <p:cNvSpPr>
            <a:spLocks noGrp="1"/>
          </p:cNvSpPr>
          <p:nvPr/>
        </p:nvSpPr>
        <p:spPr>
          <a:xfrm>
            <a:off x="1885950" y="21526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08" name="journey-step-3">
            <a:extLst>
              <a:ext uri="{FF2B5EF4-FFF2-40B4-BE49-F238E27FC236}">
                <a16:creationId xmlns:a16="http://schemas.microsoft.com/office/drawing/2014/main" id="{47CFFAB1-996B-42CF-9CA4-775D26B9C7EC}"/>
              </a:ext>
            </a:extLst>
          </p:cNvPr>
          <p:cNvSpPr>
            <a:spLocks noGrp="1"/>
          </p:cNvSpPr>
          <p:nvPr/>
        </p:nvSpPr>
        <p:spPr>
          <a:xfrm>
            <a:off x="4629150" y="21336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9" name="journey-step-3-number">
            <a:extLst>
              <a:ext uri="{FF2B5EF4-FFF2-40B4-BE49-F238E27FC236}">
                <a16:creationId xmlns:a16="http://schemas.microsoft.com/office/drawing/2014/main" id="{5A011074-CB16-4669-B083-9C0E7D8048DF}"/>
              </a:ext>
            </a:extLst>
          </p:cNvPr>
          <p:cNvSpPr>
            <a:spLocks noGrp="1"/>
          </p:cNvSpPr>
          <p:nvPr/>
        </p:nvSpPr>
        <p:spPr>
          <a:xfrm>
            <a:off x="4629150" y="21526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10" name="journey-step-4">
            <a:extLst>
              <a:ext uri="{FF2B5EF4-FFF2-40B4-BE49-F238E27FC236}">
                <a16:creationId xmlns:a16="http://schemas.microsoft.com/office/drawing/2014/main" id="{963AD3F5-25B4-453B-9247-945B9C85D40B}"/>
              </a:ext>
            </a:extLst>
          </p:cNvPr>
          <p:cNvSpPr>
            <a:spLocks noGrp="1"/>
          </p:cNvSpPr>
          <p:nvPr/>
        </p:nvSpPr>
        <p:spPr>
          <a:xfrm>
            <a:off x="3143250" y="32004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1" name="journey-step-4-number">
            <a:extLst>
              <a:ext uri="{FF2B5EF4-FFF2-40B4-BE49-F238E27FC236}">
                <a16:creationId xmlns:a16="http://schemas.microsoft.com/office/drawing/2014/main" id="{360B605A-4E8B-4E78-92B9-CA3C98D1C2F6}"/>
              </a:ext>
            </a:extLst>
          </p:cNvPr>
          <p:cNvSpPr>
            <a:spLocks noGrp="1"/>
          </p:cNvSpPr>
          <p:nvPr/>
        </p:nvSpPr>
        <p:spPr>
          <a:xfrm>
            <a:off x="3143250" y="32194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112" name="journey-step-5">
            <a:extLst>
              <a:ext uri="{FF2B5EF4-FFF2-40B4-BE49-F238E27FC236}">
                <a16:creationId xmlns:a16="http://schemas.microsoft.com/office/drawing/2014/main" id="{150B56F2-97CC-4516-AE84-E4469B7D276E}"/>
              </a:ext>
            </a:extLst>
          </p:cNvPr>
          <p:cNvSpPr>
            <a:spLocks noGrp="1"/>
          </p:cNvSpPr>
          <p:nvPr/>
        </p:nvSpPr>
        <p:spPr>
          <a:xfrm>
            <a:off x="3143250" y="401955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3" name="journey-step-5-number">
            <a:extLst>
              <a:ext uri="{FF2B5EF4-FFF2-40B4-BE49-F238E27FC236}">
                <a16:creationId xmlns:a16="http://schemas.microsoft.com/office/drawing/2014/main" id="{5F504D0C-D4E0-48F8-A0BC-6BA33891BE18}"/>
              </a:ext>
            </a:extLst>
          </p:cNvPr>
          <p:cNvSpPr>
            <a:spLocks noGrp="1"/>
          </p:cNvSpPr>
          <p:nvPr/>
        </p:nvSpPr>
        <p:spPr>
          <a:xfrm>
            <a:off x="3143250" y="403860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cxnSp>
        <p:nvCxnSpPr>
          <p:cNvPr id="557" name="Connector: Elbow 248"/>
          <p:cNvCxnSpPr>
            <a:stCxn id="6" idx="3"/>
            <a:endCxn id="20" idx="1"/>
          </p:cNvCxnSpPr>
          <p:nvPr/>
        </p:nvCxnSpPr>
        <p:spPr>
          <a:xfrm flipV="1">
            <a:off x="1552575" y="2552700"/>
            <a:ext cx="447675" cy="552450"/>
          </a:xfrm>
          <a:prstGeom prst="bentConnector3">
            <a:avLst>
              <a:gd name="adj1" fmla="val 50000"/>
            </a:avLst>
          </a:prstGeom>
          <a:ln w="17145">
            <a:solidFill>
              <a:srgbClr val="2767A8"/>
            </a:solidFill>
            <a:prstDash val="solid"/>
            <a:tailEnd type="triangle" w="sm" len="sm"/>
          </a:ln>
        </p:spPr>
      </p:cxnSp>
      <p:cxnSp>
        <p:nvCxnSpPr>
          <p:cNvPr id="558" name="Connector: Elbow 249"/>
          <p:cNvCxnSpPr>
            <a:stCxn id="9" idx="3"/>
            <a:endCxn id="29" idx="1"/>
          </p:cNvCxnSpPr>
          <p:nvPr/>
        </p:nvCxnSpPr>
        <p:spPr>
          <a:xfrm flipV="1">
            <a:off x="1552575" y="2552700"/>
            <a:ext cx="3190875" cy="1828800"/>
          </a:xfrm>
          <a:prstGeom prst="bentConnector3">
            <a:avLst>
              <a:gd name="adj1" fmla="val 50000"/>
            </a:avLst>
          </a:prstGeom>
          <a:ln w="17145">
            <a:solidFill>
              <a:srgbClr val="6D4FB3"/>
            </a:solidFill>
            <a:prstDash val="dash"/>
            <a:tailEnd type="triangle" w="sm" len="sm"/>
          </a:ln>
        </p:spPr>
      </p:cxnSp>
      <p:cxnSp>
        <p:nvCxnSpPr>
          <p:cNvPr id="559" name="Straight Arrow Connector 250"/>
          <p:cNvCxnSpPr>
            <a:stCxn id="20" idx="3"/>
            <a:endCxn id="29" idx="1"/>
          </p:cNvCxnSpPr>
          <p:nvPr/>
        </p:nvCxnSpPr>
        <p:spPr>
          <a:xfrm>
            <a:off x="3219450" y="2552700"/>
            <a:ext cx="1524000" cy="0"/>
          </a:xfrm>
          <a:prstGeom prst="straightConnector1">
            <a:avLst/>
          </a:prstGeom>
          <a:ln w="17145">
            <a:solidFill>
              <a:srgbClr val="7A8492"/>
            </a:solidFill>
            <a:prstDash val="solid"/>
            <a:tailEnd type="triangle" w="sm" len="sm"/>
          </a:ln>
        </p:spPr>
      </p:cxnSp>
      <p:cxnSp>
        <p:nvCxnSpPr>
          <p:cNvPr id="560" name="Straight Arrow Connector 251"/>
          <p:cNvCxnSpPr>
            <a:stCxn id="25" idx="3"/>
            <a:endCxn id="29" idx="1"/>
          </p:cNvCxnSpPr>
          <p:nvPr/>
        </p:nvCxnSpPr>
        <p:spPr>
          <a:xfrm>
            <a:off x="4591050" y="2552700"/>
            <a:ext cx="152400" cy="0"/>
          </a:xfrm>
          <a:prstGeom prst="straightConnector1">
            <a:avLst/>
          </a:prstGeom>
          <a:ln w="17145">
            <a:solidFill>
              <a:srgbClr val="7A8492"/>
            </a:solidFill>
            <a:prstDash val="solid"/>
            <a:tailEnd type="triangle" w="sm" len="sm"/>
          </a:ln>
        </p:spPr>
      </p:cxnSp>
      <p:cxnSp>
        <p:nvCxnSpPr>
          <p:cNvPr id="561" name="Straight Arrow Connector 252"/>
          <p:cNvCxnSpPr>
            <a:stCxn id="29" idx="3"/>
            <a:endCxn id="33" idx="1"/>
          </p:cNvCxnSpPr>
          <p:nvPr/>
        </p:nvCxnSpPr>
        <p:spPr>
          <a:xfrm>
            <a:off x="5962650" y="2552700"/>
            <a:ext cx="152400" cy="0"/>
          </a:xfrm>
          <a:prstGeom prst="straightConnector1">
            <a:avLst/>
          </a:prstGeom>
          <a:ln w="17145">
            <a:solidFill>
              <a:srgbClr val="7A8492"/>
            </a:solidFill>
            <a:prstDash val="solid"/>
            <a:tailEnd type="triangle" w="sm" len="sm"/>
          </a:ln>
        </p:spPr>
      </p:cxnSp>
      <p:cxnSp>
        <p:nvCxnSpPr>
          <p:cNvPr id="562" name="Connector: Elbow 253"/>
          <p:cNvCxnSpPr>
            <a:stCxn id="33" idx="2"/>
            <a:endCxn id="40" idx="0"/>
          </p:cNvCxnSpPr>
          <p:nvPr/>
        </p:nvCxnSpPr>
        <p:spPr>
          <a:xfrm flipH="1">
            <a:off x="2705100" y="2857500"/>
            <a:ext cx="4019550" cy="457200"/>
          </a:xfrm>
          <a:prstGeom prst="bentConnector4">
            <a:avLst>
              <a:gd name="adj1" fmla="val 0"/>
              <a:gd name="adj2" fmla="val 50000"/>
            </a:avLst>
          </a:prstGeom>
          <a:ln w="17145">
            <a:solidFill>
              <a:srgbClr val="147A58"/>
            </a:solidFill>
            <a:prstDash val="solid"/>
            <a:tailEnd type="triangle" w="sm" len="sm"/>
          </a:ln>
        </p:spPr>
      </p:cxnSp>
      <p:cxnSp>
        <p:nvCxnSpPr>
          <p:cNvPr id="563" name="Connector: Elbow 254"/>
          <p:cNvCxnSpPr>
            <a:stCxn id="33" idx="2"/>
            <a:endCxn id="43" idx="0"/>
          </p:cNvCxnSpPr>
          <p:nvPr/>
        </p:nvCxnSpPr>
        <p:spPr>
          <a:xfrm flipH="1">
            <a:off x="3962400" y="2857500"/>
            <a:ext cx="2762250" cy="457200"/>
          </a:xfrm>
          <a:prstGeom prst="bentConnector4">
            <a:avLst>
              <a:gd name="adj1" fmla="val 0"/>
              <a:gd name="adj2" fmla="val 50000"/>
            </a:avLst>
          </a:prstGeom>
          <a:ln w="17145">
            <a:solidFill>
              <a:srgbClr val="147A58"/>
            </a:solidFill>
            <a:prstDash val="solid"/>
            <a:tailEnd type="triangle" w="sm" len="sm"/>
          </a:ln>
        </p:spPr>
      </p:cxnSp>
      <p:cxnSp>
        <p:nvCxnSpPr>
          <p:cNvPr id="564" name="Connector: Elbow 255"/>
          <p:cNvCxnSpPr>
            <a:stCxn id="33" idx="2"/>
            <a:endCxn id="46" idx="0"/>
          </p:cNvCxnSpPr>
          <p:nvPr/>
        </p:nvCxnSpPr>
        <p:spPr>
          <a:xfrm flipH="1">
            <a:off x="5219700" y="2857500"/>
            <a:ext cx="1504950" cy="457200"/>
          </a:xfrm>
          <a:prstGeom prst="bentConnector4">
            <a:avLst>
              <a:gd name="adj1" fmla="val 0"/>
              <a:gd name="adj2" fmla="val 50000"/>
            </a:avLst>
          </a:prstGeom>
          <a:ln w="17145">
            <a:solidFill>
              <a:srgbClr val="147A58"/>
            </a:solidFill>
            <a:prstDash val="solid"/>
            <a:tailEnd type="triangle" w="sm" len="sm"/>
          </a:ln>
        </p:spPr>
      </p:cxnSp>
      <p:cxnSp>
        <p:nvCxnSpPr>
          <p:cNvPr id="565" name="Connector: Elbow 256"/>
          <p:cNvCxnSpPr>
            <a:stCxn id="33" idx="2"/>
            <a:endCxn id="49" idx="0"/>
          </p:cNvCxnSpPr>
          <p:nvPr/>
        </p:nvCxnSpPr>
        <p:spPr>
          <a:xfrm flipH="1">
            <a:off x="6477000" y="2857500"/>
            <a:ext cx="247650" cy="457200"/>
          </a:xfrm>
          <a:prstGeom prst="bentConnector4">
            <a:avLst>
              <a:gd name="adj1" fmla="val 0"/>
              <a:gd name="adj2" fmla="val 50000"/>
            </a:avLst>
          </a:prstGeom>
          <a:ln w="17145">
            <a:solidFill>
              <a:srgbClr val="147A58"/>
            </a:solidFill>
            <a:prstDash val="solid"/>
            <a:tailEnd type="triangle" w="sm" len="sm"/>
          </a:ln>
        </p:spPr>
      </p:cxnSp>
      <p:cxnSp>
        <p:nvCxnSpPr>
          <p:cNvPr id="566" name="Straight Arrow Connector 257"/>
          <p:cNvCxnSpPr>
            <a:stCxn id="40" idx="2"/>
            <a:endCxn id="52" idx="0"/>
          </p:cNvCxnSpPr>
          <p:nvPr/>
        </p:nvCxnSpPr>
        <p:spPr>
          <a:xfrm>
            <a:off x="2705100" y="4000500"/>
            <a:ext cx="0" cy="133350"/>
          </a:xfrm>
          <a:prstGeom prst="straightConnector1">
            <a:avLst/>
          </a:prstGeom>
          <a:ln w="17145">
            <a:solidFill>
              <a:srgbClr val="7A8492"/>
            </a:solidFill>
            <a:prstDash val="solid"/>
            <a:tailEnd type="triangle" w="sm" len="sm"/>
          </a:ln>
        </p:spPr>
      </p:cxnSp>
      <p:cxnSp>
        <p:nvCxnSpPr>
          <p:cNvPr id="567" name="Connector: Elbow 258"/>
          <p:cNvCxnSpPr>
            <a:stCxn id="49" idx="2"/>
            <a:endCxn id="56" idx="0"/>
          </p:cNvCxnSpPr>
          <p:nvPr/>
        </p:nvCxnSpPr>
        <p:spPr>
          <a:xfrm flipH="1">
            <a:off x="3962400" y="4000500"/>
            <a:ext cx="2514600" cy="133350"/>
          </a:xfrm>
          <a:prstGeom prst="bentConnector4">
            <a:avLst>
              <a:gd name="adj1" fmla="val 0"/>
              <a:gd name="adj2" fmla="val 50000"/>
            </a:avLst>
          </a:prstGeom>
          <a:ln w="17145">
            <a:solidFill>
              <a:srgbClr val="7A8492"/>
            </a:solidFill>
            <a:prstDash val="solid"/>
            <a:tailEnd type="triangle" w="sm" len="sm"/>
          </a:ln>
        </p:spPr>
      </p:cxnSp>
      <p:cxnSp>
        <p:nvCxnSpPr>
          <p:cNvPr id="568" name="Straight Arrow Connector 259"/>
          <p:cNvCxnSpPr>
            <a:stCxn id="46" idx="2"/>
            <a:endCxn id="60" idx="0"/>
          </p:cNvCxnSpPr>
          <p:nvPr/>
        </p:nvCxnSpPr>
        <p:spPr>
          <a:xfrm>
            <a:off x="5219700" y="4000500"/>
            <a:ext cx="0" cy="133350"/>
          </a:xfrm>
          <a:prstGeom prst="straightConnector1">
            <a:avLst/>
          </a:prstGeom>
          <a:ln w="17145">
            <a:solidFill>
              <a:srgbClr val="7A8492"/>
            </a:solidFill>
            <a:prstDash val="solid"/>
            <a:tailEnd type="triangle" w="sm" len="sm"/>
          </a:ln>
        </p:spPr>
      </p:cxnSp>
      <p:cxnSp>
        <p:nvCxnSpPr>
          <p:cNvPr id="569" name="Straight Arrow Connector 260"/>
          <p:cNvCxnSpPr>
            <a:stCxn id="49" idx="2"/>
            <a:endCxn id="64" idx="0"/>
          </p:cNvCxnSpPr>
          <p:nvPr/>
        </p:nvCxnSpPr>
        <p:spPr>
          <a:xfrm>
            <a:off x="6477000" y="4000500"/>
            <a:ext cx="0" cy="133350"/>
          </a:xfrm>
          <a:prstGeom prst="straightConnector1">
            <a:avLst/>
          </a:prstGeom>
          <a:ln w="17145">
            <a:solidFill>
              <a:srgbClr val="7A8492"/>
            </a:solidFill>
            <a:prstDash val="solid"/>
            <a:tailEnd type="triangle" w="sm" len="sm"/>
          </a:ln>
        </p:spPr>
      </p:cxnSp>
      <p:cxnSp>
        <p:nvCxnSpPr>
          <p:cNvPr id="570" name="Connector: Elbow 261"/>
          <p:cNvCxnSpPr>
            <a:stCxn id="64" idx="2"/>
            <a:endCxn id="80" idx="0"/>
          </p:cNvCxnSpPr>
          <p:nvPr/>
        </p:nvCxnSpPr>
        <p:spPr>
          <a:xfrm flipH="1">
            <a:off x="3162300" y="4648200"/>
            <a:ext cx="3314700" cy="352425"/>
          </a:xfrm>
          <a:prstGeom prst="bentConnector4">
            <a:avLst>
              <a:gd name="adj1" fmla="val 0"/>
              <a:gd name="adj2" fmla="val 50000"/>
            </a:avLst>
          </a:prstGeom>
          <a:ln w="17145">
            <a:solidFill>
              <a:srgbClr val="B86713"/>
            </a:solidFill>
            <a:prstDash val="solid"/>
            <a:tailEnd type="triangle" w="sm" len="sm"/>
          </a:ln>
        </p:spPr>
      </p:cxnSp>
      <p:cxnSp>
        <p:nvCxnSpPr>
          <p:cNvPr id="571" name="Connector: Elbow 262"/>
          <p:cNvCxnSpPr>
            <a:stCxn id="43" idx="3"/>
            <a:endCxn id="71" idx="1"/>
          </p:cNvCxnSpPr>
          <p:nvPr/>
        </p:nvCxnSpPr>
        <p:spPr>
          <a:xfrm flipV="1">
            <a:off x="4524375" y="3152775"/>
            <a:ext cx="3152775" cy="504825"/>
          </a:xfrm>
          <a:prstGeom prst="bentConnector3">
            <a:avLst>
              <a:gd name="adj1" fmla="val 50000"/>
            </a:avLst>
          </a:prstGeom>
          <a:ln w="17145">
            <a:solidFill>
              <a:srgbClr val="198E84"/>
            </a:solidFill>
            <a:prstDash val="solid"/>
            <a:tailEnd type="triangle" w="sm" len="sm"/>
          </a:ln>
        </p:spPr>
      </p:cxnSp>
      <p:cxnSp>
        <p:nvCxnSpPr>
          <p:cNvPr id="572" name="Connector: Elbow 263"/>
          <p:cNvCxnSpPr>
            <a:stCxn id="43" idx="3"/>
            <a:endCxn id="74" idx="1"/>
          </p:cNvCxnSpPr>
          <p:nvPr/>
        </p:nvCxnSpPr>
        <p:spPr>
          <a:xfrm>
            <a:off x="4524375" y="3657600"/>
            <a:ext cx="3152775" cy="200025"/>
          </a:xfrm>
          <a:prstGeom prst="bentConnector3">
            <a:avLst>
              <a:gd name="adj1" fmla="val 50000"/>
            </a:avLst>
          </a:prstGeom>
          <a:ln w="17145">
            <a:solidFill>
              <a:srgbClr val="198E84"/>
            </a:solidFill>
            <a:prstDash val="solid"/>
            <a:tailEnd type="triangle" w="sm" len="sm"/>
          </a:ln>
        </p:spPr>
      </p:cxnSp>
      <p:cxnSp>
        <p:nvCxnSpPr>
          <p:cNvPr id="573" name="Connector: Elbow 264"/>
          <p:cNvCxnSpPr>
            <a:stCxn id="46" idx="3"/>
            <a:endCxn id="77" idx="1"/>
          </p:cNvCxnSpPr>
          <p:nvPr/>
        </p:nvCxnSpPr>
        <p:spPr>
          <a:xfrm>
            <a:off x="5781675" y="3657600"/>
            <a:ext cx="1895475" cy="904875"/>
          </a:xfrm>
          <a:prstGeom prst="bentConnector3">
            <a:avLst>
              <a:gd name="adj1" fmla="val 50000"/>
            </a:avLst>
          </a:prstGeom>
          <a:ln w="17145">
            <a:solidFill>
              <a:srgbClr val="198E84"/>
            </a:solidFill>
            <a:prstDash val="solid"/>
            <a:tailEnd type="triangle" w="sm" len="sm"/>
          </a:ln>
        </p:spPr>
      </p:cxnSp>
      <p:cxnSp>
        <p:nvCxnSpPr>
          <p:cNvPr id="574" name="Connector: Elbow 265"/>
          <p:cNvCxnSpPr>
            <a:stCxn id="49" idx="3"/>
            <a:endCxn id="77" idx="1"/>
          </p:cNvCxnSpPr>
          <p:nvPr/>
        </p:nvCxnSpPr>
        <p:spPr>
          <a:xfrm>
            <a:off x="7038975" y="3657600"/>
            <a:ext cx="638175" cy="904875"/>
          </a:xfrm>
          <a:prstGeom prst="bentConnector3">
            <a:avLst>
              <a:gd name="adj1" fmla="val 50000"/>
            </a:avLst>
          </a:prstGeom>
          <a:ln w="17145">
            <a:solidFill>
              <a:srgbClr val="198E84"/>
            </a:solidFill>
            <a:prstDash val="solid"/>
            <a:tailEnd type="triangle" w="sm" len="sm"/>
          </a:ln>
        </p:spPr>
      </p:cxnSp>
      <p:cxnSp>
        <p:nvCxnSpPr>
          <p:cNvPr id="575" name="Connector: Elbow 266"/>
          <p:cNvCxnSpPr>
            <a:stCxn id="71" idx="3"/>
            <a:endCxn id="88" idx="1"/>
          </p:cNvCxnSpPr>
          <p:nvPr/>
        </p:nvCxnSpPr>
        <p:spPr>
          <a:xfrm flipV="1">
            <a:off x="8877300" y="2505075"/>
            <a:ext cx="600075" cy="647700"/>
          </a:xfrm>
          <a:prstGeom prst="bentConnector3">
            <a:avLst>
              <a:gd name="adj1" fmla="val 50000"/>
            </a:avLst>
          </a:prstGeom>
          <a:ln w="17145">
            <a:solidFill>
              <a:srgbClr val="2767A8"/>
            </a:solidFill>
            <a:prstDash val="solid"/>
            <a:tailEnd type="triangle" w="sm" len="sm"/>
          </a:ln>
        </p:spPr>
      </p:cxnSp>
      <p:cxnSp>
        <p:nvCxnSpPr>
          <p:cNvPr id="576" name="Connector: Elbow 267"/>
          <p:cNvCxnSpPr>
            <a:stCxn id="74" idx="3"/>
            <a:endCxn id="91" idx="1"/>
          </p:cNvCxnSpPr>
          <p:nvPr/>
        </p:nvCxnSpPr>
        <p:spPr>
          <a:xfrm flipV="1">
            <a:off x="8877300" y="3552825"/>
            <a:ext cx="600075" cy="304800"/>
          </a:xfrm>
          <a:prstGeom prst="bentConnector3">
            <a:avLst>
              <a:gd name="adj1" fmla="val 50000"/>
            </a:avLst>
          </a:prstGeom>
          <a:ln w="17145">
            <a:solidFill>
              <a:srgbClr val="6D4FB3"/>
            </a:solidFill>
            <a:prstDash val="solid"/>
            <a:tailEnd type="triangle" w="sm" len="sm"/>
          </a:ln>
        </p:spPr>
      </p:cxnSp>
      <p:cxnSp>
        <p:nvCxnSpPr>
          <p:cNvPr id="577" name="Connector: Elbow 268"/>
          <p:cNvCxnSpPr>
            <a:stCxn id="77" idx="3"/>
            <a:endCxn id="94" idx="1"/>
          </p:cNvCxnSpPr>
          <p:nvPr/>
        </p:nvCxnSpPr>
        <p:spPr>
          <a:xfrm>
            <a:off x="8877300" y="4562475"/>
            <a:ext cx="600075" cy="76200"/>
          </a:xfrm>
          <a:prstGeom prst="bentConnector3">
            <a:avLst>
              <a:gd name="adj1" fmla="val 50000"/>
            </a:avLst>
          </a:prstGeom>
          <a:ln w="17145">
            <a:solidFill>
              <a:srgbClr val="B86713"/>
            </a:solidFill>
            <a:prstDash val="solid"/>
            <a:tailEnd type="triangle" w="sm" len="sm"/>
          </a:ln>
        </p:spPr>
      </p:cxnSp>
      <p:cxnSp>
        <p:nvCxnSpPr>
          <p:cNvPr id="578" name="Connector: Elbow 269"/>
          <p:cNvCxnSpPr>
            <a:stCxn id="85" idx="2"/>
            <a:endCxn id="98" idx="0"/>
          </p:cNvCxnSpPr>
          <p:nvPr/>
        </p:nvCxnSpPr>
        <p:spPr>
          <a:xfrm flipH="1">
            <a:off x="5505450" y="5553075"/>
            <a:ext cx="400050" cy="561975"/>
          </a:xfrm>
          <a:prstGeom prst="bentConnector4">
            <a:avLst>
              <a:gd name="adj1" fmla="val 0"/>
              <a:gd name="adj2" fmla="val 50000"/>
            </a:avLst>
          </a:prstGeom>
          <a:ln w="17145">
            <a:solidFill>
              <a:srgbClr val="5B6472"/>
            </a:solidFill>
            <a:prstDash val="dash"/>
            <a:tailEnd type="triangle" w="sm" len="sm"/>
          </a:ln>
        </p:spPr>
      </p:cxnSp>
    </p:spTree>
    <p:extLst>
      <p:ext uri="{BB962C8B-B14F-4D97-AF65-F5344CB8AC3E}">
        <p14:creationId xmlns:p14="http://schemas.microsoft.com/office/powerpoint/2010/main" val="1749436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eyebrow">
            <a:extLst>
              <a:ext uri="{FF2B5EF4-FFF2-40B4-BE49-F238E27FC236}">
                <a16:creationId xmlns:a16="http://schemas.microsoft.com/office/drawing/2014/main" id="{D886A6CD-7F03-4EC6-9BC0-6087E9596481}"/>
              </a:ext>
            </a:extLst>
          </p:cNvPr>
          <p:cNvSpPr>
            <a:spLocks noGrp="1"/>
          </p:cNvSpPr>
          <p:nvPr/>
        </p:nvSpPr>
        <p:spPr>
          <a:xfrm>
            <a:off x="514350" y="238125"/>
            <a:ext cx="323850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PROPOSED SOLUTION ARCHITECTURE</a:t>
            </a:r>
          </a:p>
        </p:txBody>
      </p:sp>
      <p:sp>
        <p:nvSpPr>
          <p:cNvPr id="2" name="title">
            <a:extLst>
              <a:ext uri="{FF2B5EF4-FFF2-40B4-BE49-F238E27FC236}">
                <a16:creationId xmlns:a16="http://schemas.microsoft.com/office/drawing/2014/main" id="{2219C5C7-7BA3-416A-B008-B567E506D318}"/>
              </a:ext>
            </a:extLst>
          </p:cNvPr>
          <p:cNvSpPr>
            <a:spLocks noGrp="1"/>
          </p:cNvSpPr>
          <p:nvPr/>
        </p:nvSpPr>
        <p:spPr>
          <a:xfrm>
            <a:off x="514350" y="457200"/>
            <a:ext cx="11163300" cy="419100"/>
          </a:xfrm>
          <a:prstGeom prst="rect">
            <a:avLst/>
          </a:prstGeom>
          <a:noFill/>
          <a:ln w="0">
            <a:noFill/>
            <a:prstDash val="solid"/>
          </a:ln>
        </p:spPr>
        <p:txBody>
          <a:bodyPr/>
          <a:lstStyle/>
          <a:p>
            <a:pPr>
              <a:buNone/>
              <a:defRPr sz="2625" b="1">
                <a:solidFill>
                  <a:srgbClr val="111827"/>
                </a:solidFill>
              </a:defRPr>
            </a:pPr>
            <a:r>
              <a:t>Journey 2 — Identify the vehicle</a:t>
            </a:r>
          </a:p>
        </p:txBody>
      </p:sp>
      <p:sp>
        <p:nvSpPr>
          <p:cNvPr id="3" name="subtitle">
            <a:extLst>
              <a:ext uri="{FF2B5EF4-FFF2-40B4-BE49-F238E27FC236}">
                <a16:creationId xmlns:a16="http://schemas.microsoft.com/office/drawing/2014/main" id="{9C8F4E18-86C4-4EEF-878E-0A79A4804F3E}"/>
              </a:ext>
            </a:extLst>
          </p:cNvPr>
          <p:cNvSpPr>
            <a:spLocks noGrp="1"/>
          </p:cNvSpPr>
          <p:nvPr/>
        </p:nvSpPr>
        <p:spPr>
          <a:xfrm>
            <a:off x="514350" y="895350"/>
            <a:ext cx="11049000" cy="266700"/>
          </a:xfrm>
          <a:prstGeom prst="rect">
            <a:avLst/>
          </a:prstGeom>
          <a:noFill/>
          <a:ln w="0">
            <a:noFill/>
            <a:prstDash val="solid"/>
          </a:ln>
        </p:spPr>
        <p:txBody>
          <a:bodyPr/>
          <a:lstStyle/>
          <a:p>
            <a:pPr>
              <a:buNone/>
              <a:defRPr sz="1200">
                <a:solidFill>
                  <a:srgbClr val="5B6472"/>
                </a:solidFill>
              </a:defRPr>
            </a:pPr>
            <a:r>
              <a:rPr sz="1200">
                <a:solidFill>
                  <a:srgbClr val="5B6472"/>
                </a:solidFill>
              </a:rPr>
              <a:t>The cloud owns the customer journey and booking state; VIN, repair history, and appointment inventory remain authoritative in brownfield systems.</a:t>
            </a:r>
          </a:p>
        </p:txBody>
      </p:sp>
      <p:sp>
        <p:nvSpPr>
          <p:cNvPr id="4" name="aws-region">
            <a:extLst>
              <a:ext uri="{FF2B5EF4-FFF2-40B4-BE49-F238E27FC236}">
                <a16:creationId xmlns:a16="http://schemas.microsoft.com/office/drawing/2014/main" id="{F1164553-7663-4612-BDD9-08843F5EA85D}"/>
              </a:ext>
            </a:extLst>
          </p:cNvPr>
          <p:cNvSpPr>
            <a:spLocks noGrp="1"/>
          </p:cNvSpPr>
          <p:nvPr/>
        </p:nvSpPr>
        <p:spPr>
          <a:xfrm>
            <a:off x="1743075" y="1285875"/>
            <a:ext cx="7524750" cy="4648200"/>
          </a:xfrm>
          <a:prstGeom prst="roundRect">
            <a:avLst>
              <a:gd name="adj" fmla="val 2459"/>
            </a:avLst>
          </a:prstGeom>
          <a:solidFill>
            <a:srgbClr val="FBFCFE"/>
          </a:solidFill>
          <a:ln w="17145">
            <a:solidFill>
              <a:srgbClr val="2767A8"/>
            </a:solidFill>
            <a:prstDash val="solid"/>
          </a:ln>
        </p:spPr>
        <p:txBody>
          <a:bodyPr/>
          <a:lstStyle/>
          <a:p>
            <a:endParaRPr/>
          </a:p>
        </p:txBody>
      </p:sp>
      <p:sp>
        <p:nvSpPr>
          <p:cNvPr id="5" name="region-label">
            <a:extLst>
              <a:ext uri="{FF2B5EF4-FFF2-40B4-BE49-F238E27FC236}">
                <a16:creationId xmlns:a16="http://schemas.microsoft.com/office/drawing/2014/main" id="{5E4B0588-66DE-4146-9AC2-9E7A20A98433}"/>
              </a:ext>
            </a:extLst>
          </p:cNvPr>
          <p:cNvSpPr>
            <a:spLocks noGrp="1"/>
          </p:cNvSpPr>
          <p:nvPr/>
        </p:nvSpPr>
        <p:spPr>
          <a:xfrm>
            <a:off x="1952625" y="1371600"/>
            <a:ext cx="2381250" cy="190500"/>
          </a:xfrm>
          <a:prstGeom prst="rect">
            <a:avLst/>
          </a:prstGeom>
          <a:noFill/>
          <a:ln w="0">
            <a:noFill/>
            <a:prstDash val="solid"/>
          </a:ln>
        </p:spPr>
        <p:txBody>
          <a:bodyPr/>
          <a:lstStyle/>
          <a:p>
            <a:pPr>
              <a:buNone/>
              <a:defRPr sz="975" b="1">
                <a:solidFill>
                  <a:srgbClr val="2767A8"/>
                </a:solidFill>
              </a:defRPr>
            </a:pPr>
            <a:r>
              <a:rPr sz="975" b="1">
                <a:solidFill>
                  <a:srgbClr val="2767A8"/>
                </a:solidFill>
              </a:rPr>
              <a:t>AWS REGION • MULTI-AZ</a:t>
            </a:r>
          </a:p>
        </p:txBody>
      </p:sp>
      <p:sp>
        <p:nvSpPr>
          <p:cNvPr id="6" name="customer">
            <a:extLst>
              <a:ext uri="{FF2B5EF4-FFF2-40B4-BE49-F238E27FC236}">
                <a16:creationId xmlns:a16="http://schemas.microsoft.com/office/drawing/2014/main" id="{824E4FD8-868A-4CD7-9993-F95175F34625}"/>
              </a:ext>
            </a:extLst>
          </p:cNvPr>
          <p:cNvSpPr>
            <a:spLocks noGrp="1"/>
          </p:cNvSpPr>
          <p:nvPr/>
        </p:nvSpPr>
        <p:spPr>
          <a:xfrm>
            <a:off x="266700" y="2609850"/>
            <a:ext cx="1285875" cy="990600"/>
          </a:xfrm>
          <a:prstGeom prst="roundRect">
            <a:avLst>
              <a:gd name="adj" fmla="val 7692"/>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7" name="customer-title">
            <a:extLst>
              <a:ext uri="{FF2B5EF4-FFF2-40B4-BE49-F238E27FC236}">
                <a16:creationId xmlns:a16="http://schemas.microsoft.com/office/drawing/2014/main" id="{3C6EB99D-157C-423B-8D2E-CC3CCE826A15}"/>
              </a:ext>
            </a:extLst>
          </p:cNvPr>
          <p:cNvSpPr>
            <a:spLocks noGrp="1"/>
          </p:cNvSpPr>
          <p:nvPr/>
        </p:nvSpPr>
        <p:spPr>
          <a:xfrm>
            <a:off x="361950" y="2695575"/>
            <a:ext cx="1095375" cy="238125"/>
          </a:xfrm>
          <a:prstGeom prst="rect">
            <a:avLst/>
          </a:prstGeom>
          <a:noFill/>
          <a:ln w="0">
            <a:noFill/>
            <a:prstDash val="solid"/>
          </a:ln>
        </p:spPr>
        <p:txBody>
          <a:bodyPr/>
          <a:lstStyle/>
          <a:p>
            <a:pPr algn="ctr">
              <a:buNone/>
              <a:defRPr sz="1350" b="1">
                <a:solidFill>
                  <a:srgbClr val="172033"/>
                </a:solidFill>
              </a:defRPr>
            </a:pPr>
            <a:r>
              <a:rPr sz="1350" b="1">
                <a:solidFill>
                  <a:srgbClr val="172033"/>
                </a:solidFill>
              </a:rPr>
              <a:t>Customer</a:t>
            </a:r>
          </a:p>
        </p:txBody>
      </p:sp>
      <p:sp>
        <p:nvSpPr>
          <p:cNvPr id="8" name="customer-detail">
            <a:extLst>
              <a:ext uri="{FF2B5EF4-FFF2-40B4-BE49-F238E27FC236}">
                <a16:creationId xmlns:a16="http://schemas.microsoft.com/office/drawing/2014/main" id="{E1E3DAE8-F432-4550-9420-BA16D6364125}"/>
              </a:ext>
            </a:extLst>
          </p:cNvPr>
          <p:cNvSpPr>
            <a:spLocks noGrp="1"/>
          </p:cNvSpPr>
          <p:nvPr/>
        </p:nvSpPr>
        <p:spPr>
          <a:xfrm>
            <a:off x="361950" y="2981325"/>
            <a:ext cx="1095375" cy="552450"/>
          </a:xfrm>
          <a:prstGeom prst="rect">
            <a:avLst/>
          </a:prstGeom>
          <a:noFill/>
          <a:ln w="0">
            <a:noFill/>
            <a:prstDash val="solid"/>
          </a:ln>
        </p:spPr>
        <p:txBody>
          <a:bodyPr/>
          <a:lstStyle/>
          <a:p>
            <a:pPr algn="ctr">
              <a:buNone/>
              <a:defRPr sz="900">
                <a:solidFill>
                  <a:srgbClr val="4B5563"/>
                </a:solidFill>
              </a:defRPr>
            </a:pPr>
            <a:r>
              <a:rPr sz="900">
                <a:solidFill>
                  <a:srgbClr val="4B5563"/>
                </a:solidFill>
              </a:rPr>
              <a:t>Web / mobile</a:t>
            </a:r>
          </a:p>
          <a:p>
            <a:pPr algn="ctr">
              <a:buNone/>
              <a:defRPr sz="900">
                <a:solidFill>
                  <a:srgbClr val="4B5563"/>
                </a:solidFill>
              </a:defRPr>
            </a:pPr>
            <a:r>
              <a:rPr sz="900">
                <a:solidFill>
                  <a:srgbClr val="4B5563"/>
                </a:solidFill>
              </a:rPr>
              <a:t>Guest or signed in</a:t>
            </a:r>
          </a:p>
        </p:txBody>
      </p:sp>
      <p:sp>
        <p:nvSpPr>
          <p:cNvPr id="9" name="dealer-staff">
            <a:extLst>
              <a:ext uri="{FF2B5EF4-FFF2-40B4-BE49-F238E27FC236}">
                <a16:creationId xmlns:a16="http://schemas.microsoft.com/office/drawing/2014/main" id="{FA60DEFF-B3DF-4F82-A853-71315B5F55DF}"/>
              </a:ext>
            </a:extLst>
          </p:cNvPr>
          <p:cNvSpPr>
            <a:spLocks noGrp="1"/>
          </p:cNvSpPr>
          <p:nvPr/>
        </p:nvSpPr>
        <p:spPr>
          <a:xfrm>
            <a:off x="266700" y="3886200"/>
            <a:ext cx="1285875" cy="990600"/>
          </a:xfrm>
          <a:prstGeom prst="roundRect">
            <a:avLst>
              <a:gd name="adj" fmla="val 7692"/>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dealer-staff-title">
            <a:extLst>
              <a:ext uri="{FF2B5EF4-FFF2-40B4-BE49-F238E27FC236}">
                <a16:creationId xmlns:a16="http://schemas.microsoft.com/office/drawing/2014/main" id="{EEBD500E-8F13-4620-8A1C-EAB07F0FCE40}"/>
              </a:ext>
            </a:extLst>
          </p:cNvPr>
          <p:cNvSpPr>
            <a:spLocks noGrp="1"/>
          </p:cNvSpPr>
          <p:nvPr/>
        </p:nvSpPr>
        <p:spPr>
          <a:xfrm>
            <a:off x="361950" y="3971925"/>
            <a:ext cx="1095375" cy="238125"/>
          </a:xfrm>
          <a:prstGeom prst="rect">
            <a:avLst/>
          </a:prstGeom>
          <a:noFill/>
          <a:ln w="0">
            <a:noFill/>
            <a:prstDash val="solid"/>
          </a:ln>
        </p:spPr>
        <p:txBody>
          <a:bodyPr/>
          <a:lstStyle/>
          <a:p>
            <a:pPr algn="ctr">
              <a:buNone/>
              <a:defRPr sz="1125" b="1">
                <a:solidFill>
                  <a:srgbClr val="172033"/>
                </a:solidFill>
              </a:defRPr>
            </a:pPr>
            <a:r>
              <a:rPr sz="1125" b="1">
                <a:solidFill>
                  <a:srgbClr val="172033"/>
                </a:solidFill>
              </a:rPr>
              <a:t>Dealer personnel</a:t>
            </a:r>
          </a:p>
        </p:txBody>
      </p:sp>
      <p:sp>
        <p:nvSpPr>
          <p:cNvPr id="11" name="dealer-staff-detail">
            <a:extLst>
              <a:ext uri="{FF2B5EF4-FFF2-40B4-BE49-F238E27FC236}">
                <a16:creationId xmlns:a16="http://schemas.microsoft.com/office/drawing/2014/main" id="{42058415-DAD3-4F93-847C-A99CE85011C1}"/>
              </a:ext>
            </a:extLst>
          </p:cNvPr>
          <p:cNvSpPr>
            <a:spLocks noGrp="1"/>
          </p:cNvSpPr>
          <p:nvPr/>
        </p:nvSpPr>
        <p:spPr>
          <a:xfrm>
            <a:off x="361950" y="4295775"/>
            <a:ext cx="1095375" cy="514350"/>
          </a:xfrm>
          <a:prstGeom prst="rect">
            <a:avLst/>
          </a:prstGeom>
          <a:noFill/>
          <a:ln w="0">
            <a:noFill/>
            <a:prstDash val="solid"/>
          </a:ln>
        </p:spPr>
        <p:txBody>
          <a:bodyPr/>
          <a:lstStyle/>
          <a:p>
            <a:pPr algn="ctr">
              <a:buNone/>
              <a:defRPr sz="825">
                <a:solidFill>
                  <a:srgbClr val="4B5563"/>
                </a:solidFill>
              </a:defRPr>
            </a:pPr>
            <a:r>
              <a:rPr sz="825">
                <a:solidFill>
                  <a:srgbClr val="4B5563"/>
                </a:solidFill>
              </a:rPr>
              <a:t>Dealer-scoped access</a:t>
            </a:r>
          </a:p>
        </p:txBody>
      </p:sp>
      <p:sp>
        <p:nvSpPr>
          <p:cNvPr id="12" name="controls">
            <a:extLst>
              <a:ext uri="{FF2B5EF4-FFF2-40B4-BE49-F238E27FC236}">
                <a16:creationId xmlns:a16="http://schemas.microsoft.com/office/drawing/2014/main" id="{F8C06153-F85C-489B-B9C9-C84C5773CA0B}"/>
              </a:ext>
            </a:extLst>
          </p:cNvPr>
          <p:cNvSpPr>
            <a:spLocks noGrp="1"/>
          </p:cNvSpPr>
          <p:nvPr/>
        </p:nvSpPr>
        <p:spPr>
          <a:xfrm>
            <a:off x="2000250" y="1619250"/>
            <a:ext cx="7029450" cy="457200"/>
          </a:xfrm>
          <a:prstGeom prst="roundRect">
            <a:avLst>
              <a:gd name="adj" fmla="val 16667"/>
            </a:avLst>
          </a:prstGeom>
          <a:solidFill>
            <a:srgbClr val="F4F7FA"/>
          </a:solidFill>
          <a:ln w="13335">
            <a:solidFill>
              <a:srgbClr val="8491A3"/>
            </a:solidFill>
            <a:prstDash val="solid"/>
          </a:ln>
        </p:spPr>
        <p:txBody>
          <a:bodyPr/>
          <a:lstStyle/>
          <a:p>
            <a:endParaRPr/>
          </a:p>
        </p:txBody>
      </p:sp>
      <p:sp>
        <p:nvSpPr>
          <p:cNvPr id="13" name="controls-title">
            <a:extLst>
              <a:ext uri="{FF2B5EF4-FFF2-40B4-BE49-F238E27FC236}">
                <a16:creationId xmlns:a16="http://schemas.microsoft.com/office/drawing/2014/main" id="{50893290-542C-48F6-8786-F02AE9F391BC}"/>
              </a:ext>
            </a:extLst>
          </p:cNvPr>
          <p:cNvSpPr>
            <a:spLocks noGrp="1"/>
          </p:cNvSpPr>
          <p:nvPr/>
        </p:nvSpPr>
        <p:spPr>
          <a:xfrm>
            <a:off x="3571875" y="1704975"/>
            <a:ext cx="5362575" cy="190500"/>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Security &amp; operations</a:t>
            </a:r>
          </a:p>
        </p:txBody>
      </p:sp>
      <p:sp>
        <p:nvSpPr>
          <p:cNvPr id="14" name="controls-detail">
            <a:extLst>
              <a:ext uri="{FF2B5EF4-FFF2-40B4-BE49-F238E27FC236}">
                <a16:creationId xmlns:a16="http://schemas.microsoft.com/office/drawing/2014/main" id="{DE89E8CA-BB58-4135-874B-6FE788867217}"/>
              </a:ext>
            </a:extLst>
          </p:cNvPr>
          <p:cNvSpPr>
            <a:spLocks noGrp="1"/>
          </p:cNvSpPr>
          <p:nvPr/>
        </p:nvSpPr>
        <p:spPr>
          <a:xfrm>
            <a:off x="2095500" y="1857375"/>
            <a:ext cx="6838950" cy="152400"/>
          </a:xfrm>
          <a:prstGeom prst="rect">
            <a:avLst/>
          </a:prstGeom>
          <a:noFill/>
          <a:ln w="0">
            <a:noFill/>
            <a:prstDash val="solid"/>
          </a:ln>
        </p:spPr>
        <p:txBody>
          <a:bodyPr/>
          <a:lstStyle/>
          <a:p>
            <a:pPr algn="ctr">
              <a:buNone/>
              <a:defRPr sz="900">
                <a:solidFill>
                  <a:srgbClr val="4B5563"/>
                </a:solidFill>
              </a:defRPr>
            </a:pPr>
            <a:r>
              <a:rPr sz="900">
                <a:solidFill>
                  <a:srgbClr val="4B5563"/>
                </a:solidFill>
              </a:rPr>
              <a:t>WAF / Shield • KMS • Secrets Manager • CloudWatch / X-Ray • CloudTrail</a:t>
            </a:r>
          </a:p>
        </p:txBody>
      </p:sp>
      <p:pic>
        <p:nvPicPr>
          <p:cNvPr id="458" name="Picture 149"/>
          <p:cNvPicPr>
            <a:picLocks noChangeAspect="1"/>
          </p:cNvPicPr>
          <p:nvPr/>
        </p:nvPicPr>
        <p:blipFill>
          <a:blip r:embed="rId3"/>
          <a:stretch/>
        </p:blipFill>
        <p:spPr>
          <a:xfrm>
            <a:off x="2095500" y="1724025"/>
            <a:ext cx="200025" cy="200025"/>
          </a:xfrm>
          <a:prstGeom prst="rect">
            <a:avLst/>
          </a:prstGeom>
        </p:spPr>
      </p:pic>
      <p:pic>
        <p:nvPicPr>
          <p:cNvPr id="459" name="Picture 150"/>
          <p:cNvPicPr>
            <a:picLocks noChangeAspect="1"/>
          </p:cNvPicPr>
          <p:nvPr/>
        </p:nvPicPr>
        <p:blipFill>
          <a:blip r:embed="rId4"/>
          <a:stretch/>
        </p:blipFill>
        <p:spPr>
          <a:xfrm>
            <a:off x="2362200" y="1724025"/>
            <a:ext cx="200025" cy="200025"/>
          </a:xfrm>
          <a:prstGeom prst="rect">
            <a:avLst/>
          </a:prstGeom>
        </p:spPr>
      </p:pic>
      <p:pic>
        <p:nvPicPr>
          <p:cNvPr id="460" name="Picture 151"/>
          <p:cNvPicPr>
            <a:picLocks noChangeAspect="1"/>
          </p:cNvPicPr>
          <p:nvPr/>
        </p:nvPicPr>
        <p:blipFill>
          <a:blip r:embed="rId5"/>
          <a:stretch/>
        </p:blipFill>
        <p:spPr>
          <a:xfrm>
            <a:off x="2628900" y="1724025"/>
            <a:ext cx="200025" cy="200025"/>
          </a:xfrm>
          <a:prstGeom prst="rect">
            <a:avLst/>
          </a:prstGeom>
        </p:spPr>
      </p:pic>
      <p:pic>
        <p:nvPicPr>
          <p:cNvPr id="461" name="Picture 152"/>
          <p:cNvPicPr>
            <a:picLocks noChangeAspect="1"/>
          </p:cNvPicPr>
          <p:nvPr/>
        </p:nvPicPr>
        <p:blipFill>
          <a:blip r:embed="rId6"/>
          <a:stretch/>
        </p:blipFill>
        <p:spPr>
          <a:xfrm>
            <a:off x="2895600" y="1724025"/>
            <a:ext cx="200025" cy="200025"/>
          </a:xfrm>
          <a:prstGeom prst="rect">
            <a:avLst/>
          </a:prstGeom>
        </p:spPr>
      </p:pic>
      <p:pic>
        <p:nvPicPr>
          <p:cNvPr id="462" name="Picture 153"/>
          <p:cNvPicPr>
            <a:picLocks noChangeAspect="1"/>
          </p:cNvPicPr>
          <p:nvPr/>
        </p:nvPicPr>
        <p:blipFill>
          <a:blip r:embed="rId7"/>
          <a:stretch/>
        </p:blipFill>
        <p:spPr>
          <a:xfrm>
            <a:off x="3162300" y="1724025"/>
            <a:ext cx="200025" cy="200025"/>
          </a:xfrm>
          <a:prstGeom prst="rect">
            <a:avLst/>
          </a:prstGeom>
        </p:spPr>
      </p:pic>
      <p:sp>
        <p:nvSpPr>
          <p:cNvPr id="20" name="edge">
            <a:extLst>
              <a:ext uri="{FF2B5EF4-FFF2-40B4-BE49-F238E27FC236}">
                <a16:creationId xmlns:a16="http://schemas.microsoft.com/office/drawing/2014/main" id="{6A5DEEF4-B2D0-4301-A773-05977282DE9D}"/>
              </a:ext>
            </a:extLst>
          </p:cNvPr>
          <p:cNvSpPr>
            <a:spLocks noGrp="1"/>
          </p:cNvSpPr>
          <p:nvPr/>
        </p:nvSpPr>
        <p:spPr>
          <a:xfrm>
            <a:off x="2000250" y="2247900"/>
            <a:ext cx="1219200" cy="609600"/>
          </a:xfrm>
          <a:prstGeom prst="roundRect">
            <a:avLst>
              <a:gd name="adj" fmla="val 12500"/>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21" name="edge-title">
            <a:extLst>
              <a:ext uri="{FF2B5EF4-FFF2-40B4-BE49-F238E27FC236}">
                <a16:creationId xmlns:a16="http://schemas.microsoft.com/office/drawing/2014/main" id="{BF680882-6539-4F37-8AD9-374D7EAD3C19}"/>
              </a:ext>
            </a:extLst>
          </p:cNvPr>
          <p:cNvSpPr>
            <a:spLocks noGrp="1"/>
          </p:cNvSpPr>
          <p:nvPr/>
        </p:nvSpPr>
        <p:spPr>
          <a:xfrm>
            <a:off x="2457450" y="2333625"/>
            <a:ext cx="66675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Web delivery</a:t>
            </a:r>
          </a:p>
        </p:txBody>
      </p:sp>
      <p:sp>
        <p:nvSpPr>
          <p:cNvPr id="22" name="edge-detail">
            <a:extLst>
              <a:ext uri="{FF2B5EF4-FFF2-40B4-BE49-F238E27FC236}">
                <a16:creationId xmlns:a16="http://schemas.microsoft.com/office/drawing/2014/main" id="{C16996C2-C9B9-48AF-A987-D7961B2714DF}"/>
              </a:ext>
            </a:extLst>
          </p:cNvPr>
          <p:cNvSpPr>
            <a:spLocks noGrp="1"/>
          </p:cNvSpPr>
          <p:nvPr/>
        </p:nvSpPr>
        <p:spPr>
          <a:xfrm>
            <a:off x="20955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CloudFront + S3</a:t>
            </a:r>
          </a:p>
        </p:txBody>
      </p:sp>
      <p:pic>
        <p:nvPicPr>
          <p:cNvPr id="466" name="Picture 157"/>
          <p:cNvPicPr>
            <a:picLocks noChangeAspect="1"/>
          </p:cNvPicPr>
          <p:nvPr/>
        </p:nvPicPr>
        <p:blipFill>
          <a:blip r:embed="rId8"/>
          <a:stretch/>
        </p:blipFill>
        <p:spPr>
          <a:xfrm>
            <a:off x="2066925" y="2324100"/>
            <a:ext cx="190500" cy="190500"/>
          </a:xfrm>
          <a:prstGeom prst="rect">
            <a:avLst/>
          </a:prstGeom>
        </p:spPr>
      </p:pic>
      <p:pic>
        <p:nvPicPr>
          <p:cNvPr id="467" name="Picture 158"/>
          <p:cNvPicPr>
            <a:picLocks noChangeAspect="1"/>
          </p:cNvPicPr>
          <p:nvPr/>
        </p:nvPicPr>
        <p:blipFill>
          <a:blip r:embed="rId9"/>
          <a:stretch/>
        </p:blipFill>
        <p:spPr>
          <a:xfrm>
            <a:off x="2266950" y="2324100"/>
            <a:ext cx="190500" cy="190500"/>
          </a:xfrm>
          <a:prstGeom prst="rect">
            <a:avLst/>
          </a:prstGeom>
        </p:spPr>
      </p:pic>
      <p:sp>
        <p:nvSpPr>
          <p:cNvPr id="25" name="identity">
            <a:extLst>
              <a:ext uri="{FF2B5EF4-FFF2-40B4-BE49-F238E27FC236}">
                <a16:creationId xmlns:a16="http://schemas.microsoft.com/office/drawing/2014/main" id="{F029CBF7-8D72-405C-8635-EBECDDB4147E}"/>
              </a:ext>
            </a:extLst>
          </p:cNvPr>
          <p:cNvSpPr>
            <a:spLocks noGrp="1"/>
          </p:cNvSpPr>
          <p:nvPr/>
        </p:nvSpPr>
        <p:spPr>
          <a:xfrm>
            <a:off x="3371850" y="2247900"/>
            <a:ext cx="1219200" cy="609600"/>
          </a:xfrm>
          <a:prstGeom prst="roundRect">
            <a:avLst>
              <a:gd name="adj" fmla="val 12500"/>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26" name="identity-title">
            <a:extLst>
              <a:ext uri="{FF2B5EF4-FFF2-40B4-BE49-F238E27FC236}">
                <a16:creationId xmlns:a16="http://schemas.microsoft.com/office/drawing/2014/main" id="{105B8484-4C3E-461A-A7CA-BE0F88F4DD73}"/>
              </a:ext>
            </a:extLst>
          </p:cNvPr>
          <p:cNvSpPr>
            <a:spLocks noGrp="1"/>
          </p:cNvSpPr>
          <p:nvPr/>
        </p:nvSpPr>
        <p:spPr>
          <a:xfrm>
            <a:off x="37338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Amazon Cognito</a:t>
            </a:r>
          </a:p>
        </p:txBody>
      </p:sp>
      <p:sp>
        <p:nvSpPr>
          <p:cNvPr id="27" name="identity-detail">
            <a:extLst>
              <a:ext uri="{FF2B5EF4-FFF2-40B4-BE49-F238E27FC236}">
                <a16:creationId xmlns:a16="http://schemas.microsoft.com/office/drawing/2014/main" id="{BF3AC944-0580-4FF6-A65B-06E70A72759B}"/>
              </a:ext>
            </a:extLst>
          </p:cNvPr>
          <p:cNvSpPr>
            <a:spLocks noGrp="1"/>
          </p:cNvSpPr>
          <p:nvPr/>
        </p:nvSpPr>
        <p:spPr>
          <a:xfrm>
            <a:off x="34671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Customer identity</a:t>
            </a:r>
          </a:p>
        </p:txBody>
      </p:sp>
      <p:pic>
        <p:nvPicPr>
          <p:cNvPr id="471" name="Picture 162"/>
          <p:cNvPicPr>
            <a:picLocks noChangeAspect="1"/>
          </p:cNvPicPr>
          <p:nvPr/>
        </p:nvPicPr>
        <p:blipFill>
          <a:blip r:embed="rId10"/>
          <a:stretch/>
        </p:blipFill>
        <p:spPr>
          <a:xfrm>
            <a:off x="3448050" y="2314575"/>
            <a:ext cx="219075" cy="219075"/>
          </a:xfrm>
          <a:prstGeom prst="rect">
            <a:avLst/>
          </a:prstGeom>
        </p:spPr>
      </p:pic>
      <p:sp>
        <p:nvSpPr>
          <p:cNvPr id="29" name="api">
            <a:extLst>
              <a:ext uri="{FF2B5EF4-FFF2-40B4-BE49-F238E27FC236}">
                <a16:creationId xmlns:a16="http://schemas.microsoft.com/office/drawing/2014/main" id="{841F9A5B-3B25-4E36-8B24-F1B6C908D3D4}"/>
              </a:ext>
            </a:extLst>
          </p:cNvPr>
          <p:cNvSpPr>
            <a:spLocks noGrp="1"/>
          </p:cNvSpPr>
          <p:nvPr/>
        </p:nvSpPr>
        <p:spPr>
          <a:xfrm>
            <a:off x="4743450" y="2247900"/>
            <a:ext cx="1219200" cy="609600"/>
          </a:xfrm>
          <a:prstGeom prst="roundRect">
            <a:avLst>
              <a:gd name="adj" fmla="val 12500"/>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30" name="api-title">
            <a:extLst>
              <a:ext uri="{FF2B5EF4-FFF2-40B4-BE49-F238E27FC236}">
                <a16:creationId xmlns:a16="http://schemas.microsoft.com/office/drawing/2014/main" id="{5787FEE0-85A3-4AF9-A5CC-BC6B1F9D320E}"/>
              </a:ext>
            </a:extLst>
          </p:cNvPr>
          <p:cNvSpPr>
            <a:spLocks noGrp="1"/>
          </p:cNvSpPr>
          <p:nvPr/>
        </p:nvSpPr>
        <p:spPr>
          <a:xfrm>
            <a:off x="51054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API Gateway</a:t>
            </a:r>
          </a:p>
        </p:txBody>
      </p:sp>
      <p:sp>
        <p:nvSpPr>
          <p:cNvPr id="31" name="api-detail">
            <a:extLst>
              <a:ext uri="{FF2B5EF4-FFF2-40B4-BE49-F238E27FC236}">
                <a16:creationId xmlns:a16="http://schemas.microsoft.com/office/drawing/2014/main" id="{7918C7DD-2E67-4861-ACA1-B83827815B48}"/>
              </a:ext>
            </a:extLst>
          </p:cNvPr>
          <p:cNvSpPr>
            <a:spLocks noGrp="1"/>
          </p:cNvSpPr>
          <p:nvPr/>
        </p:nvSpPr>
        <p:spPr>
          <a:xfrm>
            <a:off x="4838700" y="2628900"/>
            <a:ext cx="1028700" cy="161925"/>
          </a:xfrm>
          <a:prstGeom prst="rect">
            <a:avLst/>
          </a:prstGeom>
          <a:noFill/>
          <a:ln w="0">
            <a:noFill/>
            <a:prstDash val="solid"/>
          </a:ln>
        </p:spPr>
        <p:txBody>
          <a:bodyPr/>
          <a:lstStyle/>
          <a:p>
            <a:pPr algn="ctr">
              <a:buNone/>
              <a:defRPr sz="750">
                <a:solidFill>
                  <a:srgbClr val="4B5563"/>
                </a:solidFill>
              </a:defRPr>
            </a:pPr>
            <a:r>
              <a:rPr sz="750">
                <a:solidFill>
                  <a:srgbClr val="4B5563"/>
                </a:solidFill>
              </a:rPr>
              <a:t>REST APIs + throttling</a:t>
            </a:r>
          </a:p>
        </p:txBody>
      </p:sp>
      <p:pic>
        <p:nvPicPr>
          <p:cNvPr id="475" name="Picture 166"/>
          <p:cNvPicPr>
            <a:picLocks noChangeAspect="1"/>
          </p:cNvPicPr>
          <p:nvPr/>
        </p:nvPicPr>
        <p:blipFill>
          <a:blip r:embed="rId11"/>
          <a:stretch/>
        </p:blipFill>
        <p:spPr>
          <a:xfrm>
            <a:off x="4819650" y="2314575"/>
            <a:ext cx="219075" cy="219075"/>
          </a:xfrm>
          <a:prstGeom prst="rect">
            <a:avLst/>
          </a:prstGeom>
        </p:spPr>
      </p:pic>
      <p:sp>
        <p:nvSpPr>
          <p:cNvPr id="33" name="workflow">
            <a:extLst>
              <a:ext uri="{FF2B5EF4-FFF2-40B4-BE49-F238E27FC236}">
                <a16:creationId xmlns:a16="http://schemas.microsoft.com/office/drawing/2014/main" id="{D6BFE9BD-C789-4CA0-87E7-EE234B9E7662}"/>
              </a:ext>
            </a:extLst>
          </p:cNvPr>
          <p:cNvSpPr>
            <a:spLocks noGrp="1"/>
          </p:cNvSpPr>
          <p:nvPr/>
        </p:nvSpPr>
        <p:spPr>
          <a:xfrm>
            <a:off x="6115050" y="2247900"/>
            <a:ext cx="1219200" cy="609600"/>
          </a:xfrm>
          <a:prstGeom prst="roundRect">
            <a:avLst>
              <a:gd name="adj" fmla="val 12500"/>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34" name="workflow-title">
            <a:extLst>
              <a:ext uri="{FF2B5EF4-FFF2-40B4-BE49-F238E27FC236}">
                <a16:creationId xmlns:a16="http://schemas.microsoft.com/office/drawing/2014/main" id="{FC2A44D5-084F-4124-BF47-D85F3BF23309}"/>
              </a:ext>
            </a:extLst>
          </p:cNvPr>
          <p:cNvSpPr>
            <a:spLocks noGrp="1"/>
          </p:cNvSpPr>
          <p:nvPr/>
        </p:nvSpPr>
        <p:spPr>
          <a:xfrm>
            <a:off x="64770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Step Functions</a:t>
            </a:r>
          </a:p>
        </p:txBody>
      </p:sp>
      <p:sp>
        <p:nvSpPr>
          <p:cNvPr id="35" name="workflow-detail">
            <a:extLst>
              <a:ext uri="{FF2B5EF4-FFF2-40B4-BE49-F238E27FC236}">
                <a16:creationId xmlns:a16="http://schemas.microsoft.com/office/drawing/2014/main" id="{AB0E5BA6-3D16-4BCA-ADAC-B5102082E59E}"/>
              </a:ext>
            </a:extLst>
          </p:cNvPr>
          <p:cNvSpPr>
            <a:spLocks noGrp="1"/>
          </p:cNvSpPr>
          <p:nvPr/>
        </p:nvSpPr>
        <p:spPr>
          <a:xfrm>
            <a:off x="62103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Booking saga</a:t>
            </a:r>
          </a:p>
        </p:txBody>
      </p:sp>
      <p:pic>
        <p:nvPicPr>
          <p:cNvPr id="479" name="Picture 170"/>
          <p:cNvPicPr>
            <a:picLocks noChangeAspect="1"/>
          </p:cNvPicPr>
          <p:nvPr/>
        </p:nvPicPr>
        <p:blipFill>
          <a:blip r:embed="rId12"/>
          <a:stretch/>
        </p:blipFill>
        <p:spPr>
          <a:xfrm>
            <a:off x="6191250" y="2314575"/>
            <a:ext cx="219075" cy="219075"/>
          </a:xfrm>
          <a:prstGeom prst="rect">
            <a:avLst/>
          </a:prstGeom>
        </p:spPr>
      </p:pic>
      <p:sp>
        <p:nvSpPr>
          <p:cNvPr id="37" name="domain-boundary">
            <a:extLst>
              <a:ext uri="{FF2B5EF4-FFF2-40B4-BE49-F238E27FC236}">
                <a16:creationId xmlns:a16="http://schemas.microsoft.com/office/drawing/2014/main" id="{699213F3-68B5-4717-9CB6-CFEFA00687C2}"/>
              </a:ext>
            </a:extLst>
          </p:cNvPr>
          <p:cNvSpPr>
            <a:spLocks noGrp="1"/>
          </p:cNvSpPr>
          <p:nvPr/>
        </p:nvSpPr>
        <p:spPr>
          <a:xfrm>
            <a:off x="2000250" y="3048000"/>
            <a:ext cx="5334000" cy="1752600"/>
          </a:xfrm>
          <a:prstGeom prst="roundRect">
            <a:avLst>
              <a:gd name="adj" fmla="val 4348"/>
            </a:avLst>
          </a:prstGeom>
          <a:solidFill>
            <a:srgbClr val="FFFFFF"/>
          </a:solidFill>
          <a:ln w="11430">
            <a:solidFill>
              <a:srgbClr val="9AA4B2"/>
            </a:solidFill>
            <a:prstDash val="solid"/>
          </a:ln>
        </p:spPr>
        <p:txBody>
          <a:bodyPr/>
          <a:lstStyle/>
          <a:p>
            <a:endParaRPr/>
          </a:p>
        </p:txBody>
      </p:sp>
      <p:sp>
        <p:nvSpPr>
          <p:cNvPr id="38" name="domain-label">
            <a:extLst>
              <a:ext uri="{FF2B5EF4-FFF2-40B4-BE49-F238E27FC236}">
                <a16:creationId xmlns:a16="http://schemas.microsoft.com/office/drawing/2014/main" id="{D3221E7F-1DD2-43E6-BED1-EDA13C25137D}"/>
              </a:ext>
            </a:extLst>
          </p:cNvPr>
          <p:cNvSpPr>
            <a:spLocks noGrp="1"/>
          </p:cNvSpPr>
          <p:nvPr/>
        </p:nvSpPr>
        <p:spPr>
          <a:xfrm>
            <a:off x="2400300" y="3114675"/>
            <a:ext cx="3905250" cy="171450"/>
          </a:xfrm>
          <a:prstGeom prst="rect">
            <a:avLst/>
          </a:prstGeom>
          <a:noFill/>
          <a:ln w="0">
            <a:noFill/>
            <a:prstDash val="solid"/>
          </a:ln>
        </p:spPr>
        <p:txBody>
          <a:bodyPr/>
          <a:lstStyle/>
          <a:p>
            <a:pPr>
              <a:buNone/>
              <a:defRPr sz="825" b="1">
                <a:solidFill>
                  <a:srgbClr val="5B6472"/>
                </a:solidFill>
              </a:defRPr>
            </a:pPr>
            <a:r>
              <a:rPr sz="825" b="1">
                <a:solidFill>
                  <a:srgbClr val="5B6472"/>
                </a:solidFill>
              </a:rPr>
              <a:t>DOMAIN SERVICES • LAMBDA / CONTAINER ADAPTERS</a:t>
            </a:r>
          </a:p>
        </p:txBody>
      </p:sp>
      <p:pic>
        <p:nvPicPr>
          <p:cNvPr id="482" name="Picture 173"/>
          <p:cNvPicPr>
            <a:picLocks noChangeAspect="1"/>
          </p:cNvPicPr>
          <p:nvPr/>
        </p:nvPicPr>
        <p:blipFill>
          <a:blip r:embed="rId13"/>
          <a:stretch/>
        </p:blipFill>
        <p:spPr>
          <a:xfrm>
            <a:off x="2143125" y="3086100"/>
            <a:ext cx="200025" cy="200025"/>
          </a:xfrm>
          <a:prstGeom prst="rect">
            <a:avLst/>
          </a:prstGeom>
        </p:spPr>
      </p:pic>
      <p:sp>
        <p:nvSpPr>
          <p:cNvPr id="40" name="dealer-discovery">
            <a:extLst>
              <a:ext uri="{FF2B5EF4-FFF2-40B4-BE49-F238E27FC236}">
                <a16:creationId xmlns:a16="http://schemas.microsoft.com/office/drawing/2014/main" id="{C18AB3F9-D42B-4A5B-A84B-C29DFCBA1075}"/>
              </a:ext>
            </a:extLst>
          </p:cNvPr>
          <p:cNvSpPr>
            <a:spLocks noGrp="1"/>
          </p:cNvSpPr>
          <p:nvPr/>
        </p:nvSpPr>
        <p:spPr>
          <a:xfrm>
            <a:off x="2143125" y="3314700"/>
            <a:ext cx="1123950" cy="685800"/>
          </a:xfrm>
          <a:prstGeom prst="roundRect">
            <a:avLst>
              <a:gd name="adj" fmla="val 11111"/>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41" name="dealer-discovery-title">
            <a:extLst>
              <a:ext uri="{FF2B5EF4-FFF2-40B4-BE49-F238E27FC236}">
                <a16:creationId xmlns:a16="http://schemas.microsoft.com/office/drawing/2014/main" id="{1A4C360B-8098-4209-8C39-907BE08675BC}"/>
              </a:ext>
            </a:extLst>
          </p:cNvPr>
          <p:cNvSpPr>
            <a:spLocks noGrp="1"/>
          </p:cNvSpPr>
          <p:nvPr/>
        </p:nvSpPr>
        <p:spPr>
          <a:xfrm>
            <a:off x="22383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Dealer discovery</a:t>
            </a:r>
          </a:p>
        </p:txBody>
      </p:sp>
      <p:sp>
        <p:nvSpPr>
          <p:cNvPr id="42" name="dealer-discovery-detail">
            <a:extLst>
              <a:ext uri="{FF2B5EF4-FFF2-40B4-BE49-F238E27FC236}">
                <a16:creationId xmlns:a16="http://schemas.microsoft.com/office/drawing/2014/main" id="{1D0B68E4-D62B-4E23-B678-DD2DAE0473BD}"/>
              </a:ext>
            </a:extLst>
          </p:cNvPr>
          <p:cNvSpPr>
            <a:spLocks noGrp="1"/>
          </p:cNvSpPr>
          <p:nvPr/>
        </p:nvSpPr>
        <p:spPr>
          <a:xfrm>
            <a:off x="22383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ZIP / geo search</a:t>
            </a:r>
          </a:p>
        </p:txBody>
      </p:sp>
      <p:sp>
        <p:nvSpPr>
          <p:cNvPr id="43" name="vehicle-service">
            <a:extLst>
              <a:ext uri="{FF2B5EF4-FFF2-40B4-BE49-F238E27FC236}">
                <a16:creationId xmlns:a16="http://schemas.microsoft.com/office/drawing/2014/main" id="{56CF32B0-E6ED-4A51-AB9C-25B550F573AB}"/>
              </a:ext>
            </a:extLst>
          </p:cNvPr>
          <p:cNvSpPr>
            <a:spLocks noGrp="1"/>
          </p:cNvSpPr>
          <p:nvPr/>
        </p:nvSpPr>
        <p:spPr>
          <a:xfrm>
            <a:off x="3400425" y="3314700"/>
            <a:ext cx="1123950" cy="685800"/>
          </a:xfrm>
          <a:prstGeom prst="roundRect">
            <a:avLst>
              <a:gd name="adj" fmla="val 11111"/>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44" name="vehicle-service-title">
            <a:extLst>
              <a:ext uri="{FF2B5EF4-FFF2-40B4-BE49-F238E27FC236}">
                <a16:creationId xmlns:a16="http://schemas.microsoft.com/office/drawing/2014/main" id="{97633DBC-0465-4767-993C-648DE5C8A9E4}"/>
              </a:ext>
            </a:extLst>
          </p:cNvPr>
          <p:cNvSpPr>
            <a:spLocks noGrp="1"/>
          </p:cNvSpPr>
          <p:nvPr/>
        </p:nvSpPr>
        <p:spPr>
          <a:xfrm>
            <a:off x="34956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Vehicle service</a:t>
            </a:r>
          </a:p>
        </p:txBody>
      </p:sp>
      <p:sp>
        <p:nvSpPr>
          <p:cNvPr id="45" name="vehicle-service-detail">
            <a:extLst>
              <a:ext uri="{FF2B5EF4-FFF2-40B4-BE49-F238E27FC236}">
                <a16:creationId xmlns:a16="http://schemas.microsoft.com/office/drawing/2014/main" id="{5BD56E96-F0B2-4F83-A6FF-5A5AAE976352}"/>
              </a:ext>
            </a:extLst>
          </p:cNvPr>
          <p:cNvSpPr>
            <a:spLocks noGrp="1"/>
          </p:cNvSpPr>
          <p:nvPr/>
        </p:nvSpPr>
        <p:spPr>
          <a:xfrm>
            <a:off x="34956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VIN + repair history</a:t>
            </a:r>
          </a:p>
        </p:txBody>
      </p:sp>
      <p:sp>
        <p:nvSpPr>
          <p:cNvPr id="46" name="availability-service">
            <a:extLst>
              <a:ext uri="{FF2B5EF4-FFF2-40B4-BE49-F238E27FC236}">
                <a16:creationId xmlns:a16="http://schemas.microsoft.com/office/drawing/2014/main" id="{19F8691C-280F-4BCD-BA15-FD25A7815A42}"/>
              </a:ext>
            </a:extLst>
          </p:cNvPr>
          <p:cNvSpPr>
            <a:spLocks noGrp="1"/>
          </p:cNvSpPr>
          <p:nvPr/>
        </p:nvSpPr>
        <p:spPr>
          <a:xfrm>
            <a:off x="4657725" y="3314700"/>
            <a:ext cx="1123950" cy="685800"/>
          </a:xfrm>
          <a:prstGeom prst="roundRect">
            <a:avLst>
              <a:gd name="adj" fmla="val 11111"/>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47" name="availability-service-title">
            <a:extLst>
              <a:ext uri="{FF2B5EF4-FFF2-40B4-BE49-F238E27FC236}">
                <a16:creationId xmlns:a16="http://schemas.microsoft.com/office/drawing/2014/main" id="{49FF8CC3-C939-4AB0-B979-D6DB039EC44C}"/>
              </a:ext>
            </a:extLst>
          </p:cNvPr>
          <p:cNvSpPr>
            <a:spLocks noGrp="1"/>
          </p:cNvSpPr>
          <p:nvPr/>
        </p:nvSpPr>
        <p:spPr>
          <a:xfrm>
            <a:off x="47529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Availability</a:t>
            </a:r>
          </a:p>
        </p:txBody>
      </p:sp>
      <p:sp>
        <p:nvSpPr>
          <p:cNvPr id="48" name="availability-service-detail">
            <a:extLst>
              <a:ext uri="{FF2B5EF4-FFF2-40B4-BE49-F238E27FC236}">
                <a16:creationId xmlns:a16="http://schemas.microsoft.com/office/drawing/2014/main" id="{4A600002-4B50-4F6E-8DEA-0CF5542C60A0}"/>
              </a:ext>
            </a:extLst>
          </p:cNvPr>
          <p:cNvSpPr>
            <a:spLocks noGrp="1"/>
          </p:cNvSpPr>
          <p:nvPr/>
        </p:nvSpPr>
        <p:spPr>
          <a:xfrm>
            <a:off x="47529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Search + short hold</a:t>
            </a:r>
          </a:p>
        </p:txBody>
      </p:sp>
      <p:sp>
        <p:nvSpPr>
          <p:cNvPr id="49" name="booking-service">
            <a:extLst>
              <a:ext uri="{FF2B5EF4-FFF2-40B4-BE49-F238E27FC236}">
                <a16:creationId xmlns:a16="http://schemas.microsoft.com/office/drawing/2014/main" id="{B716E75D-9175-4799-8042-6E272F64FCD3}"/>
              </a:ext>
            </a:extLst>
          </p:cNvPr>
          <p:cNvSpPr>
            <a:spLocks noGrp="1"/>
          </p:cNvSpPr>
          <p:nvPr/>
        </p:nvSpPr>
        <p:spPr>
          <a:xfrm>
            <a:off x="5915025" y="3314700"/>
            <a:ext cx="1123950" cy="685800"/>
          </a:xfrm>
          <a:prstGeom prst="roundRect">
            <a:avLst>
              <a:gd name="adj" fmla="val 11111"/>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50" name="booking-service-title">
            <a:extLst>
              <a:ext uri="{FF2B5EF4-FFF2-40B4-BE49-F238E27FC236}">
                <a16:creationId xmlns:a16="http://schemas.microsoft.com/office/drawing/2014/main" id="{3383E281-2257-437E-AECC-001C83CC4033}"/>
              </a:ext>
            </a:extLst>
          </p:cNvPr>
          <p:cNvSpPr>
            <a:spLocks noGrp="1"/>
          </p:cNvSpPr>
          <p:nvPr/>
        </p:nvSpPr>
        <p:spPr>
          <a:xfrm>
            <a:off x="60102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Booking</a:t>
            </a:r>
          </a:p>
        </p:txBody>
      </p:sp>
      <p:sp>
        <p:nvSpPr>
          <p:cNvPr id="51" name="booking-service-detail">
            <a:extLst>
              <a:ext uri="{FF2B5EF4-FFF2-40B4-BE49-F238E27FC236}">
                <a16:creationId xmlns:a16="http://schemas.microsoft.com/office/drawing/2014/main" id="{E1A40077-60AE-4AF0-8F2D-6F291A2A34E6}"/>
              </a:ext>
            </a:extLst>
          </p:cNvPr>
          <p:cNvSpPr>
            <a:spLocks noGrp="1"/>
          </p:cNvSpPr>
          <p:nvPr/>
        </p:nvSpPr>
        <p:spPr>
          <a:xfrm>
            <a:off x="60102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Confirm + reconcile</a:t>
            </a:r>
          </a:p>
        </p:txBody>
      </p:sp>
      <p:sp>
        <p:nvSpPr>
          <p:cNvPr id="52" name="location-store">
            <a:extLst>
              <a:ext uri="{FF2B5EF4-FFF2-40B4-BE49-F238E27FC236}">
                <a16:creationId xmlns:a16="http://schemas.microsoft.com/office/drawing/2014/main" id="{94364A7A-FDDF-42D7-A284-530BAF779BB8}"/>
              </a:ext>
            </a:extLst>
          </p:cNvPr>
          <p:cNvSpPr>
            <a:spLocks noGrp="1"/>
          </p:cNvSpPr>
          <p:nvPr/>
        </p:nvSpPr>
        <p:spPr>
          <a:xfrm>
            <a:off x="21431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3" name="location-store-title">
            <a:extLst>
              <a:ext uri="{FF2B5EF4-FFF2-40B4-BE49-F238E27FC236}">
                <a16:creationId xmlns:a16="http://schemas.microsoft.com/office/drawing/2014/main" id="{C5975701-37F0-46D2-B0BF-DF69E10C9E63}"/>
              </a:ext>
            </a:extLst>
          </p:cNvPr>
          <p:cNvSpPr>
            <a:spLocks noGrp="1"/>
          </p:cNvSpPr>
          <p:nvPr/>
        </p:nvSpPr>
        <p:spPr>
          <a:xfrm>
            <a:off x="24669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Location Service</a:t>
            </a:r>
          </a:p>
        </p:txBody>
      </p:sp>
      <p:sp>
        <p:nvSpPr>
          <p:cNvPr id="54" name="location-store-detail">
            <a:extLst>
              <a:ext uri="{FF2B5EF4-FFF2-40B4-BE49-F238E27FC236}">
                <a16:creationId xmlns:a16="http://schemas.microsoft.com/office/drawing/2014/main" id="{C1DF0DDC-8D9A-4389-946D-EF995B31D2C3}"/>
              </a:ext>
            </a:extLst>
          </p:cNvPr>
          <p:cNvSpPr>
            <a:spLocks noGrp="1"/>
          </p:cNvSpPr>
          <p:nvPr/>
        </p:nvSpPr>
        <p:spPr>
          <a:xfrm>
            <a:off x="2238375" y="4457700"/>
            <a:ext cx="933450" cy="123825"/>
          </a:xfrm>
          <a:prstGeom prst="rect">
            <a:avLst/>
          </a:prstGeom>
          <a:noFill/>
          <a:ln w="0">
            <a:noFill/>
            <a:prstDash val="solid"/>
          </a:ln>
        </p:spPr>
        <p:txBody>
          <a:bodyPr/>
          <a:lstStyle/>
          <a:p>
            <a:pPr algn="ctr">
              <a:buNone/>
              <a:defRPr sz="750">
                <a:solidFill>
                  <a:srgbClr val="4B5563"/>
                </a:solidFill>
              </a:defRPr>
            </a:pPr>
            <a:r>
              <a:rPr sz="750">
                <a:solidFill>
                  <a:srgbClr val="4B5563"/>
                </a:solidFill>
              </a:rPr>
              <a:t>Dealer index</a:t>
            </a:r>
          </a:p>
        </p:txBody>
      </p:sp>
      <p:pic>
        <p:nvPicPr>
          <p:cNvPr id="498" name="Picture 189"/>
          <p:cNvPicPr>
            <a:picLocks noChangeAspect="1"/>
          </p:cNvPicPr>
          <p:nvPr/>
        </p:nvPicPr>
        <p:blipFill>
          <a:blip r:embed="rId14"/>
          <a:stretch/>
        </p:blipFill>
        <p:spPr>
          <a:xfrm>
            <a:off x="2219325" y="4191000"/>
            <a:ext cx="180975" cy="180975"/>
          </a:xfrm>
          <a:prstGeom prst="rect">
            <a:avLst/>
          </a:prstGeom>
        </p:spPr>
      </p:pic>
      <p:sp>
        <p:nvSpPr>
          <p:cNvPr id="56" name="state-store">
            <a:extLst>
              <a:ext uri="{FF2B5EF4-FFF2-40B4-BE49-F238E27FC236}">
                <a16:creationId xmlns:a16="http://schemas.microsoft.com/office/drawing/2014/main" id="{89117812-B214-4B18-B89D-A86EBA241A33}"/>
              </a:ext>
            </a:extLst>
          </p:cNvPr>
          <p:cNvSpPr>
            <a:spLocks noGrp="1"/>
          </p:cNvSpPr>
          <p:nvPr/>
        </p:nvSpPr>
        <p:spPr>
          <a:xfrm>
            <a:off x="34004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7" name="state-store-title">
            <a:extLst>
              <a:ext uri="{FF2B5EF4-FFF2-40B4-BE49-F238E27FC236}">
                <a16:creationId xmlns:a16="http://schemas.microsoft.com/office/drawing/2014/main" id="{06E954C0-EC0F-44FC-90A2-49A152707C99}"/>
              </a:ext>
            </a:extLst>
          </p:cNvPr>
          <p:cNvSpPr>
            <a:spLocks noGrp="1"/>
          </p:cNvSpPr>
          <p:nvPr/>
        </p:nvSpPr>
        <p:spPr>
          <a:xfrm>
            <a:off x="37242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DynamoDB</a:t>
            </a:r>
          </a:p>
        </p:txBody>
      </p:sp>
      <p:sp>
        <p:nvSpPr>
          <p:cNvPr id="58" name="state-store-detail">
            <a:extLst>
              <a:ext uri="{FF2B5EF4-FFF2-40B4-BE49-F238E27FC236}">
                <a16:creationId xmlns:a16="http://schemas.microsoft.com/office/drawing/2014/main" id="{7BA8E0E0-CA7B-4916-AA64-1EEBC9B9D626}"/>
              </a:ext>
            </a:extLst>
          </p:cNvPr>
          <p:cNvSpPr>
            <a:spLocks noGrp="1"/>
          </p:cNvSpPr>
          <p:nvPr/>
        </p:nvSpPr>
        <p:spPr>
          <a:xfrm>
            <a:off x="34956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Profile • booking • idempotency</a:t>
            </a:r>
          </a:p>
        </p:txBody>
      </p:sp>
      <p:pic>
        <p:nvPicPr>
          <p:cNvPr id="502" name="Picture 193"/>
          <p:cNvPicPr>
            <a:picLocks noChangeAspect="1"/>
          </p:cNvPicPr>
          <p:nvPr/>
        </p:nvPicPr>
        <p:blipFill>
          <a:blip r:embed="rId15"/>
          <a:stretch/>
        </p:blipFill>
        <p:spPr>
          <a:xfrm>
            <a:off x="3476625" y="4191000"/>
            <a:ext cx="180975" cy="180975"/>
          </a:xfrm>
          <a:prstGeom prst="rect">
            <a:avLst/>
          </a:prstGeom>
        </p:spPr>
      </p:pic>
      <p:sp>
        <p:nvSpPr>
          <p:cNvPr id="60" name="cache">
            <a:extLst>
              <a:ext uri="{FF2B5EF4-FFF2-40B4-BE49-F238E27FC236}">
                <a16:creationId xmlns:a16="http://schemas.microsoft.com/office/drawing/2014/main" id="{5C3CF469-17CE-4924-9F76-BF3B334E7D29}"/>
              </a:ext>
            </a:extLst>
          </p:cNvPr>
          <p:cNvSpPr>
            <a:spLocks noGrp="1"/>
          </p:cNvSpPr>
          <p:nvPr/>
        </p:nvSpPr>
        <p:spPr>
          <a:xfrm>
            <a:off x="46577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1" name="cache-title">
            <a:extLst>
              <a:ext uri="{FF2B5EF4-FFF2-40B4-BE49-F238E27FC236}">
                <a16:creationId xmlns:a16="http://schemas.microsoft.com/office/drawing/2014/main" id="{544DDD2C-9BA8-436E-B24C-B5612DFC1CF4}"/>
              </a:ext>
            </a:extLst>
          </p:cNvPr>
          <p:cNvSpPr>
            <a:spLocks noGrp="1"/>
          </p:cNvSpPr>
          <p:nvPr/>
        </p:nvSpPr>
        <p:spPr>
          <a:xfrm>
            <a:off x="49815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Valkey cache</a:t>
            </a:r>
          </a:p>
        </p:txBody>
      </p:sp>
      <p:sp>
        <p:nvSpPr>
          <p:cNvPr id="62" name="cache-detail">
            <a:extLst>
              <a:ext uri="{FF2B5EF4-FFF2-40B4-BE49-F238E27FC236}">
                <a16:creationId xmlns:a16="http://schemas.microsoft.com/office/drawing/2014/main" id="{E5716B28-D78D-40DA-8779-AFB5DB5FC44A}"/>
              </a:ext>
            </a:extLst>
          </p:cNvPr>
          <p:cNvSpPr>
            <a:spLocks noGrp="1"/>
          </p:cNvSpPr>
          <p:nvPr/>
        </p:nvSpPr>
        <p:spPr>
          <a:xfrm>
            <a:off x="47529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Short-lived slot views</a:t>
            </a:r>
          </a:p>
        </p:txBody>
      </p:sp>
      <p:pic>
        <p:nvPicPr>
          <p:cNvPr id="506" name="Picture 197"/>
          <p:cNvPicPr>
            <a:picLocks noChangeAspect="1"/>
          </p:cNvPicPr>
          <p:nvPr/>
        </p:nvPicPr>
        <p:blipFill>
          <a:blip r:embed="rId16"/>
          <a:stretch/>
        </p:blipFill>
        <p:spPr>
          <a:xfrm>
            <a:off x="4733925" y="4191000"/>
            <a:ext cx="180975" cy="180975"/>
          </a:xfrm>
          <a:prstGeom prst="rect">
            <a:avLst/>
          </a:prstGeom>
        </p:spPr>
      </p:pic>
      <p:sp>
        <p:nvSpPr>
          <p:cNvPr id="64" name="events">
            <a:extLst>
              <a:ext uri="{FF2B5EF4-FFF2-40B4-BE49-F238E27FC236}">
                <a16:creationId xmlns:a16="http://schemas.microsoft.com/office/drawing/2014/main" id="{EA0CB8E4-FED6-4B8C-85B5-987410F5C5B5}"/>
              </a:ext>
            </a:extLst>
          </p:cNvPr>
          <p:cNvSpPr>
            <a:spLocks noGrp="1"/>
          </p:cNvSpPr>
          <p:nvPr/>
        </p:nvSpPr>
        <p:spPr>
          <a:xfrm>
            <a:off x="59150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5" name="events-title">
            <a:extLst>
              <a:ext uri="{FF2B5EF4-FFF2-40B4-BE49-F238E27FC236}">
                <a16:creationId xmlns:a16="http://schemas.microsoft.com/office/drawing/2014/main" id="{B0966345-9DA5-49E6-BFF3-ECD7C19EB934}"/>
              </a:ext>
            </a:extLst>
          </p:cNvPr>
          <p:cNvSpPr>
            <a:spLocks noGrp="1"/>
          </p:cNvSpPr>
          <p:nvPr/>
        </p:nvSpPr>
        <p:spPr>
          <a:xfrm>
            <a:off x="6372225" y="4219575"/>
            <a:ext cx="571500" cy="266700"/>
          </a:xfrm>
          <a:prstGeom prst="rect">
            <a:avLst/>
          </a:prstGeom>
          <a:noFill/>
          <a:ln w="0">
            <a:noFill/>
            <a:prstDash val="solid"/>
          </a:ln>
        </p:spPr>
        <p:txBody>
          <a:bodyPr/>
          <a:lstStyle/>
          <a:p>
            <a:pPr algn="l">
              <a:buNone/>
              <a:defRPr sz="750" b="1">
                <a:solidFill>
                  <a:srgbClr val="172033"/>
                </a:solidFill>
              </a:defRPr>
            </a:pPr>
            <a:r>
              <a:rPr sz="750" b="1">
                <a:solidFill>
                  <a:srgbClr val="172033"/>
                </a:solidFill>
              </a:rPr>
              <a:t>Events + queues</a:t>
            </a:r>
          </a:p>
        </p:txBody>
      </p:sp>
      <p:sp>
        <p:nvSpPr>
          <p:cNvPr id="66" name="events-detail">
            <a:extLst>
              <a:ext uri="{FF2B5EF4-FFF2-40B4-BE49-F238E27FC236}">
                <a16:creationId xmlns:a16="http://schemas.microsoft.com/office/drawing/2014/main" id="{00D6ECB5-8B01-485A-B7FB-1FBC9F1EE439}"/>
              </a:ext>
            </a:extLst>
          </p:cNvPr>
          <p:cNvSpPr>
            <a:spLocks noGrp="1"/>
          </p:cNvSpPr>
          <p:nvPr/>
        </p:nvSpPr>
        <p:spPr>
          <a:xfrm>
            <a:off x="6010275" y="4457700"/>
            <a:ext cx="933450" cy="123825"/>
          </a:xfrm>
          <a:prstGeom prst="rect">
            <a:avLst/>
          </a:prstGeom>
          <a:noFill/>
          <a:ln w="0">
            <a:noFill/>
            <a:prstDash val="solid"/>
          </a:ln>
        </p:spPr>
        <p:txBody>
          <a:bodyPr/>
          <a:lstStyle/>
          <a:p>
            <a:pPr algn="ctr">
              <a:buNone/>
              <a:defRPr sz="600">
                <a:solidFill>
                  <a:srgbClr val="4B5563"/>
                </a:solidFill>
              </a:defRPr>
            </a:pPr>
            <a:r>
              <a:rPr sz="600">
                <a:solidFill>
                  <a:srgbClr val="4B5563"/>
                </a:solidFill>
              </a:rPr>
              <a:t>EventBridge • SQS • DLQs</a:t>
            </a:r>
          </a:p>
        </p:txBody>
      </p:sp>
      <p:pic>
        <p:nvPicPr>
          <p:cNvPr id="510" name="Picture 201"/>
          <p:cNvPicPr>
            <a:picLocks noChangeAspect="1"/>
          </p:cNvPicPr>
          <p:nvPr/>
        </p:nvPicPr>
        <p:blipFill>
          <a:blip r:embed="rId17"/>
          <a:stretch/>
        </p:blipFill>
        <p:spPr>
          <a:xfrm>
            <a:off x="5981700" y="4191000"/>
            <a:ext cx="171450" cy="171450"/>
          </a:xfrm>
          <a:prstGeom prst="rect">
            <a:avLst/>
          </a:prstGeom>
        </p:spPr>
      </p:pic>
      <p:pic>
        <p:nvPicPr>
          <p:cNvPr id="511" name="Picture 202"/>
          <p:cNvPicPr>
            <a:picLocks noChangeAspect="1"/>
          </p:cNvPicPr>
          <p:nvPr/>
        </p:nvPicPr>
        <p:blipFill>
          <a:blip r:embed="rId18"/>
          <a:stretch/>
        </p:blipFill>
        <p:spPr>
          <a:xfrm>
            <a:off x="6162675" y="4191000"/>
            <a:ext cx="171450" cy="171450"/>
          </a:xfrm>
          <a:prstGeom prst="rect">
            <a:avLst/>
          </a:prstGeom>
        </p:spPr>
      </p:pic>
      <p:sp>
        <p:nvSpPr>
          <p:cNvPr id="69" name="integration-boundary">
            <a:extLst>
              <a:ext uri="{FF2B5EF4-FFF2-40B4-BE49-F238E27FC236}">
                <a16:creationId xmlns:a16="http://schemas.microsoft.com/office/drawing/2014/main" id="{ED15257D-2DC3-4364-8BDF-F4DF6A72223A}"/>
              </a:ext>
            </a:extLst>
          </p:cNvPr>
          <p:cNvSpPr>
            <a:spLocks noGrp="1"/>
          </p:cNvSpPr>
          <p:nvPr/>
        </p:nvSpPr>
        <p:spPr>
          <a:xfrm>
            <a:off x="7524750" y="2247900"/>
            <a:ext cx="1504950" cy="2552700"/>
          </a:xfrm>
          <a:prstGeom prst="roundRect">
            <a:avLst>
              <a:gd name="adj" fmla="val 5063"/>
            </a:avLst>
          </a:prstGeom>
          <a:solidFill>
            <a:srgbClr val="F5FBFA"/>
          </a:solidFill>
          <a:ln w="14288">
            <a:solidFill>
              <a:srgbClr val="198E84"/>
            </a:solidFill>
            <a:prstDash val="solid"/>
          </a:ln>
        </p:spPr>
        <p:txBody>
          <a:bodyPr/>
          <a:lstStyle/>
          <a:p>
            <a:endParaRPr/>
          </a:p>
        </p:txBody>
      </p:sp>
      <p:sp>
        <p:nvSpPr>
          <p:cNvPr id="70" name="integration-label">
            <a:extLst>
              <a:ext uri="{FF2B5EF4-FFF2-40B4-BE49-F238E27FC236}">
                <a16:creationId xmlns:a16="http://schemas.microsoft.com/office/drawing/2014/main" id="{B390EB8B-EF8C-4B71-BCA1-4C819F3134B5}"/>
              </a:ext>
            </a:extLst>
          </p:cNvPr>
          <p:cNvSpPr>
            <a:spLocks noGrp="1"/>
          </p:cNvSpPr>
          <p:nvPr/>
        </p:nvSpPr>
        <p:spPr>
          <a:xfrm>
            <a:off x="7667625" y="2390775"/>
            <a:ext cx="1219200" cy="361950"/>
          </a:xfrm>
          <a:prstGeom prst="rect">
            <a:avLst/>
          </a:prstGeom>
          <a:noFill/>
          <a:ln w="0">
            <a:noFill/>
            <a:prstDash val="solid"/>
          </a:ln>
        </p:spPr>
        <p:txBody>
          <a:bodyPr/>
          <a:lstStyle/>
          <a:p>
            <a:pPr algn="ctr">
              <a:buNone/>
              <a:defRPr sz="900" b="1">
                <a:solidFill>
                  <a:srgbClr val="198E84"/>
                </a:solidFill>
              </a:defRPr>
            </a:pPr>
            <a:r>
              <a:rPr sz="900" b="1">
                <a:solidFill>
                  <a:srgbClr val="198E84"/>
                </a:solidFill>
              </a:rPr>
              <a:t>STANDARDIZED</a:t>
            </a:r>
          </a:p>
          <a:p>
            <a:pPr algn="ctr">
              <a:buNone/>
              <a:defRPr sz="900" b="1">
                <a:solidFill>
                  <a:srgbClr val="198E84"/>
                </a:solidFill>
              </a:defRPr>
            </a:pPr>
            <a:r>
              <a:rPr sz="900" b="1">
                <a:solidFill>
                  <a:srgbClr val="198E84"/>
                </a:solidFill>
              </a:rPr>
              <a:t>INTEGRATION LAYER</a:t>
            </a:r>
          </a:p>
        </p:txBody>
      </p:sp>
      <p:sp>
        <p:nvSpPr>
          <p:cNvPr id="71" name="vin-adapter">
            <a:extLst>
              <a:ext uri="{FF2B5EF4-FFF2-40B4-BE49-F238E27FC236}">
                <a16:creationId xmlns:a16="http://schemas.microsoft.com/office/drawing/2014/main" id="{835A3657-F3F9-4658-A717-5E49F93ED3C8}"/>
              </a:ext>
            </a:extLst>
          </p:cNvPr>
          <p:cNvSpPr>
            <a:spLocks noGrp="1"/>
          </p:cNvSpPr>
          <p:nvPr/>
        </p:nvSpPr>
        <p:spPr>
          <a:xfrm>
            <a:off x="7677150" y="28575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2" name="vin-adapter-title">
            <a:extLst>
              <a:ext uri="{FF2B5EF4-FFF2-40B4-BE49-F238E27FC236}">
                <a16:creationId xmlns:a16="http://schemas.microsoft.com/office/drawing/2014/main" id="{979D0EFA-BC22-4946-B10B-323F4B2CB9A3}"/>
              </a:ext>
            </a:extLst>
          </p:cNvPr>
          <p:cNvSpPr>
            <a:spLocks noGrp="1"/>
          </p:cNvSpPr>
          <p:nvPr/>
        </p:nvSpPr>
        <p:spPr>
          <a:xfrm>
            <a:off x="7772400" y="29432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VIN adapter</a:t>
            </a:r>
          </a:p>
        </p:txBody>
      </p:sp>
      <p:sp>
        <p:nvSpPr>
          <p:cNvPr id="73" name="vin-adapter-detail">
            <a:extLst>
              <a:ext uri="{FF2B5EF4-FFF2-40B4-BE49-F238E27FC236}">
                <a16:creationId xmlns:a16="http://schemas.microsoft.com/office/drawing/2014/main" id="{313FBA76-0AA6-45EF-AEF1-4DE85AC2E158}"/>
              </a:ext>
            </a:extLst>
          </p:cNvPr>
          <p:cNvSpPr>
            <a:spLocks noGrp="1"/>
          </p:cNvSpPr>
          <p:nvPr/>
        </p:nvSpPr>
        <p:spPr>
          <a:xfrm>
            <a:off x="7772400" y="32004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Timeout + circuit breaker</a:t>
            </a:r>
          </a:p>
        </p:txBody>
      </p:sp>
      <p:sp>
        <p:nvSpPr>
          <p:cNvPr id="74" name="history-adapter">
            <a:extLst>
              <a:ext uri="{FF2B5EF4-FFF2-40B4-BE49-F238E27FC236}">
                <a16:creationId xmlns:a16="http://schemas.microsoft.com/office/drawing/2014/main" id="{4A09421A-FEE3-4402-AB47-7442B66EE5B5}"/>
              </a:ext>
            </a:extLst>
          </p:cNvPr>
          <p:cNvSpPr>
            <a:spLocks noGrp="1"/>
          </p:cNvSpPr>
          <p:nvPr/>
        </p:nvSpPr>
        <p:spPr>
          <a:xfrm>
            <a:off x="7677150" y="356235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5" name="history-adapter-title">
            <a:extLst>
              <a:ext uri="{FF2B5EF4-FFF2-40B4-BE49-F238E27FC236}">
                <a16:creationId xmlns:a16="http://schemas.microsoft.com/office/drawing/2014/main" id="{CE8D6CFE-DCBC-4513-BF02-AC3A48662B69}"/>
              </a:ext>
            </a:extLst>
          </p:cNvPr>
          <p:cNvSpPr>
            <a:spLocks noGrp="1"/>
          </p:cNvSpPr>
          <p:nvPr/>
        </p:nvSpPr>
        <p:spPr>
          <a:xfrm>
            <a:off x="7772400" y="3648075"/>
            <a:ext cx="1009650" cy="257175"/>
          </a:xfrm>
          <a:prstGeom prst="rect">
            <a:avLst/>
          </a:prstGeom>
          <a:noFill/>
          <a:ln w="0">
            <a:noFill/>
            <a:prstDash val="solid"/>
          </a:ln>
        </p:spPr>
        <p:txBody>
          <a:bodyPr/>
          <a:lstStyle/>
          <a:p>
            <a:pPr algn="ctr">
              <a:buNone/>
              <a:defRPr sz="825" b="1">
                <a:solidFill>
                  <a:srgbClr val="172033"/>
                </a:solidFill>
              </a:defRPr>
            </a:pPr>
            <a:r>
              <a:rPr sz="825" b="1">
                <a:solidFill>
                  <a:srgbClr val="172033"/>
                </a:solidFill>
              </a:rPr>
              <a:t>Mainframe adapter</a:t>
            </a:r>
          </a:p>
        </p:txBody>
      </p:sp>
      <p:sp>
        <p:nvSpPr>
          <p:cNvPr id="76" name="history-adapter-detail">
            <a:extLst>
              <a:ext uri="{FF2B5EF4-FFF2-40B4-BE49-F238E27FC236}">
                <a16:creationId xmlns:a16="http://schemas.microsoft.com/office/drawing/2014/main" id="{06B870D8-0C77-4E41-9E05-A1B6FD5FC774}"/>
              </a:ext>
            </a:extLst>
          </p:cNvPr>
          <p:cNvSpPr>
            <a:spLocks noGrp="1"/>
          </p:cNvSpPr>
          <p:nvPr/>
        </p:nvSpPr>
        <p:spPr>
          <a:xfrm>
            <a:off x="7772400" y="390525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MQ + schema mapping</a:t>
            </a:r>
          </a:p>
        </p:txBody>
      </p:sp>
      <p:sp>
        <p:nvSpPr>
          <p:cNvPr id="77" name="dealer-adapter">
            <a:extLst>
              <a:ext uri="{FF2B5EF4-FFF2-40B4-BE49-F238E27FC236}">
                <a16:creationId xmlns:a16="http://schemas.microsoft.com/office/drawing/2014/main" id="{77989B23-5B44-42D5-A8AE-CB5D50B32D2E}"/>
              </a:ext>
            </a:extLst>
          </p:cNvPr>
          <p:cNvSpPr>
            <a:spLocks noGrp="1"/>
          </p:cNvSpPr>
          <p:nvPr/>
        </p:nvSpPr>
        <p:spPr>
          <a:xfrm>
            <a:off x="7677150" y="42672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8" name="dealer-adapter-title">
            <a:extLst>
              <a:ext uri="{FF2B5EF4-FFF2-40B4-BE49-F238E27FC236}">
                <a16:creationId xmlns:a16="http://schemas.microsoft.com/office/drawing/2014/main" id="{5C60BD4D-2ED2-4495-855A-81F3B5B85DB3}"/>
              </a:ext>
            </a:extLst>
          </p:cNvPr>
          <p:cNvSpPr>
            <a:spLocks noGrp="1"/>
          </p:cNvSpPr>
          <p:nvPr/>
        </p:nvSpPr>
        <p:spPr>
          <a:xfrm>
            <a:off x="7772400" y="43529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Dealer adapters</a:t>
            </a:r>
          </a:p>
        </p:txBody>
      </p:sp>
      <p:sp>
        <p:nvSpPr>
          <p:cNvPr id="79" name="dealer-adapter-detail">
            <a:extLst>
              <a:ext uri="{FF2B5EF4-FFF2-40B4-BE49-F238E27FC236}">
                <a16:creationId xmlns:a16="http://schemas.microsoft.com/office/drawing/2014/main" id="{E1A0DAEE-D800-4359-A231-C9EC29344634}"/>
              </a:ext>
            </a:extLst>
          </p:cNvPr>
          <p:cNvSpPr>
            <a:spLocks noGrp="1"/>
          </p:cNvSpPr>
          <p:nvPr/>
        </p:nvSpPr>
        <p:spPr>
          <a:xfrm>
            <a:off x="7772400" y="46101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mTLS • hold / confirm</a:t>
            </a:r>
          </a:p>
        </p:txBody>
      </p:sp>
      <p:sp>
        <p:nvSpPr>
          <p:cNvPr id="80" name="notification">
            <a:extLst>
              <a:ext uri="{FF2B5EF4-FFF2-40B4-BE49-F238E27FC236}">
                <a16:creationId xmlns:a16="http://schemas.microsoft.com/office/drawing/2014/main" id="{61DF40A9-C379-40F9-BC5E-074F7284EB8F}"/>
              </a:ext>
            </a:extLst>
          </p:cNvPr>
          <p:cNvSpPr>
            <a:spLocks noGrp="1"/>
          </p:cNvSpPr>
          <p:nvPr/>
        </p:nvSpPr>
        <p:spPr>
          <a:xfrm>
            <a:off x="2000250" y="5000625"/>
            <a:ext cx="2324100" cy="552450"/>
          </a:xfrm>
          <a:prstGeom prst="roundRect">
            <a:avLst>
              <a:gd name="adj" fmla="val 13793"/>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81" name="notification-title">
            <a:extLst>
              <a:ext uri="{FF2B5EF4-FFF2-40B4-BE49-F238E27FC236}">
                <a16:creationId xmlns:a16="http://schemas.microsoft.com/office/drawing/2014/main" id="{59C2A911-96BA-4A21-A268-19C83FE43381}"/>
              </a:ext>
            </a:extLst>
          </p:cNvPr>
          <p:cNvSpPr>
            <a:spLocks noGrp="1"/>
          </p:cNvSpPr>
          <p:nvPr/>
        </p:nvSpPr>
        <p:spPr>
          <a:xfrm>
            <a:off x="2619375" y="5086350"/>
            <a:ext cx="1609725"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Notifications</a:t>
            </a:r>
          </a:p>
        </p:txBody>
      </p:sp>
      <p:sp>
        <p:nvSpPr>
          <p:cNvPr id="82" name="notification-detail">
            <a:extLst>
              <a:ext uri="{FF2B5EF4-FFF2-40B4-BE49-F238E27FC236}">
                <a16:creationId xmlns:a16="http://schemas.microsoft.com/office/drawing/2014/main" id="{3E986227-CACC-4154-880F-5B5B47998BC6}"/>
              </a:ext>
            </a:extLst>
          </p:cNvPr>
          <p:cNvSpPr>
            <a:spLocks noGrp="1"/>
          </p:cNvSpPr>
          <p:nvPr/>
        </p:nvSpPr>
        <p:spPr>
          <a:xfrm>
            <a:off x="2095500" y="5295900"/>
            <a:ext cx="21336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SES email • SNS SMS • reminders</a:t>
            </a:r>
          </a:p>
        </p:txBody>
      </p:sp>
      <p:pic>
        <p:nvPicPr>
          <p:cNvPr id="526" name="Picture 217"/>
          <p:cNvPicPr>
            <a:picLocks noChangeAspect="1"/>
          </p:cNvPicPr>
          <p:nvPr/>
        </p:nvPicPr>
        <p:blipFill>
          <a:blip r:embed="rId19"/>
          <a:stretch/>
        </p:blipFill>
        <p:spPr>
          <a:xfrm>
            <a:off x="2095500" y="5076825"/>
            <a:ext cx="209550" cy="209550"/>
          </a:xfrm>
          <a:prstGeom prst="rect">
            <a:avLst/>
          </a:prstGeom>
        </p:spPr>
      </p:pic>
      <p:pic>
        <p:nvPicPr>
          <p:cNvPr id="527" name="Picture 218"/>
          <p:cNvPicPr>
            <a:picLocks noChangeAspect="1"/>
          </p:cNvPicPr>
          <p:nvPr/>
        </p:nvPicPr>
        <p:blipFill>
          <a:blip r:embed="rId20"/>
          <a:stretch/>
        </p:blipFill>
        <p:spPr>
          <a:xfrm>
            <a:off x="2324100" y="5076825"/>
            <a:ext cx="209550" cy="209550"/>
          </a:xfrm>
          <a:prstGeom prst="rect">
            <a:avLst/>
          </a:prstGeom>
        </p:spPr>
      </p:pic>
      <p:sp>
        <p:nvSpPr>
          <p:cNvPr id="85" name="reliability">
            <a:extLst>
              <a:ext uri="{FF2B5EF4-FFF2-40B4-BE49-F238E27FC236}">
                <a16:creationId xmlns:a16="http://schemas.microsoft.com/office/drawing/2014/main" id="{521BCB7A-5F22-49D5-AD5D-30ED6B68C411}"/>
              </a:ext>
            </a:extLst>
          </p:cNvPr>
          <p:cNvSpPr>
            <a:spLocks noGrp="1"/>
          </p:cNvSpPr>
          <p:nvPr/>
        </p:nvSpPr>
        <p:spPr>
          <a:xfrm>
            <a:off x="4476750" y="5000625"/>
            <a:ext cx="2857500" cy="552450"/>
          </a:xfrm>
          <a:prstGeom prst="roundRect">
            <a:avLst>
              <a:gd name="adj" fmla="val 13793"/>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86" name="reliability-title">
            <a:extLst>
              <a:ext uri="{FF2B5EF4-FFF2-40B4-BE49-F238E27FC236}">
                <a16:creationId xmlns:a16="http://schemas.microsoft.com/office/drawing/2014/main" id="{765F6815-204B-4A5D-AB4F-AC4CF1C215F9}"/>
              </a:ext>
            </a:extLst>
          </p:cNvPr>
          <p:cNvSpPr>
            <a:spLocks noGrp="1"/>
          </p:cNvSpPr>
          <p:nvPr/>
        </p:nvSpPr>
        <p:spPr>
          <a:xfrm>
            <a:off x="4572000" y="5086350"/>
            <a:ext cx="2667000" cy="238125"/>
          </a:xfrm>
          <a:prstGeom prst="rect">
            <a:avLst/>
          </a:prstGeom>
          <a:noFill/>
          <a:ln w="0">
            <a:noFill/>
            <a:prstDash val="solid"/>
          </a:ln>
        </p:spPr>
        <p:txBody>
          <a:bodyPr/>
          <a:lstStyle/>
          <a:p>
            <a:pPr algn="ctr">
              <a:buNone/>
              <a:defRPr sz="1050" b="1">
                <a:solidFill>
                  <a:srgbClr val="172033"/>
                </a:solidFill>
              </a:defRPr>
            </a:pPr>
            <a:r>
              <a:rPr sz="1050" b="1">
                <a:solidFill>
                  <a:srgbClr val="172033"/>
                </a:solidFill>
              </a:rPr>
              <a:t>Reliability controls</a:t>
            </a:r>
          </a:p>
        </p:txBody>
      </p:sp>
      <p:sp>
        <p:nvSpPr>
          <p:cNvPr id="87" name="reliability-detail">
            <a:extLst>
              <a:ext uri="{FF2B5EF4-FFF2-40B4-BE49-F238E27FC236}">
                <a16:creationId xmlns:a16="http://schemas.microsoft.com/office/drawing/2014/main" id="{4EFC6DED-C960-4903-87FF-2847BB2A2664}"/>
              </a:ext>
            </a:extLst>
          </p:cNvPr>
          <p:cNvSpPr>
            <a:spLocks noGrp="1"/>
          </p:cNvSpPr>
          <p:nvPr/>
        </p:nvSpPr>
        <p:spPr>
          <a:xfrm>
            <a:off x="4572000" y="5295900"/>
            <a:ext cx="26670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Retries • DLQs • reconciliation • audit trail</a:t>
            </a:r>
          </a:p>
        </p:txBody>
      </p:sp>
      <p:sp>
        <p:nvSpPr>
          <p:cNvPr id="88" name="vin-system">
            <a:extLst>
              <a:ext uri="{FF2B5EF4-FFF2-40B4-BE49-F238E27FC236}">
                <a16:creationId xmlns:a16="http://schemas.microsoft.com/office/drawing/2014/main" id="{12431B3F-D68D-4184-9822-AA090B4A101B}"/>
              </a:ext>
            </a:extLst>
          </p:cNvPr>
          <p:cNvSpPr>
            <a:spLocks noGrp="1"/>
          </p:cNvSpPr>
          <p:nvPr/>
        </p:nvSpPr>
        <p:spPr>
          <a:xfrm>
            <a:off x="9477375" y="2143125"/>
            <a:ext cx="2266950" cy="723900"/>
          </a:xfrm>
          <a:prstGeom prst="roundRect">
            <a:avLst>
              <a:gd name="adj" fmla="val 10526"/>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89" name="vin-system-title">
            <a:extLst>
              <a:ext uri="{FF2B5EF4-FFF2-40B4-BE49-F238E27FC236}">
                <a16:creationId xmlns:a16="http://schemas.microsoft.com/office/drawing/2014/main" id="{75455D2F-54CC-4EB8-8F1A-9E77DEC7B672}"/>
              </a:ext>
            </a:extLst>
          </p:cNvPr>
          <p:cNvSpPr>
            <a:spLocks noGrp="1"/>
          </p:cNvSpPr>
          <p:nvPr/>
        </p:nvSpPr>
        <p:spPr>
          <a:xfrm>
            <a:off x="9572625" y="22288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On-prem VIN API</a:t>
            </a:r>
          </a:p>
        </p:txBody>
      </p:sp>
      <p:sp>
        <p:nvSpPr>
          <p:cNvPr id="90" name="vin-system-detail">
            <a:extLst>
              <a:ext uri="{FF2B5EF4-FFF2-40B4-BE49-F238E27FC236}">
                <a16:creationId xmlns:a16="http://schemas.microsoft.com/office/drawing/2014/main" id="{541374E7-146E-4D61-BF1B-C3428B8745DF}"/>
              </a:ext>
            </a:extLst>
          </p:cNvPr>
          <p:cNvSpPr>
            <a:spLocks noGrp="1"/>
          </p:cNvSpPr>
          <p:nvPr/>
        </p:nvSpPr>
        <p:spPr>
          <a:xfrm>
            <a:off x="9572625" y="252412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Vehicle authority</a:t>
            </a:r>
          </a:p>
        </p:txBody>
      </p:sp>
      <p:sp>
        <p:nvSpPr>
          <p:cNvPr id="91" name="mainframe">
            <a:extLst>
              <a:ext uri="{FF2B5EF4-FFF2-40B4-BE49-F238E27FC236}">
                <a16:creationId xmlns:a16="http://schemas.microsoft.com/office/drawing/2014/main" id="{7C26D9F3-6143-409F-A2D6-317A75F28BF1}"/>
              </a:ext>
            </a:extLst>
          </p:cNvPr>
          <p:cNvSpPr>
            <a:spLocks noGrp="1"/>
          </p:cNvSpPr>
          <p:nvPr/>
        </p:nvSpPr>
        <p:spPr>
          <a:xfrm>
            <a:off x="9477375" y="3190875"/>
            <a:ext cx="2266950" cy="723900"/>
          </a:xfrm>
          <a:prstGeom prst="roundRect">
            <a:avLst>
              <a:gd name="adj" fmla="val 10526"/>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92" name="mainframe-title">
            <a:extLst>
              <a:ext uri="{FF2B5EF4-FFF2-40B4-BE49-F238E27FC236}">
                <a16:creationId xmlns:a16="http://schemas.microsoft.com/office/drawing/2014/main" id="{E5406AFD-C5CF-49BD-90F8-A67922B1F462}"/>
              </a:ext>
            </a:extLst>
          </p:cNvPr>
          <p:cNvSpPr>
            <a:spLocks noGrp="1"/>
          </p:cNvSpPr>
          <p:nvPr/>
        </p:nvSpPr>
        <p:spPr>
          <a:xfrm>
            <a:off x="9572625" y="3276600"/>
            <a:ext cx="2076450" cy="238125"/>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Mainframe repair history</a:t>
            </a:r>
          </a:p>
        </p:txBody>
      </p:sp>
      <p:sp>
        <p:nvSpPr>
          <p:cNvPr id="93" name="mainframe-detail">
            <a:extLst>
              <a:ext uri="{FF2B5EF4-FFF2-40B4-BE49-F238E27FC236}">
                <a16:creationId xmlns:a16="http://schemas.microsoft.com/office/drawing/2014/main" id="{A7D31860-59B0-437A-BE2F-79C956EFF5B6}"/>
              </a:ext>
            </a:extLst>
          </p:cNvPr>
          <p:cNvSpPr>
            <a:spLocks noGrp="1"/>
          </p:cNvSpPr>
          <p:nvPr/>
        </p:nvSpPr>
        <p:spPr>
          <a:xfrm>
            <a:off x="9572625" y="357187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Service-record authority</a:t>
            </a:r>
          </a:p>
        </p:txBody>
      </p:sp>
      <p:sp>
        <p:nvSpPr>
          <p:cNvPr id="94" name="dealer-systems">
            <a:extLst>
              <a:ext uri="{FF2B5EF4-FFF2-40B4-BE49-F238E27FC236}">
                <a16:creationId xmlns:a16="http://schemas.microsoft.com/office/drawing/2014/main" id="{07E6D64D-600D-47E2-913F-B881E44E8666}"/>
              </a:ext>
            </a:extLst>
          </p:cNvPr>
          <p:cNvSpPr>
            <a:spLocks noGrp="1"/>
          </p:cNvSpPr>
          <p:nvPr/>
        </p:nvSpPr>
        <p:spPr>
          <a:xfrm>
            <a:off x="9477375" y="4238625"/>
            <a:ext cx="2266950" cy="800100"/>
          </a:xfrm>
          <a:prstGeom prst="roundRect">
            <a:avLst>
              <a:gd name="adj" fmla="val 9524"/>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95" name="dealer-systems-title">
            <a:extLst>
              <a:ext uri="{FF2B5EF4-FFF2-40B4-BE49-F238E27FC236}">
                <a16:creationId xmlns:a16="http://schemas.microsoft.com/office/drawing/2014/main" id="{29068F19-499B-4C43-8B0F-2F6FDD13D464}"/>
              </a:ext>
            </a:extLst>
          </p:cNvPr>
          <p:cNvSpPr>
            <a:spLocks noGrp="1"/>
          </p:cNvSpPr>
          <p:nvPr/>
        </p:nvSpPr>
        <p:spPr>
          <a:xfrm>
            <a:off x="9572625" y="43243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2,500+ dealer systems</a:t>
            </a:r>
          </a:p>
        </p:txBody>
      </p:sp>
      <p:sp>
        <p:nvSpPr>
          <p:cNvPr id="96" name="dealer-systems-detail">
            <a:extLst>
              <a:ext uri="{FF2B5EF4-FFF2-40B4-BE49-F238E27FC236}">
                <a16:creationId xmlns:a16="http://schemas.microsoft.com/office/drawing/2014/main" id="{AA5039A1-0700-4C6C-B7CA-8ADFC8627240}"/>
              </a:ext>
            </a:extLst>
          </p:cNvPr>
          <p:cNvSpPr>
            <a:spLocks noGrp="1"/>
          </p:cNvSpPr>
          <p:nvPr/>
        </p:nvSpPr>
        <p:spPr>
          <a:xfrm>
            <a:off x="9572625" y="4638675"/>
            <a:ext cx="2076450" cy="333375"/>
          </a:xfrm>
          <a:prstGeom prst="rect">
            <a:avLst/>
          </a:prstGeom>
          <a:noFill/>
          <a:ln w="0">
            <a:noFill/>
            <a:prstDash val="solid"/>
          </a:ln>
        </p:spPr>
        <p:txBody>
          <a:bodyPr/>
          <a:lstStyle/>
          <a:p>
            <a:pPr algn="ctr">
              <a:buNone/>
              <a:defRPr sz="900">
                <a:solidFill>
                  <a:srgbClr val="4B5563"/>
                </a:solidFill>
              </a:defRPr>
            </a:pPr>
            <a:r>
              <a:rPr sz="900">
                <a:solidFill>
                  <a:srgbClr val="4B5563"/>
                </a:solidFill>
              </a:rPr>
              <a:t>Authoritative slots + appointments</a:t>
            </a:r>
          </a:p>
        </p:txBody>
      </p:sp>
      <p:sp>
        <p:nvSpPr>
          <p:cNvPr id="97" name="brownfield-label">
            <a:extLst>
              <a:ext uri="{FF2B5EF4-FFF2-40B4-BE49-F238E27FC236}">
                <a16:creationId xmlns:a16="http://schemas.microsoft.com/office/drawing/2014/main" id="{B26B20F9-787E-4F00-89B1-4A8CBEA5F6FE}"/>
              </a:ext>
            </a:extLst>
          </p:cNvPr>
          <p:cNvSpPr>
            <a:spLocks noGrp="1"/>
          </p:cNvSpPr>
          <p:nvPr/>
        </p:nvSpPr>
        <p:spPr>
          <a:xfrm>
            <a:off x="9477375" y="1695450"/>
            <a:ext cx="2266950" cy="209550"/>
          </a:xfrm>
          <a:prstGeom prst="rect">
            <a:avLst/>
          </a:prstGeom>
          <a:noFill/>
          <a:ln w="0">
            <a:noFill/>
            <a:prstDash val="solid"/>
          </a:ln>
        </p:spPr>
        <p:txBody>
          <a:bodyPr/>
          <a:lstStyle/>
          <a:p>
            <a:pPr algn="ctr">
              <a:buNone/>
              <a:defRPr sz="975" b="1">
                <a:solidFill>
                  <a:srgbClr val="5B6472"/>
                </a:solidFill>
              </a:defRPr>
            </a:pPr>
            <a:r>
              <a:rPr sz="975" b="1">
                <a:solidFill>
                  <a:srgbClr val="5B6472"/>
                </a:solidFill>
              </a:rPr>
              <a:t>BROWNFIELD SYSTEMS</a:t>
            </a:r>
          </a:p>
        </p:txBody>
      </p:sp>
      <p:sp>
        <p:nvSpPr>
          <p:cNvPr id="98" name="dr">
            <a:extLst>
              <a:ext uri="{FF2B5EF4-FFF2-40B4-BE49-F238E27FC236}">
                <a16:creationId xmlns:a16="http://schemas.microsoft.com/office/drawing/2014/main" id="{B1C46D9E-EC6D-4970-9A24-FA4DE690550B}"/>
              </a:ext>
            </a:extLst>
          </p:cNvPr>
          <p:cNvSpPr>
            <a:spLocks noGrp="1"/>
          </p:cNvSpPr>
          <p:nvPr/>
        </p:nvSpPr>
        <p:spPr>
          <a:xfrm>
            <a:off x="1743075" y="6115050"/>
            <a:ext cx="7524750" cy="523875"/>
          </a:xfrm>
          <a:prstGeom prst="roundRect">
            <a:avLst>
              <a:gd name="adj" fmla="val 14545"/>
            </a:avLst>
          </a:prstGeom>
          <a:solidFill>
            <a:srgbClr val="F4F7FA"/>
          </a:solidFill>
          <a:ln w="13335">
            <a:solidFill>
              <a:srgbClr val="5B6472"/>
            </a:solidFill>
            <a:prstDash val="solid"/>
          </a:ln>
        </p:spPr>
        <p:txBody>
          <a:bodyPr/>
          <a:lstStyle/>
          <a:p>
            <a:endParaRPr/>
          </a:p>
        </p:txBody>
      </p:sp>
      <p:sp>
        <p:nvSpPr>
          <p:cNvPr id="99" name="dr-title">
            <a:extLst>
              <a:ext uri="{FF2B5EF4-FFF2-40B4-BE49-F238E27FC236}">
                <a16:creationId xmlns:a16="http://schemas.microsoft.com/office/drawing/2014/main" id="{384EC48B-AF5A-4C7A-8544-DD1FF5F10158}"/>
              </a:ext>
            </a:extLst>
          </p:cNvPr>
          <p:cNvSpPr>
            <a:spLocks noGrp="1"/>
          </p:cNvSpPr>
          <p:nvPr/>
        </p:nvSpPr>
        <p:spPr>
          <a:xfrm>
            <a:off x="2200275" y="6200775"/>
            <a:ext cx="6972300"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Secondary AWS Region • warm standby</a:t>
            </a:r>
          </a:p>
        </p:txBody>
      </p:sp>
      <p:sp>
        <p:nvSpPr>
          <p:cNvPr id="100" name="dr-detail">
            <a:extLst>
              <a:ext uri="{FF2B5EF4-FFF2-40B4-BE49-F238E27FC236}">
                <a16:creationId xmlns:a16="http://schemas.microsoft.com/office/drawing/2014/main" id="{F77764EA-9C9A-4072-8D58-2E38393A5306}"/>
              </a:ext>
            </a:extLst>
          </p:cNvPr>
          <p:cNvSpPr>
            <a:spLocks noGrp="1"/>
          </p:cNvSpPr>
          <p:nvPr/>
        </p:nvSpPr>
        <p:spPr>
          <a:xfrm>
            <a:off x="1838325" y="6391275"/>
            <a:ext cx="7334250" cy="180975"/>
          </a:xfrm>
          <a:prstGeom prst="rect">
            <a:avLst/>
          </a:prstGeom>
          <a:noFill/>
          <a:ln w="0">
            <a:noFill/>
            <a:prstDash val="solid"/>
          </a:ln>
        </p:spPr>
        <p:txBody>
          <a:bodyPr/>
          <a:lstStyle/>
          <a:p>
            <a:pPr algn="ctr">
              <a:buNone/>
              <a:defRPr sz="825">
                <a:solidFill>
                  <a:srgbClr val="4B5563"/>
                </a:solidFill>
              </a:defRPr>
            </a:pPr>
            <a:r>
              <a:rPr sz="825">
                <a:solidFill>
                  <a:srgbClr val="4B5563"/>
                </a:solidFill>
              </a:rPr>
              <a:t>Route 53 failover • DynamoDB Global Tables • replicated assets • IaC recovery</a:t>
            </a:r>
          </a:p>
        </p:txBody>
      </p:sp>
      <p:pic>
        <p:nvPicPr>
          <p:cNvPr id="544" name="Picture 235"/>
          <p:cNvPicPr>
            <a:picLocks noChangeAspect="1"/>
          </p:cNvPicPr>
          <p:nvPr/>
        </p:nvPicPr>
        <p:blipFill>
          <a:blip r:embed="rId21"/>
          <a:stretch/>
        </p:blipFill>
        <p:spPr>
          <a:xfrm>
            <a:off x="1857375" y="6181725"/>
            <a:ext cx="238125" cy="238125"/>
          </a:xfrm>
          <a:prstGeom prst="rect">
            <a:avLst/>
          </a:prstGeom>
        </p:spPr>
      </p:pic>
      <p:sp>
        <p:nvSpPr>
          <p:cNvPr id="102" name="find-dealer-journey-tag">
            <a:extLst>
              <a:ext uri="{FF2B5EF4-FFF2-40B4-BE49-F238E27FC236}">
                <a16:creationId xmlns:a16="http://schemas.microsoft.com/office/drawing/2014/main" id="{0D7C99BF-3284-4230-94F6-7860EC86CC8B}"/>
              </a:ext>
            </a:extLst>
          </p:cNvPr>
          <p:cNvSpPr>
            <a:spLocks noGrp="1"/>
          </p:cNvSpPr>
          <p:nvPr/>
        </p:nvSpPr>
        <p:spPr>
          <a:xfrm>
            <a:off x="9496425" y="1304925"/>
            <a:ext cx="2247900" cy="304800"/>
          </a:xfrm>
          <a:prstGeom prst="roundRect">
            <a:avLst>
              <a:gd name="adj" fmla="val 25000"/>
            </a:avLst>
          </a:prstGeom>
          <a:solidFill>
            <a:srgbClr val="E8F7F5"/>
          </a:solidFill>
          <a:ln w="11430">
            <a:solidFill>
              <a:srgbClr val="08A89B"/>
            </a:solidFill>
            <a:prstDash val="solid"/>
          </a:ln>
        </p:spPr>
        <p:txBody>
          <a:bodyPr/>
          <a:lstStyle/>
          <a:p>
            <a:endParaRPr/>
          </a:p>
        </p:txBody>
      </p:sp>
      <p:sp>
        <p:nvSpPr>
          <p:cNvPr id="103" name="find-dealer-journey-tag-text">
            <a:extLst>
              <a:ext uri="{FF2B5EF4-FFF2-40B4-BE49-F238E27FC236}">
                <a16:creationId xmlns:a16="http://schemas.microsoft.com/office/drawing/2014/main" id="{7CCA60C2-BD68-475D-91BF-7F0C42444182}"/>
              </a:ext>
            </a:extLst>
          </p:cNvPr>
          <p:cNvSpPr>
            <a:spLocks noGrp="1"/>
          </p:cNvSpPr>
          <p:nvPr/>
        </p:nvSpPr>
        <p:spPr>
          <a:xfrm>
            <a:off x="9591675" y="1371600"/>
            <a:ext cx="2057400" cy="171450"/>
          </a:xfrm>
          <a:prstGeom prst="rect">
            <a:avLst/>
          </a:prstGeom>
          <a:noFill/>
          <a:ln w="0">
            <a:noFill/>
            <a:prstDash val="solid"/>
          </a:ln>
        </p:spPr>
        <p:txBody>
          <a:bodyPr/>
          <a:lstStyle/>
          <a:p>
            <a:pPr algn="ctr">
              <a:buNone/>
              <a:defRPr sz="825" b="1">
                <a:solidFill>
                  <a:srgbClr val="087F75"/>
                </a:solidFill>
              </a:defRPr>
            </a:pPr>
            <a:r>
              <a:rPr sz="825" b="1">
                <a:solidFill>
                  <a:srgbClr val="087F75"/>
                </a:solidFill>
              </a:rPr>
              <a:t>JOURNEY 2  •  IDENTIFY THE VEHICLE</a:t>
            </a:r>
          </a:p>
        </p:txBody>
      </p:sp>
      <p:sp>
        <p:nvSpPr>
          <p:cNvPr id="104" name="journey-step-1">
            <a:extLst>
              <a:ext uri="{FF2B5EF4-FFF2-40B4-BE49-F238E27FC236}">
                <a16:creationId xmlns:a16="http://schemas.microsoft.com/office/drawing/2014/main" id="{6E6388F2-8B3D-4FED-8E30-3142DBE25BE0}"/>
              </a:ext>
            </a:extLst>
          </p:cNvPr>
          <p:cNvSpPr>
            <a:spLocks noGrp="1"/>
          </p:cNvSpPr>
          <p:nvPr/>
        </p:nvSpPr>
        <p:spPr>
          <a:xfrm>
            <a:off x="1400175" y="2524125"/>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5" name="journey-step-1-number">
            <a:extLst>
              <a:ext uri="{FF2B5EF4-FFF2-40B4-BE49-F238E27FC236}">
                <a16:creationId xmlns:a16="http://schemas.microsoft.com/office/drawing/2014/main" id="{E1AD5C34-88CF-442D-A555-B4F062AFFCF8}"/>
              </a:ext>
            </a:extLst>
          </p:cNvPr>
          <p:cNvSpPr>
            <a:spLocks noGrp="1"/>
          </p:cNvSpPr>
          <p:nvPr/>
        </p:nvSpPr>
        <p:spPr>
          <a:xfrm>
            <a:off x="1400175" y="2543175"/>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1</a:t>
            </a:r>
          </a:p>
        </p:txBody>
      </p:sp>
      <p:sp>
        <p:nvSpPr>
          <p:cNvPr id="106" name="journey-step-2">
            <a:extLst>
              <a:ext uri="{FF2B5EF4-FFF2-40B4-BE49-F238E27FC236}">
                <a16:creationId xmlns:a16="http://schemas.microsoft.com/office/drawing/2014/main" id="{53E46A98-96BD-47E0-A2C4-61398749C41E}"/>
              </a:ext>
            </a:extLst>
          </p:cNvPr>
          <p:cNvSpPr>
            <a:spLocks noGrp="1"/>
          </p:cNvSpPr>
          <p:nvPr/>
        </p:nvSpPr>
        <p:spPr>
          <a:xfrm>
            <a:off x="4629150" y="21336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7" name="journey-step-2-number">
            <a:extLst>
              <a:ext uri="{FF2B5EF4-FFF2-40B4-BE49-F238E27FC236}">
                <a16:creationId xmlns:a16="http://schemas.microsoft.com/office/drawing/2014/main" id="{CA7A7C21-84CD-4AD6-89CE-D31947F4B372}"/>
              </a:ext>
            </a:extLst>
          </p:cNvPr>
          <p:cNvSpPr>
            <a:spLocks noGrp="1"/>
          </p:cNvSpPr>
          <p:nvPr/>
        </p:nvSpPr>
        <p:spPr>
          <a:xfrm>
            <a:off x="4629150" y="21526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08" name="journey-step-3">
            <a:extLst>
              <a:ext uri="{FF2B5EF4-FFF2-40B4-BE49-F238E27FC236}">
                <a16:creationId xmlns:a16="http://schemas.microsoft.com/office/drawing/2014/main" id="{CACF66CD-8280-4DCA-ABC2-52C16B83AD15}"/>
              </a:ext>
            </a:extLst>
          </p:cNvPr>
          <p:cNvSpPr>
            <a:spLocks noGrp="1"/>
          </p:cNvSpPr>
          <p:nvPr/>
        </p:nvSpPr>
        <p:spPr>
          <a:xfrm>
            <a:off x="4400550" y="32004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9" name="journey-step-3-number">
            <a:extLst>
              <a:ext uri="{FF2B5EF4-FFF2-40B4-BE49-F238E27FC236}">
                <a16:creationId xmlns:a16="http://schemas.microsoft.com/office/drawing/2014/main" id="{598B0219-3487-48A9-910D-DC40BCEB2893}"/>
              </a:ext>
            </a:extLst>
          </p:cNvPr>
          <p:cNvSpPr>
            <a:spLocks noGrp="1"/>
          </p:cNvSpPr>
          <p:nvPr/>
        </p:nvSpPr>
        <p:spPr>
          <a:xfrm>
            <a:off x="4400550" y="32194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10" name="journey-step-4">
            <a:extLst>
              <a:ext uri="{FF2B5EF4-FFF2-40B4-BE49-F238E27FC236}">
                <a16:creationId xmlns:a16="http://schemas.microsoft.com/office/drawing/2014/main" id="{F5E33D1F-DEDA-4B04-BAD5-E9ACCAAD096A}"/>
              </a:ext>
            </a:extLst>
          </p:cNvPr>
          <p:cNvSpPr>
            <a:spLocks noGrp="1"/>
          </p:cNvSpPr>
          <p:nvPr/>
        </p:nvSpPr>
        <p:spPr>
          <a:xfrm>
            <a:off x="8753475" y="27432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1" name="journey-step-4-number">
            <a:extLst>
              <a:ext uri="{FF2B5EF4-FFF2-40B4-BE49-F238E27FC236}">
                <a16:creationId xmlns:a16="http://schemas.microsoft.com/office/drawing/2014/main" id="{BFC1FBDB-0BB5-4569-8396-7099C68A7A40}"/>
              </a:ext>
            </a:extLst>
          </p:cNvPr>
          <p:cNvSpPr>
            <a:spLocks noGrp="1"/>
          </p:cNvSpPr>
          <p:nvPr/>
        </p:nvSpPr>
        <p:spPr>
          <a:xfrm>
            <a:off x="8753475" y="27622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112" name="journey-step-5">
            <a:extLst>
              <a:ext uri="{FF2B5EF4-FFF2-40B4-BE49-F238E27FC236}">
                <a16:creationId xmlns:a16="http://schemas.microsoft.com/office/drawing/2014/main" id="{B01B2A09-BAB1-4DB6-855F-DD35E9F9F254}"/>
              </a:ext>
            </a:extLst>
          </p:cNvPr>
          <p:cNvSpPr>
            <a:spLocks noGrp="1"/>
          </p:cNvSpPr>
          <p:nvPr/>
        </p:nvSpPr>
        <p:spPr>
          <a:xfrm>
            <a:off x="9363075" y="2028825"/>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3" name="journey-step-5-number">
            <a:extLst>
              <a:ext uri="{FF2B5EF4-FFF2-40B4-BE49-F238E27FC236}">
                <a16:creationId xmlns:a16="http://schemas.microsoft.com/office/drawing/2014/main" id="{6A2BEA7B-F2B0-4ED1-B859-1725522222AD}"/>
              </a:ext>
            </a:extLst>
          </p:cNvPr>
          <p:cNvSpPr>
            <a:spLocks noGrp="1"/>
          </p:cNvSpPr>
          <p:nvPr/>
        </p:nvSpPr>
        <p:spPr>
          <a:xfrm>
            <a:off x="9363075" y="2047875"/>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cxnSp>
        <p:nvCxnSpPr>
          <p:cNvPr id="557" name="Connector: Elbow 248"/>
          <p:cNvCxnSpPr>
            <a:stCxn id="6" idx="3"/>
            <a:endCxn id="20" idx="1"/>
          </p:cNvCxnSpPr>
          <p:nvPr/>
        </p:nvCxnSpPr>
        <p:spPr>
          <a:xfrm flipV="1">
            <a:off x="1552575" y="2552700"/>
            <a:ext cx="447675" cy="552450"/>
          </a:xfrm>
          <a:prstGeom prst="bentConnector3">
            <a:avLst>
              <a:gd name="adj1" fmla="val 50000"/>
            </a:avLst>
          </a:prstGeom>
          <a:ln w="17145">
            <a:solidFill>
              <a:srgbClr val="2767A8"/>
            </a:solidFill>
            <a:prstDash val="solid"/>
            <a:tailEnd type="triangle" w="sm" len="sm"/>
          </a:ln>
        </p:spPr>
      </p:cxnSp>
      <p:cxnSp>
        <p:nvCxnSpPr>
          <p:cNvPr id="558" name="Connector: Elbow 249"/>
          <p:cNvCxnSpPr>
            <a:stCxn id="9" idx="3"/>
            <a:endCxn id="29" idx="1"/>
          </p:cNvCxnSpPr>
          <p:nvPr/>
        </p:nvCxnSpPr>
        <p:spPr>
          <a:xfrm flipV="1">
            <a:off x="1552575" y="2552700"/>
            <a:ext cx="3190875" cy="1828800"/>
          </a:xfrm>
          <a:prstGeom prst="bentConnector3">
            <a:avLst>
              <a:gd name="adj1" fmla="val 50000"/>
            </a:avLst>
          </a:prstGeom>
          <a:ln w="17145">
            <a:solidFill>
              <a:srgbClr val="6D4FB3"/>
            </a:solidFill>
            <a:prstDash val="dash"/>
            <a:tailEnd type="triangle" w="sm" len="sm"/>
          </a:ln>
        </p:spPr>
      </p:cxnSp>
      <p:cxnSp>
        <p:nvCxnSpPr>
          <p:cNvPr id="559" name="Straight Arrow Connector 250"/>
          <p:cNvCxnSpPr>
            <a:stCxn id="20" idx="3"/>
            <a:endCxn id="29" idx="1"/>
          </p:cNvCxnSpPr>
          <p:nvPr/>
        </p:nvCxnSpPr>
        <p:spPr>
          <a:xfrm>
            <a:off x="3219450" y="2552700"/>
            <a:ext cx="1524000" cy="0"/>
          </a:xfrm>
          <a:prstGeom prst="straightConnector1">
            <a:avLst/>
          </a:prstGeom>
          <a:ln w="17145">
            <a:solidFill>
              <a:srgbClr val="7A8492"/>
            </a:solidFill>
            <a:prstDash val="solid"/>
            <a:tailEnd type="triangle" w="sm" len="sm"/>
          </a:ln>
        </p:spPr>
      </p:cxnSp>
      <p:cxnSp>
        <p:nvCxnSpPr>
          <p:cNvPr id="560" name="Straight Arrow Connector 251"/>
          <p:cNvCxnSpPr>
            <a:stCxn id="25" idx="3"/>
            <a:endCxn id="29" idx="1"/>
          </p:cNvCxnSpPr>
          <p:nvPr/>
        </p:nvCxnSpPr>
        <p:spPr>
          <a:xfrm>
            <a:off x="4591050" y="2552700"/>
            <a:ext cx="152400" cy="0"/>
          </a:xfrm>
          <a:prstGeom prst="straightConnector1">
            <a:avLst/>
          </a:prstGeom>
          <a:ln w="17145">
            <a:solidFill>
              <a:srgbClr val="7A8492"/>
            </a:solidFill>
            <a:prstDash val="solid"/>
            <a:tailEnd type="triangle" w="sm" len="sm"/>
          </a:ln>
        </p:spPr>
      </p:cxnSp>
      <p:cxnSp>
        <p:nvCxnSpPr>
          <p:cNvPr id="561" name="Straight Arrow Connector 252"/>
          <p:cNvCxnSpPr>
            <a:stCxn id="29" idx="3"/>
            <a:endCxn id="33" idx="1"/>
          </p:cNvCxnSpPr>
          <p:nvPr/>
        </p:nvCxnSpPr>
        <p:spPr>
          <a:xfrm>
            <a:off x="5962650" y="2552700"/>
            <a:ext cx="152400" cy="0"/>
          </a:xfrm>
          <a:prstGeom prst="straightConnector1">
            <a:avLst/>
          </a:prstGeom>
          <a:ln w="17145">
            <a:solidFill>
              <a:srgbClr val="7A8492"/>
            </a:solidFill>
            <a:prstDash val="solid"/>
            <a:tailEnd type="triangle" w="sm" len="sm"/>
          </a:ln>
        </p:spPr>
      </p:cxnSp>
      <p:cxnSp>
        <p:nvCxnSpPr>
          <p:cNvPr id="562" name="Connector: Elbow 253"/>
          <p:cNvCxnSpPr>
            <a:stCxn id="33" idx="2"/>
            <a:endCxn id="40" idx="0"/>
          </p:cNvCxnSpPr>
          <p:nvPr/>
        </p:nvCxnSpPr>
        <p:spPr>
          <a:xfrm flipH="1">
            <a:off x="2705100" y="2857500"/>
            <a:ext cx="4019550" cy="457200"/>
          </a:xfrm>
          <a:prstGeom prst="bentConnector4">
            <a:avLst>
              <a:gd name="adj1" fmla="val 0"/>
              <a:gd name="adj2" fmla="val 50000"/>
            </a:avLst>
          </a:prstGeom>
          <a:ln w="17145">
            <a:solidFill>
              <a:srgbClr val="147A58"/>
            </a:solidFill>
            <a:prstDash val="solid"/>
            <a:tailEnd type="triangle" w="sm" len="sm"/>
          </a:ln>
        </p:spPr>
      </p:cxnSp>
      <p:cxnSp>
        <p:nvCxnSpPr>
          <p:cNvPr id="563" name="Connector: Elbow 254"/>
          <p:cNvCxnSpPr>
            <a:stCxn id="33" idx="2"/>
            <a:endCxn id="43" idx="0"/>
          </p:cNvCxnSpPr>
          <p:nvPr/>
        </p:nvCxnSpPr>
        <p:spPr>
          <a:xfrm flipH="1">
            <a:off x="3962400" y="2857500"/>
            <a:ext cx="2762250" cy="457200"/>
          </a:xfrm>
          <a:prstGeom prst="bentConnector4">
            <a:avLst>
              <a:gd name="adj1" fmla="val 0"/>
              <a:gd name="adj2" fmla="val 50000"/>
            </a:avLst>
          </a:prstGeom>
          <a:ln w="17145">
            <a:solidFill>
              <a:srgbClr val="147A58"/>
            </a:solidFill>
            <a:prstDash val="solid"/>
            <a:tailEnd type="triangle" w="sm" len="sm"/>
          </a:ln>
        </p:spPr>
      </p:cxnSp>
      <p:cxnSp>
        <p:nvCxnSpPr>
          <p:cNvPr id="564" name="Connector: Elbow 255"/>
          <p:cNvCxnSpPr>
            <a:stCxn id="33" idx="2"/>
            <a:endCxn id="46" idx="0"/>
          </p:cNvCxnSpPr>
          <p:nvPr/>
        </p:nvCxnSpPr>
        <p:spPr>
          <a:xfrm flipH="1">
            <a:off x="5219700" y="2857500"/>
            <a:ext cx="1504950" cy="457200"/>
          </a:xfrm>
          <a:prstGeom prst="bentConnector4">
            <a:avLst>
              <a:gd name="adj1" fmla="val 0"/>
              <a:gd name="adj2" fmla="val 50000"/>
            </a:avLst>
          </a:prstGeom>
          <a:ln w="17145">
            <a:solidFill>
              <a:srgbClr val="147A58"/>
            </a:solidFill>
            <a:prstDash val="solid"/>
            <a:tailEnd type="triangle" w="sm" len="sm"/>
          </a:ln>
        </p:spPr>
      </p:cxnSp>
      <p:cxnSp>
        <p:nvCxnSpPr>
          <p:cNvPr id="565" name="Connector: Elbow 256"/>
          <p:cNvCxnSpPr>
            <a:stCxn id="33" idx="2"/>
            <a:endCxn id="49" idx="0"/>
          </p:cNvCxnSpPr>
          <p:nvPr/>
        </p:nvCxnSpPr>
        <p:spPr>
          <a:xfrm flipH="1">
            <a:off x="6477000" y="2857500"/>
            <a:ext cx="247650" cy="457200"/>
          </a:xfrm>
          <a:prstGeom prst="bentConnector4">
            <a:avLst>
              <a:gd name="adj1" fmla="val 0"/>
              <a:gd name="adj2" fmla="val 50000"/>
            </a:avLst>
          </a:prstGeom>
          <a:ln w="17145">
            <a:solidFill>
              <a:srgbClr val="147A58"/>
            </a:solidFill>
            <a:prstDash val="solid"/>
            <a:tailEnd type="triangle" w="sm" len="sm"/>
          </a:ln>
        </p:spPr>
      </p:cxnSp>
      <p:cxnSp>
        <p:nvCxnSpPr>
          <p:cNvPr id="566" name="Straight Arrow Connector 257"/>
          <p:cNvCxnSpPr>
            <a:stCxn id="40" idx="2"/>
            <a:endCxn id="52" idx="0"/>
          </p:cNvCxnSpPr>
          <p:nvPr/>
        </p:nvCxnSpPr>
        <p:spPr>
          <a:xfrm>
            <a:off x="2705100" y="4000500"/>
            <a:ext cx="0" cy="133350"/>
          </a:xfrm>
          <a:prstGeom prst="straightConnector1">
            <a:avLst/>
          </a:prstGeom>
          <a:ln w="17145">
            <a:solidFill>
              <a:srgbClr val="7A8492"/>
            </a:solidFill>
            <a:prstDash val="solid"/>
            <a:tailEnd type="triangle" w="sm" len="sm"/>
          </a:ln>
        </p:spPr>
      </p:cxnSp>
      <p:cxnSp>
        <p:nvCxnSpPr>
          <p:cNvPr id="567" name="Connector: Elbow 258"/>
          <p:cNvCxnSpPr>
            <a:stCxn id="49" idx="2"/>
            <a:endCxn id="56" idx="0"/>
          </p:cNvCxnSpPr>
          <p:nvPr/>
        </p:nvCxnSpPr>
        <p:spPr>
          <a:xfrm flipH="1">
            <a:off x="3962400" y="4000500"/>
            <a:ext cx="2514600" cy="133350"/>
          </a:xfrm>
          <a:prstGeom prst="bentConnector4">
            <a:avLst>
              <a:gd name="adj1" fmla="val 0"/>
              <a:gd name="adj2" fmla="val 50000"/>
            </a:avLst>
          </a:prstGeom>
          <a:ln w="17145">
            <a:solidFill>
              <a:srgbClr val="7A8492"/>
            </a:solidFill>
            <a:prstDash val="solid"/>
            <a:tailEnd type="triangle" w="sm" len="sm"/>
          </a:ln>
        </p:spPr>
      </p:cxnSp>
      <p:cxnSp>
        <p:nvCxnSpPr>
          <p:cNvPr id="568" name="Straight Arrow Connector 259"/>
          <p:cNvCxnSpPr>
            <a:stCxn id="46" idx="2"/>
            <a:endCxn id="60" idx="0"/>
          </p:cNvCxnSpPr>
          <p:nvPr/>
        </p:nvCxnSpPr>
        <p:spPr>
          <a:xfrm>
            <a:off x="5219700" y="4000500"/>
            <a:ext cx="0" cy="133350"/>
          </a:xfrm>
          <a:prstGeom prst="straightConnector1">
            <a:avLst/>
          </a:prstGeom>
          <a:ln w="17145">
            <a:solidFill>
              <a:srgbClr val="7A8492"/>
            </a:solidFill>
            <a:prstDash val="solid"/>
            <a:tailEnd type="triangle" w="sm" len="sm"/>
          </a:ln>
        </p:spPr>
      </p:cxnSp>
      <p:cxnSp>
        <p:nvCxnSpPr>
          <p:cNvPr id="569" name="Straight Arrow Connector 260"/>
          <p:cNvCxnSpPr>
            <a:stCxn id="49" idx="2"/>
            <a:endCxn id="64" idx="0"/>
          </p:cNvCxnSpPr>
          <p:nvPr/>
        </p:nvCxnSpPr>
        <p:spPr>
          <a:xfrm>
            <a:off x="6477000" y="4000500"/>
            <a:ext cx="0" cy="133350"/>
          </a:xfrm>
          <a:prstGeom prst="straightConnector1">
            <a:avLst/>
          </a:prstGeom>
          <a:ln w="17145">
            <a:solidFill>
              <a:srgbClr val="7A8492"/>
            </a:solidFill>
            <a:prstDash val="solid"/>
            <a:tailEnd type="triangle" w="sm" len="sm"/>
          </a:ln>
        </p:spPr>
      </p:cxnSp>
      <p:cxnSp>
        <p:nvCxnSpPr>
          <p:cNvPr id="570" name="Connector: Elbow 261"/>
          <p:cNvCxnSpPr>
            <a:stCxn id="64" idx="2"/>
            <a:endCxn id="80" idx="0"/>
          </p:cNvCxnSpPr>
          <p:nvPr/>
        </p:nvCxnSpPr>
        <p:spPr>
          <a:xfrm flipH="1">
            <a:off x="3162300" y="4648200"/>
            <a:ext cx="3314700" cy="352425"/>
          </a:xfrm>
          <a:prstGeom prst="bentConnector4">
            <a:avLst>
              <a:gd name="adj1" fmla="val 0"/>
              <a:gd name="adj2" fmla="val 50000"/>
            </a:avLst>
          </a:prstGeom>
          <a:ln w="17145">
            <a:solidFill>
              <a:srgbClr val="B86713"/>
            </a:solidFill>
            <a:prstDash val="solid"/>
            <a:tailEnd type="triangle" w="sm" len="sm"/>
          </a:ln>
        </p:spPr>
      </p:cxnSp>
      <p:cxnSp>
        <p:nvCxnSpPr>
          <p:cNvPr id="571" name="Connector: Elbow 262"/>
          <p:cNvCxnSpPr>
            <a:stCxn id="43" idx="3"/>
            <a:endCxn id="71" idx="1"/>
          </p:cNvCxnSpPr>
          <p:nvPr/>
        </p:nvCxnSpPr>
        <p:spPr>
          <a:xfrm flipV="1">
            <a:off x="4524375" y="3152775"/>
            <a:ext cx="3152775" cy="504825"/>
          </a:xfrm>
          <a:prstGeom prst="bentConnector3">
            <a:avLst>
              <a:gd name="adj1" fmla="val 50000"/>
            </a:avLst>
          </a:prstGeom>
          <a:ln w="17145">
            <a:solidFill>
              <a:srgbClr val="198E84"/>
            </a:solidFill>
            <a:prstDash val="solid"/>
            <a:tailEnd type="triangle" w="sm" len="sm"/>
          </a:ln>
        </p:spPr>
      </p:cxnSp>
      <p:cxnSp>
        <p:nvCxnSpPr>
          <p:cNvPr id="572" name="Connector: Elbow 263"/>
          <p:cNvCxnSpPr>
            <a:stCxn id="43" idx="3"/>
            <a:endCxn id="74" idx="1"/>
          </p:cNvCxnSpPr>
          <p:nvPr/>
        </p:nvCxnSpPr>
        <p:spPr>
          <a:xfrm>
            <a:off x="4524375" y="3657600"/>
            <a:ext cx="3152775" cy="200025"/>
          </a:xfrm>
          <a:prstGeom prst="bentConnector3">
            <a:avLst>
              <a:gd name="adj1" fmla="val 50000"/>
            </a:avLst>
          </a:prstGeom>
          <a:ln w="17145">
            <a:solidFill>
              <a:srgbClr val="198E84"/>
            </a:solidFill>
            <a:prstDash val="solid"/>
            <a:tailEnd type="triangle" w="sm" len="sm"/>
          </a:ln>
        </p:spPr>
      </p:cxnSp>
      <p:cxnSp>
        <p:nvCxnSpPr>
          <p:cNvPr id="573" name="Connector: Elbow 264"/>
          <p:cNvCxnSpPr>
            <a:stCxn id="46" idx="3"/>
            <a:endCxn id="77" idx="1"/>
          </p:cNvCxnSpPr>
          <p:nvPr/>
        </p:nvCxnSpPr>
        <p:spPr>
          <a:xfrm>
            <a:off x="5781675" y="3657600"/>
            <a:ext cx="1895475" cy="904875"/>
          </a:xfrm>
          <a:prstGeom prst="bentConnector3">
            <a:avLst>
              <a:gd name="adj1" fmla="val 50000"/>
            </a:avLst>
          </a:prstGeom>
          <a:ln w="17145">
            <a:solidFill>
              <a:srgbClr val="198E84"/>
            </a:solidFill>
            <a:prstDash val="solid"/>
            <a:tailEnd type="triangle" w="sm" len="sm"/>
          </a:ln>
        </p:spPr>
      </p:cxnSp>
      <p:cxnSp>
        <p:nvCxnSpPr>
          <p:cNvPr id="574" name="Connector: Elbow 265"/>
          <p:cNvCxnSpPr>
            <a:stCxn id="49" idx="3"/>
            <a:endCxn id="77" idx="1"/>
          </p:cNvCxnSpPr>
          <p:nvPr/>
        </p:nvCxnSpPr>
        <p:spPr>
          <a:xfrm>
            <a:off x="7038975" y="3657600"/>
            <a:ext cx="638175" cy="904875"/>
          </a:xfrm>
          <a:prstGeom prst="bentConnector3">
            <a:avLst>
              <a:gd name="adj1" fmla="val 50000"/>
            </a:avLst>
          </a:prstGeom>
          <a:ln w="17145">
            <a:solidFill>
              <a:srgbClr val="198E84"/>
            </a:solidFill>
            <a:prstDash val="solid"/>
            <a:tailEnd type="triangle" w="sm" len="sm"/>
          </a:ln>
        </p:spPr>
      </p:cxnSp>
      <p:cxnSp>
        <p:nvCxnSpPr>
          <p:cNvPr id="575" name="Connector: Elbow 266"/>
          <p:cNvCxnSpPr>
            <a:stCxn id="71" idx="3"/>
            <a:endCxn id="88" idx="1"/>
          </p:cNvCxnSpPr>
          <p:nvPr/>
        </p:nvCxnSpPr>
        <p:spPr>
          <a:xfrm flipV="1">
            <a:off x="8877300" y="2505075"/>
            <a:ext cx="600075" cy="647700"/>
          </a:xfrm>
          <a:prstGeom prst="bentConnector3">
            <a:avLst>
              <a:gd name="adj1" fmla="val 50000"/>
            </a:avLst>
          </a:prstGeom>
          <a:ln w="17145">
            <a:solidFill>
              <a:srgbClr val="2767A8"/>
            </a:solidFill>
            <a:prstDash val="solid"/>
            <a:tailEnd type="triangle" w="sm" len="sm"/>
          </a:ln>
        </p:spPr>
      </p:cxnSp>
      <p:cxnSp>
        <p:nvCxnSpPr>
          <p:cNvPr id="576" name="Connector: Elbow 267"/>
          <p:cNvCxnSpPr>
            <a:stCxn id="74" idx="3"/>
            <a:endCxn id="91" idx="1"/>
          </p:cNvCxnSpPr>
          <p:nvPr/>
        </p:nvCxnSpPr>
        <p:spPr>
          <a:xfrm flipV="1">
            <a:off x="8877300" y="3552825"/>
            <a:ext cx="600075" cy="304800"/>
          </a:xfrm>
          <a:prstGeom prst="bentConnector3">
            <a:avLst>
              <a:gd name="adj1" fmla="val 50000"/>
            </a:avLst>
          </a:prstGeom>
          <a:ln w="17145">
            <a:solidFill>
              <a:srgbClr val="6D4FB3"/>
            </a:solidFill>
            <a:prstDash val="solid"/>
            <a:tailEnd type="triangle" w="sm" len="sm"/>
          </a:ln>
        </p:spPr>
      </p:cxnSp>
      <p:cxnSp>
        <p:nvCxnSpPr>
          <p:cNvPr id="577" name="Connector: Elbow 268"/>
          <p:cNvCxnSpPr>
            <a:stCxn id="77" idx="3"/>
            <a:endCxn id="94" idx="1"/>
          </p:cNvCxnSpPr>
          <p:nvPr/>
        </p:nvCxnSpPr>
        <p:spPr>
          <a:xfrm>
            <a:off x="8877300" y="4562475"/>
            <a:ext cx="600075" cy="76200"/>
          </a:xfrm>
          <a:prstGeom prst="bentConnector3">
            <a:avLst>
              <a:gd name="adj1" fmla="val 50000"/>
            </a:avLst>
          </a:prstGeom>
          <a:ln w="17145">
            <a:solidFill>
              <a:srgbClr val="B86713"/>
            </a:solidFill>
            <a:prstDash val="solid"/>
            <a:tailEnd type="triangle" w="sm" len="sm"/>
          </a:ln>
        </p:spPr>
      </p:cxnSp>
      <p:cxnSp>
        <p:nvCxnSpPr>
          <p:cNvPr id="578" name="Connector: Elbow 269"/>
          <p:cNvCxnSpPr>
            <a:stCxn id="85" idx="2"/>
            <a:endCxn id="98" idx="0"/>
          </p:cNvCxnSpPr>
          <p:nvPr/>
        </p:nvCxnSpPr>
        <p:spPr>
          <a:xfrm flipH="1">
            <a:off x="5505450" y="5553075"/>
            <a:ext cx="400050" cy="561975"/>
          </a:xfrm>
          <a:prstGeom prst="bentConnector4">
            <a:avLst>
              <a:gd name="adj1" fmla="val 0"/>
              <a:gd name="adj2" fmla="val 50000"/>
            </a:avLst>
          </a:prstGeom>
          <a:ln w="17145">
            <a:solidFill>
              <a:srgbClr val="5B6472"/>
            </a:solidFill>
            <a:prstDash val="dash"/>
            <a:tailEnd type="triangle" w="sm" len="sm"/>
          </a:ln>
        </p:spPr>
      </p:cxnSp>
    </p:spTree>
    <p:extLst>
      <p:ext uri="{BB962C8B-B14F-4D97-AF65-F5344CB8AC3E}">
        <p14:creationId xmlns:p14="http://schemas.microsoft.com/office/powerpoint/2010/main" val="232520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eyebrow">
            <a:extLst>
              <a:ext uri="{FF2B5EF4-FFF2-40B4-BE49-F238E27FC236}">
                <a16:creationId xmlns:a16="http://schemas.microsoft.com/office/drawing/2014/main" id="{88FC535C-0F8C-4E00-BBD2-F62AEF163208}"/>
              </a:ext>
            </a:extLst>
          </p:cNvPr>
          <p:cNvSpPr>
            <a:spLocks noGrp="1"/>
          </p:cNvSpPr>
          <p:nvPr/>
        </p:nvSpPr>
        <p:spPr>
          <a:xfrm>
            <a:off x="514350" y="238125"/>
            <a:ext cx="323850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PROPOSED SOLUTION ARCHITECTURE</a:t>
            </a:r>
          </a:p>
        </p:txBody>
      </p:sp>
      <p:sp>
        <p:nvSpPr>
          <p:cNvPr id="2" name="title">
            <a:extLst>
              <a:ext uri="{FF2B5EF4-FFF2-40B4-BE49-F238E27FC236}">
                <a16:creationId xmlns:a16="http://schemas.microsoft.com/office/drawing/2014/main" id="{7DE933E2-4A66-4040-9F3F-ABBFF0B1D110}"/>
              </a:ext>
            </a:extLst>
          </p:cNvPr>
          <p:cNvSpPr>
            <a:spLocks noGrp="1"/>
          </p:cNvSpPr>
          <p:nvPr/>
        </p:nvSpPr>
        <p:spPr>
          <a:xfrm>
            <a:off x="514350" y="457200"/>
            <a:ext cx="11163300" cy="419100"/>
          </a:xfrm>
          <a:prstGeom prst="rect">
            <a:avLst/>
          </a:prstGeom>
          <a:noFill/>
          <a:ln w="0">
            <a:noFill/>
            <a:prstDash val="solid"/>
          </a:ln>
        </p:spPr>
        <p:txBody>
          <a:bodyPr/>
          <a:lstStyle/>
          <a:p>
            <a:r>
              <a:rPr sz="2800"/>
              <a:t>Journey 3 — Choose services:</a:t>
            </a:r>
          </a:p>
        </p:txBody>
      </p:sp>
      <p:sp>
        <p:nvSpPr>
          <p:cNvPr id="3" name="subtitle">
            <a:extLst>
              <a:ext uri="{FF2B5EF4-FFF2-40B4-BE49-F238E27FC236}">
                <a16:creationId xmlns:a16="http://schemas.microsoft.com/office/drawing/2014/main" id="{1583B1E2-596D-4EBF-8EB3-5F0F4E8F172D}"/>
              </a:ext>
            </a:extLst>
          </p:cNvPr>
          <p:cNvSpPr>
            <a:spLocks noGrp="1"/>
          </p:cNvSpPr>
          <p:nvPr/>
        </p:nvSpPr>
        <p:spPr>
          <a:xfrm>
            <a:off x="514350" y="895350"/>
            <a:ext cx="11049000" cy="266700"/>
          </a:xfrm>
          <a:prstGeom prst="rect">
            <a:avLst/>
          </a:prstGeom>
          <a:noFill/>
          <a:ln w="0">
            <a:noFill/>
            <a:prstDash val="solid"/>
          </a:ln>
        </p:spPr>
        <p:txBody>
          <a:bodyPr/>
          <a:lstStyle/>
          <a:p>
            <a:pPr>
              <a:buNone/>
              <a:defRPr sz="1200">
                <a:solidFill>
                  <a:srgbClr val="5B6472"/>
                </a:solidFill>
              </a:defRPr>
            </a:pPr>
            <a:r>
              <a:rPr sz="1200">
                <a:solidFill>
                  <a:srgbClr val="5B6472"/>
                </a:solidFill>
              </a:rPr>
              <a:t>The cloud owns the customer journey and booking state; VIN, repair history, and appointment inventory remain authoritative in brownfield systems.</a:t>
            </a:r>
          </a:p>
        </p:txBody>
      </p:sp>
      <p:sp>
        <p:nvSpPr>
          <p:cNvPr id="4" name="aws-region">
            <a:extLst>
              <a:ext uri="{FF2B5EF4-FFF2-40B4-BE49-F238E27FC236}">
                <a16:creationId xmlns:a16="http://schemas.microsoft.com/office/drawing/2014/main" id="{159CB800-C0B0-4AA6-9288-CCB49D71B826}"/>
              </a:ext>
            </a:extLst>
          </p:cNvPr>
          <p:cNvSpPr>
            <a:spLocks noGrp="1"/>
          </p:cNvSpPr>
          <p:nvPr/>
        </p:nvSpPr>
        <p:spPr>
          <a:xfrm>
            <a:off x="1743075" y="1285875"/>
            <a:ext cx="7524750" cy="4648200"/>
          </a:xfrm>
          <a:prstGeom prst="roundRect">
            <a:avLst>
              <a:gd name="adj" fmla="val 2459"/>
            </a:avLst>
          </a:prstGeom>
          <a:solidFill>
            <a:srgbClr val="FBFCFE"/>
          </a:solidFill>
          <a:ln w="17145">
            <a:solidFill>
              <a:srgbClr val="2767A8"/>
            </a:solidFill>
            <a:prstDash val="solid"/>
          </a:ln>
        </p:spPr>
        <p:txBody>
          <a:bodyPr/>
          <a:lstStyle/>
          <a:p>
            <a:endParaRPr/>
          </a:p>
        </p:txBody>
      </p:sp>
      <p:sp>
        <p:nvSpPr>
          <p:cNvPr id="5" name="region-label">
            <a:extLst>
              <a:ext uri="{FF2B5EF4-FFF2-40B4-BE49-F238E27FC236}">
                <a16:creationId xmlns:a16="http://schemas.microsoft.com/office/drawing/2014/main" id="{C3C272BD-B34A-4C1C-8CBB-296439929AB3}"/>
              </a:ext>
            </a:extLst>
          </p:cNvPr>
          <p:cNvSpPr>
            <a:spLocks noGrp="1"/>
          </p:cNvSpPr>
          <p:nvPr/>
        </p:nvSpPr>
        <p:spPr>
          <a:xfrm>
            <a:off x="1952625" y="1371600"/>
            <a:ext cx="2381250" cy="190500"/>
          </a:xfrm>
          <a:prstGeom prst="rect">
            <a:avLst/>
          </a:prstGeom>
          <a:noFill/>
          <a:ln w="0">
            <a:noFill/>
            <a:prstDash val="solid"/>
          </a:ln>
        </p:spPr>
        <p:txBody>
          <a:bodyPr/>
          <a:lstStyle/>
          <a:p>
            <a:pPr>
              <a:buNone/>
              <a:defRPr sz="975" b="1">
                <a:solidFill>
                  <a:srgbClr val="2767A8"/>
                </a:solidFill>
              </a:defRPr>
            </a:pPr>
            <a:r>
              <a:rPr sz="975" b="1">
                <a:solidFill>
                  <a:srgbClr val="2767A8"/>
                </a:solidFill>
              </a:rPr>
              <a:t>AWS REGION • MULTI-AZ</a:t>
            </a:r>
          </a:p>
        </p:txBody>
      </p:sp>
      <p:sp>
        <p:nvSpPr>
          <p:cNvPr id="6" name="customer">
            <a:extLst>
              <a:ext uri="{FF2B5EF4-FFF2-40B4-BE49-F238E27FC236}">
                <a16:creationId xmlns:a16="http://schemas.microsoft.com/office/drawing/2014/main" id="{40629EC1-8071-41CA-B71A-7F7A92A18F50}"/>
              </a:ext>
            </a:extLst>
          </p:cNvPr>
          <p:cNvSpPr>
            <a:spLocks noGrp="1"/>
          </p:cNvSpPr>
          <p:nvPr/>
        </p:nvSpPr>
        <p:spPr>
          <a:xfrm>
            <a:off x="266700" y="2609850"/>
            <a:ext cx="1285875" cy="990600"/>
          </a:xfrm>
          <a:prstGeom prst="roundRect">
            <a:avLst>
              <a:gd name="adj" fmla="val 7692"/>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7" name="customer-title">
            <a:extLst>
              <a:ext uri="{FF2B5EF4-FFF2-40B4-BE49-F238E27FC236}">
                <a16:creationId xmlns:a16="http://schemas.microsoft.com/office/drawing/2014/main" id="{A04AC30A-B72F-44EE-8EC0-0A3BCFD4E1E3}"/>
              </a:ext>
            </a:extLst>
          </p:cNvPr>
          <p:cNvSpPr>
            <a:spLocks noGrp="1"/>
          </p:cNvSpPr>
          <p:nvPr/>
        </p:nvSpPr>
        <p:spPr>
          <a:xfrm>
            <a:off x="361950" y="2695575"/>
            <a:ext cx="1095375" cy="238125"/>
          </a:xfrm>
          <a:prstGeom prst="rect">
            <a:avLst/>
          </a:prstGeom>
          <a:noFill/>
          <a:ln w="0">
            <a:noFill/>
            <a:prstDash val="solid"/>
          </a:ln>
        </p:spPr>
        <p:txBody>
          <a:bodyPr/>
          <a:lstStyle/>
          <a:p>
            <a:pPr algn="ctr">
              <a:buNone/>
              <a:defRPr sz="1350" b="1">
                <a:solidFill>
                  <a:srgbClr val="172033"/>
                </a:solidFill>
              </a:defRPr>
            </a:pPr>
            <a:r>
              <a:rPr sz="1350" b="1">
                <a:solidFill>
                  <a:srgbClr val="172033"/>
                </a:solidFill>
              </a:rPr>
              <a:t>Customer</a:t>
            </a:r>
          </a:p>
        </p:txBody>
      </p:sp>
      <p:sp>
        <p:nvSpPr>
          <p:cNvPr id="8" name="customer-detail">
            <a:extLst>
              <a:ext uri="{FF2B5EF4-FFF2-40B4-BE49-F238E27FC236}">
                <a16:creationId xmlns:a16="http://schemas.microsoft.com/office/drawing/2014/main" id="{DB6B019C-F086-4E5A-8566-BAF1E143B83B}"/>
              </a:ext>
            </a:extLst>
          </p:cNvPr>
          <p:cNvSpPr>
            <a:spLocks noGrp="1"/>
          </p:cNvSpPr>
          <p:nvPr/>
        </p:nvSpPr>
        <p:spPr>
          <a:xfrm>
            <a:off x="361950" y="2981325"/>
            <a:ext cx="1095375" cy="552450"/>
          </a:xfrm>
          <a:prstGeom prst="rect">
            <a:avLst/>
          </a:prstGeom>
          <a:noFill/>
          <a:ln w="0">
            <a:noFill/>
            <a:prstDash val="solid"/>
          </a:ln>
        </p:spPr>
        <p:txBody>
          <a:bodyPr/>
          <a:lstStyle/>
          <a:p>
            <a:pPr algn="ctr">
              <a:buNone/>
              <a:defRPr sz="900">
                <a:solidFill>
                  <a:srgbClr val="4B5563"/>
                </a:solidFill>
              </a:defRPr>
            </a:pPr>
            <a:r>
              <a:rPr sz="900">
                <a:solidFill>
                  <a:srgbClr val="4B5563"/>
                </a:solidFill>
              </a:rPr>
              <a:t>Web / mobile</a:t>
            </a:r>
          </a:p>
          <a:p>
            <a:pPr algn="ctr">
              <a:buNone/>
              <a:defRPr sz="900">
                <a:solidFill>
                  <a:srgbClr val="4B5563"/>
                </a:solidFill>
              </a:defRPr>
            </a:pPr>
            <a:r>
              <a:rPr sz="900">
                <a:solidFill>
                  <a:srgbClr val="4B5563"/>
                </a:solidFill>
              </a:rPr>
              <a:t>Guest or signed in</a:t>
            </a:r>
          </a:p>
        </p:txBody>
      </p:sp>
      <p:sp>
        <p:nvSpPr>
          <p:cNvPr id="9" name="dealer-staff">
            <a:extLst>
              <a:ext uri="{FF2B5EF4-FFF2-40B4-BE49-F238E27FC236}">
                <a16:creationId xmlns:a16="http://schemas.microsoft.com/office/drawing/2014/main" id="{DC94F551-9219-4E93-A693-880410C4953D}"/>
              </a:ext>
            </a:extLst>
          </p:cNvPr>
          <p:cNvSpPr>
            <a:spLocks noGrp="1"/>
          </p:cNvSpPr>
          <p:nvPr/>
        </p:nvSpPr>
        <p:spPr>
          <a:xfrm>
            <a:off x="266700" y="3886200"/>
            <a:ext cx="1285875" cy="990600"/>
          </a:xfrm>
          <a:prstGeom prst="roundRect">
            <a:avLst>
              <a:gd name="adj" fmla="val 7692"/>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dealer-staff-title">
            <a:extLst>
              <a:ext uri="{FF2B5EF4-FFF2-40B4-BE49-F238E27FC236}">
                <a16:creationId xmlns:a16="http://schemas.microsoft.com/office/drawing/2014/main" id="{3EEA4FB6-6AE7-45A3-ACE2-EEAA52EE4BD6}"/>
              </a:ext>
            </a:extLst>
          </p:cNvPr>
          <p:cNvSpPr>
            <a:spLocks noGrp="1"/>
          </p:cNvSpPr>
          <p:nvPr/>
        </p:nvSpPr>
        <p:spPr>
          <a:xfrm>
            <a:off x="361950" y="3971925"/>
            <a:ext cx="1095375" cy="238125"/>
          </a:xfrm>
          <a:prstGeom prst="rect">
            <a:avLst/>
          </a:prstGeom>
          <a:noFill/>
          <a:ln w="0">
            <a:noFill/>
            <a:prstDash val="solid"/>
          </a:ln>
        </p:spPr>
        <p:txBody>
          <a:bodyPr/>
          <a:lstStyle/>
          <a:p>
            <a:pPr algn="ctr">
              <a:buNone/>
              <a:defRPr sz="1125" b="1">
                <a:solidFill>
                  <a:srgbClr val="172033"/>
                </a:solidFill>
              </a:defRPr>
            </a:pPr>
            <a:r>
              <a:rPr sz="1125" b="1">
                <a:solidFill>
                  <a:srgbClr val="172033"/>
                </a:solidFill>
              </a:rPr>
              <a:t>Dealer personnel</a:t>
            </a:r>
          </a:p>
        </p:txBody>
      </p:sp>
      <p:sp>
        <p:nvSpPr>
          <p:cNvPr id="11" name="dealer-staff-detail">
            <a:extLst>
              <a:ext uri="{FF2B5EF4-FFF2-40B4-BE49-F238E27FC236}">
                <a16:creationId xmlns:a16="http://schemas.microsoft.com/office/drawing/2014/main" id="{BA8F4AE2-EF40-4A5E-BA53-03BEE46F31F4}"/>
              </a:ext>
            </a:extLst>
          </p:cNvPr>
          <p:cNvSpPr>
            <a:spLocks noGrp="1"/>
          </p:cNvSpPr>
          <p:nvPr/>
        </p:nvSpPr>
        <p:spPr>
          <a:xfrm>
            <a:off x="361950" y="4295775"/>
            <a:ext cx="1095375" cy="514350"/>
          </a:xfrm>
          <a:prstGeom prst="rect">
            <a:avLst/>
          </a:prstGeom>
          <a:noFill/>
          <a:ln w="0">
            <a:noFill/>
            <a:prstDash val="solid"/>
          </a:ln>
        </p:spPr>
        <p:txBody>
          <a:bodyPr/>
          <a:lstStyle/>
          <a:p>
            <a:pPr algn="ctr">
              <a:buNone/>
              <a:defRPr sz="825">
                <a:solidFill>
                  <a:srgbClr val="4B5563"/>
                </a:solidFill>
              </a:defRPr>
            </a:pPr>
            <a:r>
              <a:rPr sz="825">
                <a:solidFill>
                  <a:srgbClr val="4B5563"/>
                </a:solidFill>
              </a:rPr>
              <a:t>Dealer-scoped access</a:t>
            </a:r>
          </a:p>
        </p:txBody>
      </p:sp>
      <p:sp>
        <p:nvSpPr>
          <p:cNvPr id="12" name="controls">
            <a:extLst>
              <a:ext uri="{FF2B5EF4-FFF2-40B4-BE49-F238E27FC236}">
                <a16:creationId xmlns:a16="http://schemas.microsoft.com/office/drawing/2014/main" id="{B3396B5F-D021-4CC8-8D86-3C4E672AAFEF}"/>
              </a:ext>
            </a:extLst>
          </p:cNvPr>
          <p:cNvSpPr>
            <a:spLocks noGrp="1"/>
          </p:cNvSpPr>
          <p:nvPr/>
        </p:nvSpPr>
        <p:spPr>
          <a:xfrm>
            <a:off x="2000250" y="1619250"/>
            <a:ext cx="7029450" cy="457200"/>
          </a:xfrm>
          <a:prstGeom prst="roundRect">
            <a:avLst>
              <a:gd name="adj" fmla="val 16667"/>
            </a:avLst>
          </a:prstGeom>
          <a:solidFill>
            <a:srgbClr val="F4F7FA"/>
          </a:solidFill>
          <a:ln w="13335">
            <a:solidFill>
              <a:srgbClr val="8491A3"/>
            </a:solidFill>
            <a:prstDash val="solid"/>
          </a:ln>
        </p:spPr>
        <p:txBody>
          <a:bodyPr/>
          <a:lstStyle/>
          <a:p>
            <a:endParaRPr/>
          </a:p>
        </p:txBody>
      </p:sp>
      <p:sp>
        <p:nvSpPr>
          <p:cNvPr id="13" name="controls-title">
            <a:extLst>
              <a:ext uri="{FF2B5EF4-FFF2-40B4-BE49-F238E27FC236}">
                <a16:creationId xmlns:a16="http://schemas.microsoft.com/office/drawing/2014/main" id="{C9F7A2FF-466A-4408-A26F-D401F194EA4E}"/>
              </a:ext>
            </a:extLst>
          </p:cNvPr>
          <p:cNvSpPr>
            <a:spLocks noGrp="1"/>
          </p:cNvSpPr>
          <p:nvPr/>
        </p:nvSpPr>
        <p:spPr>
          <a:xfrm>
            <a:off x="3571875" y="1704975"/>
            <a:ext cx="5362575" cy="190500"/>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Security &amp; operations</a:t>
            </a:r>
          </a:p>
        </p:txBody>
      </p:sp>
      <p:sp>
        <p:nvSpPr>
          <p:cNvPr id="14" name="controls-detail">
            <a:extLst>
              <a:ext uri="{FF2B5EF4-FFF2-40B4-BE49-F238E27FC236}">
                <a16:creationId xmlns:a16="http://schemas.microsoft.com/office/drawing/2014/main" id="{A9B8F137-43D8-47A8-8D5F-02DF9810F5EC}"/>
              </a:ext>
            </a:extLst>
          </p:cNvPr>
          <p:cNvSpPr>
            <a:spLocks noGrp="1"/>
          </p:cNvSpPr>
          <p:nvPr/>
        </p:nvSpPr>
        <p:spPr>
          <a:xfrm>
            <a:off x="2095500" y="1857375"/>
            <a:ext cx="6838950" cy="152400"/>
          </a:xfrm>
          <a:prstGeom prst="rect">
            <a:avLst/>
          </a:prstGeom>
          <a:noFill/>
          <a:ln w="0">
            <a:noFill/>
            <a:prstDash val="solid"/>
          </a:ln>
        </p:spPr>
        <p:txBody>
          <a:bodyPr/>
          <a:lstStyle/>
          <a:p>
            <a:pPr algn="ctr">
              <a:buNone/>
              <a:defRPr sz="900">
                <a:solidFill>
                  <a:srgbClr val="4B5563"/>
                </a:solidFill>
              </a:defRPr>
            </a:pPr>
            <a:r>
              <a:rPr sz="900">
                <a:solidFill>
                  <a:srgbClr val="4B5563"/>
                </a:solidFill>
              </a:rPr>
              <a:t>WAF / Shield • KMS • Secrets Manager • CloudWatch / X-Ray • CloudTrail</a:t>
            </a:r>
          </a:p>
        </p:txBody>
      </p:sp>
      <p:pic>
        <p:nvPicPr>
          <p:cNvPr id="458" name="Picture 149"/>
          <p:cNvPicPr>
            <a:picLocks noChangeAspect="1"/>
          </p:cNvPicPr>
          <p:nvPr/>
        </p:nvPicPr>
        <p:blipFill>
          <a:blip r:embed="rId3"/>
          <a:stretch/>
        </p:blipFill>
        <p:spPr>
          <a:xfrm>
            <a:off x="2095500" y="1724025"/>
            <a:ext cx="200025" cy="200025"/>
          </a:xfrm>
          <a:prstGeom prst="rect">
            <a:avLst/>
          </a:prstGeom>
        </p:spPr>
      </p:pic>
      <p:pic>
        <p:nvPicPr>
          <p:cNvPr id="459" name="Picture 150"/>
          <p:cNvPicPr>
            <a:picLocks noChangeAspect="1"/>
          </p:cNvPicPr>
          <p:nvPr/>
        </p:nvPicPr>
        <p:blipFill>
          <a:blip r:embed="rId4"/>
          <a:stretch/>
        </p:blipFill>
        <p:spPr>
          <a:xfrm>
            <a:off x="2362200" y="1724025"/>
            <a:ext cx="200025" cy="200025"/>
          </a:xfrm>
          <a:prstGeom prst="rect">
            <a:avLst/>
          </a:prstGeom>
        </p:spPr>
      </p:pic>
      <p:pic>
        <p:nvPicPr>
          <p:cNvPr id="460" name="Picture 151"/>
          <p:cNvPicPr>
            <a:picLocks noChangeAspect="1"/>
          </p:cNvPicPr>
          <p:nvPr/>
        </p:nvPicPr>
        <p:blipFill>
          <a:blip r:embed="rId5"/>
          <a:stretch/>
        </p:blipFill>
        <p:spPr>
          <a:xfrm>
            <a:off x="2628900" y="1724025"/>
            <a:ext cx="200025" cy="200025"/>
          </a:xfrm>
          <a:prstGeom prst="rect">
            <a:avLst/>
          </a:prstGeom>
        </p:spPr>
      </p:pic>
      <p:pic>
        <p:nvPicPr>
          <p:cNvPr id="461" name="Picture 152"/>
          <p:cNvPicPr>
            <a:picLocks noChangeAspect="1"/>
          </p:cNvPicPr>
          <p:nvPr/>
        </p:nvPicPr>
        <p:blipFill>
          <a:blip r:embed="rId6"/>
          <a:stretch/>
        </p:blipFill>
        <p:spPr>
          <a:xfrm>
            <a:off x="2895600" y="1724025"/>
            <a:ext cx="200025" cy="200025"/>
          </a:xfrm>
          <a:prstGeom prst="rect">
            <a:avLst/>
          </a:prstGeom>
        </p:spPr>
      </p:pic>
      <p:pic>
        <p:nvPicPr>
          <p:cNvPr id="462" name="Picture 153"/>
          <p:cNvPicPr>
            <a:picLocks noChangeAspect="1"/>
          </p:cNvPicPr>
          <p:nvPr/>
        </p:nvPicPr>
        <p:blipFill>
          <a:blip r:embed="rId7"/>
          <a:stretch/>
        </p:blipFill>
        <p:spPr>
          <a:xfrm>
            <a:off x="3162300" y="1724025"/>
            <a:ext cx="200025" cy="200025"/>
          </a:xfrm>
          <a:prstGeom prst="rect">
            <a:avLst/>
          </a:prstGeom>
        </p:spPr>
      </p:pic>
      <p:sp>
        <p:nvSpPr>
          <p:cNvPr id="20" name="edge">
            <a:extLst>
              <a:ext uri="{FF2B5EF4-FFF2-40B4-BE49-F238E27FC236}">
                <a16:creationId xmlns:a16="http://schemas.microsoft.com/office/drawing/2014/main" id="{616309B2-C8DE-4673-BB58-7A66F43D1EA7}"/>
              </a:ext>
            </a:extLst>
          </p:cNvPr>
          <p:cNvSpPr>
            <a:spLocks noGrp="1"/>
          </p:cNvSpPr>
          <p:nvPr/>
        </p:nvSpPr>
        <p:spPr>
          <a:xfrm>
            <a:off x="2000250" y="2247900"/>
            <a:ext cx="1219200" cy="609600"/>
          </a:xfrm>
          <a:prstGeom prst="roundRect">
            <a:avLst>
              <a:gd name="adj" fmla="val 12500"/>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21" name="edge-title">
            <a:extLst>
              <a:ext uri="{FF2B5EF4-FFF2-40B4-BE49-F238E27FC236}">
                <a16:creationId xmlns:a16="http://schemas.microsoft.com/office/drawing/2014/main" id="{A864034E-CB27-4F08-AA17-BA32276EC8C8}"/>
              </a:ext>
            </a:extLst>
          </p:cNvPr>
          <p:cNvSpPr>
            <a:spLocks noGrp="1"/>
          </p:cNvSpPr>
          <p:nvPr/>
        </p:nvSpPr>
        <p:spPr>
          <a:xfrm>
            <a:off x="2457450" y="2333625"/>
            <a:ext cx="66675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Web delivery</a:t>
            </a:r>
          </a:p>
        </p:txBody>
      </p:sp>
      <p:sp>
        <p:nvSpPr>
          <p:cNvPr id="22" name="edge-detail">
            <a:extLst>
              <a:ext uri="{FF2B5EF4-FFF2-40B4-BE49-F238E27FC236}">
                <a16:creationId xmlns:a16="http://schemas.microsoft.com/office/drawing/2014/main" id="{503EAA7B-0CFD-4F53-9A27-4FFE6BFE4166}"/>
              </a:ext>
            </a:extLst>
          </p:cNvPr>
          <p:cNvSpPr>
            <a:spLocks noGrp="1"/>
          </p:cNvSpPr>
          <p:nvPr/>
        </p:nvSpPr>
        <p:spPr>
          <a:xfrm>
            <a:off x="20955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CloudFront + S3</a:t>
            </a:r>
          </a:p>
        </p:txBody>
      </p:sp>
      <p:pic>
        <p:nvPicPr>
          <p:cNvPr id="466" name="Picture 157"/>
          <p:cNvPicPr>
            <a:picLocks noChangeAspect="1"/>
          </p:cNvPicPr>
          <p:nvPr/>
        </p:nvPicPr>
        <p:blipFill>
          <a:blip r:embed="rId8"/>
          <a:stretch/>
        </p:blipFill>
        <p:spPr>
          <a:xfrm>
            <a:off x="2066925" y="2324100"/>
            <a:ext cx="190500" cy="190500"/>
          </a:xfrm>
          <a:prstGeom prst="rect">
            <a:avLst/>
          </a:prstGeom>
        </p:spPr>
      </p:pic>
      <p:pic>
        <p:nvPicPr>
          <p:cNvPr id="467" name="Picture 158"/>
          <p:cNvPicPr>
            <a:picLocks noChangeAspect="1"/>
          </p:cNvPicPr>
          <p:nvPr/>
        </p:nvPicPr>
        <p:blipFill>
          <a:blip r:embed="rId9"/>
          <a:stretch/>
        </p:blipFill>
        <p:spPr>
          <a:xfrm>
            <a:off x="2266950" y="2324100"/>
            <a:ext cx="190500" cy="190500"/>
          </a:xfrm>
          <a:prstGeom prst="rect">
            <a:avLst/>
          </a:prstGeom>
        </p:spPr>
      </p:pic>
      <p:sp>
        <p:nvSpPr>
          <p:cNvPr id="25" name="identity">
            <a:extLst>
              <a:ext uri="{FF2B5EF4-FFF2-40B4-BE49-F238E27FC236}">
                <a16:creationId xmlns:a16="http://schemas.microsoft.com/office/drawing/2014/main" id="{662D7430-1195-4ACD-B369-71795C9640C6}"/>
              </a:ext>
            </a:extLst>
          </p:cNvPr>
          <p:cNvSpPr>
            <a:spLocks noGrp="1"/>
          </p:cNvSpPr>
          <p:nvPr/>
        </p:nvSpPr>
        <p:spPr>
          <a:xfrm>
            <a:off x="3371850" y="2247900"/>
            <a:ext cx="1219200" cy="609600"/>
          </a:xfrm>
          <a:prstGeom prst="roundRect">
            <a:avLst>
              <a:gd name="adj" fmla="val 12500"/>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26" name="identity-title">
            <a:extLst>
              <a:ext uri="{FF2B5EF4-FFF2-40B4-BE49-F238E27FC236}">
                <a16:creationId xmlns:a16="http://schemas.microsoft.com/office/drawing/2014/main" id="{3C664442-C2E3-4C9E-B926-6EC324FCF185}"/>
              </a:ext>
            </a:extLst>
          </p:cNvPr>
          <p:cNvSpPr>
            <a:spLocks noGrp="1"/>
          </p:cNvSpPr>
          <p:nvPr/>
        </p:nvSpPr>
        <p:spPr>
          <a:xfrm>
            <a:off x="37338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Amazon Cognito</a:t>
            </a:r>
          </a:p>
        </p:txBody>
      </p:sp>
      <p:sp>
        <p:nvSpPr>
          <p:cNvPr id="27" name="identity-detail">
            <a:extLst>
              <a:ext uri="{FF2B5EF4-FFF2-40B4-BE49-F238E27FC236}">
                <a16:creationId xmlns:a16="http://schemas.microsoft.com/office/drawing/2014/main" id="{E6CDC63D-6C3E-4207-BEB1-94354943AB5F}"/>
              </a:ext>
            </a:extLst>
          </p:cNvPr>
          <p:cNvSpPr>
            <a:spLocks noGrp="1"/>
          </p:cNvSpPr>
          <p:nvPr/>
        </p:nvSpPr>
        <p:spPr>
          <a:xfrm>
            <a:off x="34671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Customer identity</a:t>
            </a:r>
          </a:p>
        </p:txBody>
      </p:sp>
      <p:pic>
        <p:nvPicPr>
          <p:cNvPr id="471" name="Picture 162"/>
          <p:cNvPicPr>
            <a:picLocks noChangeAspect="1"/>
          </p:cNvPicPr>
          <p:nvPr/>
        </p:nvPicPr>
        <p:blipFill>
          <a:blip r:embed="rId10"/>
          <a:stretch/>
        </p:blipFill>
        <p:spPr>
          <a:xfrm>
            <a:off x="3448050" y="2314575"/>
            <a:ext cx="219075" cy="219075"/>
          </a:xfrm>
          <a:prstGeom prst="rect">
            <a:avLst/>
          </a:prstGeom>
        </p:spPr>
      </p:pic>
      <p:sp>
        <p:nvSpPr>
          <p:cNvPr id="29" name="api">
            <a:extLst>
              <a:ext uri="{FF2B5EF4-FFF2-40B4-BE49-F238E27FC236}">
                <a16:creationId xmlns:a16="http://schemas.microsoft.com/office/drawing/2014/main" id="{44A46E93-443C-4C02-B1AD-C4FC619FF8C5}"/>
              </a:ext>
            </a:extLst>
          </p:cNvPr>
          <p:cNvSpPr>
            <a:spLocks noGrp="1"/>
          </p:cNvSpPr>
          <p:nvPr/>
        </p:nvSpPr>
        <p:spPr>
          <a:xfrm>
            <a:off x="4743450" y="2247900"/>
            <a:ext cx="1219200" cy="609600"/>
          </a:xfrm>
          <a:prstGeom prst="roundRect">
            <a:avLst>
              <a:gd name="adj" fmla="val 12500"/>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30" name="api-title">
            <a:extLst>
              <a:ext uri="{FF2B5EF4-FFF2-40B4-BE49-F238E27FC236}">
                <a16:creationId xmlns:a16="http://schemas.microsoft.com/office/drawing/2014/main" id="{5895BC96-6F35-448F-B0D8-8396C9A25F1B}"/>
              </a:ext>
            </a:extLst>
          </p:cNvPr>
          <p:cNvSpPr>
            <a:spLocks noGrp="1"/>
          </p:cNvSpPr>
          <p:nvPr/>
        </p:nvSpPr>
        <p:spPr>
          <a:xfrm>
            <a:off x="51054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API Gateway</a:t>
            </a:r>
          </a:p>
        </p:txBody>
      </p:sp>
      <p:sp>
        <p:nvSpPr>
          <p:cNvPr id="31" name="api-detail">
            <a:extLst>
              <a:ext uri="{FF2B5EF4-FFF2-40B4-BE49-F238E27FC236}">
                <a16:creationId xmlns:a16="http://schemas.microsoft.com/office/drawing/2014/main" id="{3A847C7E-199F-4D61-89E8-900CDDC02D56}"/>
              </a:ext>
            </a:extLst>
          </p:cNvPr>
          <p:cNvSpPr>
            <a:spLocks noGrp="1"/>
          </p:cNvSpPr>
          <p:nvPr/>
        </p:nvSpPr>
        <p:spPr>
          <a:xfrm>
            <a:off x="4838700" y="2628900"/>
            <a:ext cx="1028700" cy="161925"/>
          </a:xfrm>
          <a:prstGeom prst="rect">
            <a:avLst/>
          </a:prstGeom>
          <a:noFill/>
          <a:ln w="0">
            <a:noFill/>
            <a:prstDash val="solid"/>
          </a:ln>
        </p:spPr>
        <p:txBody>
          <a:bodyPr/>
          <a:lstStyle/>
          <a:p>
            <a:pPr algn="ctr">
              <a:buNone/>
              <a:defRPr sz="750">
                <a:solidFill>
                  <a:srgbClr val="4B5563"/>
                </a:solidFill>
              </a:defRPr>
            </a:pPr>
            <a:r>
              <a:rPr sz="750">
                <a:solidFill>
                  <a:srgbClr val="4B5563"/>
                </a:solidFill>
              </a:rPr>
              <a:t>REST APIs + throttling</a:t>
            </a:r>
          </a:p>
        </p:txBody>
      </p:sp>
      <p:pic>
        <p:nvPicPr>
          <p:cNvPr id="475" name="Picture 166"/>
          <p:cNvPicPr>
            <a:picLocks noChangeAspect="1"/>
          </p:cNvPicPr>
          <p:nvPr/>
        </p:nvPicPr>
        <p:blipFill>
          <a:blip r:embed="rId11"/>
          <a:stretch/>
        </p:blipFill>
        <p:spPr>
          <a:xfrm>
            <a:off x="4819650" y="2314575"/>
            <a:ext cx="219075" cy="219075"/>
          </a:xfrm>
          <a:prstGeom prst="rect">
            <a:avLst/>
          </a:prstGeom>
        </p:spPr>
      </p:pic>
      <p:sp>
        <p:nvSpPr>
          <p:cNvPr id="33" name="workflow">
            <a:extLst>
              <a:ext uri="{FF2B5EF4-FFF2-40B4-BE49-F238E27FC236}">
                <a16:creationId xmlns:a16="http://schemas.microsoft.com/office/drawing/2014/main" id="{7D4BE2D5-38A3-4A59-A1A6-6A93A48484DB}"/>
              </a:ext>
            </a:extLst>
          </p:cNvPr>
          <p:cNvSpPr>
            <a:spLocks noGrp="1"/>
          </p:cNvSpPr>
          <p:nvPr/>
        </p:nvSpPr>
        <p:spPr>
          <a:xfrm>
            <a:off x="6115050" y="2247900"/>
            <a:ext cx="1219200" cy="609600"/>
          </a:xfrm>
          <a:prstGeom prst="roundRect">
            <a:avLst>
              <a:gd name="adj" fmla="val 12500"/>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34" name="workflow-title">
            <a:extLst>
              <a:ext uri="{FF2B5EF4-FFF2-40B4-BE49-F238E27FC236}">
                <a16:creationId xmlns:a16="http://schemas.microsoft.com/office/drawing/2014/main" id="{BAF35324-2E7C-4A86-B1FF-C962CFC9864D}"/>
              </a:ext>
            </a:extLst>
          </p:cNvPr>
          <p:cNvSpPr>
            <a:spLocks noGrp="1"/>
          </p:cNvSpPr>
          <p:nvPr/>
        </p:nvSpPr>
        <p:spPr>
          <a:xfrm>
            <a:off x="64770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Step Functions</a:t>
            </a:r>
          </a:p>
        </p:txBody>
      </p:sp>
      <p:sp>
        <p:nvSpPr>
          <p:cNvPr id="35" name="workflow-detail">
            <a:extLst>
              <a:ext uri="{FF2B5EF4-FFF2-40B4-BE49-F238E27FC236}">
                <a16:creationId xmlns:a16="http://schemas.microsoft.com/office/drawing/2014/main" id="{1D435D43-DD25-45AE-B380-70C7C342FB93}"/>
              </a:ext>
            </a:extLst>
          </p:cNvPr>
          <p:cNvSpPr>
            <a:spLocks noGrp="1"/>
          </p:cNvSpPr>
          <p:nvPr/>
        </p:nvSpPr>
        <p:spPr>
          <a:xfrm>
            <a:off x="62103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Booking saga</a:t>
            </a:r>
          </a:p>
        </p:txBody>
      </p:sp>
      <p:pic>
        <p:nvPicPr>
          <p:cNvPr id="479" name="Picture 170"/>
          <p:cNvPicPr>
            <a:picLocks noChangeAspect="1"/>
          </p:cNvPicPr>
          <p:nvPr/>
        </p:nvPicPr>
        <p:blipFill>
          <a:blip r:embed="rId12"/>
          <a:stretch/>
        </p:blipFill>
        <p:spPr>
          <a:xfrm>
            <a:off x="6191250" y="2314575"/>
            <a:ext cx="219075" cy="219075"/>
          </a:xfrm>
          <a:prstGeom prst="rect">
            <a:avLst/>
          </a:prstGeom>
        </p:spPr>
      </p:pic>
      <p:sp>
        <p:nvSpPr>
          <p:cNvPr id="37" name="domain-boundary">
            <a:extLst>
              <a:ext uri="{FF2B5EF4-FFF2-40B4-BE49-F238E27FC236}">
                <a16:creationId xmlns:a16="http://schemas.microsoft.com/office/drawing/2014/main" id="{C9718971-82B2-4576-8314-70072DFD3292}"/>
              </a:ext>
            </a:extLst>
          </p:cNvPr>
          <p:cNvSpPr>
            <a:spLocks noGrp="1"/>
          </p:cNvSpPr>
          <p:nvPr/>
        </p:nvSpPr>
        <p:spPr>
          <a:xfrm>
            <a:off x="2000250" y="3048000"/>
            <a:ext cx="5334000" cy="1752600"/>
          </a:xfrm>
          <a:prstGeom prst="roundRect">
            <a:avLst>
              <a:gd name="adj" fmla="val 4348"/>
            </a:avLst>
          </a:prstGeom>
          <a:solidFill>
            <a:srgbClr val="FFFFFF"/>
          </a:solidFill>
          <a:ln w="11430">
            <a:solidFill>
              <a:srgbClr val="9AA4B2"/>
            </a:solidFill>
            <a:prstDash val="solid"/>
          </a:ln>
        </p:spPr>
        <p:txBody>
          <a:bodyPr/>
          <a:lstStyle/>
          <a:p>
            <a:endParaRPr/>
          </a:p>
        </p:txBody>
      </p:sp>
      <p:sp>
        <p:nvSpPr>
          <p:cNvPr id="38" name="domain-label">
            <a:extLst>
              <a:ext uri="{FF2B5EF4-FFF2-40B4-BE49-F238E27FC236}">
                <a16:creationId xmlns:a16="http://schemas.microsoft.com/office/drawing/2014/main" id="{6366D41A-AF69-4146-8AEC-D23A2D140B32}"/>
              </a:ext>
            </a:extLst>
          </p:cNvPr>
          <p:cNvSpPr>
            <a:spLocks noGrp="1"/>
          </p:cNvSpPr>
          <p:nvPr/>
        </p:nvSpPr>
        <p:spPr>
          <a:xfrm>
            <a:off x="2400300" y="3114675"/>
            <a:ext cx="3905250" cy="171450"/>
          </a:xfrm>
          <a:prstGeom prst="rect">
            <a:avLst/>
          </a:prstGeom>
          <a:noFill/>
          <a:ln w="0">
            <a:noFill/>
            <a:prstDash val="solid"/>
          </a:ln>
        </p:spPr>
        <p:txBody>
          <a:bodyPr/>
          <a:lstStyle/>
          <a:p>
            <a:pPr>
              <a:buNone/>
              <a:defRPr sz="825" b="1">
                <a:solidFill>
                  <a:srgbClr val="5B6472"/>
                </a:solidFill>
              </a:defRPr>
            </a:pPr>
            <a:r>
              <a:rPr sz="825" b="1">
                <a:solidFill>
                  <a:srgbClr val="5B6472"/>
                </a:solidFill>
              </a:rPr>
              <a:t>DOMAIN SERVICES • LAMBDA / CONTAINER ADAPTERS</a:t>
            </a:r>
          </a:p>
        </p:txBody>
      </p:sp>
      <p:pic>
        <p:nvPicPr>
          <p:cNvPr id="482" name="Picture 173"/>
          <p:cNvPicPr>
            <a:picLocks noChangeAspect="1"/>
          </p:cNvPicPr>
          <p:nvPr/>
        </p:nvPicPr>
        <p:blipFill>
          <a:blip r:embed="rId13"/>
          <a:stretch/>
        </p:blipFill>
        <p:spPr>
          <a:xfrm>
            <a:off x="2143125" y="3086100"/>
            <a:ext cx="200025" cy="200025"/>
          </a:xfrm>
          <a:prstGeom prst="rect">
            <a:avLst/>
          </a:prstGeom>
        </p:spPr>
      </p:pic>
      <p:sp>
        <p:nvSpPr>
          <p:cNvPr id="40" name="dealer-discovery">
            <a:extLst>
              <a:ext uri="{FF2B5EF4-FFF2-40B4-BE49-F238E27FC236}">
                <a16:creationId xmlns:a16="http://schemas.microsoft.com/office/drawing/2014/main" id="{E2062F19-0E98-4B3B-9771-9224C018BF05}"/>
              </a:ext>
            </a:extLst>
          </p:cNvPr>
          <p:cNvSpPr>
            <a:spLocks noGrp="1"/>
          </p:cNvSpPr>
          <p:nvPr/>
        </p:nvSpPr>
        <p:spPr>
          <a:xfrm>
            <a:off x="2143125" y="3314700"/>
            <a:ext cx="1123950" cy="685800"/>
          </a:xfrm>
          <a:prstGeom prst="roundRect">
            <a:avLst>
              <a:gd name="adj" fmla="val 11111"/>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41" name="dealer-discovery-title">
            <a:extLst>
              <a:ext uri="{FF2B5EF4-FFF2-40B4-BE49-F238E27FC236}">
                <a16:creationId xmlns:a16="http://schemas.microsoft.com/office/drawing/2014/main" id="{BD24EA24-AE03-4371-804B-E00A40D03E00}"/>
              </a:ext>
            </a:extLst>
          </p:cNvPr>
          <p:cNvSpPr>
            <a:spLocks noGrp="1"/>
          </p:cNvSpPr>
          <p:nvPr/>
        </p:nvSpPr>
        <p:spPr>
          <a:xfrm>
            <a:off x="22383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Dealer discovery</a:t>
            </a:r>
          </a:p>
        </p:txBody>
      </p:sp>
      <p:sp>
        <p:nvSpPr>
          <p:cNvPr id="42" name="dealer-discovery-detail">
            <a:extLst>
              <a:ext uri="{FF2B5EF4-FFF2-40B4-BE49-F238E27FC236}">
                <a16:creationId xmlns:a16="http://schemas.microsoft.com/office/drawing/2014/main" id="{81E6251B-77DE-4F55-B54B-7EF30B7EA39A}"/>
              </a:ext>
            </a:extLst>
          </p:cNvPr>
          <p:cNvSpPr>
            <a:spLocks noGrp="1"/>
          </p:cNvSpPr>
          <p:nvPr/>
        </p:nvSpPr>
        <p:spPr>
          <a:xfrm>
            <a:off x="22383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ZIP / geo search</a:t>
            </a:r>
          </a:p>
        </p:txBody>
      </p:sp>
      <p:sp>
        <p:nvSpPr>
          <p:cNvPr id="43" name="vehicle-service">
            <a:extLst>
              <a:ext uri="{FF2B5EF4-FFF2-40B4-BE49-F238E27FC236}">
                <a16:creationId xmlns:a16="http://schemas.microsoft.com/office/drawing/2014/main" id="{6768CE07-25E7-48A3-910C-4CA4C0D40CBA}"/>
              </a:ext>
            </a:extLst>
          </p:cNvPr>
          <p:cNvSpPr>
            <a:spLocks noGrp="1"/>
          </p:cNvSpPr>
          <p:nvPr/>
        </p:nvSpPr>
        <p:spPr>
          <a:xfrm>
            <a:off x="3400425" y="3314700"/>
            <a:ext cx="1123950" cy="685800"/>
          </a:xfrm>
          <a:prstGeom prst="roundRect">
            <a:avLst>
              <a:gd name="adj" fmla="val 11111"/>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44" name="vehicle-service-title">
            <a:extLst>
              <a:ext uri="{FF2B5EF4-FFF2-40B4-BE49-F238E27FC236}">
                <a16:creationId xmlns:a16="http://schemas.microsoft.com/office/drawing/2014/main" id="{E480DAEB-056B-4BDC-8957-CF370578688B}"/>
              </a:ext>
            </a:extLst>
          </p:cNvPr>
          <p:cNvSpPr>
            <a:spLocks noGrp="1"/>
          </p:cNvSpPr>
          <p:nvPr/>
        </p:nvSpPr>
        <p:spPr>
          <a:xfrm>
            <a:off x="34956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Vehicle service</a:t>
            </a:r>
          </a:p>
        </p:txBody>
      </p:sp>
      <p:sp>
        <p:nvSpPr>
          <p:cNvPr id="45" name="vehicle-service-detail">
            <a:extLst>
              <a:ext uri="{FF2B5EF4-FFF2-40B4-BE49-F238E27FC236}">
                <a16:creationId xmlns:a16="http://schemas.microsoft.com/office/drawing/2014/main" id="{958E9268-F5AE-480E-AFA5-613CDFC73B02}"/>
              </a:ext>
            </a:extLst>
          </p:cNvPr>
          <p:cNvSpPr>
            <a:spLocks noGrp="1"/>
          </p:cNvSpPr>
          <p:nvPr/>
        </p:nvSpPr>
        <p:spPr>
          <a:xfrm>
            <a:off x="34956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VIN + repair history</a:t>
            </a:r>
          </a:p>
        </p:txBody>
      </p:sp>
      <p:sp>
        <p:nvSpPr>
          <p:cNvPr id="46" name="availability-service">
            <a:extLst>
              <a:ext uri="{FF2B5EF4-FFF2-40B4-BE49-F238E27FC236}">
                <a16:creationId xmlns:a16="http://schemas.microsoft.com/office/drawing/2014/main" id="{A54FC541-A34B-4F9C-97C5-88BD4D6768CA}"/>
              </a:ext>
            </a:extLst>
          </p:cNvPr>
          <p:cNvSpPr>
            <a:spLocks noGrp="1"/>
          </p:cNvSpPr>
          <p:nvPr/>
        </p:nvSpPr>
        <p:spPr>
          <a:xfrm>
            <a:off x="4657725" y="3314700"/>
            <a:ext cx="1123950" cy="685800"/>
          </a:xfrm>
          <a:prstGeom prst="roundRect">
            <a:avLst>
              <a:gd name="adj" fmla="val 11111"/>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47" name="availability-service-title">
            <a:extLst>
              <a:ext uri="{FF2B5EF4-FFF2-40B4-BE49-F238E27FC236}">
                <a16:creationId xmlns:a16="http://schemas.microsoft.com/office/drawing/2014/main" id="{BB140FE0-8599-494D-8DD1-3BF171719442}"/>
              </a:ext>
            </a:extLst>
          </p:cNvPr>
          <p:cNvSpPr>
            <a:spLocks noGrp="1"/>
          </p:cNvSpPr>
          <p:nvPr/>
        </p:nvSpPr>
        <p:spPr>
          <a:xfrm>
            <a:off x="47529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Availability</a:t>
            </a:r>
          </a:p>
        </p:txBody>
      </p:sp>
      <p:sp>
        <p:nvSpPr>
          <p:cNvPr id="48" name="availability-service-detail">
            <a:extLst>
              <a:ext uri="{FF2B5EF4-FFF2-40B4-BE49-F238E27FC236}">
                <a16:creationId xmlns:a16="http://schemas.microsoft.com/office/drawing/2014/main" id="{F323BC72-D350-459B-98E1-1290483AA4C1}"/>
              </a:ext>
            </a:extLst>
          </p:cNvPr>
          <p:cNvSpPr>
            <a:spLocks noGrp="1"/>
          </p:cNvSpPr>
          <p:nvPr/>
        </p:nvSpPr>
        <p:spPr>
          <a:xfrm>
            <a:off x="47529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Search + short hold</a:t>
            </a:r>
          </a:p>
        </p:txBody>
      </p:sp>
      <p:sp>
        <p:nvSpPr>
          <p:cNvPr id="49" name="booking-service">
            <a:extLst>
              <a:ext uri="{FF2B5EF4-FFF2-40B4-BE49-F238E27FC236}">
                <a16:creationId xmlns:a16="http://schemas.microsoft.com/office/drawing/2014/main" id="{9886BF6F-6019-4EEC-92E7-4354299FD852}"/>
              </a:ext>
            </a:extLst>
          </p:cNvPr>
          <p:cNvSpPr>
            <a:spLocks noGrp="1"/>
          </p:cNvSpPr>
          <p:nvPr/>
        </p:nvSpPr>
        <p:spPr>
          <a:xfrm>
            <a:off x="5915025" y="3314700"/>
            <a:ext cx="1123950" cy="685800"/>
          </a:xfrm>
          <a:prstGeom prst="roundRect">
            <a:avLst>
              <a:gd name="adj" fmla="val 11111"/>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50" name="booking-service-title">
            <a:extLst>
              <a:ext uri="{FF2B5EF4-FFF2-40B4-BE49-F238E27FC236}">
                <a16:creationId xmlns:a16="http://schemas.microsoft.com/office/drawing/2014/main" id="{C74051EC-4FAA-4842-85F9-9E83B0C159C9}"/>
              </a:ext>
            </a:extLst>
          </p:cNvPr>
          <p:cNvSpPr>
            <a:spLocks noGrp="1"/>
          </p:cNvSpPr>
          <p:nvPr/>
        </p:nvSpPr>
        <p:spPr>
          <a:xfrm>
            <a:off x="60102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Booking</a:t>
            </a:r>
          </a:p>
        </p:txBody>
      </p:sp>
      <p:sp>
        <p:nvSpPr>
          <p:cNvPr id="51" name="booking-service-detail">
            <a:extLst>
              <a:ext uri="{FF2B5EF4-FFF2-40B4-BE49-F238E27FC236}">
                <a16:creationId xmlns:a16="http://schemas.microsoft.com/office/drawing/2014/main" id="{E97DB36B-B36F-4DF4-A839-2A604E026198}"/>
              </a:ext>
            </a:extLst>
          </p:cNvPr>
          <p:cNvSpPr>
            <a:spLocks noGrp="1"/>
          </p:cNvSpPr>
          <p:nvPr/>
        </p:nvSpPr>
        <p:spPr>
          <a:xfrm>
            <a:off x="60102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Confirm + reconcile</a:t>
            </a:r>
          </a:p>
        </p:txBody>
      </p:sp>
      <p:sp>
        <p:nvSpPr>
          <p:cNvPr id="52" name="location-store">
            <a:extLst>
              <a:ext uri="{FF2B5EF4-FFF2-40B4-BE49-F238E27FC236}">
                <a16:creationId xmlns:a16="http://schemas.microsoft.com/office/drawing/2014/main" id="{A30FFBB3-4F45-4E50-AF36-DCFFFADA32A9}"/>
              </a:ext>
            </a:extLst>
          </p:cNvPr>
          <p:cNvSpPr>
            <a:spLocks noGrp="1"/>
          </p:cNvSpPr>
          <p:nvPr/>
        </p:nvSpPr>
        <p:spPr>
          <a:xfrm>
            <a:off x="21431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3" name="location-store-title">
            <a:extLst>
              <a:ext uri="{FF2B5EF4-FFF2-40B4-BE49-F238E27FC236}">
                <a16:creationId xmlns:a16="http://schemas.microsoft.com/office/drawing/2014/main" id="{FF68630B-614A-4A7C-B436-F415C86F469C}"/>
              </a:ext>
            </a:extLst>
          </p:cNvPr>
          <p:cNvSpPr>
            <a:spLocks noGrp="1"/>
          </p:cNvSpPr>
          <p:nvPr/>
        </p:nvSpPr>
        <p:spPr>
          <a:xfrm>
            <a:off x="24669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Location Service</a:t>
            </a:r>
          </a:p>
        </p:txBody>
      </p:sp>
      <p:sp>
        <p:nvSpPr>
          <p:cNvPr id="54" name="location-store-detail">
            <a:extLst>
              <a:ext uri="{FF2B5EF4-FFF2-40B4-BE49-F238E27FC236}">
                <a16:creationId xmlns:a16="http://schemas.microsoft.com/office/drawing/2014/main" id="{4E680954-FDCB-4B0A-94AB-D7D2890C4E5A}"/>
              </a:ext>
            </a:extLst>
          </p:cNvPr>
          <p:cNvSpPr>
            <a:spLocks noGrp="1"/>
          </p:cNvSpPr>
          <p:nvPr/>
        </p:nvSpPr>
        <p:spPr>
          <a:xfrm>
            <a:off x="2238375" y="4457700"/>
            <a:ext cx="933450" cy="123825"/>
          </a:xfrm>
          <a:prstGeom prst="rect">
            <a:avLst/>
          </a:prstGeom>
          <a:noFill/>
          <a:ln w="0">
            <a:noFill/>
            <a:prstDash val="solid"/>
          </a:ln>
        </p:spPr>
        <p:txBody>
          <a:bodyPr/>
          <a:lstStyle/>
          <a:p>
            <a:pPr algn="ctr">
              <a:buNone/>
              <a:defRPr sz="750">
                <a:solidFill>
                  <a:srgbClr val="4B5563"/>
                </a:solidFill>
              </a:defRPr>
            </a:pPr>
            <a:r>
              <a:rPr sz="750">
                <a:solidFill>
                  <a:srgbClr val="4B5563"/>
                </a:solidFill>
              </a:rPr>
              <a:t>Dealer index</a:t>
            </a:r>
          </a:p>
        </p:txBody>
      </p:sp>
      <p:pic>
        <p:nvPicPr>
          <p:cNvPr id="498" name="Picture 189"/>
          <p:cNvPicPr>
            <a:picLocks noChangeAspect="1"/>
          </p:cNvPicPr>
          <p:nvPr/>
        </p:nvPicPr>
        <p:blipFill>
          <a:blip r:embed="rId14"/>
          <a:stretch/>
        </p:blipFill>
        <p:spPr>
          <a:xfrm>
            <a:off x="2219325" y="4191000"/>
            <a:ext cx="180975" cy="180975"/>
          </a:xfrm>
          <a:prstGeom prst="rect">
            <a:avLst/>
          </a:prstGeom>
        </p:spPr>
      </p:pic>
      <p:sp>
        <p:nvSpPr>
          <p:cNvPr id="56" name="state-store">
            <a:extLst>
              <a:ext uri="{FF2B5EF4-FFF2-40B4-BE49-F238E27FC236}">
                <a16:creationId xmlns:a16="http://schemas.microsoft.com/office/drawing/2014/main" id="{41ED7CBC-4F66-414C-B2F1-77D33AEDF2E8}"/>
              </a:ext>
            </a:extLst>
          </p:cNvPr>
          <p:cNvSpPr>
            <a:spLocks noGrp="1"/>
          </p:cNvSpPr>
          <p:nvPr/>
        </p:nvSpPr>
        <p:spPr>
          <a:xfrm>
            <a:off x="34004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7" name="state-store-title">
            <a:extLst>
              <a:ext uri="{FF2B5EF4-FFF2-40B4-BE49-F238E27FC236}">
                <a16:creationId xmlns:a16="http://schemas.microsoft.com/office/drawing/2014/main" id="{8DC46F25-6613-48D6-8E34-E9278F2FA9D0}"/>
              </a:ext>
            </a:extLst>
          </p:cNvPr>
          <p:cNvSpPr>
            <a:spLocks noGrp="1"/>
          </p:cNvSpPr>
          <p:nvPr/>
        </p:nvSpPr>
        <p:spPr>
          <a:xfrm>
            <a:off x="37242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DynamoDB</a:t>
            </a:r>
          </a:p>
        </p:txBody>
      </p:sp>
      <p:sp>
        <p:nvSpPr>
          <p:cNvPr id="58" name="state-store-detail">
            <a:extLst>
              <a:ext uri="{FF2B5EF4-FFF2-40B4-BE49-F238E27FC236}">
                <a16:creationId xmlns:a16="http://schemas.microsoft.com/office/drawing/2014/main" id="{E93C7797-5D52-4019-9D0D-AE879824450E}"/>
              </a:ext>
            </a:extLst>
          </p:cNvPr>
          <p:cNvSpPr>
            <a:spLocks noGrp="1"/>
          </p:cNvSpPr>
          <p:nvPr/>
        </p:nvSpPr>
        <p:spPr>
          <a:xfrm>
            <a:off x="34956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Profile • booking • idempotency</a:t>
            </a:r>
          </a:p>
        </p:txBody>
      </p:sp>
      <p:pic>
        <p:nvPicPr>
          <p:cNvPr id="502" name="Picture 193"/>
          <p:cNvPicPr>
            <a:picLocks noChangeAspect="1"/>
          </p:cNvPicPr>
          <p:nvPr/>
        </p:nvPicPr>
        <p:blipFill>
          <a:blip r:embed="rId15"/>
          <a:stretch/>
        </p:blipFill>
        <p:spPr>
          <a:xfrm>
            <a:off x="3476625" y="4191000"/>
            <a:ext cx="180975" cy="180975"/>
          </a:xfrm>
          <a:prstGeom prst="rect">
            <a:avLst/>
          </a:prstGeom>
        </p:spPr>
      </p:pic>
      <p:sp>
        <p:nvSpPr>
          <p:cNvPr id="60" name="cache">
            <a:extLst>
              <a:ext uri="{FF2B5EF4-FFF2-40B4-BE49-F238E27FC236}">
                <a16:creationId xmlns:a16="http://schemas.microsoft.com/office/drawing/2014/main" id="{44FA56B0-879B-47E8-818C-1E2C1792DA8D}"/>
              </a:ext>
            </a:extLst>
          </p:cNvPr>
          <p:cNvSpPr>
            <a:spLocks noGrp="1"/>
          </p:cNvSpPr>
          <p:nvPr/>
        </p:nvSpPr>
        <p:spPr>
          <a:xfrm>
            <a:off x="46577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1" name="cache-title">
            <a:extLst>
              <a:ext uri="{FF2B5EF4-FFF2-40B4-BE49-F238E27FC236}">
                <a16:creationId xmlns:a16="http://schemas.microsoft.com/office/drawing/2014/main" id="{AC02F4DC-F1C2-46A9-84D4-79252D4B525E}"/>
              </a:ext>
            </a:extLst>
          </p:cNvPr>
          <p:cNvSpPr>
            <a:spLocks noGrp="1"/>
          </p:cNvSpPr>
          <p:nvPr/>
        </p:nvSpPr>
        <p:spPr>
          <a:xfrm>
            <a:off x="49815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Valkey cache</a:t>
            </a:r>
          </a:p>
        </p:txBody>
      </p:sp>
      <p:sp>
        <p:nvSpPr>
          <p:cNvPr id="62" name="cache-detail">
            <a:extLst>
              <a:ext uri="{FF2B5EF4-FFF2-40B4-BE49-F238E27FC236}">
                <a16:creationId xmlns:a16="http://schemas.microsoft.com/office/drawing/2014/main" id="{EBDCFBCA-EDAC-4477-8AA7-A90222A1285D}"/>
              </a:ext>
            </a:extLst>
          </p:cNvPr>
          <p:cNvSpPr>
            <a:spLocks noGrp="1"/>
          </p:cNvSpPr>
          <p:nvPr/>
        </p:nvSpPr>
        <p:spPr>
          <a:xfrm>
            <a:off x="47529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Short-lived slot views</a:t>
            </a:r>
          </a:p>
        </p:txBody>
      </p:sp>
      <p:pic>
        <p:nvPicPr>
          <p:cNvPr id="506" name="Picture 197"/>
          <p:cNvPicPr>
            <a:picLocks noChangeAspect="1"/>
          </p:cNvPicPr>
          <p:nvPr/>
        </p:nvPicPr>
        <p:blipFill>
          <a:blip r:embed="rId16"/>
          <a:stretch/>
        </p:blipFill>
        <p:spPr>
          <a:xfrm>
            <a:off x="4733925" y="4191000"/>
            <a:ext cx="180975" cy="180975"/>
          </a:xfrm>
          <a:prstGeom prst="rect">
            <a:avLst/>
          </a:prstGeom>
        </p:spPr>
      </p:pic>
      <p:sp>
        <p:nvSpPr>
          <p:cNvPr id="64" name="events">
            <a:extLst>
              <a:ext uri="{FF2B5EF4-FFF2-40B4-BE49-F238E27FC236}">
                <a16:creationId xmlns:a16="http://schemas.microsoft.com/office/drawing/2014/main" id="{9C5674B6-3D36-4148-B30C-5D2526C5A88E}"/>
              </a:ext>
            </a:extLst>
          </p:cNvPr>
          <p:cNvSpPr>
            <a:spLocks noGrp="1"/>
          </p:cNvSpPr>
          <p:nvPr/>
        </p:nvSpPr>
        <p:spPr>
          <a:xfrm>
            <a:off x="59150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5" name="events-title">
            <a:extLst>
              <a:ext uri="{FF2B5EF4-FFF2-40B4-BE49-F238E27FC236}">
                <a16:creationId xmlns:a16="http://schemas.microsoft.com/office/drawing/2014/main" id="{817C3B13-8E4E-4920-9F21-94091AE62935}"/>
              </a:ext>
            </a:extLst>
          </p:cNvPr>
          <p:cNvSpPr>
            <a:spLocks noGrp="1"/>
          </p:cNvSpPr>
          <p:nvPr/>
        </p:nvSpPr>
        <p:spPr>
          <a:xfrm>
            <a:off x="6372225" y="4219575"/>
            <a:ext cx="571500" cy="266700"/>
          </a:xfrm>
          <a:prstGeom prst="rect">
            <a:avLst/>
          </a:prstGeom>
          <a:noFill/>
          <a:ln w="0">
            <a:noFill/>
            <a:prstDash val="solid"/>
          </a:ln>
        </p:spPr>
        <p:txBody>
          <a:bodyPr/>
          <a:lstStyle/>
          <a:p>
            <a:pPr algn="l">
              <a:buNone/>
              <a:defRPr sz="750" b="1">
                <a:solidFill>
                  <a:srgbClr val="172033"/>
                </a:solidFill>
              </a:defRPr>
            </a:pPr>
            <a:r>
              <a:rPr sz="750" b="1">
                <a:solidFill>
                  <a:srgbClr val="172033"/>
                </a:solidFill>
              </a:rPr>
              <a:t>Events + queues</a:t>
            </a:r>
          </a:p>
        </p:txBody>
      </p:sp>
      <p:sp>
        <p:nvSpPr>
          <p:cNvPr id="66" name="events-detail">
            <a:extLst>
              <a:ext uri="{FF2B5EF4-FFF2-40B4-BE49-F238E27FC236}">
                <a16:creationId xmlns:a16="http://schemas.microsoft.com/office/drawing/2014/main" id="{A85E4114-E2DC-4F75-9C6D-0C19AD1A5A8F}"/>
              </a:ext>
            </a:extLst>
          </p:cNvPr>
          <p:cNvSpPr>
            <a:spLocks noGrp="1"/>
          </p:cNvSpPr>
          <p:nvPr/>
        </p:nvSpPr>
        <p:spPr>
          <a:xfrm>
            <a:off x="6010275" y="4457700"/>
            <a:ext cx="933450" cy="123825"/>
          </a:xfrm>
          <a:prstGeom prst="rect">
            <a:avLst/>
          </a:prstGeom>
          <a:noFill/>
          <a:ln w="0">
            <a:noFill/>
            <a:prstDash val="solid"/>
          </a:ln>
        </p:spPr>
        <p:txBody>
          <a:bodyPr/>
          <a:lstStyle/>
          <a:p>
            <a:pPr algn="ctr">
              <a:buNone/>
              <a:defRPr sz="600">
                <a:solidFill>
                  <a:srgbClr val="4B5563"/>
                </a:solidFill>
              </a:defRPr>
            </a:pPr>
            <a:r>
              <a:rPr sz="600">
                <a:solidFill>
                  <a:srgbClr val="4B5563"/>
                </a:solidFill>
              </a:rPr>
              <a:t>EventBridge • SQS • DLQs</a:t>
            </a:r>
          </a:p>
        </p:txBody>
      </p:sp>
      <p:pic>
        <p:nvPicPr>
          <p:cNvPr id="510" name="Picture 201"/>
          <p:cNvPicPr>
            <a:picLocks noChangeAspect="1"/>
          </p:cNvPicPr>
          <p:nvPr/>
        </p:nvPicPr>
        <p:blipFill>
          <a:blip r:embed="rId17"/>
          <a:stretch/>
        </p:blipFill>
        <p:spPr>
          <a:xfrm>
            <a:off x="5981700" y="4191000"/>
            <a:ext cx="171450" cy="171450"/>
          </a:xfrm>
          <a:prstGeom prst="rect">
            <a:avLst/>
          </a:prstGeom>
        </p:spPr>
      </p:pic>
      <p:pic>
        <p:nvPicPr>
          <p:cNvPr id="511" name="Picture 202"/>
          <p:cNvPicPr>
            <a:picLocks noChangeAspect="1"/>
          </p:cNvPicPr>
          <p:nvPr/>
        </p:nvPicPr>
        <p:blipFill>
          <a:blip r:embed="rId18"/>
          <a:stretch/>
        </p:blipFill>
        <p:spPr>
          <a:xfrm>
            <a:off x="6162675" y="4191000"/>
            <a:ext cx="171450" cy="171450"/>
          </a:xfrm>
          <a:prstGeom prst="rect">
            <a:avLst/>
          </a:prstGeom>
        </p:spPr>
      </p:pic>
      <p:sp>
        <p:nvSpPr>
          <p:cNvPr id="69" name="integration-boundary">
            <a:extLst>
              <a:ext uri="{FF2B5EF4-FFF2-40B4-BE49-F238E27FC236}">
                <a16:creationId xmlns:a16="http://schemas.microsoft.com/office/drawing/2014/main" id="{5B5F52D6-328F-488D-B91E-CB46B673358F}"/>
              </a:ext>
            </a:extLst>
          </p:cNvPr>
          <p:cNvSpPr>
            <a:spLocks noGrp="1"/>
          </p:cNvSpPr>
          <p:nvPr/>
        </p:nvSpPr>
        <p:spPr>
          <a:xfrm>
            <a:off x="7524750" y="2247900"/>
            <a:ext cx="1504950" cy="2552700"/>
          </a:xfrm>
          <a:prstGeom prst="roundRect">
            <a:avLst>
              <a:gd name="adj" fmla="val 5063"/>
            </a:avLst>
          </a:prstGeom>
          <a:solidFill>
            <a:srgbClr val="F5FBFA"/>
          </a:solidFill>
          <a:ln w="14288">
            <a:solidFill>
              <a:srgbClr val="198E84"/>
            </a:solidFill>
            <a:prstDash val="solid"/>
          </a:ln>
        </p:spPr>
        <p:txBody>
          <a:bodyPr/>
          <a:lstStyle/>
          <a:p>
            <a:endParaRPr/>
          </a:p>
        </p:txBody>
      </p:sp>
      <p:sp>
        <p:nvSpPr>
          <p:cNvPr id="70" name="integration-label">
            <a:extLst>
              <a:ext uri="{FF2B5EF4-FFF2-40B4-BE49-F238E27FC236}">
                <a16:creationId xmlns:a16="http://schemas.microsoft.com/office/drawing/2014/main" id="{83D0BA8C-5BEA-48D7-A73B-6AFC46F0C28C}"/>
              </a:ext>
            </a:extLst>
          </p:cNvPr>
          <p:cNvSpPr>
            <a:spLocks noGrp="1"/>
          </p:cNvSpPr>
          <p:nvPr/>
        </p:nvSpPr>
        <p:spPr>
          <a:xfrm>
            <a:off x="7667625" y="2390775"/>
            <a:ext cx="1219200" cy="361950"/>
          </a:xfrm>
          <a:prstGeom prst="rect">
            <a:avLst/>
          </a:prstGeom>
          <a:noFill/>
          <a:ln w="0">
            <a:noFill/>
            <a:prstDash val="solid"/>
          </a:ln>
        </p:spPr>
        <p:txBody>
          <a:bodyPr/>
          <a:lstStyle/>
          <a:p>
            <a:pPr algn="ctr">
              <a:buNone/>
              <a:defRPr sz="900" b="1">
                <a:solidFill>
                  <a:srgbClr val="198E84"/>
                </a:solidFill>
              </a:defRPr>
            </a:pPr>
            <a:r>
              <a:rPr sz="900" b="1">
                <a:solidFill>
                  <a:srgbClr val="198E84"/>
                </a:solidFill>
              </a:rPr>
              <a:t>STANDARDIZED</a:t>
            </a:r>
          </a:p>
          <a:p>
            <a:pPr algn="ctr">
              <a:buNone/>
              <a:defRPr sz="900" b="1">
                <a:solidFill>
                  <a:srgbClr val="198E84"/>
                </a:solidFill>
              </a:defRPr>
            </a:pPr>
            <a:r>
              <a:rPr sz="900" b="1">
                <a:solidFill>
                  <a:srgbClr val="198E84"/>
                </a:solidFill>
              </a:rPr>
              <a:t>INTEGRATION LAYER</a:t>
            </a:r>
          </a:p>
        </p:txBody>
      </p:sp>
      <p:sp>
        <p:nvSpPr>
          <p:cNvPr id="71" name="vin-adapter">
            <a:extLst>
              <a:ext uri="{FF2B5EF4-FFF2-40B4-BE49-F238E27FC236}">
                <a16:creationId xmlns:a16="http://schemas.microsoft.com/office/drawing/2014/main" id="{DDAF89CE-E5A5-419D-835D-46915A9BA9A1}"/>
              </a:ext>
            </a:extLst>
          </p:cNvPr>
          <p:cNvSpPr>
            <a:spLocks noGrp="1"/>
          </p:cNvSpPr>
          <p:nvPr/>
        </p:nvSpPr>
        <p:spPr>
          <a:xfrm>
            <a:off x="7677150" y="28575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2" name="vin-adapter-title">
            <a:extLst>
              <a:ext uri="{FF2B5EF4-FFF2-40B4-BE49-F238E27FC236}">
                <a16:creationId xmlns:a16="http://schemas.microsoft.com/office/drawing/2014/main" id="{9519B171-8A79-45B5-86E3-96DC7F408EA0}"/>
              </a:ext>
            </a:extLst>
          </p:cNvPr>
          <p:cNvSpPr>
            <a:spLocks noGrp="1"/>
          </p:cNvSpPr>
          <p:nvPr/>
        </p:nvSpPr>
        <p:spPr>
          <a:xfrm>
            <a:off x="7772400" y="29432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VIN adapter</a:t>
            </a:r>
          </a:p>
        </p:txBody>
      </p:sp>
      <p:sp>
        <p:nvSpPr>
          <p:cNvPr id="73" name="vin-adapter-detail">
            <a:extLst>
              <a:ext uri="{FF2B5EF4-FFF2-40B4-BE49-F238E27FC236}">
                <a16:creationId xmlns:a16="http://schemas.microsoft.com/office/drawing/2014/main" id="{6FF7D6EA-1DAA-4FAC-9DAC-F0157051FE03}"/>
              </a:ext>
            </a:extLst>
          </p:cNvPr>
          <p:cNvSpPr>
            <a:spLocks noGrp="1"/>
          </p:cNvSpPr>
          <p:nvPr/>
        </p:nvSpPr>
        <p:spPr>
          <a:xfrm>
            <a:off x="7772400" y="32004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Timeout + circuit breaker</a:t>
            </a:r>
          </a:p>
        </p:txBody>
      </p:sp>
      <p:sp>
        <p:nvSpPr>
          <p:cNvPr id="74" name="history-adapter">
            <a:extLst>
              <a:ext uri="{FF2B5EF4-FFF2-40B4-BE49-F238E27FC236}">
                <a16:creationId xmlns:a16="http://schemas.microsoft.com/office/drawing/2014/main" id="{9130EEF5-C2D3-4CDE-9EB8-474CEFB43BEA}"/>
              </a:ext>
            </a:extLst>
          </p:cNvPr>
          <p:cNvSpPr>
            <a:spLocks noGrp="1"/>
          </p:cNvSpPr>
          <p:nvPr/>
        </p:nvSpPr>
        <p:spPr>
          <a:xfrm>
            <a:off x="7677150" y="356235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5" name="history-adapter-title">
            <a:extLst>
              <a:ext uri="{FF2B5EF4-FFF2-40B4-BE49-F238E27FC236}">
                <a16:creationId xmlns:a16="http://schemas.microsoft.com/office/drawing/2014/main" id="{A7DAD0FE-6195-4FB1-B4A1-1B192C227D4F}"/>
              </a:ext>
            </a:extLst>
          </p:cNvPr>
          <p:cNvSpPr>
            <a:spLocks noGrp="1"/>
          </p:cNvSpPr>
          <p:nvPr/>
        </p:nvSpPr>
        <p:spPr>
          <a:xfrm>
            <a:off x="7772400" y="3648075"/>
            <a:ext cx="1009650" cy="257175"/>
          </a:xfrm>
          <a:prstGeom prst="rect">
            <a:avLst/>
          </a:prstGeom>
          <a:noFill/>
          <a:ln w="0">
            <a:noFill/>
            <a:prstDash val="solid"/>
          </a:ln>
        </p:spPr>
        <p:txBody>
          <a:bodyPr/>
          <a:lstStyle/>
          <a:p>
            <a:pPr algn="ctr">
              <a:buNone/>
              <a:defRPr sz="825" b="1">
                <a:solidFill>
                  <a:srgbClr val="172033"/>
                </a:solidFill>
              </a:defRPr>
            </a:pPr>
            <a:r>
              <a:rPr sz="825" b="1">
                <a:solidFill>
                  <a:srgbClr val="172033"/>
                </a:solidFill>
              </a:rPr>
              <a:t>Mainframe adapter</a:t>
            </a:r>
          </a:p>
        </p:txBody>
      </p:sp>
      <p:sp>
        <p:nvSpPr>
          <p:cNvPr id="76" name="history-adapter-detail">
            <a:extLst>
              <a:ext uri="{FF2B5EF4-FFF2-40B4-BE49-F238E27FC236}">
                <a16:creationId xmlns:a16="http://schemas.microsoft.com/office/drawing/2014/main" id="{BBFBDA2E-2D2D-4DCE-853D-4D49E7E252C2}"/>
              </a:ext>
            </a:extLst>
          </p:cNvPr>
          <p:cNvSpPr>
            <a:spLocks noGrp="1"/>
          </p:cNvSpPr>
          <p:nvPr/>
        </p:nvSpPr>
        <p:spPr>
          <a:xfrm>
            <a:off x="7772400" y="390525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MQ + schema mapping</a:t>
            </a:r>
          </a:p>
        </p:txBody>
      </p:sp>
      <p:sp>
        <p:nvSpPr>
          <p:cNvPr id="77" name="dealer-adapter">
            <a:extLst>
              <a:ext uri="{FF2B5EF4-FFF2-40B4-BE49-F238E27FC236}">
                <a16:creationId xmlns:a16="http://schemas.microsoft.com/office/drawing/2014/main" id="{35904434-6A78-4A15-85F2-C654328D6E65}"/>
              </a:ext>
            </a:extLst>
          </p:cNvPr>
          <p:cNvSpPr>
            <a:spLocks noGrp="1"/>
          </p:cNvSpPr>
          <p:nvPr/>
        </p:nvSpPr>
        <p:spPr>
          <a:xfrm>
            <a:off x="7677150" y="42672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8" name="dealer-adapter-title">
            <a:extLst>
              <a:ext uri="{FF2B5EF4-FFF2-40B4-BE49-F238E27FC236}">
                <a16:creationId xmlns:a16="http://schemas.microsoft.com/office/drawing/2014/main" id="{DFCD7544-BB92-4203-86DB-A0CD4443D8ED}"/>
              </a:ext>
            </a:extLst>
          </p:cNvPr>
          <p:cNvSpPr>
            <a:spLocks noGrp="1"/>
          </p:cNvSpPr>
          <p:nvPr/>
        </p:nvSpPr>
        <p:spPr>
          <a:xfrm>
            <a:off x="7772400" y="43529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Dealer adapters</a:t>
            </a:r>
          </a:p>
        </p:txBody>
      </p:sp>
      <p:sp>
        <p:nvSpPr>
          <p:cNvPr id="79" name="dealer-adapter-detail">
            <a:extLst>
              <a:ext uri="{FF2B5EF4-FFF2-40B4-BE49-F238E27FC236}">
                <a16:creationId xmlns:a16="http://schemas.microsoft.com/office/drawing/2014/main" id="{F0C10F18-431F-4113-9F11-0849F457365F}"/>
              </a:ext>
            </a:extLst>
          </p:cNvPr>
          <p:cNvSpPr>
            <a:spLocks noGrp="1"/>
          </p:cNvSpPr>
          <p:nvPr/>
        </p:nvSpPr>
        <p:spPr>
          <a:xfrm>
            <a:off x="7772400" y="46101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mTLS • hold / confirm</a:t>
            </a:r>
          </a:p>
        </p:txBody>
      </p:sp>
      <p:sp>
        <p:nvSpPr>
          <p:cNvPr id="80" name="notification">
            <a:extLst>
              <a:ext uri="{FF2B5EF4-FFF2-40B4-BE49-F238E27FC236}">
                <a16:creationId xmlns:a16="http://schemas.microsoft.com/office/drawing/2014/main" id="{733B2274-9E86-4920-8523-20BD492DD8EC}"/>
              </a:ext>
            </a:extLst>
          </p:cNvPr>
          <p:cNvSpPr>
            <a:spLocks noGrp="1"/>
          </p:cNvSpPr>
          <p:nvPr/>
        </p:nvSpPr>
        <p:spPr>
          <a:xfrm>
            <a:off x="2000250" y="5000625"/>
            <a:ext cx="2324100" cy="552450"/>
          </a:xfrm>
          <a:prstGeom prst="roundRect">
            <a:avLst>
              <a:gd name="adj" fmla="val 13793"/>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81" name="notification-title">
            <a:extLst>
              <a:ext uri="{FF2B5EF4-FFF2-40B4-BE49-F238E27FC236}">
                <a16:creationId xmlns:a16="http://schemas.microsoft.com/office/drawing/2014/main" id="{6BF08273-8CF0-4239-B986-A05D4AA52B83}"/>
              </a:ext>
            </a:extLst>
          </p:cNvPr>
          <p:cNvSpPr>
            <a:spLocks noGrp="1"/>
          </p:cNvSpPr>
          <p:nvPr/>
        </p:nvSpPr>
        <p:spPr>
          <a:xfrm>
            <a:off x="2619375" y="5086350"/>
            <a:ext cx="1609725"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Notifications</a:t>
            </a:r>
          </a:p>
        </p:txBody>
      </p:sp>
      <p:sp>
        <p:nvSpPr>
          <p:cNvPr id="82" name="notification-detail">
            <a:extLst>
              <a:ext uri="{FF2B5EF4-FFF2-40B4-BE49-F238E27FC236}">
                <a16:creationId xmlns:a16="http://schemas.microsoft.com/office/drawing/2014/main" id="{F7120A59-EA32-4A46-945E-31B5D7C1B97C}"/>
              </a:ext>
            </a:extLst>
          </p:cNvPr>
          <p:cNvSpPr>
            <a:spLocks noGrp="1"/>
          </p:cNvSpPr>
          <p:nvPr/>
        </p:nvSpPr>
        <p:spPr>
          <a:xfrm>
            <a:off x="2095500" y="5295900"/>
            <a:ext cx="21336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SES email • SNS SMS • reminders</a:t>
            </a:r>
          </a:p>
        </p:txBody>
      </p:sp>
      <p:pic>
        <p:nvPicPr>
          <p:cNvPr id="526" name="Picture 217"/>
          <p:cNvPicPr>
            <a:picLocks noChangeAspect="1"/>
          </p:cNvPicPr>
          <p:nvPr/>
        </p:nvPicPr>
        <p:blipFill>
          <a:blip r:embed="rId19"/>
          <a:stretch/>
        </p:blipFill>
        <p:spPr>
          <a:xfrm>
            <a:off x="2095500" y="5076825"/>
            <a:ext cx="209550" cy="209550"/>
          </a:xfrm>
          <a:prstGeom prst="rect">
            <a:avLst/>
          </a:prstGeom>
        </p:spPr>
      </p:pic>
      <p:pic>
        <p:nvPicPr>
          <p:cNvPr id="527" name="Picture 218"/>
          <p:cNvPicPr>
            <a:picLocks noChangeAspect="1"/>
          </p:cNvPicPr>
          <p:nvPr/>
        </p:nvPicPr>
        <p:blipFill>
          <a:blip r:embed="rId20"/>
          <a:stretch/>
        </p:blipFill>
        <p:spPr>
          <a:xfrm>
            <a:off x="2324100" y="5076825"/>
            <a:ext cx="209550" cy="209550"/>
          </a:xfrm>
          <a:prstGeom prst="rect">
            <a:avLst/>
          </a:prstGeom>
        </p:spPr>
      </p:pic>
      <p:sp>
        <p:nvSpPr>
          <p:cNvPr id="85" name="reliability">
            <a:extLst>
              <a:ext uri="{FF2B5EF4-FFF2-40B4-BE49-F238E27FC236}">
                <a16:creationId xmlns:a16="http://schemas.microsoft.com/office/drawing/2014/main" id="{10F186E2-A429-4E86-924D-DC54D83261AB}"/>
              </a:ext>
            </a:extLst>
          </p:cNvPr>
          <p:cNvSpPr>
            <a:spLocks noGrp="1"/>
          </p:cNvSpPr>
          <p:nvPr/>
        </p:nvSpPr>
        <p:spPr>
          <a:xfrm>
            <a:off x="4476750" y="5000625"/>
            <a:ext cx="2857500" cy="552450"/>
          </a:xfrm>
          <a:prstGeom prst="roundRect">
            <a:avLst>
              <a:gd name="adj" fmla="val 13793"/>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86" name="reliability-title">
            <a:extLst>
              <a:ext uri="{FF2B5EF4-FFF2-40B4-BE49-F238E27FC236}">
                <a16:creationId xmlns:a16="http://schemas.microsoft.com/office/drawing/2014/main" id="{90086C43-596B-4218-B69F-C2DD4071EF84}"/>
              </a:ext>
            </a:extLst>
          </p:cNvPr>
          <p:cNvSpPr>
            <a:spLocks noGrp="1"/>
          </p:cNvSpPr>
          <p:nvPr/>
        </p:nvSpPr>
        <p:spPr>
          <a:xfrm>
            <a:off x="4572000" y="5086350"/>
            <a:ext cx="2667000" cy="238125"/>
          </a:xfrm>
          <a:prstGeom prst="rect">
            <a:avLst/>
          </a:prstGeom>
          <a:noFill/>
          <a:ln w="0">
            <a:noFill/>
            <a:prstDash val="solid"/>
          </a:ln>
        </p:spPr>
        <p:txBody>
          <a:bodyPr/>
          <a:lstStyle/>
          <a:p>
            <a:pPr algn="ctr">
              <a:buNone/>
              <a:defRPr sz="1050" b="1">
                <a:solidFill>
                  <a:srgbClr val="172033"/>
                </a:solidFill>
              </a:defRPr>
            </a:pPr>
            <a:r>
              <a:rPr sz="1050" b="1">
                <a:solidFill>
                  <a:srgbClr val="172033"/>
                </a:solidFill>
              </a:rPr>
              <a:t>Reliability controls</a:t>
            </a:r>
          </a:p>
        </p:txBody>
      </p:sp>
      <p:sp>
        <p:nvSpPr>
          <p:cNvPr id="87" name="reliability-detail">
            <a:extLst>
              <a:ext uri="{FF2B5EF4-FFF2-40B4-BE49-F238E27FC236}">
                <a16:creationId xmlns:a16="http://schemas.microsoft.com/office/drawing/2014/main" id="{109A8C46-6053-4EF7-A7AA-5BC06F35EFEC}"/>
              </a:ext>
            </a:extLst>
          </p:cNvPr>
          <p:cNvSpPr>
            <a:spLocks noGrp="1"/>
          </p:cNvSpPr>
          <p:nvPr/>
        </p:nvSpPr>
        <p:spPr>
          <a:xfrm>
            <a:off x="4572000" y="5295900"/>
            <a:ext cx="26670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Retries • DLQs • reconciliation • audit trail</a:t>
            </a:r>
          </a:p>
        </p:txBody>
      </p:sp>
      <p:sp>
        <p:nvSpPr>
          <p:cNvPr id="88" name="vin-system">
            <a:extLst>
              <a:ext uri="{FF2B5EF4-FFF2-40B4-BE49-F238E27FC236}">
                <a16:creationId xmlns:a16="http://schemas.microsoft.com/office/drawing/2014/main" id="{5AE778D9-4C71-4705-8CA2-2F3057B38B0F}"/>
              </a:ext>
            </a:extLst>
          </p:cNvPr>
          <p:cNvSpPr>
            <a:spLocks noGrp="1"/>
          </p:cNvSpPr>
          <p:nvPr/>
        </p:nvSpPr>
        <p:spPr>
          <a:xfrm>
            <a:off x="9477375" y="2143125"/>
            <a:ext cx="2266950" cy="723900"/>
          </a:xfrm>
          <a:prstGeom prst="roundRect">
            <a:avLst>
              <a:gd name="adj" fmla="val 10526"/>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89" name="vin-system-title">
            <a:extLst>
              <a:ext uri="{FF2B5EF4-FFF2-40B4-BE49-F238E27FC236}">
                <a16:creationId xmlns:a16="http://schemas.microsoft.com/office/drawing/2014/main" id="{E1D2A502-D570-4620-AD28-686783D9EE3F}"/>
              </a:ext>
            </a:extLst>
          </p:cNvPr>
          <p:cNvSpPr>
            <a:spLocks noGrp="1"/>
          </p:cNvSpPr>
          <p:nvPr/>
        </p:nvSpPr>
        <p:spPr>
          <a:xfrm>
            <a:off x="9572625" y="22288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On-prem VIN API</a:t>
            </a:r>
          </a:p>
        </p:txBody>
      </p:sp>
      <p:sp>
        <p:nvSpPr>
          <p:cNvPr id="90" name="vin-system-detail">
            <a:extLst>
              <a:ext uri="{FF2B5EF4-FFF2-40B4-BE49-F238E27FC236}">
                <a16:creationId xmlns:a16="http://schemas.microsoft.com/office/drawing/2014/main" id="{E193B93B-A5EB-4B04-AD53-F816747FF76F}"/>
              </a:ext>
            </a:extLst>
          </p:cNvPr>
          <p:cNvSpPr>
            <a:spLocks noGrp="1"/>
          </p:cNvSpPr>
          <p:nvPr/>
        </p:nvSpPr>
        <p:spPr>
          <a:xfrm>
            <a:off x="9572625" y="252412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Vehicle authority</a:t>
            </a:r>
          </a:p>
        </p:txBody>
      </p:sp>
      <p:sp>
        <p:nvSpPr>
          <p:cNvPr id="91" name="mainframe">
            <a:extLst>
              <a:ext uri="{FF2B5EF4-FFF2-40B4-BE49-F238E27FC236}">
                <a16:creationId xmlns:a16="http://schemas.microsoft.com/office/drawing/2014/main" id="{EADA0BF0-4748-4B74-B29F-C792BCBCDDBE}"/>
              </a:ext>
            </a:extLst>
          </p:cNvPr>
          <p:cNvSpPr>
            <a:spLocks noGrp="1"/>
          </p:cNvSpPr>
          <p:nvPr/>
        </p:nvSpPr>
        <p:spPr>
          <a:xfrm>
            <a:off x="9477375" y="3190875"/>
            <a:ext cx="2266950" cy="723900"/>
          </a:xfrm>
          <a:prstGeom prst="roundRect">
            <a:avLst>
              <a:gd name="adj" fmla="val 10526"/>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92" name="mainframe-title">
            <a:extLst>
              <a:ext uri="{FF2B5EF4-FFF2-40B4-BE49-F238E27FC236}">
                <a16:creationId xmlns:a16="http://schemas.microsoft.com/office/drawing/2014/main" id="{BD7D033B-A7F5-488A-89F9-399FB946FA32}"/>
              </a:ext>
            </a:extLst>
          </p:cNvPr>
          <p:cNvSpPr>
            <a:spLocks noGrp="1"/>
          </p:cNvSpPr>
          <p:nvPr/>
        </p:nvSpPr>
        <p:spPr>
          <a:xfrm>
            <a:off x="9572625" y="3276600"/>
            <a:ext cx="2076450" cy="238125"/>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Mainframe repair history</a:t>
            </a:r>
          </a:p>
        </p:txBody>
      </p:sp>
      <p:sp>
        <p:nvSpPr>
          <p:cNvPr id="93" name="mainframe-detail">
            <a:extLst>
              <a:ext uri="{FF2B5EF4-FFF2-40B4-BE49-F238E27FC236}">
                <a16:creationId xmlns:a16="http://schemas.microsoft.com/office/drawing/2014/main" id="{1A7D6547-6B96-4126-B905-16EA509855CB}"/>
              </a:ext>
            </a:extLst>
          </p:cNvPr>
          <p:cNvSpPr>
            <a:spLocks noGrp="1"/>
          </p:cNvSpPr>
          <p:nvPr/>
        </p:nvSpPr>
        <p:spPr>
          <a:xfrm>
            <a:off x="9572625" y="357187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Service-record authority</a:t>
            </a:r>
          </a:p>
        </p:txBody>
      </p:sp>
      <p:sp>
        <p:nvSpPr>
          <p:cNvPr id="94" name="dealer-systems">
            <a:extLst>
              <a:ext uri="{FF2B5EF4-FFF2-40B4-BE49-F238E27FC236}">
                <a16:creationId xmlns:a16="http://schemas.microsoft.com/office/drawing/2014/main" id="{409AE133-BDA9-4D95-A053-10A77B5FE721}"/>
              </a:ext>
            </a:extLst>
          </p:cNvPr>
          <p:cNvSpPr>
            <a:spLocks noGrp="1"/>
          </p:cNvSpPr>
          <p:nvPr/>
        </p:nvSpPr>
        <p:spPr>
          <a:xfrm>
            <a:off x="9477375" y="4238625"/>
            <a:ext cx="2266950" cy="800100"/>
          </a:xfrm>
          <a:prstGeom prst="roundRect">
            <a:avLst>
              <a:gd name="adj" fmla="val 9524"/>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95" name="dealer-systems-title">
            <a:extLst>
              <a:ext uri="{FF2B5EF4-FFF2-40B4-BE49-F238E27FC236}">
                <a16:creationId xmlns:a16="http://schemas.microsoft.com/office/drawing/2014/main" id="{1F5B8A11-6276-4234-93C0-69876E011252}"/>
              </a:ext>
            </a:extLst>
          </p:cNvPr>
          <p:cNvSpPr>
            <a:spLocks noGrp="1"/>
          </p:cNvSpPr>
          <p:nvPr/>
        </p:nvSpPr>
        <p:spPr>
          <a:xfrm>
            <a:off x="9572625" y="43243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2,500+ dealer systems</a:t>
            </a:r>
          </a:p>
        </p:txBody>
      </p:sp>
      <p:sp>
        <p:nvSpPr>
          <p:cNvPr id="96" name="dealer-systems-detail">
            <a:extLst>
              <a:ext uri="{FF2B5EF4-FFF2-40B4-BE49-F238E27FC236}">
                <a16:creationId xmlns:a16="http://schemas.microsoft.com/office/drawing/2014/main" id="{9130E5DA-1BA2-433E-AA72-A7A88848206D}"/>
              </a:ext>
            </a:extLst>
          </p:cNvPr>
          <p:cNvSpPr>
            <a:spLocks noGrp="1"/>
          </p:cNvSpPr>
          <p:nvPr/>
        </p:nvSpPr>
        <p:spPr>
          <a:xfrm>
            <a:off x="9572625" y="4638675"/>
            <a:ext cx="2076450" cy="333375"/>
          </a:xfrm>
          <a:prstGeom prst="rect">
            <a:avLst/>
          </a:prstGeom>
          <a:noFill/>
          <a:ln w="0">
            <a:noFill/>
            <a:prstDash val="solid"/>
          </a:ln>
        </p:spPr>
        <p:txBody>
          <a:bodyPr/>
          <a:lstStyle/>
          <a:p>
            <a:pPr algn="ctr">
              <a:buNone/>
              <a:defRPr sz="900">
                <a:solidFill>
                  <a:srgbClr val="4B5563"/>
                </a:solidFill>
              </a:defRPr>
            </a:pPr>
            <a:r>
              <a:rPr sz="900">
                <a:solidFill>
                  <a:srgbClr val="4B5563"/>
                </a:solidFill>
              </a:rPr>
              <a:t>Authoritative slots + appointments</a:t>
            </a:r>
          </a:p>
        </p:txBody>
      </p:sp>
      <p:sp>
        <p:nvSpPr>
          <p:cNvPr id="97" name="brownfield-label">
            <a:extLst>
              <a:ext uri="{FF2B5EF4-FFF2-40B4-BE49-F238E27FC236}">
                <a16:creationId xmlns:a16="http://schemas.microsoft.com/office/drawing/2014/main" id="{233C0C1F-B001-4F09-8D49-95D9AFAF3534}"/>
              </a:ext>
            </a:extLst>
          </p:cNvPr>
          <p:cNvSpPr>
            <a:spLocks noGrp="1"/>
          </p:cNvSpPr>
          <p:nvPr/>
        </p:nvSpPr>
        <p:spPr>
          <a:xfrm>
            <a:off x="9477375" y="1695450"/>
            <a:ext cx="2266950" cy="209550"/>
          </a:xfrm>
          <a:prstGeom prst="rect">
            <a:avLst/>
          </a:prstGeom>
          <a:noFill/>
          <a:ln w="0">
            <a:noFill/>
            <a:prstDash val="solid"/>
          </a:ln>
        </p:spPr>
        <p:txBody>
          <a:bodyPr/>
          <a:lstStyle/>
          <a:p>
            <a:pPr algn="ctr">
              <a:buNone/>
              <a:defRPr sz="975" b="1">
                <a:solidFill>
                  <a:srgbClr val="5B6472"/>
                </a:solidFill>
              </a:defRPr>
            </a:pPr>
            <a:r>
              <a:rPr sz="975" b="1">
                <a:solidFill>
                  <a:srgbClr val="5B6472"/>
                </a:solidFill>
              </a:rPr>
              <a:t>BROWNFIELD SYSTEMS</a:t>
            </a:r>
          </a:p>
        </p:txBody>
      </p:sp>
      <p:sp>
        <p:nvSpPr>
          <p:cNvPr id="98" name="dr">
            <a:extLst>
              <a:ext uri="{FF2B5EF4-FFF2-40B4-BE49-F238E27FC236}">
                <a16:creationId xmlns:a16="http://schemas.microsoft.com/office/drawing/2014/main" id="{B537B972-46AA-4C21-8CBA-A1BC73B778B0}"/>
              </a:ext>
            </a:extLst>
          </p:cNvPr>
          <p:cNvSpPr>
            <a:spLocks noGrp="1"/>
          </p:cNvSpPr>
          <p:nvPr/>
        </p:nvSpPr>
        <p:spPr>
          <a:xfrm>
            <a:off x="1743075" y="6115050"/>
            <a:ext cx="7524750" cy="523875"/>
          </a:xfrm>
          <a:prstGeom prst="roundRect">
            <a:avLst>
              <a:gd name="adj" fmla="val 14545"/>
            </a:avLst>
          </a:prstGeom>
          <a:solidFill>
            <a:srgbClr val="F4F7FA"/>
          </a:solidFill>
          <a:ln w="13335">
            <a:solidFill>
              <a:srgbClr val="5B6472"/>
            </a:solidFill>
            <a:prstDash val="solid"/>
          </a:ln>
        </p:spPr>
        <p:txBody>
          <a:bodyPr/>
          <a:lstStyle/>
          <a:p>
            <a:endParaRPr/>
          </a:p>
        </p:txBody>
      </p:sp>
      <p:sp>
        <p:nvSpPr>
          <p:cNvPr id="99" name="dr-title">
            <a:extLst>
              <a:ext uri="{FF2B5EF4-FFF2-40B4-BE49-F238E27FC236}">
                <a16:creationId xmlns:a16="http://schemas.microsoft.com/office/drawing/2014/main" id="{54C146DB-E5B0-4F87-BF35-EB4F50B7DAB4}"/>
              </a:ext>
            </a:extLst>
          </p:cNvPr>
          <p:cNvSpPr>
            <a:spLocks noGrp="1"/>
          </p:cNvSpPr>
          <p:nvPr/>
        </p:nvSpPr>
        <p:spPr>
          <a:xfrm>
            <a:off x="2200275" y="6200775"/>
            <a:ext cx="6972300"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Secondary AWS Region • warm standby</a:t>
            </a:r>
          </a:p>
        </p:txBody>
      </p:sp>
      <p:sp>
        <p:nvSpPr>
          <p:cNvPr id="100" name="dr-detail">
            <a:extLst>
              <a:ext uri="{FF2B5EF4-FFF2-40B4-BE49-F238E27FC236}">
                <a16:creationId xmlns:a16="http://schemas.microsoft.com/office/drawing/2014/main" id="{1B8409FB-96FB-4163-A601-AD7C6BB09AF3}"/>
              </a:ext>
            </a:extLst>
          </p:cNvPr>
          <p:cNvSpPr>
            <a:spLocks noGrp="1"/>
          </p:cNvSpPr>
          <p:nvPr/>
        </p:nvSpPr>
        <p:spPr>
          <a:xfrm>
            <a:off x="1838325" y="6391275"/>
            <a:ext cx="7334250" cy="180975"/>
          </a:xfrm>
          <a:prstGeom prst="rect">
            <a:avLst/>
          </a:prstGeom>
          <a:noFill/>
          <a:ln w="0">
            <a:noFill/>
            <a:prstDash val="solid"/>
          </a:ln>
        </p:spPr>
        <p:txBody>
          <a:bodyPr/>
          <a:lstStyle/>
          <a:p>
            <a:pPr algn="ctr">
              <a:buNone/>
              <a:defRPr sz="825">
                <a:solidFill>
                  <a:srgbClr val="4B5563"/>
                </a:solidFill>
              </a:defRPr>
            </a:pPr>
            <a:r>
              <a:rPr sz="825">
                <a:solidFill>
                  <a:srgbClr val="4B5563"/>
                </a:solidFill>
              </a:rPr>
              <a:t>Route 53 failover • DynamoDB Global Tables • replicated assets • IaC recovery</a:t>
            </a:r>
          </a:p>
        </p:txBody>
      </p:sp>
      <p:pic>
        <p:nvPicPr>
          <p:cNvPr id="544" name="Picture 235"/>
          <p:cNvPicPr>
            <a:picLocks noChangeAspect="1"/>
          </p:cNvPicPr>
          <p:nvPr/>
        </p:nvPicPr>
        <p:blipFill>
          <a:blip r:embed="rId21"/>
          <a:stretch/>
        </p:blipFill>
        <p:spPr>
          <a:xfrm>
            <a:off x="1857375" y="6181725"/>
            <a:ext cx="238125" cy="238125"/>
          </a:xfrm>
          <a:prstGeom prst="rect">
            <a:avLst/>
          </a:prstGeom>
        </p:spPr>
      </p:pic>
      <p:sp>
        <p:nvSpPr>
          <p:cNvPr id="102" name="find-dealer-journey-tag">
            <a:extLst>
              <a:ext uri="{FF2B5EF4-FFF2-40B4-BE49-F238E27FC236}">
                <a16:creationId xmlns:a16="http://schemas.microsoft.com/office/drawing/2014/main" id="{E8BF3100-FE4C-4C10-A4B2-5C29BCF35DD1}"/>
              </a:ext>
            </a:extLst>
          </p:cNvPr>
          <p:cNvSpPr>
            <a:spLocks noGrp="1"/>
          </p:cNvSpPr>
          <p:nvPr/>
        </p:nvSpPr>
        <p:spPr>
          <a:xfrm>
            <a:off x="9496425" y="1304925"/>
            <a:ext cx="2247900" cy="304800"/>
          </a:xfrm>
          <a:prstGeom prst="roundRect">
            <a:avLst>
              <a:gd name="adj" fmla="val 25000"/>
            </a:avLst>
          </a:prstGeom>
          <a:solidFill>
            <a:srgbClr val="E8F7F5"/>
          </a:solidFill>
          <a:ln w="11430">
            <a:solidFill>
              <a:srgbClr val="08A89B"/>
            </a:solidFill>
            <a:prstDash val="solid"/>
          </a:ln>
        </p:spPr>
        <p:txBody>
          <a:bodyPr/>
          <a:lstStyle/>
          <a:p>
            <a:endParaRPr/>
          </a:p>
        </p:txBody>
      </p:sp>
      <p:sp>
        <p:nvSpPr>
          <p:cNvPr id="103" name="find-dealer-journey-tag-text">
            <a:extLst>
              <a:ext uri="{FF2B5EF4-FFF2-40B4-BE49-F238E27FC236}">
                <a16:creationId xmlns:a16="http://schemas.microsoft.com/office/drawing/2014/main" id="{01CF70AE-DE81-4B45-9505-71386EE1FA97}"/>
              </a:ext>
            </a:extLst>
          </p:cNvPr>
          <p:cNvSpPr>
            <a:spLocks noGrp="1"/>
          </p:cNvSpPr>
          <p:nvPr/>
        </p:nvSpPr>
        <p:spPr>
          <a:xfrm>
            <a:off x="9591675" y="1371600"/>
            <a:ext cx="2057400" cy="171450"/>
          </a:xfrm>
          <a:prstGeom prst="rect">
            <a:avLst/>
          </a:prstGeom>
          <a:noFill/>
          <a:ln w="0">
            <a:noFill/>
            <a:prstDash val="solid"/>
          </a:ln>
        </p:spPr>
        <p:txBody>
          <a:bodyPr/>
          <a:lstStyle/>
          <a:p>
            <a:pPr algn="ctr">
              <a:buNone/>
              <a:defRPr sz="825" b="1">
                <a:solidFill>
                  <a:srgbClr val="087F75"/>
                </a:solidFill>
              </a:defRPr>
            </a:pPr>
            <a:r>
              <a:rPr sz="825" b="1">
                <a:solidFill>
                  <a:srgbClr val="087F75"/>
                </a:solidFill>
              </a:rPr>
              <a:t>JOURNEY 3  •  CHOOSE SERVICES</a:t>
            </a:r>
          </a:p>
        </p:txBody>
      </p:sp>
      <p:sp>
        <p:nvSpPr>
          <p:cNvPr id="104" name="journey-step-1">
            <a:extLst>
              <a:ext uri="{FF2B5EF4-FFF2-40B4-BE49-F238E27FC236}">
                <a16:creationId xmlns:a16="http://schemas.microsoft.com/office/drawing/2014/main" id="{98C08FF4-678B-4AB0-A382-7A837A49C65A}"/>
              </a:ext>
            </a:extLst>
          </p:cNvPr>
          <p:cNvSpPr>
            <a:spLocks noGrp="1"/>
          </p:cNvSpPr>
          <p:nvPr/>
        </p:nvSpPr>
        <p:spPr>
          <a:xfrm>
            <a:off x="1400175" y="2524125"/>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5" name="journey-step-1-number">
            <a:extLst>
              <a:ext uri="{FF2B5EF4-FFF2-40B4-BE49-F238E27FC236}">
                <a16:creationId xmlns:a16="http://schemas.microsoft.com/office/drawing/2014/main" id="{5A0B35FD-41A2-4F4C-A510-1BD786EC621F}"/>
              </a:ext>
            </a:extLst>
          </p:cNvPr>
          <p:cNvSpPr>
            <a:spLocks noGrp="1"/>
          </p:cNvSpPr>
          <p:nvPr/>
        </p:nvSpPr>
        <p:spPr>
          <a:xfrm>
            <a:off x="1400175" y="2543175"/>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1</a:t>
            </a:r>
          </a:p>
        </p:txBody>
      </p:sp>
      <p:sp>
        <p:nvSpPr>
          <p:cNvPr id="106" name="journey-step-2">
            <a:extLst>
              <a:ext uri="{FF2B5EF4-FFF2-40B4-BE49-F238E27FC236}">
                <a16:creationId xmlns:a16="http://schemas.microsoft.com/office/drawing/2014/main" id="{5F6F8DFC-A974-45AF-B146-D6FCD29365CD}"/>
              </a:ext>
            </a:extLst>
          </p:cNvPr>
          <p:cNvSpPr>
            <a:spLocks noGrp="1"/>
          </p:cNvSpPr>
          <p:nvPr/>
        </p:nvSpPr>
        <p:spPr>
          <a:xfrm>
            <a:off x="4629150" y="21336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7" name="journey-step-2-number">
            <a:extLst>
              <a:ext uri="{FF2B5EF4-FFF2-40B4-BE49-F238E27FC236}">
                <a16:creationId xmlns:a16="http://schemas.microsoft.com/office/drawing/2014/main" id="{DA7796AF-B633-4AFC-98CF-1EC311428353}"/>
              </a:ext>
            </a:extLst>
          </p:cNvPr>
          <p:cNvSpPr>
            <a:spLocks noGrp="1"/>
          </p:cNvSpPr>
          <p:nvPr/>
        </p:nvSpPr>
        <p:spPr>
          <a:xfrm>
            <a:off x="4629150" y="21526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08" name="journey-step-3">
            <a:extLst>
              <a:ext uri="{FF2B5EF4-FFF2-40B4-BE49-F238E27FC236}">
                <a16:creationId xmlns:a16="http://schemas.microsoft.com/office/drawing/2014/main" id="{E5D0BE66-8CF5-445A-A118-8E3CF95E26E4}"/>
              </a:ext>
            </a:extLst>
          </p:cNvPr>
          <p:cNvSpPr>
            <a:spLocks noGrp="1"/>
          </p:cNvSpPr>
          <p:nvPr/>
        </p:nvSpPr>
        <p:spPr>
          <a:xfrm>
            <a:off x="4400550" y="32004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9" name="journey-step-3-number">
            <a:extLst>
              <a:ext uri="{FF2B5EF4-FFF2-40B4-BE49-F238E27FC236}">
                <a16:creationId xmlns:a16="http://schemas.microsoft.com/office/drawing/2014/main" id="{353560EE-3F86-4AF3-8C15-D96E66029619}"/>
              </a:ext>
            </a:extLst>
          </p:cNvPr>
          <p:cNvSpPr>
            <a:spLocks noGrp="1"/>
          </p:cNvSpPr>
          <p:nvPr/>
        </p:nvSpPr>
        <p:spPr>
          <a:xfrm>
            <a:off x="4400550" y="32194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10" name="journey-step-4">
            <a:extLst>
              <a:ext uri="{FF2B5EF4-FFF2-40B4-BE49-F238E27FC236}">
                <a16:creationId xmlns:a16="http://schemas.microsoft.com/office/drawing/2014/main" id="{B7130DA3-748B-4530-BFAA-321EEF627120}"/>
              </a:ext>
            </a:extLst>
          </p:cNvPr>
          <p:cNvSpPr>
            <a:spLocks noGrp="1"/>
          </p:cNvSpPr>
          <p:nvPr/>
        </p:nvSpPr>
        <p:spPr>
          <a:xfrm>
            <a:off x="8753475" y="344805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1" name="journey-step-4-number">
            <a:extLst>
              <a:ext uri="{FF2B5EF4-FFF2-40B4-BE49-F238E27FC236}">
                <a16:creationId xmlns:a16="http://schemas.microsoft.com/office/drawing/2014/main" id="{46124B58-2987-462E-A8FD-C0E496D9B955}"/>
              </a:ext>
            </a:extLst>
          </p:cNvPr>
          <p:cNvSpPr>
            <a:spLocks noGrp="1"/>
          </p:cNvSpPr>
          <p:nvPr/>
        </p:nvSpPr>
        <p:spPr>
          <a:xfrm>
            <a:off x="8753475" y="346710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112" name="journey-step-5">
            <a:extLst>
              <a:ext uri="{FF2B5EF4-FFF2-40B4-BE49-F238E27FC236}">
                <a16:creationId xmlns:a16="http://schemas.microsoft.com/office/drawing/2014/main" id="{5A6954ED-3F61-49C8-B93D-7F9B132A31FF}"/>
              </a:ext>
            </a:extLst>
          </p:cNvPr>
          <p:cNvSpPr>
            <a:spLocks noGrp="1"/>
          </p:cNvSpPr>
          <p:nvPr/>
        </p:nvSpPr>
        <p:spPr>
          <a:xfrm>
            <a:off x="1400175" y="348615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3" name="journey-step-5-number">
            <a:extLst>
              <a:ext uri="{FF2B5EF4-FFF2-40B4-BE49-F238E27FC236}">
                <a16:creationId xmlns:a16="http://schemas.microsoft.com/office/drawing/2014/main" id="{6829FB68-022B-42EC-8442-2F9DC7F035A6}"/>
              </a:ext>
            </a:extLst>
          </p:cNvPr>
          <p:cNvSpPr>
            <a:spLocks noGrp="1"/>
          </p:cNvSpPr>
          <p:nvPr/>
        </p:nvSpPr>
        <p:spPr>
          <a:xfrm>
            <a:off x="1400175" y="350520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cxnSp>
        <p:nvCxnSpPr>
          <p:cNvPr id="557" name="Connector: Elbow 248"/>
          <p:cNvCxnSpPr>
            <a:stCxn id="6" idx="3"/>
            <a:endCxn id="20" idx="1"/>
          </p:cNvCxnSpPr>
          <p:nvPr/>
        </p:nvCxnSpPr>
        <p:spPr>
          <a:xfrm flipV="1">
            <a:off x="1552575" y="2552700"/>
            <a:ext cx="447675" cy="552450"/>
          </a:xfrm>
          <a:prstGeom prst="bentConnector3">
            <a:avLst>
              <a:gd name="adj1" fmla="val 50000"/>
            </a:avLst>
          </a:prstGeom>
          <a:ln w="17145">
            <a:solidFill>
              <a:srgbClr val="2767A8"/>
            </a:solidFill>
            <a:prstDash val="solid"/>
            <a:tailEnd type="triangle" w="sm" len="sm"/>
          </a:ln>
        </p:spPr>
      </p:cxnSp>
      <p:cxnSp>
        <p:nvCxnSpPr>
          <p:cNvPr id="558" name="Connector: Elbow 249"/>
          <p:cNvCxnSpPr>
            <a:stCxn id="9" idx="3"/>
            <a:endCxn id="29" idx="1"/>
          </p:cNvCxnSpPr>
          <p:nvPr/>
        </p:nvCxnSpPr>
        <p:spPr>
          <a:xfrm flipV="1">
            <a:off x="1552575" y="2552700"/>
            <a:ext cx="3190875" cy="1828800"/>
          </a:xfrm>
          <a:prstGeom prst="bentConnector3">
            <a:avLst>
              <a:gd name="adj1" fmla="val 50000"/>
            </a:avLst>
          </a:prstGeom>
          <a:ln w="17145">
            <a:solidFill>
              <a:srgbClr val="6D4FB3"/>
            </a:solidFill>
            <a:prstDash val="dash"/>
            <a:tailEnd type="triangle" w="sm" len="sm"/>
          </a:ln>
        </p:spPr>
      </p:cxnSp>
      <p:cxnSp>
        <p:nvCxnSpPr>
          <p:cNvPr id="559" name="Straight Arrow Connector 250"/>
          <p:cNvCxnSpPr>
            <a:stCxn id="20" idx="3"/>
            <a:endCxn id="29" idx="1"/>
          </p:cNvCxnSpPr>
          <p:nvPr/>
        </p:nvCxnSpPr>
        <p:spPr>
          <a:xfrm>
            <a:off x="3219450" y="2552700"/>
            <a:ext cx="1524000" cy="0"/>
          </a:xfrm>
          <a:prstGeom prst="straightConnector1">
            <a:avLst/>
          </a:prstGeom>
          <a:ln w="17145">
            <a:solidFill>
              <a:srgbClr val="7A8492"/>
            </a:solidFill>
            <a:prstDash val="solid"/>
            <a:tailEnd type="triangle" w="sm" len="sm"/>
          </a:ln>
        </p:spPr>
      </p:cxnSp>
      <p:cxnSp>
        <p:nvCxnSpPr>
          <p:cNvPr id="560" name="Straight Arrow Connector 251"/>
          <p:cNvCxnSpPr>
            <a:stCxn id="25" idx="3"/>
            <a:endCxn id="29" idx="1"/>
          </p:cNvCxnSpPr>
          <p:nvPr/>
        </p:nvCxnSpPr>
        <p:spPr>
          <a:xfrm>
            <a:off x="4591050" y="2552700"/>
            <a:ext cx="152400" cy="0"/>
          </a:xfrm>
          <a:prstGeom prst="straightConnector1">
            <a:avLst/>
          </a:prstGeom>
          <a:ln w="17145">
            <a:solidFill>
              <a:srgbClr val="7A8492"/>
            </a:solidFill>
            <a:prstDash val="solid"/>
            <a:tailEnd type="triangle" w="sm" len="sm"/>
          </a:ln>
        </p:spPr>
      </p:cxnSp>
      <p:cxnSp>
        <p:nvCxnSpPr>
          <p:cNvPr id="561" name="Straight Arrow Connector 252"/>
          <p:cNvCxnSpPr>
            <a:stCxn id="29" idx="3"/>
            <a:endCxn id="33" idx="1"/>
          </p:cNvCxnSpPr>
          <p:nvPr/>
        </p:nvCxnSpPr>
        <p:spPr>
          <a:xfrm>
            <a:off x="5962650" y="2552700"/>
            <a:ext cx="152400" cy="0"/>
          </a:xfrm>
          <a:prstGeom prst="straightConnector1">
            <a:avLst/>
          </a:prstGeom>
          <a:ln w="17145">
            <a:solidFill>
              <a:srgbClr val="7A8492"/>
            </a:solidFill>
            <a:prstDash val="solid"/>
            <a:tailEnd type="triangle" w="sm" len="sm"/>
          </a:ln>
        </p:spPr>
      </p:cxnSp>
      <p:cxnSp>
        <p:nvCxnSpPr>
          <p:cNvPr id="562" name="Connector: Elbow 253"/>
          <p:cNvCxnSpPr>
            <a:stCxn id="33" idx="2"/>
            <a:endCxn id="40" idx="0"/>
          </p:cNvCxnSpPr>
          <p:nvPr/>
        </p:nvCxnSpPr>
        <p:spPr>
          <a:xfrm flipH="1">
            <a:off x="2705100" y="2857500"/>
            <a:ext cx="4019550" cy="457200"/>
          </a:xfrm>
          <a:prstGeom prst="bentConnector4">
            <a:avLst>
              <a:gd name="adj1" fmla="val 0"/>
              <a:gd name="adj2" fmla="val 50000"/>
            </a:avLst>
          </a:prstGeom>
          <a:ln w="17145">
            <a:solidFill>
              <a:srgbClr val="147A58"/>
            </a:solidFill>
            <a:prstDash val="solid"/>
            <a:tailEnd type="triangle" w="sm" len="sm"/>
          </a:ln>
        </p:spPr>
      </p:cxnSp>
      <p:cxnSp>
        <p:nvCxnSpPr>
          <p:cNvPr id="563" name="Connector: Elbow 254"/>
          <p:cNvCxnSpPr>
            <a:stCxn id="33" idx="2"/>
            <a:endCxn id="43" idx="0"/>
          </p:cNvCxnSpPr>
          <p:nvPr/>
        </p:nvCxnSpPr>
        <p:spPr>
          <a:xfrm flipH="1">
            <a:off x="3962400" y="2857500"/>
            <a:ext cx="2762250" cy="457200"/>
          </a:xfrm>
          <a:prstGeom prst="bentConnector4">
            <a:avLst>
              <a:gd name="adj1" fmla="val 0"/>
              <a:gd name="adj2" fmla="val 50000"/>
            </a:avLst>
          </a:prstGeom>
          <a:ln w="17145">
            <a:solidFill>
              <a:srgbClr val="147A58"/>
            </a:solidFill>
            <a:prstDash val="solid"/>
            <a:tailEnd type="triangle" w="sm" len="sm"/>
          </a:ln>
        </p:spPr>
      </p:cxnSp>
      <p:cxnSp>
        <p:nvCxnSpPr>
          <p:cNvPr id="564" name="Connector: Elbow 255"/>
          <p:cNvCxnSpPr>
            <a:stCxn id="33" idx="2"/>
            <a:endCxn id="46" idx="0"/>
          </p:cNvCxnSpPr>
          <p:nvPr/>
        </p:nvCxnSpPr>
        <p:spPr>
          <a:xfrm flipH="1">
            <a:off x="5219700" y="2857500"/>
            <a:ext cx="1504950" cy="457200"/>
          </a:xfrm>
          <a:prstGeom prst="bentConnector4">
            <a:avLst>
              <a:gd name="adj1" fmla="val 0"/>
              <a:gd name="adj2" fmla="val 50000"/>
            </a:avLst>
          </a:prstGeom>
          <a:ln w="17145">
            <a:solidFill>
              <a:srgbClr val="147A58"/>
            </a:solidFill>
            <a:prstDash val="solid"/>
            <a:tailEnd type="triangle" w="sm" len="sm"/>
          </a:ln>
        </p:spPr>
      </p:cxnSp>
      <p:cxnSp>
        <p:nvCxnSpPr>
          <p:cNvPr id="565" name="Connector: Elbow 256"/>
          <p:cNvCxnSpPr>
            <a:stCxn id="33" idx="2"/>
            <a:endCxn id="49" idx="0"/>
          </p:cNvCxnSpPr>
          <p:nvPr/>
        </p:nvCxnSpPr>
        <p:spPr>
          <a:xfrm flipH="1">
            <a:off x="6477000" y="2857500"/>
            <a:ext cx="247650" cy="457200"/>
          </a:xfrm>
          <a:prstGeom prst="bentConnector4">
            <a:avLst>
              <a:gd name="adj1" fmla="val 0"/>
              <a:gd name="adj2" fmla="val 50000"/>
            </a:avLst>
          </a:prstGeom>
          <a:ln w="17145">
            <a:solidFill>
              <a:srgbClr val="147A58"/>
            </a:solidFill>
            <a:prstDash val="solid"/>
            <a:tailEnd type="triangle" w="sm" len="sm"/>
          </a:ln>
        </p:spPr>
      </p:cxnSp>
      <p:cxnSp>
        <p:nvCxnSpPr>
          <p:cNvPr id="566" name="Straight Arrow Connector 257"/>
          <p:cNvCxnSpPr>
            <a:stCxn id="40" idx="2"/>
            <a:endCxn id="52" idx="0"/>
          </p:cNvCxnSpPr>
          <p:nvPr/>
        </p:nvCxnSpPr>
        <p:spPr>
          <a:xfrm>
            <a:off x="2705100" y="4000500"/>
            <a:ext cx="0" cy="133350"/>
          </a:xfrm>
          <a:prstGeom prst="straightConnector1">
            <a:avLst/>
          </a:prstGeom>
          <a:ln w="17145">
            <a:solidFill>
              <a:srgbClr val="7A8492"/>
            </a:solidFill>
            <a:prstDash val="solid"/>
            <a:tailEnd type="triangle" w="sm" len="sm"/>
          </a:ln>
        </p:spPr>
      </p:cxnSp>
      <p:cxnSp>
        <p:nvCxnSpPr>
          <p:cNvPr id="567" name="Connector: Elbow 258"/>
          <p:cNvCxnSpPr>
            <a:stCxn id="49" idx="2"/>
            <a:endCxn id="56" idx="0"/>
          </p:cNvCxnSpPr>
          <p:nvPr/>
        </p:nvCxnSpPr>
        <p:spPr>
          <a:xfrm flipH="1">
            <a:off x="3962400" y="4000500"/>
            <a:ext cx="2514600" cy="133350"/>
          </a:xfrm>
          <a:prstGeom prst="bentConnector4">
            <a:avLst>
              <a:gd name="adj1" fmla="val 0"/>
              <a:gd name="adj2" fmla="val 50000"/>
            </a:avLst>
          </a:prstGeom>
          <a:ln w="17145">
            <a:solidFill>
              <a:srgbClr val="7A8492"/>
            </a:solidFill>
            <a:prstDash val="solid"/>
            <a:tailEnd type="triangle" w="sm" len="sm"/>
          </a:ln>
        </p:spPr>
      </p:cxnSp>
      <p:cxnSp>
        <p:nvCxnSpPr>
          <p:cNvPr id="568" name="Straight Arrow Connector 259"/>
          <p:cNvCxnSpPr>
            <a:stCxn id="46" idx="2"/>
            <a:endCxn id="60" idx="0"/>
          </p:cNvCxnSpPr>
          <p:nvPr/>
        </p:nvCxnSpPr>
        <p:spPr>
          <a:xfrm>
            <a:off x="5219700" y="4000500"/>
            <a:ext cx="0" cy="133350"/>
          </a:xfrm>
          <a:prstGeom prst="straightConnector1">
            <a:avLst/>
          </a:prstGeom>
          <a:ln w="17145">
            <a:solidFill>
              <a:srgbClr val="7A8492"/>
            </a:solidFill>
            <a:prstDash val="solid"/>
            <a:tailEnd type="triangle" w="sm" len="sm"/>
          </a:ln>
        </p:spPr>
      </p:cxnSp>
      <p:cxnSp>
        <p:nvCxnSpPr>
          <p:cNvPr id="569" name="Straight Arrow Connector 260"/>
          <p:cNvCxnSpPr>
            <a:stCxn id="49" idx="2"/>
            <a:endCxn id="64" idx="0"/>
          </p:cNvCxnSpPr>
          <p:nvPr/>
        </p:nvCxnSpPr>
        <p:spPr>
          <a:xfrm>
            <a:off x="6477000" y="4000500"/>
            <a:ext cx="0" cy="133350"/>
          </a:xfrm>
          <a:prstGeom prst="straightConnector1">
            <a:avLst/>
          </a:prstGeom>
          <a:ln w="17145">
            <a:solidFill>
              <a:srgbClr val="7A8492"/>
            </a:solidFill>
            <a:prstDash val="solid"/>
            <a:tailEnd type="triangle" w="sm" len="sm"/>
          </a:ln>
        </p:spPr>
      </p:cxnSp>
      <p:cxnSp>
        <p:nvCxnSpPr>
          <p:cNvPr id="570" name="Connector: Elbow 261"/>
          <p:cNvCxnSpPr>
            <a:stCxn id="64" idx="2"/>
            <a:endCxn id="80" idx="0"/>
          </p:cNvCxnSpPr>
          <p:nvPr/>
        </p:nvCxnSpPr>
        <p:spPr>
          <a:xfrm flipH="1">
            <a:off x="3162300" y="4648200"/>
            <a:ext cx="3314700" cy="352425"/>
          </a:xfrm>
          <a:prstGeom prst="bentConnector4">
            <a:avLst>
              <a:gd name="adj1" fmla="val 0"/>
              <a:gd name="adj2" fmla="val 50000"/>
            </a:avLst>
          </a:prstGeom>
          <a:ln w="17145">
            <a:solidFill>
              <a:srgbClr val="B86713"/>
            </a:solidFill>
            <a:prstDash val="solid"/>
            <a:tailEnd type="triangle" w="sm" len="sm"/>
          </a:ln>
        </p:spPr>
      </p:cxnSp>
      <p:cxnSp>
        <p:nvCxnSpPr>
          <p:cNvPr id="571" name="Connector: Elbow 262"/>
          <p:cNvCxnSpPr>
            <a:stCxn id="43" idx="3"/>
            <a:endCxn id="71" idx="1"/>
          </p:cNvCxnSpPr>
          <p:nvPr/>
        </p:nvCxnSpPr>
        <p:spPr>
          <a:xfrm flipV="1">
            <a:off x="4524375" y="3152775"/>
            <a:ext cx="3152775" cy="504825"/>
          </a:xfrm>
          <a:prstGeom prst="bentConnector3">
            <a:avLst>
              <a:gd name="adj1" fmla="val 50000"/>
            </a:avLst>
          </a:prstGeom>
          <a:ln w="17145">
            <a:solidFill>
              <a:srgbClr val="198E84"/>
            </a:solidFill>
            <a:prstDash val="solid"/>
            <a:tailEnd type="triangle" w="sm" len="sm"/>
          </a:ln>
        </p:spPr>
      </p:cxnSp>
      <p:cxnSp>
        <p:nvCxnSpPr>
          <p:cNvPr id="572" name="Connector: Elbow 263"/>
          <p:cNvCxnSpPr>
            <a:stCxn id="43" idx="3"/>
            <a:endCxn id="74" idx="1"/>
          </p:cNvCxnSpPr>
          <p:nvPr/>
        </p:nvCxnSpPr>
        <p:spPr>
          <a:xfrm>
            <a:off x="4524375" y="3657600"/>
            <a:ext cx="3152775" cy="200025"/>
          </a:xfrm>
          <a:prstGeom prst="bentConnector3">
            <a:avLst>
              <a:gd name="adj1" fmla="val 50000"/>
            </a:avLst>
          </a:prstGeom>
          <a:ln w="17145">
            <a:solidFill>
              <a:srgbClr val="198E84"/>
            </a:solidFill>
            <a:prstDash val="solid"/>
            <a:tailEnd type="triangle" w="sm" len="sm"/>
          </a:ln>
        </p:spPr>
      </p:cxnSp>
      <p:cxnSp>
        <p:nvCxnSpPr>
          <p:cNvPr id="573" name="Connector: Elbow 264"/>
          <p:cNvCxnSpPr>
            <a:stCxn id="46" idx="3"/>
            <a:endCxn id="77" idx="1"/>
          </p:cNvCxnSpPr>
          <p:nvPr/>
        </p:nvCxnSpPr>
        <p:spPr>
          <a:xfrm>
            <a:off x="5781675" y="3657600"/>
            <a:ext cx="1895475" cy="904875"/>
          </a:xfrm>
          <a:prstGeom prst="bentConnector3">
            <a:avLst>
              <a:gd name="adj1" fmla="val 50000"/>
            </a:avLst>
          </a:prstGeom>
          <a:ln w="17145">
            <a:solidFill>
              <a:srgbClr val="198E84"/>
            </a:solidFill>
            <a:prstDash val="solid"/>
            <a:tailEnd type="triangle" w="sm" len="sm"/>
          </a:ln>
        </p:spPr>
      </p:cxnSp>
      <p:cxnSp>
        <p:nvCxnSpPr>
          <p:cNvPr id="574" name="Connector: Elbow 265"/>
          <p:cNvCxnSpPr>
            <a:stCxn id="49" idx="3"/>
            <a:endCxn id="77" idx="1"/>
          </p:cNvCxnSpPr>
          <p:nvPr/>
        </p:nvCxnSpPr>
        <p:spPr>
          <a:xfrm>
            <a:off x="7038975" y="3657600"/>
            <a:ext cx="638175" cy="904875"/>
          </a:xfrm>
          <a:prstGeom prst="bentConnector3">
            <a:avLst>
              <a:gd name="adj1" fmla="val 50000"/>
            </a:avLst>
          </a:prstGeom>
          <a:ln w="17145">
            <a:solidFill>
              <a:srgbClr val="198E84"/>
            </a:solidFill>
            <a:prstDash val="solid"/>
            <a:tailEnd type="triangle" w="sm" len="sm"/>
          </a:ln>
        </p:spPr>
      </p:cxnSp>
      <p:cxnSp>
        <p:nvCxnSpPr>
          <p:cNvPr id="575" name="Connector: Elbow 266"/>
          <p:cNvCxnSpPr>
            <a:stCxn id="71" idx="3"/>
            <a:endCxn id="88" idx="1"/>
          </p:cNvCxnSpPr>
          <p:nvPr/>
        </p:nvCxnSpPr>
        <p:spPr>
          <a:xfrm flipV="1">
            <a:off x="8877300" y="2505075"/>
            <a:ext cx="600075" cy="647700"/>
          </a:xfrm>
          <a:prstGeom prst="bentConnector3">
            <a:avLst>
              <a:gd name="adj1" fmla="val 50000"/>
            </a:avLst>
          </a:prstGeom>
          <a:ln w="17145">
            <a:solidFill>
              <a:srgbClr val="2767A8"/>
            </a:solidFill>
            <a:prstDash val="solid"/>
            <a:tailEnd type="triangle" w="sm" len="sm"/>
          </a:ln>
        </p:spPr>
      </p:cxnSp>
      <p:cxnSp>
        <p:nvCxnSpPr>
          <p:cNvPr id="576" name="Connector: Elbow 267"/>
          <p:cNvCxnSpPr>
            <a:stCxn id="74" idx="3"/>
            <a:endCxn id="91" idx="1"/>
          </p:cNvCxnSpPr>
          <p:nvPr/>
        </p:nvCxnSpPr>
        <p:spPr>
          <a:xfrm flipV="1">
            <a:off x="8877300" y="3552825"/>
            <a:ext cx="600075" cy="304800"/>
          </a:xfrm>
          <a:prstGeom prst="bentConnector3">
            <a:avLst>
              <a:gd name="adj1" fmla="val 50000"/>
            </a:avLst>
          </a:prstGeom>
          <a:ln w="17145">
            <a:solidFill>
              <a:srgbClr val="6D4FB3"/>
            </a:solidFill>
            <a:prstDash val="solid"/>
            <a:tailEnd type="triangle" w="sm" len="sm"/>
          </a:ln>
        </p:spPr>
      </p:cxnSp>
      <p:cxnSp>
        <p:nvCxnSpPr>
          <p:cNvPr id="577" name="Connector: Elbow 268"/>
          <p:cNvCxnSpPr>
            <a:stCxn id="77" idx="3"/>
            <a:endCxn id="94" idx="1"/>
          </p:cNvCxnSpPr>
          <p:nvPr/>
        </p:nvCxnSpPr>
        <p:spPr>
          <a:xfrm>
            <a:off x="8877300" y="4562475"/>
            <a:ext cx="600075" cy="76200"/>
          </a:xfrm>
          <a:prstGeom prst="bentConnector3">
            <a:avLst>
              <a:gd name="adj1" fmla="val 50000"/>
            </a:avLst>
          </a:prstGeom>
          <a:ln w="17145">
            <a:solidFill>
              <a:srgbClr val="B86713"/>
            </a:solidFill>
            <a:prstDash val="solid"/>
            <a:tailEnd type="triangle" w="sm" len="sm"/>
          </a:ln>
        </p:spPr>
      </p:cxnSp>
      <p:cxnSp>
        <p:nvCxnSpPr>
          <p:cNvPr id="578" name="Connector: Elbow 269"/>
          <p:cNvCxnSpPr>
            <a:stCxn id="85" idx="2"/>
            <a:endCxn id="98" idx="0"/>
          </p:cNvCxnSpPr>
          <p:nvPr/>
        </p:nvCxnSpPr>
        <p:spPr>
          <a:xfrm flipH="1">
            <a:off x="5505450" y="5553075"/>
            <a:ext cx="400050" cy="561975"/>
          </a:xfrm>
          <a:prstGeom prst="bentConnector4">
            <a:avLst>
              <a:gd name="adj1" fmla="val 0"/>
              <a:gd name="adj2" fmla="val 50000"/>
            </a:avLst>
          </a:prstGeom>
          <a:ln w="17145">
            <a:solidFill>
              <a:srgbClr val="5B6472"/>
            </a:solidFill>
            <a:prstDash val="dash"/>
            <a:tailEnd type="triangle" w="sm" len="sm"/>
          </a:ln>
        </p:spPr>
      </p:cxnSp>
    </p:spTree>
    <p:extLst>
      <p:ext uri="{BB962C8B-B14F-4D97-AF65-F5344CB8AC3E}">
        <p14:creationId xmlns:p14="http://schemas.microsoft.com/office/powerpoint/2010/main" val="1754889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eyebrow">
            <a:extLst>
              <a:ext uri="{FF2B5EF4-FFF2-40B4-BE49-F238E27FC236}">
                <a16:creationId xmlns:a16="http://schemas.microsoft.com/office/drawing/2014/main" id="{3293681D-6DD3-4396-BFBB-8EE5AF163AE3}"/>
              </a:ext>
            </a:extLst>
          </p:cNvPr>
          <p:cNvSpPr>
            <a:spLocks noGrp="1"/>
          </p:cNvSpPr>
          <p:nvPr/>
        </p:nvSpPr>
        <p:spPr>
          <a:xfrm>
            <a:off x="514350" y="238125"/>
            <a:ext cx="323850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PROPOSED SOLUTION ARCHITECTURE</a:t>
            </a:r>
          </a:p>
        </p:txBody>
      </p:sp>
      <p:sp>
        <p:nvSpPr>
          <p:cNvPr id="2" name="title">
            <a:extLst>
              <a:ext uri="{FF2B5EF4-FFF2-40B4-BE49-F238E27FC236}">
                <a16:creationId xmlns:a16="http://schemas.microsoft.com/office/drawing/2014/main" id="{3B9D840F-F2B1-45E7-B826-674CE15CCBDE}"/>
              </a:ext>
            </a:extLst>
          </p:cNvPr>
          <p:cNvSpPr>
            <a:spLocks noGrp="1"/>
          </p:cNvSpPr>
          <p:nvPr/>
        </p:nvSpPr>
        <p:spPr>
          <a:xfrm>
            <a:off x="514350" y="457200"/>
            <a:ext cx="11163300" cy="419100"/>
          </a:xfrm>
          <a:prstGeom prst="rect">
            <a:avLst/>
          </a:prstGeom>
          <a:noFill/>
          <a:ln w="0">
            <a:noFill/>
            <a:prstDash val="solid"/>
          </a:ln>
        </p:spPr>
        <p:txBody>
          <a:bodyPr/>
          <a:lstStyle/>
          <a:p>
            <a:pPr>
              <a:buNone/>
              <a:defRPr sz="2625" b="1">
                <a:solidFill>
                  <a:srgbClr val="111827"/>
                </a:solidFill>
              </a:defRPr>
            </a:pPr>
            <a:r>
              <a:t>Journey 4 — Select and book a slot</a:t>
            </a:r>
          </a:p>
        </p:txBody>
      </p:sp>
      <p:sp>
        <p:nvSpPr>
          <p:cNvPr id="3" name="subtitle">
            <a:extLst>
              <a:ext uri="{FF2B5EF4-FFF2-40B4-BE49-F238E27FC236}">
                <a16:creationId xmlns:a16="http://schemas.microsoft.com/office/drawing/2014/main" id="{63326FA3-E36A-46F1-B877-C16ADA86D8CC}"/>
              </a:ext>
            </a:extLst>
          </p:cNvPr>
          <p:cNvSpPr>
            <a:spLocks noGrp="1"/>
          </p:cNvSpPr>
          <p:nvPr/>
        </p:nvSpPr>
        <p:spPr>
          <a:xfrm>
            <a:off x="514350" y="895350"/>
            <a:ext cx="11049000" cy="266700"/>
          </a:xfrm>
          <a:prstGeom prst="rect">
            <a:avLst/>
          </a:prstGeom>
          <a:noFill/>
          <a:ln w="0">
            <a:noFill/>
            <a:prstDash val="solid"/>
          </a:ln>
        </p:spPr>
        <p:txBody>
          <a:bodyPr/>
          <a:lstStyle/>
          <a:p>
            <a:pPr>
              <a:buNone/>
              <a:defRPr sz="1200">
                <a:solidFill>
                  <a:srgbClr val="5B6472"/>
                </a:solidFill>
              </a:defRPr>
            </a:pPr>
            <a:r>
              <a:rPr sz="1200">
                <a:solidFill>
                  <a:srgbClr val="5B6472"/>
                </a:solidFill>
              </a:rPr>
              <a:t>The cloud owns the customer journey and booking state; VIN, repair history, and appointment inventory remain authoritative in brownfield systems.</a:t>
            </a:r>
          </a:p>
        </p:txBody>
      </p:sp>
      <p:sp>
        <p:nvSpPr>
          <p:cNvPr id="4" name="aws-region">
            <a:extLst>
              <a:ext uri="{FF2B5EF4-FFF2-40B4-BE49-F238E27FC236}">
                <a16:creationId xmlns:a16="http://schemas.microsoft.com/office/drawing/2014/main" id="{8BAC970A-0DDB-483A-99EA-B817023F3E2B}"/>
              </a:ext>
            </a:extLst>
          </p:cNvPr>
          <p:cNvSpPr>
            <a:spLocks noGrp="1"/>
          </p:cNvSpPr>
          <p:nvPr/>
        </p:nvSpPr>
        <p:spPr>
          <a:xfrm>
            <a:off x="1743075" y="1285875"/>
            <a:ext cx="7524750" cy="4648200"/>
          </a:xfrm>
          <a:prstGeom prst="roundRect">
            <a:avLst>
              <a:gd name="adj" fmla="val 2459"/>
            </a:avLst>
          </a:prstGeom>
          <a:solidFill>
            <a:srgbClr val="FBFCFE"/>
          </a:solidFill>
          <a:ln w="17145">
            <a:solidFill>
              <a:srgbClr val="2767A8"/>
            </a:solidFill>
            <a:prstDash val="solid"/>
          </a:ln>
        </p:spPr>
        <p:txBody>
          <a:bodyPr/>
          <a:lstStyle/>
          <a:p>
            <a:endParaRPr/>
          </a:p>
        </p:txBody>
      </p:sp>
      <p:sp>
        <p:nvSpPr>
          <p:cNvPr id="5" name="region-label">
            <a:extLst>
              <a:ext uri="{FF2B5EF4-FFF2-40B4-BE49-F238E27FC236}">
                <a16:creationId xmlns:a16="http://schemas.microsoft.com/office/drawing/2014/main" id="{024ED21D-2022-4D94-8681-5BFBC579D169}"/>
              </a:ext>
            </a:extLst>
          </p:cNvPr>
          <p:cNvSpPr>
            <a:spLocks noGrp="1"/>
          </p:cNvSpPr>
          <p:nvPr/>
        </p:nvSpPr>
        <p:spPr>
          <a:xfrm>
            <a:off x="1952625" y="1371600"/>
            <a:ext cx="2381250" cy="190500"/>
          </a:xfrm>
          <a:prstGeom prst="rect">
            <a:avLst/>
          </a:prstGeom>
          <a:noFill/>
          <a:ln w="0">
            <a:noFill/>
            <a:prstDash val="solid"/>
          </a:ln>
        </p:spPr>
        <p:txBody>
          <a:bodyPr/>
          <a:lstStyle/>
          <a:p>
            <a:pPr>
              <a:buNone/>
              <a:defRPr sz="975" b="1">
                <a:solidFill>
                  <a:srgbClr val="2767A8"/>
                </a:solidFill>
              </a:defRPr>
            </a:pPr>
            <a:r>
              <a:rPr sz="975" b="1">
                <a:solidFill>
                  <a:srgbClr val="2767A8"/>
                </a:solidFill>
              </a:rPr>
              <a:t>AWS REGION • MULTI-AZ</a:t>
            </a:r>
          </a:p>
        </p:txBody>
      </p:sp>
      <p:sp>
        <p:nvSpPr>
          <p:cNvPr id="6" name="customer">
            <a:extLst>
              <a:ext uri="{FF2B5EF4-FFF2-40B4-BE49-F238E27FC236}">
                <a16:creationId xmlns:a16="http://schemas.microsoft.com/office/drawing/2014/main" id="{66FB4120-8E82-46C4-8BB8-CB3567692CBF}"/>
              </a:ext>
            </a:extLst>
          </p:cNvPr>
          <p:cNvSpPr>
            <a:spLocks noGrp="1"/>
          </p:cNvSpPr>
          <p:nvPr/>
        </p:nvSpPr>
        <p:spPr>
          <a:xfrm>
            <a:off x="266700" y="2609850"/>
            <a:ext cx="1285875" cy="990600"/>
          </a:xfrm>
          <a:prstGeom prst="roundRect">
            <a:avLst>
              <a:gd name="adj" fmla="val 7692"/>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7" name="customer-title">
            <a:extLst>
              <a:ext uri="{FF2B5EF4-FFF2-40B4-BE49-F238E27FC236}">
                <a16:creationId xmlns:a16="http://schemas.microsoft.com/office/drawing/2014/main" id="{848DBDE9-A381-48F3-91EE-F1496DE77B4F}"/>
              </a:ext>
            </a:extLst>
          </p:cNvPr>
          <p:cNvSpPr>
            <a:spLocks noGrp="1"/>
          </p:cNvSpPr>
          <p:nvPr/>
        </p:nvSpPr>
        <p:spPr>
          <a:xfrm>
            <a:off x="361950" y="2695575"/>
            <a:ext cx="1095375" cy="238125"/>
          </a:xfrm>
          <a:prstGeom prst="rect">
            <a:avLst/>
          </a:prstGeom>
          <a:noFill/>
          <a:ln w="0">
            <a:noFill/>
            <a:prstDash val="solid"/>
          </a:ln>
        </p:spPr>
        <p:txBody>
          <a:bodyPr/>
          <a:lstStyle/>
          <a:p>
            <a:pPr algn="ctr">
              <a:buNone/>
              <a:defRPr sz="1350" b="1">
                <a:solidFill>
                  <a:srgbClr val="172033"/>
                </a:solidFill>
              </a:defRPr>
            </a:pPr>
            <a:r>
              <a:rPr sz="1350" b="1">
                <a:solidFill>
                  <a:srgbClr val="172033"/>
                </a:solidFill>
              </a:rPr>
              <a:t>Customer</a:t>
            </a:r>
          </a:p>
        </p:txBody>
      </p:sp>
      <p:sp>
        <p:nvSpPr>
          <p:cNvPr id="8" name="customer-detail">
            <a:extLst>
              <a:ext uri="{FF2B5EF4-FFF2-40B4-BE49-F238E27FC236}">
                <a16:creationId xmlns:a16="http://schemas.microsoft.com/office/drawing/2014/main" id="{20E87754-4CCC-4503-87C4-132C4C508754}"/>
              </a:ext>
            </a:extLst>
          </p:cNvPr>
          <p:cNvSpPr>
            <a:spLocks noGrp="1"/>
          </p:cNvSpPr>
          <p:nvPr/>
        </p:nvSpPr>
        <p:spPr>
          <a:xfrm>
            <a:off x="361950" y="2981325"/>
            <a:ext cx="1095375" cy="552450"/>
          </a:xfrm>
          <a:prstGeom prst="rect">
            <a:avLst/>
          </a:prstGeom>
          <a:noFill/>
          <a:ln w="0">
            <a:noFill/>
            <a:prstDash val="solid"/>
          </a:ln>
        </p:spPr>
        <p:txBody>
          <a:bodyPr/>
          <a:lstStyle/>
          <a:p>
            <a:pPr algn="ctr">
              <a:buNone/>
              <a:defRPr sz="900">
                <a:solidFill>
                  <a:srgbClr val="4B5563"/>
                </a:solidFill>
              </a:defRPr>
            </a:pPr>
            <a:r>
              <a:rPr sz="900">
                <a:solidFill>
                  <a:srgbClr val="4B5563"/>
                </a:solidFill>
              </a:rPr>
              <a:t>Web / mobile</a:t>
            </a:r>
          </a:p>
          <a:p>
            <a:pPr algn="ctr">
              <a:buNone/>
              <a:defRPr sz="900">
                <a:solidFill>
                  <a:srgbClr val="4B5563"/>
                </a:solidFill>
              </a:defRPr>
            </a:pPr>
            <a:r>
              <a:rPr sz="900">
                <a:solidFill>
                  <a:srgbClr val="4B5563"/>
                </a:solidFill>
              </a:rPr>
              <a:t>Guest or signed in</a:t>
            </a:r>
          </a:p>
        </p:txBody>
      </p:sp>
      <p:sp>
        <p:nvSpPr>
          <p:cNvPr id="9" name="dealer-staff">
            <a:extLst>
              <a:ext uri="{FF2B5EF4-FFF2-40B4-BE49-F238E27FC236}">
                <a16:creationId xmlns:a16="http://schemas.microsoft.com/office/drawing/2014/main" id="{F0E50835-11E1-41E3-B0CD-367E42BE3E82}"/>
              </a:ext>
            </a:extLst>
          </p:cNvPr>
          <p:cNvSpPr>
            <a:spLocks noGrp="1"/>
          </p:cNvSpPr>
          <p:nvPr/>
        </p:nvSpPr>
        <p:spPr>
          <a:xfrm>
            <a:off x="266700" y="3886200"/>
            <a:ext cx="1285875" cy="990600"/>
          </a:xfrm>
          <a:prstGeom prst="roundRect">
            <a:avLst>
              <a:gd name="adj" fmla="val 7692"/>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dealer-staff-title">
            <a:extLst>
              <a:ext uri="{FF2B5EF4-FFF2-40B4-BE49-F238E27FC236}">
                <a16:creationId xmlns:a16="http://schemas.microsoft.com/office/drawing/2014/main" id="{0E9A9870-F23F-49C7-9675-1CE2237F1E50}"/>
              </a:ext>
            </a:extLst>
          </p:cNvPr>
          <p:cNvSpPr>
            <a:spLocks noGrp="1"/>
          </p:cNvSpPr>
          <p:nvPr/>
        </p:nvSpPr>
        <p:spPr>
          <a:xfrm>
            <a:off x="361950" y="3971925"/>
            <a:ext cx="1095375" cy="238125"/>
          </a:xfrm>
          <a:prstGeom prst="rect">
            <a:avLst/>
          </a:prstGeom>
          <a:noFill/>
          <a:ln w="0">
            <a:noFill/>
            <a:prstDash val="solid"/>
          </a:ln>
        </p:spPr>
        <p:txBody>
          <a:bodyPr/>
          <a:lstStyle/>
          <a:p>
            <a:pPr algn="ctr">
              <a:buNone/>
              <a:defRPr sz="1125" b="1">
                <a:solidFill>
                  <a:srgbClr val="172033"/>
                </a:solidFill>
              </a:defRPr>
            </a:pPr>
            <a:r>
              <a:rPr sz="1125" b="1">
                <a:solidFill>
                  <a:srgbClr val="172033"/>
                </a:solidFill>
              </a:rPr>
              <a:t>Dealer personnel</a:t>
            </a:r>
          </a:p>
        </p:txBody>
      </p:sp>
      <p:sp>
        <p:nvSpPr>
          <p:cNvPr id="11" name="dealer-staff-detail">
            <a:extLst>
              <a:ext uri="{FF2B5EF4-FFF2-40B4-BE49-F238E27FC236}">
                <a16:creationId xmlns:a16="http://schemas.microsoft.com/office/drawing/2014/main" id="{AD4ECC9B-43AF-4111-BE5F-A68A294E8DA9}"/>
              </a:ext>
            </a:extLst>
          </p:cNvPr>
          <p:cNvSpPr>
            <a:spLocks noGrp="1"/>
          </p:cNvSpPr>
          <p:nvPr/>
        </p:nvSpPr>
        <p:spPr>
          <a:xfrm>
            <a:off x="361950" y="4295775"/>
            <a:ext cx="1095375" cy="514350"/>
          </a:xfrm>
          <a:prstGeom prst="rect">
            <a:avLst/>
          </a:prstGeom>
          <a:noFill/>
          <a:ln w="0">
            <a:noFill/>
            <a:prstDash val="solid"/>
          </a:ln>
        </p:spPr>
        <p:txBody>
          <a:bodyPr/>
          <a:lstStyle/>
          <a:p>
            <a:pPr algn="ctr">
              <a:buNone/>
              <a:defRPr sz="825">
                <a:solidFill>
                  <a:srgbClr val="4B5563"/>
                </a:solidFill>
              </a:defRPr>
            </a:pPr>
            <a:r>
              <a:rPr sz="825">
                <a:solidFill>
                  <a:srgbClr val="4B5563"/>
                </a:solidFill>
              </a:rPr>
              <a:t>Dealer-scoped access</a:t>
            </a:r>
          </a:p>
        </p:txBody>
      </p:sp>
      <p:sp>
        <p:nvSpPr>
          <p:cNvPr id="12" name="controls">
            <a:extLst>
              <a:ext uri="{FF2B5EF4-FFF2-40B4-BE49-F238E27FC236}">
                <a16:creationId xmlns:a16="http://schemas.microsoft.com/office/drawing/2014/main" id="{37802941-F6FC-4FA6-88DA-37ACE957ED0A}"/>
              </a:ext>
            </a:extLst>
          </p:cNvPr>
          <p:cNvSpPr>
            <a:spLocks noGrp="1"/>
          </p:cNvSpPr>
          <p:nvPr/>
        </p:nvSpPr>
        <p:spPr>
          <a:xfrm>
            <a:off x="2000250" y="1619250"/>
            <a:ext cx="7029450" cy="457200"/>
          </a:xfrm>
          <a:prstGeom prst="roundRect">
            <a:avLst>
              <a:gd name="adj" fmla="val 16667"/>
            </a:avLst>
          </a:prstGeom>
          <a:solidFill>
            <a:srgbClr val="F4F7FA"/>
          </a:solidFill>
          <a:ln w="13335">
            <a:solidFill>
              <a:srgbClr val="8491A3"/>
            </a:solidFill>
            <a:prstDash val="solid"/>
          </a:ln>
        </p:spPr>
        <p:txBody>
          <a:bodyPr/>
          <a:lstStyle/>
          <a:p>
            <a:endParaRPr/>
          </a:p>
        </p:txBody>
      </p:sp>
      <p:sp>
        <p:nvSpPr>
          <p:cNvPr id="13" name="controls-title">
            <a:extLst>
              <a:ext uri="{FF2B5EF4-FFF2-40B4-BE49-F238E27FC236}">
                <a16:creationId xmlns:a16="http://schemas.microsoft.com/office/drawing/2014/main" id="{241BC033-21F0-4824-B382-F283B285A2A1}"/>
              </a:ext>
            </a:extLst>
          </p:cNvPr>
          <p:cNvSpPr>
            <a:spLocks noGrp="1"/>
          </p:cNvSpPr>
          <p:nvPr/>
        </p:nvSpPr>
        <p:spPr>
          <a:xfrm>
            <a:off x="3571875" y="1704975"/>
            <a:ext cx="5362575" cy="190500"/>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Security &amp; operations</a:t>
            </a:r>
          </a:p>
        </p:txBody>
      </p:sp>
      <p:sp>
        <p:nvSpPr>
          <p:cNvPr id="14" name="controls-detail">
            <a:extLst>
              <a:ext uri="{FF2B5EF4-FFF2-40B4-BE49-F238E27FC236}">
                <a16:creationId xmlns:a16="http://schemas.microsoft.com/office/drawing/2014/main" id="{30474B3A-1C1B-4739-864D-06D3E6236AA0}"/>
              </a:ext>
            </a:extLst>
          </p:cNvPr>
          <p:cNvSpPr>
            <a:spLocks noGrp="1"/>
          </p:cNvSpPr>
          <p:nvPr/>
        </p:nvSpPr>
        <p:spPr>
          <a:xfrm>
            <a:off x="2095500" y="1857375"/>
            <a:ext cx="6838950" cy="152400"/>
          </a:xfrm>
          <a:prstGeom prst="rect">
            <a:avLst/>
          </a:prstGeom>
          <a:noFill/>
          <a:ln w="0">
            <a:noFill/>
            <a:prstDash val="solid"/>
          </a:ln>
        </p:spPr>
        <p:txBody>
          <a:bodyPr/>
          <a:lstStyle/>
          <a:p>
            <a:pPr algn="ctr">
              <a:buNone/>
              <a:defRPr sz="900">
                <a:solidFill>
                  <a:srgbClr val="4B5563"/>
                </a:solidFill>
              </a:defRPr>
            </a:pPr>
            <a:r>
              <a:rPr sz="900">
                <a:solidFill>
                  <a:srgbClr val="4B5563"/>
                </a:solidFill>
              </a:rPr>
              <a:t>WAF / Shield • KMS • Secrets Manager • CloudWatch / X-Ray • CloudTrail</a:t>
            </a:r>
          </a:p>
        </p:txBody>
      </p:sp>
      <p:pic>
        <p:nvPicPr>
          <p:cNvPr id="458" name="Picture 149"/>
          <p:cNvPicPr>
            <a:picLocks noChangeAspect="1"/>
          </p:cNvPicPr>
          <p:nvPr/>
        </p:nvPicPr>
        <p:blipFill>
          <a:blip r:embed="rId3"/>
          <a:stretch/>
        </p:blipFill>
        <p:spPr>
          <a:xfrm>
            <a:off x="2095500" y="1724025"/>
            <a:ext cx="200025" cy="200025"/>
          </a:xfrm>
          <a:prstGeom prst="rect">
            <a:avLst/>
          </a:prstGeom>
        </p:spPr>
      </p:pic>
      <p:pic>
        <p:nvPicPr>
          <p:cNvPr id="459" name="Picture 150"/>
          <p:cNvPicPr>
            <a:picLocks noChangeAspect="1"/>
          </p:cNvPicPr>
          <p:nvPr/>
        </p:nvPicPr>
        <p:blipFill>
          <a:blip r:embed="rId4"/>
          <a:stretch/>
        </p:blipFill>
        <p:spPr>
          <a:xfrm>
            <a:off x="2362200" y="1724025"/>
            <a:ext cx="200025" cy="200025"/>
          </a:xfrm>
          <a:prstGeom prst="rect">
            <a:avLst/>
          </a:prstGeom>
        </p:spPr>
      </p:pic>
      <p:pic>
        <p:nvPicPr>
          <p:cNvPr id="460" name="Picture 151"/>
          <p:cNvPicPr>
            <a:picLocks noChangeAspect="1"/>
          </p:cNvPicPr>
          <p:nvPr/>
        </p:nvPicPr>
        <p:blipFill>
          <a:blip r:embed="rId5"/>
          <a:stretch/>
        </p:blipFill>
        <p:spPr>
          <a:xfrm>
            <a:off x="2628900" y="1724025"/>
            <a:ext cx="200025" cy="200025"/>
          </a:xfrm>
          <a:prstGeom prst="rect">
            <a:avLst/>
          </a:prstGeom>
        </p:spPr>
      </p:pic>
      <p:pic>
        <p:nvPicPr>
          <p:cNvPr id="461" name="Picture 152"/>
          <p:cNvPicPr>
            <a:picLocks noChangeAspect="1"/>
          </p:cNvPicPr>
          <p:nvPr/>
        </p:nvPicPr>
        <p:blipFill>
          <a:blip r:embed="rId6"/>
          <a:stretch/>
        </p:blipFill>
        <p:spPr>
          <a:xfrm>
            <a:off x="2895600" y="1724025"/>
            <a:ext cx="200025" cy="200025"/>
          </a:xfrm>
          <a:prstGeom prst="rect">
            <a:avLst/>
          </a:prstGeom>
        </p:spPr>
      </p:pic>
      <p:pic>
        <p:nvPicPr>
          <p:cNvPr id="462" name="Picture 153"/>
          <p:cNvPicPr>
            <a:picLocks noChangeAspect="1"/>
          </p:cNvPicPr>
          <p:nvPr/>
        </p:nvPicPr>
        <p:blipFill>
          <a:blip r:embed="rId7"/>
          <a:stretch/>
        </p:blipFill>
        <p:spPr>
          <a:xfrm>
            <a:off x="3162300" y="1724025"/>
            <a:ext cx="200025" cy="200025"/>
          </a:xfrm>
          <a:prstGeom prst="rect">
            <a:avLst/>
          </a:prstGeom>
        </p:spPr>
      </p:pic>
      <p:sp>
        <p:nvSpPr>
          <p:cNvPr id="20" name="edge">
            <a:extLst>
              <a:ext uri="{FF2B5EF4-FFF2-40B4-BE49-F238E27FC236}">
                <a16:creationId xmlns:a16="http://schemas.microsoft.com/office/drawing/2014/main" id="{47F547AE-7592-41E0-BE11-390ED7728E43}"/>
              </a:ext>
            </a:extLst>
          </p:cNvPr>
          <p:cNvSpPr>
            <a:spLocks noGrp="1"/>
          </p:cNvSpPr>
          <p:nvPr/>
        </p:nvSpPr>
        <p:spPr>
          <a:xfrm>
            <a:off x="2000250" y="2247900"/>
            <a:ext cx="1219200" cy="609600"/>
          </a:xfrm>
          <a:prstGeom prst="roundRect">
            <a:avLst>
              <a:gd name="adj" fmla="val 12500"/>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21" name="edge-title">
            <a:extLst>
              <a:ext uri="{FF2B5EF4-FFF2-40B4-BE49-F238E27FC236}">
                <a16:creationId xmlns:a16="http://schemas.microsoft.com/office/drawing/2014/main" id="{46D917C1-6E67-47A7-AA34-6808EC2DB9C5}"/>
              </a:ext>
            </a:extLst>
          </p:cNvPr>
          <p:cNvSpPr>
            <a:spLocks noGrp="1"/>
          </p:cNvSpPr>
          <p:nvPr/>
        </p:nvSpPr>
        <p:spPr>
          <a:xfrm>
            <a:off x="2457450" y="2333625"/>
            <a:ext cx="66675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Web delivery</a:t>
            </a:r>
          </a:p>
        </p:txBody>
      </p:sp>
      <p:sp>
        <p:nvSpPr>
          <p:cNvPr id="22" name="edge-detail">
            <a:extLst>
              <a:ext uri="{FF2B5EF4-FFF2-40B4-BE49-F238E27FC236}">
                <a16:creationId xmlns:a16="http://schemas.microsoft.com/office/drawing/2014/main" id="{E893BE9C-A015-4B4A-8225-E40A9FAC2497}"/>
              </a:ext>
            </a:extLst>
          </p:cNvPr>
          <p:cNvSpPr>
            <a:spLocks noGrp="1"/>
          </p:cNvSpPr>
          <p:nvPr/>
        </p:nvSpPr>
        <p:spPr>
          <a:xfrm>
            <a:off x="20955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CloudFront + S3</a:t>
            </a:r>
          </a:p>
        </p:txBody>
      </p:sp>
      <p:pic>
        <p:nvPicPr>
          <p:cNvPr id="466" name="Picture 157"/>
          <p:cNvPicPr>
            <a:picLocks noChangeAspect="1"/>
          </p:cNvPicPr>
          <p:nvPr/>
        </p:nvPicPr>
        <p:blipFill>
          <a:blip r:embed="rId8"/>
          <a:stretch/>
        </p:blipFill>
        <p:spPr>
          <a:xfrm>
            <a:off x="2066925" y="2324100"/>
            <a:ext cx="190500" cy="190500"/>
          </a:xfrm>
          <a:prstGeom prst="rect">
            <a:avLst/>
          </a:prstGeom>
        </p:spPr>
      </p:pic>
      <p:pic>
        <p:nvPicPr>
          <p:cNvPr id="467" name="Picture 158"/>
          <p:cNvPicPr>
            <a:picLocks noChangeAspect="1"/>
          </p:cNvPicPr>
          <p:nvPr/>
        </p:nvPicPr>
        <p:blipFill>
          <a:blip r:embed="rId9"/>
          <a:stretch/>
        </p:blipFill>
        <p:spPr>
          <a:xfrm>
            <a:off x="2266950" y="2324100"/>
            <a:ext cx="190500" cy="190500"/>
          </a:xfrm>
          <a:prstGeom prst="rect">
            <a:avLst/>
          </a:prstGeom>
        </p:spPr>
      </p:pic>
      <p:sp>
        <p:nvSpPr>
          <p:cNvPr id="25" name="identity">
            <a:extLst>
              <a:ext uri="{FF2B5EF4-FFF2-40B4-BE49-F238E27FC236}">
                <a16:creationId xmlns:a16="http://schemas.microsoft.com/office/drawing/2014/main" id="{E1823BEF-5355-46DA-B72B-34EE49C05004}"/>
              </a:ext>
            </a:extLst>
          </p:cNvPr>
          <p:cNvSpPr>
            <a:spLocks noGrp="1"/>
          </p:cNvSpPr>
          <p:nvPr/>
        </p:nvSpPr>
        <p:spPr>
          <a:xfrm>
            <a:off x="3371850" y="2247900"/>
            <a:ext cx="1219200" cy="609600"/>
          </a:xfrm>
          <a:prstGeom prst="roundRect">
            <a:avLst>
              <a:gd name="adj" fmla="val 12500"/>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26" name="identity-title">
            <a:extLst>
              <a:ext uri="{FF2B5EF4-FFF2-40B4-BE49-F238E27FC236}">
                <a16:creationId xmlns:a16="http://schemas.microsoft.com/office/drawing/2014/main" id="{E03EE784-2FD3-4DE8-BE3F-E8E777F2656C}"/>
              </a:ext>
            </a:extLst>
          </p:cNvPr>
          <p:cNvSpPr>
            <a:spLocks noGrp="1"/>
          </p:cNvSpPr>
          <p:nvPr/>
        </p:nvSpPr>
        <p:spPr>
          <a:xfrm>
            <a:off x="37338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Amazon Cognito</a:t>
            </a:r>
          </a:p>
        </p:txBody>
      </p:sp>
      <p:sp>
        <p:nvSpPr>
          <p:cNvPr id="27" name="identity-detail">
            <a:extLst>
              <a:ext uri="{FF2B5EF4-FFF2-40B4-BE49-F238E27FC236}">
                <a16:creationId xmlns:a16="http://schemas.microsoft.com/office/drawing/2014/main" id="{EA99DB82-A212-441E-8424-3FA0FA48C831}"/>
              </a:ext>
            </a:extLst>
          </p:cNvPr>
          <p:cNvSpPr>
            <a:spLocks noGrp="1"/>
          </p:cNvSpPr>
          <p:nvPr/>
        </p:nvSpPr>
        <p:spPr>
          <a:xfrm>
            <a:off x="34671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Customer identity</a:t>
            </a:r>
          </a:p>
        </p:txBody>
      </p:sp>
      <p:pic>
        <p:nvPicPr>
          <p:cNvPr id="471" name="Picture 162"/>
          <p:cNvPicPr>
            <a:picLocks noChangeAspect="1"/>
          </p:cNvPicPr>
          <p:nvPr/>
        </p:nvPicPr>
        <p:blipFill>
          <a:blip r:embed="rId10"/>
          <a:stretch/>
        </p:blipFill>
        <p:spPr>
          <a:xfrm>
            <a:off x="3448050" y="2314575"/>
            <a:ext cx="219075" cy="219075"/>
          </a:xfrm>
          <a:prstGeom prst="rect">
            <a:avLst/>
          </a:prstGeom>
        </p:spPr>
      </p:pic>
      <p:sp>
        <p:nvSpPr>
          <p:cNvPr id="29" name="api">
            <a:extLst>
              <a:ext uri="{FF2B5EF4-FFF2-40B4-BE49-F238E27FC236}">
                <a16:creationId xmlns:a16="http://schemas.microsoft.com/office/drawing/2014/main" id="{33D53FFA-D16C-4FE1-83AB-CCCF25AACA26}"/>
              </a:ext>
            </a:extLst>
          </p:cNvPr>
          <p:cNvSpPr>
            <a:spLocks noGrp="1"/>
          </p:cNvSpPr>
          <p:nvPr/>
        </p:nvSpPr>
        <p:spPr>
          <a:xfrm>
            <a:off x="4743450" y="2247900"/>
            <a:ext cx="1219200" cy="609600"/>
          </a:xfrm>
          <a:prstGeom prst="roundRect">
            <a:avLst>
              <a:gd name="adj" fmla="val 12500"/>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30" name="api-title">
            <a:extLst>
              <a:ext uri="{FF2B5EF4-FFF2-40B4-BE49-F238E27FC236}">
                <a16:creationId xmlns:a16="http://schemas.microsoft.com/office/drawing/2014/main" id="{F051A0BA-7E49-4E42-9D6E-15B79093684A}"/>
              </a:ext>
            </a:extLst>
          </p:cNvPr>
          <p:cNvSpPr>
            <a:spLocks noGrp="1"/>
          </p:cNvSpPr>
          <p:nvPr/>
        </p:nvSpPr>
        <p:spPr>
          <a:xfrm>
            <a:off x="51054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API Gateway</a:t>
            </a:r>
          </a:p>
        </p:txBody>
      </p:sp>
      <p:sp>
        <p:nvSpPr>
          <p:cNvPr id="31" name="api-detail">
            <a:extLst>
              <a:ext uri="{FF2B5EF4-FFF2-40B4-BE49-F238E27FC236}">
                <a16:creationId xmlns:a16="http://schemas.microsoft.com/office/drawing/2014/main" id="{9F5541E2-D80B-46C8-8DC2-5E3AA7B1F3CC}"/>
              </a:ext>
            </a:extLst>
          </p:cNvPr>
          <p:cNvSpPr>
            <a:spLocks noGrp="1"/>
          </p:cNvSpPr>
          <p:nvPr/>
        </p:nvSpPr>
        <p:spPr>
          <a:xfrm>
            <a:off x="4838700" y="2628900"/>
            <a:ext cx="1028700" cy="161925"/>
          </a:xfrm>
          <a:prstGeom prst="rect">
            <a:avLst/>
          </a:prstGeom>
          <a:noFill/>
          <a:ln w="0">
            <a:noFill/>
            <a:prstDash val="solid"/>
          </a:ln>
        </p:spPr>
        <p:txBody>
          <a:bodyPr/>
          <a:lstStyle/>
          <a:p>
            <a:pPr algn="ctr">
              <a:buNone/>
              <a:defRPr sz="750">
                <a:solidFill>
                  <a:srgbClr val="4B5563"/>
                </a:solidFill>
              </a:defRPr>
            </a:pPr>
            <a:r>
              <a:rPr sz="750">
                <a:solidFill>
                  <a:srgbClr val="4B5563"/>
                </a:solidFill>
              </a:rPr>
              <a:t>REST APIs + throttling</a:t>
            </a:r>
          </a:p>
        </p:txBody>
      </p:sp>
      <p:pic>
        <p:nvPicPr>
          <p:cNvPr id="475" name="Picture 166"/>
          <p:cNvPicPr>
            <a:picLocks noChangeAspect="1"/>
          </p:cNvPicPr>
          <p:nvPr/>
        </p:nvPicPr>
        <p:blipFill>
          <a:blip r:embed="rId11"/>
          <a:stretch/>
        </p:blipFill>
        <p:spPr>
          <a:xfrm>
            <a:off x="4819650" y="2314575"/>
            <a:ext cx="219075" cy="219075"/>
          </a:xfrm>
          <a:prstGeom prst="rect">
            <a:avLst/>
          </a:prstGeom>
        </p:spPr>
      </p:pic>
      <p:sp>
        <p:nvSpPr>
          <p:cNvPr id="33" name="workflow">
            <a:extLst>
              <a:ext uri="{FF2B5EF4-FFF2-40B4-BE49-F238E27FC236}">
                <a16:creationId xmlns:a16="http://schemas.microsoft.com/office/drawing/2014/main" id="{E28CB85C-75EB-4920-A9F1-0A57CFE44121}"/>
              </a:ext>
            </a:extLst>
          </p:cNvPr>
          <p:cNvSpPr>
            <a:spLocks noGrp="1"/>
          </p:cNvSpPr>
          <p:nvPr/>
        </p:nvSpPr>
        <p:spPr>
          <a:xfrm>
            <a:off x="6115050" y="2247900"/>
            <a:ext cx="1219200" cy="609600"/>
          </a:xfrm>
          <a:prstGeom prst="roundRect">
            <a:avLst>
              <a:gd name="adj" fmla="val 12500"/>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34" name="workflow-title">
            <a:extLst>
              <a:ext uri="{FF2B5EF4-FFF2-40B4-BE49-F238E27FC236}">
                <a16:creationId xmlns:a16="http://schemas.microsoft.com/office/drawing/2014/main" id="{879226F9-DD43-43CD-A541-CC4969E0238F}"/>
              </a:ext>
            </a:extLst>
          </p:cNvPr>
          <p:cNvSpPr>
            <a:spLocks noGrp="1"/>
          </p:cNvSpPr>
          <p:nvPr/>
        </p:nvSpPr>
        <p:spPr>
          <a:xfrm>
            <a:off x="64770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Step Functions</a:t>
            </a:r>
          </a:p>
        </p:txBody>
      </p:sp>
      <p:sp>
        <p:nvSpPr>
          <p:cNvPr id="35" name="workflow-detail">
            <a:extLst>
              <a:ext uri="{FF2B5EF4-FFF2-40B4-BE49-F238E27FC236}">
                <a16:creationId xmlns:a16="http://schemas.microsoft.com/office/drawing/2014/main" id="{BEB9C265-7558-4660-9C45-AA0AF060F9ED}"/>
              </a:ext>
            </a:extLst>
          </p:cNvPr>
          <p:cNvSpPr>
            <a:spLocks noGrp="1"/>
          </p:cNvSpPr>
          <p:nvPr/>
        </p:nvSpPr>
        <p:spPr>
          <a:xfrm>
            <a:off x="62103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Booking saga</a:t>
            </a:r>
          </a:p>
        </p:txBody>
      </p:sp>
      <p:pic>
        <p:nvPicPr>
          <p:cNvPr id="479" name="Picture 170"/>
          <p:cNvPicPr>
            <a:picLocks noChangeAspect="1"/>
          </p:cNvPicPr>
          <p:nvPr/>
        </p:nvPicPr>
        <p:blipFill>
          <a:blip r:embed="rId12"/>
          <a:stretch/>
        </p:blipFill>
        <p:spPr>
          <a:xfrm>
            <a:off x="6191250" y="2314575"/>
            <a:ext cx="219075" cy="219075"/>
          </a:xfrm>
          <a:prstGeom prst="rect">
            <a:avLst/>
          </a:prstGeom>
        </p:spPr>
      </p:pic>
      <p:sp>
        <p:nvSpPr>
          <p:cNvPr id="37" name="domain-boundary">
            <a:extLst>
              <a:ext uri="{FF2B5EF4-FFF2-40B4-BE49-F238E27FC236}">
                <a16:creationId xmlns:a16="http://schemas.microsoft.com/office/drawing/2014/main" id="{52B8A0F6-775F-4397-B60B-E2A47268542E}"/>
              </a:ext>
            </a:extLst>
          </p:cNvPr>
          <p:cNvSpPr>
            <a:spLocks noGrp="1"/>
          </p:cNvSpPr>
          <p:nvPr/>
        </p:nvSpPr>
        <p:spPr>
          <a:xfrm>
            <a:off x="2000250" y="3048000"/>
            <a:ext cx="5334000" cy="1752600"/>
          </a:xfrm>
          <a:prstGeom prst="roundRect">
            <a:avLst>
              <a:gd name="adj" fmla="val 4348"/>
            </a:avLst>
          </a:prstGeom>
          <a:solidFill>
            <a:srgbClr val="FFFFFF"/>
          </a:solidFill>
          <a:ln w="11430">
            <a:solidFill>
              <a:srgbClr val="9AA4B2"/>
            </a:solidFill>
            <a:prstDash val="solid"/>
          </a:ln>
        </p:spPr>
        <p:txBody>
          <a:bodyPr/>
          <a:lstStyle/>
          <a:p>
            <a:endParaRPr/>
          </a:p>
        </p:txBody>
      </p:sp>
      <p:sp>
        <p:nvSpPr>
          <p:cNvPr id="38" name="domain-label">
            <a:extLst>
              <a:ext uri="{FF2B5EF4-FFF2-40B4-BE49-F238E27FC236}">
                <a16:creationId xmlns:a16="http://schemas.microsoft.com/office/drawing/2014/main" id="{02EEDB09-AD16-4A72-ADFB-420879D814D4}"/>
              </a:ext>
            </a:extLst>
          </p:cNvPr>
          <p:cNvSpPr>
            <a:spLocks noGrp="1"/>
          </p:cNvSpPr>
          <p:nvPr/>
        </p:nvSpPr>
        <p:spPr>
          <a:xfrm>
            <a:off x="2400300" y="3114675"/>
            <a:ext cx="3905250" cy="171450"/>
          </a:xfrm>
          <a:prstGeom prst="rect">
            <a:avLst/>
          </a:prstGeom>
          <a:noFill/>
          <a:ln w="0">
            <a:noFill/>
            <a:prstDash val="solid"/>
          </a:ln>
        </p:spPr>
        <p:txBody>
          <a:bodyPr/>
          <a:lstStyle/>
          <a:p>
            <a:pPr>
              <a:buNone/>
              <a:defRPr sz="825" b="1">
                <a:solidFill>
                  <a:srgbClr val="5B6472"/>
                </a:solidFill>
              </a:defRPr>
            </a:pPr>
            <a:r>
              <a:rPr sz="825" b="1">
                <a:solidFill>
                  <a:srgbClr val="5B6472"/>
                </a:solidFill>
              </a:rPr>
              <a:t>DOMAIN SERVICES • LAMBDA / CONTAINER ADAPTERS</a:t>
            </a:r>
          </a:p>
        </p:txBody>
      </p:sp>
      <p:pic>
        <p:nvPicPr>
          <p:cNvPr id="482" name="Picture 173"/>
          <p:cNvPicPr>
            <a:picLocks noChangeAspect="1"/>
          </p:cNvPicPr>
          <p:nvPr/>
        </p:nvPicPr>
        <p:blipFill>
          <a:blip r:embed="rId13"/>
          <a:stretch/>
        </p:blipFill>
        <p:spPr>
          <a:xfrm>
            <a:off x="2143125" y="3086100"/>
            <a:ext cx="200025" cy="200025"/>
          </a:xfrm>
          <a:prstGeom prst="rect">
            <a:avLst/>
          </a:prstGeom>
        </p:spPr>
      </p:pic>
      <p:sp>
        <p:nvSpPr>
          <p:cNvPr id="40" name="dealer-discovery">
            <a:extLst>
              <a:ext uri="{FF2B5EF4-FFF2-40B4-BE49-F238E27FC236}">
                <a16:creationId xmlns:a16="http://schemas.microsoft.com/office/drawing/2014/main" id="{F1567B9E-DEFC-414E-8CFC-12533BBB6C49}"/>
              </a:ext>
            </a:extLst>
          </p:cNvPr>
          <p:cNvSpPr>
            <a:spLocks noGrp="1"/>
          </p:cNvSpPr>
          <p:nvPr/>
        </p:nvSpPr>
        <p:spPr>
          <a:xfrm>
            <a:off x="2143125" y="3314700"/>
            <a:ext cx="1123950" cy="685800"/>
          </a:xfrm>
          <a:prstGeom prst="roundRect">
            <a:avLst>
              <a:gd name="adj" fmla="val 11111"/>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41" name="dealer-discovery-title">
            <a:extLst>
              <a:ext uri="{FF2B5EF4-FFF2-40B4-BE49-F238E27FC236}">
                <a16:creationId xmlns:a16="http://schemas.microsoft.com/office/drawing/2014/main" id="{1F3920AA-790D-4B37-A828-5B46769011BD}"/>
              </a:ext>
            </a:extLst>
          </p:cNvPr>
          <p:cNvSpPr>
            <a:spLocks noGrp="1"/>
          </p:cNvSpPr>
          <p:nvPr/>
        </p:nvSpPr>
        <p:spPr>
          <a:xfrm>
            <a:off x="22383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Dealer discovery</a:t>
            </a:r>
          </a:p>
        </p:txBody>
      </p:sp>
      <p:sp>
        <p:nvSpPr>
          <p:cNvPr id="42" name="dealer-discovery-detail">
            <a:extLst>
              <a:ext uri="{FF2B5EF4-FFF2-40B4-BE49-F238E27FC236}">
                <a16:creationId xmlns:a16="http://schemas.microsoft.com/office/drawing/2014/main" id="{EABDC3B9-35AB-4FD7-8F40-CDE7DFB67426}"/>
              </a:ext>
            </a:extLst>
          </p:cNvPr>
          <p:cNvSpPr>
            <a:spLocks noGrp="1"/>
          </p:cNvSpPr>
          <p:nvPr/>
        </p:nvSpPr>
        <p:spPr>
          <a:xfrm>
            <a:off x="22383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ZIP / geo search</a:t>
            </a:r>
          </a:p>
        </p:txBody>
      </p:sp>
      <p:sp>
        <p:nvSpPr>
          <p:cNvPr id="43" name="vehicle-service">
            <a:extLst>
              <a:ext uri="{FF2B5EF4-FFF2-40B4-BE49-F238E27FC236}">
                <a16:creationId xmlns:a16="http://schemas.microsoft.com/office/drawing/2014/main" id="{A9B8E487-5321-4EC4-AE63-9A439D38F360}"/>
              </a:ext>
            </a:extLst>
          </p:cNvPr>
          <p:cNvSpPr>
            <a:spLocks noGrp="1"/>
          </p:cNvSpPr>
          <p:nvPr/>
        </p:nvSpPr>
        <p:spPr>
          <a:xfrm>
            <a:off x="3400425" y="3314700"/>
            <a:ext cx="1123950" cy="685800"/>
          </a:xfrm>
          <a:prstGeom prst="roundRect">
            <a:avLst>
              <a:gd name="adj" fmla="val 11111"/>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44" name="vehicle-service-title">
            <a:extLst>
              <a:ext uri="{FF2B5EF4-FFF2-40B4-BE49-F238E27FC236}">
                <a16:creationId xmlns:a16="http://schemas.microsoft.com/office/drawing/2014/main" id="{0BAA42D2-CB49-4730-9567-7007981988D8}"/>
              </a:ext>
            </a:extLst>
          </p:cNvPr>
          <p:cNvSpPr>
            <a:spLocks noGrp="1"/>
          </p:cNvSpPr>
          <p:nvPr/>
        </p:nvSpPr>
        <p:spPr>
          <a:xfrm>
            <a:off x="34956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Vehicle service</a:t>
            </a:r>
          </a:p>
        </p:txBody>
      </p:sp>
      <p:sp>
        <p:nvSpPr>
          <p:cNvPr id="45" name="vehicle-service-detail">
            <a:extLst>
              <a:ext uri="{FF2B5EF4-FFF2-40B4-BE49-F238E27FC236}">
                <a16:creationId xmlns:a16="http://schemas.microsoft.com/office/drawing/2014/main" id="{4E49202B-C7F7-4C6D-86D2-D1A4224D19DD}"/>
              </a:ext>
            </a:extLst>
          </p:cNvPr>
          <p:cNvSpPr>
            <a:spLocks noGrp="1"/>
          </p:cNvSpPr>
          <p:nvPr/>
        </p:nvSpPr>
        <p:spPr>
          <a:xfrm>
            <a:off x="34956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VIN + repair history</a:t>
            </a:r>
          </a:p>
        </p:txBody>
      </p:sp>
      <p:sp>
        <p:nvSpPr>
          <p:cNvPr id="46" name="availability-service">
            <a:extLst>
              <a:ext uri="{FF2B5EF4-FFF2-40B4-BE49-F238E27FC236}">
                <a16:creationId xmlns:a16="http://schemas.microsoft.com/office/drawing/2014/main" id="{25E58BC6-6588-4172-A3EE-44FC72FE492A}"/>
              </a:ext>
            </a:extLst>
          </p:cNvPr>
          <p:cNvSpPr>
            <a:spLocks noGrp="1"/>
          </p:cNvSpPr>
          <p:nvPr/>
        </p:nvSpPr>
        <p:spPr>
          <a:xfrm>
            <a:off x="4657725" y="3314700"/>
            <a:ext cx="1123950" cy="685800"/>
          </a:xfrm>
          <a:prstGeom prst="roundRect">
            <a:avLst>
              <a:gd name="adj" fmla="val 11111"/>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47" name="availability-service-title">
            <a:extLst>
              <a:ext uri="{FF2B5EF4-FFF2-40B4-BE49-F238E27FC236}">
                <a16:creationId xmlns:a16="http://schemas.microsoft.com/office/drawing/2014/main" id="{EA464B89-ED15-420A-B896-F6B06E3BF3FF}"/>
              </a:ext>
            </a:extLst>
          </p:cNvPr>
          <p:cNvSpPr>
            <a:spLocks noGrp="1"/>
          </p:cNvSpPr>
          <p:nvPr/>
        </p:nvSpPr>
        <p:spPr>
          <a:xfrm>
            <a:off x="47529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Availability</a:t>
            </a:r>
          </a:p>
        </p:txBody>
      </p:sp>
      <p:sp>
        <p:nvSpPr>
          <p:cNvPr id="48" name="availability-service-detail">
            <a:extLst>
              <a:ext uri="{FF2B5EF4-FFF2-40B4-BE49-F238E27FC236}">
                <a16:creationId xmlns:a16="http://schemas.microsoft.com/office/drawing/2014/main" id="{914352BB-8A0C-42F4-95CC-C6C03B35F870}"/>
              </a:ext>
            </a:extLst>
          </p:cNvPr>
          <p:cNvSpPr>
            <a:spLocks noGrp="1"/>
          </p:cNvSpPr>
          <p:nvPr/>
        </p:nvSpPr>
        <p:spPr>
          <a:xfrm>
            <a:off x="47529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Search + short hold</a:t>
            </a:r>
          </a:p>
        </p:txBody>
      </p:sp>
      <p:sp>
        <p:nvSpPr>
          <p:cNvPr id="49" name="booking-service">
            <a:extLst>
              <a:ext uri="{FF2B5EF4-FFF2-40B4-BE49-F238E27FC236}">
                <a16:creationId xmlns:a16="http://schemas.microsoft.com/office/drawing/2014/main" id="{8A4D8326-8F9E-463D-AF75-6FBBBA748B86}"/>
              </a:ext>
            </a:extLst>
          </p:cNvPr>
          <p:cNvSpPr>
            <a:spLocks noGrp="1"/>
          </p:cNvSpPr>
          <p:nvPr/>
        </p:nvSpPr>
        <p:spPr>
          <a:xfrm>
            <a:off x="5915025" y="3314700"/>
            <a:ext cx="1123950" cy="685800"/>
          </a:xfrm>
          <a:prstGeom prst="roundRect">
            <a:avLst>
              <a:gd name="adj" fmla="val 11111"/>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50" name="booking-service-title">
            <a:extLst>
              <a:ext uri="{FF2B5EF4-FFF2-40B4-BE49-F238E27FC236}">
                <a16:creationId xmlns:a16="http://schemas.microsoft.com/office/drawing/2014/main" id="{4362A58C-215B-4405-AD63-044CE78839CE}"/>
              </a:ext>
            </a:extLst>
          </p:cNvPr>
          <p:cNvSpPr>
            <a:spLocks noGrp="1"/>
          </p:cNvSpPr>
          <p:nvPr/>
        </p:nvSpPr>
        <p:spPr>
          <a:xfrm>
            <a:off x="60102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Booking</a:t>
            </a:r>
          </a:p>
        </p:txBody>
      </p:sp>
      <p:sp>
        <p:nvSpPr>
          <p:cNvPr id="51" name="booking-service-detail">
            <a:extLst>
              <a:ext uri="{FF2B5EF4-FFF2-40B4-BE49-F238E27FC236}">
                <a16:creationId xmlns:a16="http://schemas.microsoft.com/office/drawing/2014/main" id="{7D4C3B4F-40BA-44CE-9782-51AA5C235689}"/>
              </a:ext>
            </a:extLst>
          </p:cNvPr>
          <p:cNvSpPr>
            <a:spLocks noGrp="1"/>
          </p:cNvSpPr>
          <p:nvPr/>
        </p:nvSpPr>
        <p:spPr>
          <a:xfrm>
            <a:off x="60102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Confirm + reconcile</a:t>
            </a:r>
          </a:p>
        </p:txBody>
      </p:sp>
      <p:sp>
        <p:nvSpPr>
          <p:cNvPr id="52" name="location-store">
            <a:extLst>
              <a:ext uri="{FF2B5EF4-FFF2-40B4-BE49-F238E27FC236}">
                <a16:creationId xmlns:a16="http://schemas.microsoft.com/office/drawing/2014/main" id="{E8BF3304-DF63-4BE0-96EE-D3D2C2B858E8}"/>
              </a:ext>
            </a:extLst>
          </p:cNvPr>
          <p:cNvSpPr>
            <a:spLocks noGrp="1"/>
          </p:cNvSpPr>
          <p:nvPr/>
        </p:nvSpPr>
        <p:spPr>
          <a:xfrm>
            <a:off x="21431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3" name="location-store-title">
            <a:extLst>
              <a:ext uri="{FF2B5EF4-FFF2-40B4-BE49-F238E27FC236}">
                <a16:creationId xmlns:a16="http://schemas.microsoft.com/office/drawing/2014/main" id="{B73C317A-AE55-4EA1-9C2F-F93603FE86E6}"/>
              </a:ext>
            </a:extLst>
          </p:cNvPr>
          <p:cNvSpPr>
            <a:spLocks noGrp="1"/>
          </p:cNvSpPr>
          <p:nvPr/>
        </p:nvSpPr>
        <p:spPr>
          <a:xfrm>
            <a:off x="24669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Location Service</a:t>
            </a:r>
          </a:p>
        </p:txBody>
      </p:sp>
      <p:sp>
        <p:nvSpPr>
          <p:cNvPr id="54" name="location-store-detail">
            <a:extLst>
              <a:ext uri="{FF2B5EF4-FFF2-40B4-BE49-F238E27FC236}">
                <a16:creationId xmlns:a16="http://schemas.microsoft.com/office/drawing/2014/main" id="{FAEFCEBB-0EE0-4FC1-8B39-C523FEA601AB}"/>
              </a:ext>
            </a:extLst>
          </p:cNvPr>
          <p:cNvSpPr>
            <a:spLocks noGrp="1"/>
          </p:cNvSpPr>
          <p:nvPr/>
        </p:nvSpPr>
        <p:spPr>
          <a:xfrm>
            <a:off x="2238375" y="4457700"/>
            <a:ext cx="933450" cy="123825"/>
          </a:xfrm>
          <a:prstGeom prst="rect">
            <a:avLst/>
          </a:prstGeom>
          <a:noFill/>
          <a:ln w="0">
            <a:noFill/>
            <a:prstDash val="solid"/>
          </a:ln>
        </p:spPr>
        <p:txBody>
          <a:bodyPr/>
          <a:lstStyle/>
          <a:p>
            <a:pPr algn="ctr">
              <a:buNone/>
              <a:defRPr sz="750">
                <a:solidFill>
                  <a:srgbClr val="4B5563"/>
                </a:solidFill>
              </a:defRPr>
            </a:pPr>
            <a:r>
              <a:rPr sz="750">
                <a:solidFill>
                  <a:srgbClr val="4B5563"/>
                </a:solidFill>
              </a:rPr>
              <a:t>Dealer index</a:t>
            </a:r>
          </a:p>
        </p:txBody>
      </p:sp>
      <p:pic>
        <p:nvPicPr>
          <p:cNvPr id="498" name="Picture 189"/>
          <p:cNvPicPr>
            <a:picLocks noChangeAspect="1"/>
          </p:cNvPicPr>
          <p:nvPr/>
        </p:nvPicPr>
        <p:blipFill>
          <a:blip r:embed="rId14"/>
          <a:stretch/>
        </p:blipFill>
        <p:spPr>
          <a:xfrm>
            <a:off x="2219325" y="4191000"/>
            <a:ext cx="180975" cy="180975"/>
          </a:xfrm>
          <a:prstGeom prst="rect">
            <a:avLst/>
          </a:prstGeom>
        </p:spPr>
      </p:pic>
      <p:sp>
        <p:nvSpPr>
          <p:cNvPr id="56" name="state-store">
            <a:extLst>
              <a:ext uri="{FF2B5EF4-FFF2-40B4-BE49-F238E27FC236}">
                <a16:creationId xmlns:a16="http://schemas.microsoft.com/office/drawing/2014/main" id="{2792D843-9851-461B-975E-D7DF72D06EEF}"/>
              </a:ext>
            </a:extLst>
          </p:cNvPr>
          <p:cNvSpPr>
            <a:spLocks noGrp="1"/>
          </p:cNvSpPr>
          <p:nvPr/>
        </p:nvSpPr>
        <p:spPr>
          <a:xfrm>
            <a:off x="34004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7" name="state-store-title">
            <a:extLst>
              <a:ext uri="{FF2B5EF4-FFF2-40B4-BE49-F238E27FC236}">
                <a16:creationId xmlns:a16="http://schemas.microsoft.com/office/drawing/2014/main" id="{CBC00D88-CAB1-4A66-83C5-BD7E3973E700}"/>
              </a:ext>
            </a:extLst>
          </p:cNvPr>
          <p:cNvSpPr>
            <a:spLocks noGrp="1"/>
          </p:cNvSpPr>
          <p:nvPr/>
        </p:nvSpPr>
        <p:spPr>
          <a:xfrm>
            <a:off x="37242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DynamoDB</a:t>
            </a:r>
          </a:p>
        </p:txBody>
      </p:sp>
      <p:sp>
        <p:nvSpPr>
          <p:cNvPr id="58" name="state-store-detail">
            <a:extLst>
              <a:ext uri="{FF2B5EF4-FFF2-40B4-BE49-F238E27FC236}">
                <a16:creationId xmlns:a16="http://schemas.microsoft.com/office/drawing/2014/main" id="{552A1E8B-887D-4642-A663-7A7001566360}"/>
              </a:ext>
            </a:extLst>
          </p:cNvPr>
          <p:cNvSpPr>
            <a:spLocks noGrp="1"/>
          </p:cNvSpPr>
          <p:nvPr/>
        </p:nvSpPr>
        <p:spPr>
          <a:xfrm>
            <a:off x="34956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Profile • booking • idempotency</a:t>
            </a:r>
          </a:p>
        </p:txBody>
      </p:sp>
      <p:pic>
        <p:nvPicPr>
          <p:cNvPr id="502" name="Picture 193"/>
          <p:cNvPicPr>
            <a:picLocks noChangeAspect="1"/>
          </p:cNvPicPr>
          <p:nvPr/>
        </p:nvPicPr>
        <p:blipFill>
          <a:blip r:embed="rId15"/>
          <a:stretch/>
        </p:blipFill>
        <p:spPr>
          <a:xfrm>
            <a:off x="3476625" y="4191000"/>
            <a:ext cx="180975" cy="180975"/>
          </a:xfrm>
          <a:prstGeom prst="rect">
            <a:avLst/>
          </a:prstGeom>
        </p:spPr>
      </p:pic>
      <p:sp>
        <p:nvSpPr>
          <p:cNvPr id="60" name="cache">
            <a:extLst>
              <a:ext uri="{FF2B5EF4-FFF2-40B4-BE49-F238E27FC236}">
                <a16:creationId xmlns:a16="http://schemas.microsoft.com/office/drawing/2014/main" id="{0F40E30E-B511-4E6E-B035-EA176796A40B}"/>
              </a:ext>
            </a:extLst>
          </p:cNvPr>
          <p:cNvSpPr>
            <a:spLocks noGrp="1"/>
          </p:cNvSpPr>
          <p:nvPr/>
        </p:nvSpPr>
        <p:spPr>
          <a:xfrm>
            <a:off x="46577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1" name="cache-title">
            <a:extLst>
              <a:ext uri="{FF2B5EF4-FFF2-40B4-BE49-F238E27FC236}">
                <a16:creationId xmlns:a16="http://schemas.microsoft.com/office/drawing/2014/main" id="{7B790D79-7FB0-4490-9D56-ABEBA177462E}"/>
              </a:ext>
            </a:extLst>
          </p:cNvPr>
          <p:cNvSpPr>
            <a:spLocks noGrp="1"/>
          </p:cNvSpPr>
          <p:nvPr/>
        </p:nvSpPr>
        <p:spPr>
          <a:xfrm>
            <a:off x="49815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Valkey cache</a:t>
            </a:r>
          </a:p>
        </p:txBody>
      </p:sp>
      <p:sp>
        <p:nvSpPr>
          <p:cNvPr id="62" name="cache-detail">
            <a:extLst>
              <a:ext uri="{FF2B5EF4-FFF2-40B4-BE49-F238E27FC236}">
                <a16:creationId xmlns:a16="http://schemas.microsoft.com/office/drawing/2014/main" id="{CE0FC604-0738-4D72-8288-58CC05A5AAB9}"/>
              </a:ext>
            </a:extLst>
          </p:cNvPr>
          <p:cNvSpPr>
            <a:spLocks noGrp="1"/>
          </p:cNvSpPr>
          <p:nvPr/>
        </p:nvSpPr>
        <p:spPr>
          <a:xfrm>
            <a:off x="47529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Short-lived slot views</a:t>
            </a:r>
          </a:p>
        </p:txBody>
      </p:sp>
      <p:pic>
        <p:nvPicPr>
          <p:cNvPr id="506" name="Picture 197"/>
          <p:cNvPicPr>
            <a:picLocks noChangeAspect="1"/>
          </p:cNvPicPr>
          <p:nvPr/>
        </p:nvPicPr>
        <p:blipFill>
          <a:blip r:embed="rId16"/>
          <a:stretch/>
        </p:blipFill>
        <p:spPr>
          <a:xfrm>
            <a:off x="4733925" y="4191000"/>
            <a:ext cx="180975" cy="180975"/>
          </a:xfrm>
          <a:prstGeom prst="rect">
            <a:avLst/>
          </a:prstGeom>
        </p:spPr>
      </p:pic>
      <p:sp>
        <p:nvSpPr>
          <p:cNvPr id="64" name="events">
            <a:extLst>
              <a:ext uri="{FF2B5EF4-FFF2-40B4-BE49-F238E27FC236}">
                <a16:creationId xmlns:a16="http://schemas.microsoft.com/office/drawing/2014/main" id="{FA6DBAC4-6379-4435-81CF-664A0351B529}"/>
              </a:ext>
            </a:extLst>
          </p:cNvPr>
          <p:cNvSpPr>
            <a:spLocks noGrp="1"/>
          </p:cNvSpPr>
          <p:nvPr/>
        </p:nvSpPr>
        <p:spPr>
          <a:xfrm>
            <a:off x="59150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5" name="events-title">
            <a:extLst>
              <a:ext uri="{FF2B5EF4-FFF2-40B4-BE49-F238E27FC236}">
                <a16:creationId xmlns:a16="http://schemas.microsoft.com/office/drawing/2014/main" id="{934A16AC-DFC3-4D2A-81B8-147063388B24}"/>
              </a:ext>
            </a:extLst>
          </p:cNvPr>
          <p:cNvSpPr>
            <a:spLocks noGrp="1"/>
          </p:cNvSpPr>
          <p:nvPr/>
        </p:nvSpPr>
        <p:spPr>
          <a:xfrm>
            <a:off x="6372225" y="4219575"/>
            <a:ext cx="571500" cy="266700"/>
          </a:xfrm>
          <a:prstGeom prst="rect">
            <a:avLst/>
          </a:prstGeom>
          <a:noFill/>
          <a:ln w="0">
            <a:noFill/>
            <a:prstDash val="solid"/>
          </a:ln>
        </p:spPr>
        <p:txBody>
          <a:bodyPr/>
          <a:lstStyle/>
          <a:p>
            <a:pPr algn="l">
              <a:buNone/>
              <a:defRPr sz="750" b="1">
                <a:solidFill>
                  <a:srgbClr val="172033"/>
                </a:solidFill>
              </a:defRPr>
            </a:pPr>
            <a:r>
              <a:rPr sz="750" b="1">
                <a:solidFill>
                  <a:srgbClr val="172033"/>
                </a:solidFill>
              </a:rPr>
              <a:t>Events + queues</a:t>
            </a:r>
          </a:p>
        </p:txBody>
      </p:sp>
      <p:sp>
        <p:nvSpPr>
          <p:cNvPr id="66" name="events-detail">
            <a:extLst>
              <a:ext uri="{FF2B5EF4-FFF2-40B4-BE49-F238E27FC236}">
                <a16:creationId xmlns:a16="http://schemas.microsoft.com/office/drawing/2014/main" id="{1BDEE7C2-F969-465B-8F13-CC4D8950880C}"/>
              </a:ext>
            </a:extLst>
          </p:cNvPr>
          <p:cNvSpPr>
            <a:spLocks noGrp="1"/>
          </p:cNvSpPr>
          <p:nvPr/>
        </p:nvSpPr>
        <p:spPr>
          <a:xfrm>
            <a:off x="6010275" y="4457700"/>
            <a:ext cx="933450" cy="123825"/>
          </a:xfrm>
          <a:prstGeom prst="rect">
            <a:avLst/>
          </a:prstGeom>
          <a:noFill/>
          <a:ln w="0">
            <a:noFill/>
            <a:prstDash val="solid"/>
          </a:ln>
        </p:spPr>
        <p:txBody>
          <a:bodyPr/>
          <a:lstStyle/>
          <a:p>
            <a:pPr algn="ctr">
              <a:buNone/>
              <a:defRPr sz="600">
                <a:solidFill>
                  <a:srgbClr val="4B5563"/>
                </a:solidFill>
              </a:defRPr>
            </a:pPr>
            <a:r>
              <a:rPr sz="600">
                <a:solidFill>
                  <a:srgbClr val="4B5563"/>
                </a:solidFill>
              </a:rPr>
              <a:t>EventBridge • SQS • DLQs</a:t>
            </a:r>
          </a:p>
        </p:txBody>
      </p:sp>
      <p:pic>
        <p:nvPicPr>
          <p:cNvPr id="510" name="Picture 201"/>
          <p:cNvPicPr>
            <a:picLocks noChangeAspect="1"/>
          </p:cNvPicPr>
          <p:nvPr/>
        </p:nvPicPr>
        <p:blipFill>
          <a:blip r:embed="rId17"/>
          <a:stretch/>
        </p:blipFill>
        <p:spPr>
          <a:xfrm>
            <a:off x="5981700" y="4191000"/>
            <a:ext cx="171450" cy="171450"/>
          </a:xfrm>
          <a:prstGeom prst="rect">
            <a:avLst/>
          </a:prstGeom>
        </p:spPr>
      </p:pic>
      <p:pic>
        <p:nvPicPr>
          <p:cNvPr id="511" name="Picture 202"/>
          <p:cNvPicPr>
            <a:picLocks noChangeAspect="1"/>
          </p:cNvPicPr>
          <p:nvPr/>
        </p:nvPicPr>
        <p:blipFill>
          <a:blip r:embed="rId18"/>
          <a:stretch/>
        </p:blipFill>
        <p:spPr>
          <a:xfrm>
            <a:off x="6162675" y="4191000"/>
            <a:ext cx="171450" cy="171450"/>
          </a:xfrm>
          <a:prstGeom prst="rect">
            <a:avLst/>
          </a:prstGeom>
        </p:spPr>
      </p:pic>
      <p:sp>
        <p:nvSpPr>
          <p:cNvPr id="69" name="integration-boundary">
            <a:extLst>
              <a:ext uri="{FF2B5EF4-FFF2-40B4-BE49-F238E27FC236}">
                <a16:creationId xmlns:a16="http://schemas.microsoft.com/office/drawing/2014/main" id="{866CA051-5B82-4A70-B511-518A47E00AD2}"/>
              </a:ext>
            </a:extLst>
          </p:cNvPr>
          <p:cNvSpPr>
            <a:spLocks noGrp="1"/>
          </p:cNvSpPr>
          <p:nvPr/>
        </p:nvSpPr>
        <p:spPr>
          <a:xfrm>
            <a:off x="7524750" y="2247900"/>
            <a:ext cx="1504950" cy="2552700"/>
          </a:xfrm>
          <a:prstGeom prst="roundRect">
            <a:avLst>
              <a:gd name="adj" fmla="val 5063"/>
            </a:avLst>
          </a:prstGeom>
          <a:solidFill>
            <a:srgbClr val="F5FBFA"/>
          </a:solidFill>
          <a:ln w="14288">
            <a:solidFill>
              <a:srgbClr val="198E84"/>
            </a:solidFill>
            <a:prstDash val="solid"/>
          </a:ln>
        </p:spPr>
        <p:txBody>
          <a:bodyPr/>
          <a:lstStyle/>
          <a:p>
            <a:endParaRPr/>
          </a:p>
        </p:txBody>
      </p:sp>
      <p:sp>
        <p:nvSpPr>
          <p:cNvPr id="70" name="integration-label">
            <a:extLst>
              <a:ext uri="{FF2B5EF4-FFF2-40B4-BE49-F238E27FC236}">
                <a16:creationId xmlns:a16="http://schemas.microsoft.com/office/drawing/2014/main" id="{51DFB3D5-4DC9-4885-A197-6DBDB036A1DE}"/>
              </a:ext>
            </a:extLst>
          </p:cNvPr>
          <p:cNvSpPr>
            <a:spLocks noGrp="1"/>
          </p:cNvSpPr>
          <p:nvPr/>
        </p:nvSpPr>
        <p:spPr>
          <a:xfrm>
            <a:off x="7667625" y="2390775"/>
            <a:ext cx="1219200" cy="361950"/>
          </a:xfrm>
          <a:prstGeom prst="rect">
            <a:avLst/>
          </a:prstGeom>
          <a:noFill/>
          <a:ln w="0">
            <a:noFill/>
            <a:prstDash val="solid"/>
          </a:ln>
        </p:spPr>
        <p:txBody>
          <a:bodyPr/>
          <a:lstStyle/>
          <a:p>
            <a:pPr algn="ctr">
              <a:buNone/>
              <a:defRPr sz="900" b="1">
                <a:solidFill>
                  <a:srgbClr val="198E84"/>
                </a:solidFill>
              </a:defRPr>
            </a:pPr>
            <a:r>
              <a:rPr sz="900" b="1">
                <a:solidFill>
                  <a:srgbClr val="198E84"/>
                </a:solidFill>
              </a:rPr>
              <a:t>STANDARDIZED</a:t>
            </a:r>
          </a:p>
          <a:p>
            <a:pPr algn="ctr">
              <a:buNone/>
              <a:defRPr sz="900" b="1">
                <a:solidFill>
                  <a:srgbClr val="198E84"/>
                </a:solidFill>
              </a:defRPr>
            </a:pPr>
            <a:r>
              <a:rPr sz="900" b="1">
                <a:solidFill>
                  <a:srgbClr val="198E84"/>
                </a:solidFill>
              </a:rPr>
              <a:t>INTEGRATION LAYER</a:t>
            </a:r>
          </a:p>
        </p:txBody>
      </p:sp>
      <p:sp>
        <p:nvSpPr>
          <p:cNvPr id="71" name="vin-adapter">
            <a:extLst>
              <a:ext uri="{FF2B5EF4-FFF2-40B4-BE49-F238E27FC236}">
                <a16:creationId xmlns:a16="http://schemas.microsoft.com/office/drawing/2014/main" id="{52EEC33C-103D-4247-9151-40B8E5F80477}"/>
              </a:ext>
            </a:extLst>
          </p:cNvPr>
          <p:cNvSpPr>
            <a:spLocks noGrp="1"/>
          </p:cNvSpPr>
          <p:nvPr/>
        </p:nvSpPr>
        <p:spPr>
          <a:xfrm>
            <a:off x="7677150" y="28575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2" name="vin-adapter-title">
            <a:extLst>
              <a:ext uri="{FF2B5EF4-FFF2-40B4-BE49-F238E27FC236}">
                <a16:creationId xmlns:a16="http://schemas.microsoft.com/office/drawing/2014/main" id="{E392D961-A4FD-4E6C-9CB2-75270BDCB96E}"/>
              </a:ext>
            </a:extLst>
          </p:cNvPr>
          <p:cNvSpPr>
            <a:spLocks noGrp="1"/>
          </p:cNvSpPr>
          <p:nvPr/>
        </p:nvSpPr>
        <p:spPr>
          <a:xfrm>
            <a:off x="7772400" y="29432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VIN adapter</a:t>
            </a:r>
          </a:p>
        </p:txBody>
      </p:sp>
      <p:sp>
        <p:nvSpPr>
          <p:cNvPr id="73" name="vin-adapter-detail">
            <a:extLst>
              <a:ext uri="{FF2B5EF4-FFF2-40B4-BE49-F238E27FC236}">
                <a16:creationId xmlns:a16="http://schemas.microsoft.com/office/drawing/2014/main" id="{6614008E-0273-468C-9094-B7F26AF2F8ED}"/>
              </a:ext>
            </a:extLst>
          </p:cNvPr>
          <p:cNvSpPr>
            <a:spLocks noGrp="1"/>
          </p:cNvSpPr>
          <p:nvPr/>
        </p:nvSpPr>
        <p:spPr>
          <a:xfrm>
            <a:off x="7772400" y="32004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Timeout + circuit breaker</a:t>
            </a:r>
          </a:p>
        </p:txBody>
      </p:sp>
      <p:sp>
        <p:nvSpPr>
          <p:cNvPr id="74" name="history-adapter">
            <a:extLst>
              <a:ext uri="{FF2B5EF4-FFF2-40B4-BE49-F238E27FC236}">
                <a16:creationId xmlns:a16="http://schemas.microsoft.com/office/drawing/2014/main" id="{F73AC42E-4304-403A-88FD-AA47CAA9B171}"/>
              </a:ext>
            </a:extLst>
          </p:cNvPr>
          <p:cNvSpPr>
            <a:spLocks noGrp="1"/>
          </p:cNvSpPr>
          <p:nvPr/>
        </p:nvSpPr>
        <p:spPr>
          <a:xfrm>
            <a:off x="7677150" y="356235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5" name="history-adapter-title">
            <a:extLst>
              <a:ext uri="{FF2B5EF4-FFF2-40B4-BE49-F238E27FC236}">
                <a16:creationId xmlns:a16="http://schemas.microsoft.com/office/drawing/2014/main" id="{645D44A4-BB70-4AF1-BBB6-76E361A012BB}"/>
              </a:ext>
            </a:extLst>
          </p:cNvPr>
          <p:cNvSpPr>
            <a:spLocks noGrp="1"/>
          </p:cNvSpPr>
          <p:nvPr/>
        </p:nvSpPr>
        <p:spPr>
          <a:xfrm>
            <a:off x="7772400" y="3648075"/>
            <a:ext cx="1009650" cy="257175"/>
          </a:xfrm>
          <a:prstGeom prst="rect">
            <a:avLst/>
          </a:prstGeom>
          <a:noFill/>
          <a:ln w="0">
            <a:noFill/>
            <a:prstDash val="solid"/>
          </a:ln>
        </p:spPr>
        <p:txBody>
          <a:bodyPr/>
          <a:lstStyle/>
          <a:p>
            <a:pPr algn="ctr">
              <a:buNone/>
              <a:defRPr sz="825" b="1">
                <a:solidFill>
                  <a:srgbClr val="172033"/>
                </a:solidFill>
              </a:defRPr>
            </a:pPr>
            <a:r>
              <a:rPr sz="825" b="1">
                <a:solidFill>
                  <a:srgbClr val="172033"/>
                </a:solidFill>
              </a:rPr>
              <a:t>Mainframe adapter</a:t>
            </a:r>
          </a:p>
        </p:txBody>
      </p:sp>
      <p:sp>
        <p:nvSpPr>
          <p:cNvPr id="76" name="history-adapter-detail">
            <a:extLst>
              <a:ext uri="{FF2B5EF4-FFF2-40B4-BE49-F238E27FC236}">
                <a16:creationId xmlns:a16="http://schemas.microsoft.com/office/drawing/2014/main" id="{1C12EACD-A474-4868-B3FB-555F4084F028}"/>
              </a:ext>
            </a:extLst>
          </p:cNvPr>
          <p:cNvSpPr>
            <a:spLocks noGrp="1"/>
          </p:cNvSpPr>
          <p:nvPr/>
        </p:nvSpPr>
        <p:spPr>
          <a:xfrm>
            <a:off x="7772400" y="390525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MQ + schema mapping</a:t>
            </a:r>
          </a:p>
        </p:txBody>
      </p:sp>
      <p:sp>
        <p:nvSpPr>
          <p:cNvPr id="77" name="dealer-adapter">
            <a:extLst>
              <a:ext uri="{FF2B5EF4-FFF2-40B4-BE49-F238E27FC236}">
                <a16:creationId xmlns:a16="http://schemas.microsoft.com/office/drawing/2014/main" id="{C5574E3C-D148-4F7C-AF7B-7CB8F4C8312C}"/>
              </a:ext>
            </a:extLst>
          </p:cNvPr>
          <p:cNvSpPr>
            <a:spLocks noGrp="1"/>
          </p:cNvSpPr>
          <p:nvPr/>
        </p:nvSpPr>
        <p:spPr>
          <a:xfrm>
            <a:off x="7677150" y="42672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8" name="dealer-adapter-title">
            <a:extLst>
              <a:ext uri="{FF2B5EF4-FFF2-40B4-BE49-F238E27FC236}">
                <a16:creationId xmlns:a16="http://schemas.microsoft.com/office/drawing/2014/main" id="{3604F05B-F3AF-40A5-9BEE-CD74EF293B11}"/>
              </a:ext>
            </a:extLst>
          </p:cNvPr>
          <p:cNvSpPr>
            <a:spLocks noGrp="1"/>
          </p:cNvSpPr>
          <p:nvPr/>
        </p:nvSpPr>
        <p:spPr>
          <a:xfrm>
            <a:off x="7772400" y="43529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Dealer adapters</a:t>
            </a:r>
          </a:p>
        </p:txBody>
      </p:sp>
      <p:sp>
        <p:nvSpPr>
          <p:cNvPr id="79" name="dealer-adapter-detail">
            <a:extLst>
              <a:ext uri="{FF2B5EF4-FFF2-40B4-BE49-F238E27FC236}">
                <a16:creationId xmlns:a16="http://schemas.microsoft.com/office/drawing/2014/main" id="{318A87BD-58A9-43E9-80DD-35FE88BCFFDA}"/>
              </a:ext>
            </a:extLst>
          </p:cNvPr>
          <p:cNvSpPr>
            <a:spLocks noGrp="1"/>
          </p:cNvSpPr>
          <p:nvPr/>
        </p:nvSpPr>
        <p:spPr>
          <a:xfrm>
            <a:off x="7772400" y="46101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mTLS • hold / confirm</a:t>
            </a:r>
          </a:p>
        </p:txBody>
      </p:sp>
      <p:sp>
        <p:nvSpPr>
          <p:cNvPr id="80" name="notification">
            <a:extLst>
              <a:ext uri="{FF2B5EF4-FFF2-40B4-BE49-F238E27FC236}">
                <a16:creationId xmlns:a16="http://schemas.microsoft.com/office/drawing/2014/main" id="{EF096123-55EA-48B3-A458-E9A9FB08D28B}"/>
              </a:ext>
            </a:extLst>
          </p:cNvPr>
          <p:cNvSpPr>
            <a:spLocks noGrp="1"/>
          </p:cNvSpPr>
          <p:nvPr/>
        </p:nvSpPr>
        <p:spPr>
          <a:xfrm>
            <a:off x="2000250" y="5000625"/>
            <a:ext cx="2324100" cy="552450"/>
          </a:xfrm>
          <a:prstGeom prst="roundRect">
            <a:avLst>
              <a:gd name="adj" fmla="val 13793"/>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81" name="notification-title">
            <a:extLst>
              <a:ext uri="{FF2B5EF4-FFF2-40B4-BE49-F238E27FC236}">
                <a16:creationId xmlns:a16="http://schemas.microsoft.com/office/drawing/2014/main" id="{49ABD89B-B5F8-41BA-B61C-73A7078D0675}"/>
              </a:ext>
            </a:extLst>
          </p:cNvPr>
          <p:cNvSpPr>
            <a:spLocks noGrp="1"/>
          </p:cNvSpPr>
          <p:nvPr/>
        </p:nvSpPr>
        <p:spPr>
          <a:xfrm>
            <a:off x="2619375" y="5086350"/>
            <a:ext cx="1609725"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Notifications</a:t>
            </a:r>
          </a:p>
        </p:txBody>
      </p:sp>
      <p:sp>
        <p:nvSpPr>
          <p:cNvPr id="82" name="notification-detail">
            <a:extLst>
              <a:ext uri="{FF2B5EF4-FFF2-40B4-BE49-F238E27FC236}">
                <a16:creationId xmlns:a16="http://schemas.microsoft.com/office/drawing/2014/main" id="{B88FB386-5E40-4578-B075-0F29A610E2F7}"/>
              </a:ext>
            </a:extLst>
          </p:cNvPr>
          <p:cNvSpPr>
            <a:spLocks noGrp="1"/>
          </p:cNvSpPr>
          <p:nvPr/>
        </p:nvSpPr>
        <p:spPr>
          <a:xfrm>
            <a:off x="2095500" y="5295900"/>
            <a:ext cx="21336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SES email • SNS SMS • reminders</a:t>
            </a:r>
          </a:p>
        </p:txBody>
      </p:sp>
      <p:pic>
        <p:nvPicPr>
          <p:cNvPr id="526" name="Picture 217"/>
          <p:cNvPicPr>
            <a:picLocks noChangeAspect="1"/>
          </p:cNvPicPr>
          <p:nvPr/>
        </p:nvPicPr>
        <p:blipFill>
          <a:blip r:embed="rId19"/>
          <a:stretch/>
        </p:blipFill>
        <p:spPr>
          <a:xfrm>
            <a:off x="2095500" y="5076825"/>
            <a:ext cx="209550" cy="209550"/>
          </a:xfrm>
          <a:prstGeom prst="rect">
            <a:avLst/>
          </a:prstGeom>
        </p:spPr>
      </p:pic>
      <p:pic>
        <p:nvPicPr>
          <p:cNvPr id="527" name="Picture 218"/>
          <p:cNvPicPr>
            <a:picLocks noChangeAspect="1"/>
          </p:cNvPicPr>
          <p:nvPr/>
        </p:nvPicPr>
        <p:blipFill>
          <a:blip r:embed="rId20"/>
          <a:stretch/>
        </p:blipFill>
        <p:spPr>
          <a:xfrm>
            <a:off x="2324100" y="5076825"/>
            <a:ext cx="209550" cy="209550"/>
          </a:xfrm>
          <a:prstGeom prst="rect">
            <a:avLst/>
          </a:prstGeom>
        </p:spPr>
      </p:pic>
      <p:sp>
        <p:nvSpPr>
          <p:cNvPr id="85" name="reliability">
            <a:extLst>
              <a:ext uri="{FF2B5EF4-FFF2-40B4-BE49-F238E27FC236}">
                <a16:creationId xmlns:a16="http://schemas.microsoft.com/office/drawing/2014/main" id="{D9FD27BC-D740-442A-A4D8-A5311872C273}"/>
              </a:ext>
            </a:extLst>
          </p:cNvPr>
          <p:cNvSpPr>
            <a:spLocks noGrp="1"/>
          </p:cNvSpPr>
          <p:nvPr/>
        </p:nvSpPr>
        <p:spPr>
          <a:xfrm>
            <a:off x="4476750" y="5000625"/>
            <a:ext cx="2857500" cy="552450"/>
          </a:xfrm>
          <a:prstGeom prst="roundRect">
            <a:avLst>
              <a:gd name="adj" fmla="val 13793"/>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86" name="reliability-title">
            <a:extLst>
              <a:ext uri="{FF2B5EF4-FFF2-40B4-BE49-F238E27FC236}">
                <a16:creationId xmlns:a16="http://schemas.microsoft.com/office/drawing/2014/main" id="{91BAE051-B137-49BF-A466-33350E2DBDC0}"/>
              </a:ext>
            </a:extLst>
          </p:cNvPr>
          <p:cNvSpPr>
            <a:spLocks noGrp="1"/>
          </p:cNvSpPr>
          <p:nvPr/>
        </p:nvSpPr>
        <p:spPr>
          <a:xfrm>
            <a:off x="4572000" y="5086350"/>
            <a:ext cx="2667000" cy="238125"/>
          </a:xfrm>
          <a:prstGeom prst="rect">
            <a:avLst/>
          </a:prstGeom>
          <a:noFill/>
          <a:ln w="0">
            <a:noFill/>
            <a:prstDash val="solid"/>
          </a:ln>
        </p:spPr>
        <p:txBody>
          <a:bodyPr/>
          <a:lstStyle/>
          <a:p>
            <a:pPr algn="ctr">
              <a:buNone/>
              <a:defRPr sz="1050" b="1">
                <a:solidFill>
                  <a:srgbClr val="172033"/>
                </a:solidFill>
              </a:defRPr>
            </a:pPr>
            <a:r>
              <a:rPr sz="1050" b="1">
                <a:solidFill>
                  <a:srgbClr val="172033"/>
                </a:solidFill>
              </a:rPr>
              <a:t>Reliability controls</a:t>
            </a:r>
          </a:p>
        </p:txBody>
      </p:sp>
      <p:sp>
        <p:nvSpPr>
          <p:cNvPr id="87" name="reliability-detail">
            <a:extLst>
              <a:ext uri="{FF2B5EF4-FFF2-40B4-BE49-F238E27FC236}">
                <a16:creationId xmlns:a16="http://schemas.microsoft.com/office/drawing/2014/main" id="{C22AD541-EBA9-4129-B94B-9BE8F12A89F7}"/>
              </a:ext>
            </a:extLst>
          </p:cNvPr>
          <p:cNvSpPr>
            <a:spLocks noGrp="1"/>
          </p:cNvSpPr>
          <p:nvPr/>
        </p:nvSpPr>
        <p:spPr>
          <a:xfrm>
            <a:off x="4572000" y="5295900"/>
            <a:ext cx="26670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Retries • DLQs • reconciliation • audit trail</a:t>
            </a:r>
          </a:p>
        </p:txBody>
      </p:sp>
      <p:sp>
        <p:nvSpPr>
          <p:cNvPr id="88" name="vin-system">
            <a:extLst>
              <a:ext uri="{FF2B5EF4-FFF2-40B4-BE49-F238E27FC236}">
                <a16:creationId xmlns:a16="http://schemas.microsoft.com/office/drawing/2014/main" id="{A4BDF5F0-F65D-4076-9E48-73B5841CBC09}"/>
              </a:ext>
            </a:extLst>
          </p:cNvPr>
          <p:cNvSpPr>
            <a:spLocks noGrp="1"/>
          </p:cNvSpPr>
          <p:nvPr/>
        </p:nvSpPr>
        <p:spPr>
          <a:xfrm>
            <a:off x="9477375" y="2143125"/>
            <a:ext cx="2266950" cy="723900"/>
          </a:xfrm>
          <a:prstGeom prst="roundRect">
            <a:avLst>
              <a:gd name="adj" fmla="val 10526"/>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89" name="vin-system-title">
            <a:extLst>
              <a:ext uri="{FF2B5EF4-FFF2-40B4-BE49-F238E27FC236}">
                <a16:creationId xmlns:a16="http://schemas.microsoft.com/office/drawing/2014/main" id="{146D1A79-EBEE-4159-A498-43E918DFF81E}"/>
              </a:ext>
            </a:extLst>
          </p:cNvPr>
          <p:cNvSpPr>
            <a:spLocks noGrp="1"/>
          </p:cNvSpPr>
          <p:nvPr/>
        </p:nvSpPr>
        <p:spPr>
          <a:xfrm>
            <a:off x="9572625" y="22288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On-prem VIN API</a:t>
            </a:r>
          </a:p>
        </p:txBody>
      </p:sp>
      <p:sp>
        <p:nvSpPr>
          <p:cNvPr id="90" name="vin-system-detail">
            <a:extLst>
              <a:ext uri="{FF2B5EF4-FFF2-40B4-BE49-F238E27FC236}">
                <a16:creationId xmlns:a16="http://schemas.microsoft.com/office/drawing/2014/main" id="{856B602F-A2CE-4A9F-B932-522D26C641A5}"/>
              </a:ext>
            </a:extLst>
          </p:cNvPr>
          <p:cNvSpPr>
            <a:spLocks noGrp="1"/>
          </p:cNvSpPr>
          <p:nvPr/>
        </p:nvSpPr>
        <p:spPr>
          <a:xfrm>
            <a:off x="9572625" y="252412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Vehicle authority</a:t>
            </a:r>
          </a:p>
        </p:txBody>
      </p:sp>
      <p:sp>
        <p:nvSpPr>
          <p:cNvPr id="91" name="mainframe">
            <a:extLst>
              <a:ext uri="{FF2B5EF4-FFF2-40B4-BE49-F238E27FC236}">
                <a16:creationId xmlns:a16="http://schemas.microsoft.com/office/drawing/2014/main" id="{79C4B9BA-002F-48A2-9EAE-5A34409120DB}"/>
              </a:ext>
            </a:extLst>
          </p:cNvPr>
          <p:cNvSpPr>
            <a:spLocks noGrp="1"/>
          </p:cNvSpPr>
          <p:nvPr/>
        </p:nvSpPr>
        <p:spPr>
          <a:xfrm>
            <a:off x="9477375" y="3190875"/>
            <a:ext cx="2266950" cy="723900"/>
          </a:xfrm>
          <a:prstGeom prst="roundRect">
            <a:avLst>
              <a:gd name="adj" fmla="val 10526"/>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92" name="mainframe-title">
            <a:extLst>
              <a:ext uri="{FF2B5EF4-FFF2-40B4-BE49-F238E27FC236}">
                <a16:creationId xmlns:a16="http://schemas.microsoft.com/office/drawing/2014/main" id="{03AEDBC3-62C8-4809-81A5-B09AD67E0E7C}"/>
              </a:ext>
            </a:extLst>
          </p:cNvPr>
          <p:cNvSpPr>
            <a:spLocks noGrp="1"/>
          </p:cNvSpPr>
          <p:nvPr/>
        </p:nvSpPr>
        <p:spPr>
          <a:xfrm>
            <a:off x="9572625" y="3276600"/>
            <a:ext cx="2076450" cy="238125"/>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Mainframe repair history</a:t>
            </a:r>
          </a:p>
        </p:txBody>
      </p:sp>
      <p:sp>
        <p:nvSpPr>
          <p:cNvPr id="93" name="mainframe-detail">
            <a:extLst>
              <a:ext uri="{FF2B5EF4-FFF2-40B4-BE49-F238E27FC236}">
                <a16:creationId xmlns:a16="http://schemas.microsoft.com/office/drawing/2014/main" id="{F21C2B64-0953-4A3F-AB55-2DA469C9CF74}"/>
              </a:ext>
            </a:extLst>
          </p:cNvPr>
          <p:cNvSpPr>
            <a:spLocks noGrp="1"/>
          </p:cNvSpPr>
          <p:nvPr/>
        </p:nvSpPr>
        <p:spPr>
          <a:xfrm>
            <a:off x="9572625" y="357187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Service-record authority</a:t>
            </a:r>
          </a:p>
        </p:txBody>
      </p:sp>
      <p:sp>
        <p:nvSpPr>
          <p:cNvPr id="94" name="dealer-systems">
            <a:extLst>
              <a:ext uri="{FF2B5EF4-FFF2-40B4-BE49-F238E27FC236}">
                <a16:creationId xmlns:a16="http://schemas.microsoft.com/office/drawing/2014/main" id="{DEDBEF01-E429-4F9D-8B93-B9902C23DA9D}"/>
              </a:ext>
            </a:extLst>
          </p:cNvPr>
          <p:cNvSpPr>
            <a:spLocks noGrp="1"/>
          </p:cNvSpPr>
          <p:nvPr/>
        </p:nvSpPr>
        <p:spPr>
          <a:xfrm>
            <a:off x="9477375" y="4238625"/>
            <a:ext cx="2266950" cy="800100"/>
          </a:xfrm>
          <a:prstGeom prst="roundRect">
            <a:avLst>
              <a:gd name="adj" fmla="val 9524"/>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95" name="dealer-systems-title">
            <a:extLst>
              <a:ext uri="{FF2B5EF4-FFF2-40B4-BE49-F238E27FC236}">
                <a16:creationId xmlns:a16="http://schemas.microsoft.com/office/drawing/2014/main" id="{C0AE1630-48E3-4088-859B-50F3DC8FA9FB}"/>
              </a:ext>
            </a:extLst>
          </p:cNvPr>
          <p:cNvSpPr>
            <a:spLocks noGrp="1"/>
          </p:cNvSpPr>
          <p:nvPr/>
        </p:nvSpPr>
        <p:spPr>
          <a:xfrm>
            <a:off x="9572625" y="43243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2,500+ dealer systems</a:t>
            </a:r>
          </a:p>
        </p:txBody>
      </p:sp>
      <p:sp>
        <p:nvSpPr>
          <p:cNvPr id="96" name="dealer-systems-detail">
            <a:extLst>
              <a:ext uri="{FF2B5EF4-FFF2-40B4-BE49-F238E27FC236}">
                <a16:creationId xmlns:a16="http://schemas.microsoft.com/office/drawing/2014/main" id="{83E882FB-A395-4E25-A387-2E31B2D4F3A8}"/>
              </a:ext>
            </a:extLst>
          </p:cNvPr>
          <p:cNvSpPr>
            <a:spLocks noGrp="1"/>
          </p:cNvSpPr>
          <p:nvPr/>
        </p:nvSpPr>
        <p:spPr>
          <a:xfrm>
            <a:off x="9572625" y="4638675"/>
            <a:ext cx="2076450" cy="333375"/>
          </a:xfrm>
          <a:prstGeom prst="rect">
            <a:avLst/>
          </a:prstGeom>
          <a:noFill/>
          <a:ln w="0">
            <a:noFill/>
            <a:prstDash val="solid"/>
          </a:ln>
        </p:spPr>
        <p:txBody>
          <a:bodyPr/>
          <a:lstStyle/>
          <a:p>
            <a:pPr algn="ctr">
              <a:buNone/>
              <a:defRPr sz="900">
                <a:solidFill>
                  <a:srgbClr val="4B5563"/>
                </a:solidFill>
              </a:defRPr>
            </a:pPr>
            <a:r>
              <a:rPr sz="900">
                <a:solidFill>
                  <a:srgbClr val="4B5563"/>
                </a:solidFill>
              </a:rPr>
              <a:t>Authoritative slots + appointments</a:t>
            </a:r>
          </a:p>
        </p:txBody>
      </p:sp>
      <p:sp>
        <p:nvSpPr>
          <p:cNvPr id="97" name="brownfield-label">
            <a:extLst>
              <a:ext uri="{FF2B5EF4-FFF2-40B4-BE49-F238E27FC236}">
                <a16:creationId xmlns:a16="http://schemas.microsoft.com/office/drawing/2014/main" id="{ED960C67-D1B2-4EB3-B39E-351ACE12A02D}"/>
              </a:ext>
            </a:extLst>
          </p:cNvPr>
          <p:cNvSpPr>
            <a:spLocks noGrp="1"/>
          </p:cNvSpPr>
          <p:nvPr/>
        </p:nvSpPr>
        <p:spPr>
          <a:xfrm>
            <a:off x="9477375" y="1695450"/>
            <a:ext cx="2266950" cy="209550"/>
          </a:xfrm>
          <a:prstGeom prst="rect">
            <a:avLst/>
          </a:prstGeom>
          <a:noFill/>
          <a:ln w="0">
            <a:noFill/>
            <a:prstDash val="solid"/>
          </a:ln>
        </p:spPr>
        <p:txBody>
          <a:bodyPr/>
          <a:lstStyle/>
          <a:p>
            <a:pPr algn="ctr">
              <a:buNone/>
              <a:defRPr sz="975" b="1">
                <a:solidFill>
                  <a:srgbClr val="5B6472"/>
                </a:solidFill>
              </a:defRPr>
            </a:pPr>
            <a:r>
              <a:rPr sz="975" b="1">
                <a:solidFill>
                  <a:srgbClr val="5B6472"/>
                </a:solidFill>
              </a:rPr>
              <a:t>BROWNFIELD SYSTEMS</a:t>
            </a:r>
          </a:p>
        </p:txBody>
      </p:sp>
      <p:sp>
        <p:nvSpPr>
          <p:cNvPr id="98" name="dr">
            <a:extLst>
              <a:ext uri="{FF2B5EF4-FFF2-40B4-BE49-F238E27FC236}">
                <a16:creationId xmlns:a16="http://schemas.microsoft.com/office/drawing/2014/main" id="{2DFC90EC-1D50-4DB4-970E-46A66320C2A6}"/>
              </a:ext>
            </a:extLst>
          </p:cNvPr>
          <p:cNvSpPr>
            <a:spLocks noGrp="1"/>
          </p:cNvSpPr>
          <p:nvPr/>
        </p:nvSpPr>
        <p:spPr>
          <a:xfrm>
            <a:off x="1743075" y="6115050"/>
            <a:ext cx="7524750" cy="523875"/>
          </a:xfrm>
          <a:prstGeom prst="roundRect">
            <a:avLst>
              <a:gd name="adj" fmla="val 14545"/>
            </a:avLst>
          </a:prstGeom>
          <a:solidFill>
            <a:srgbClr val="F4F7FA"/>
          </a:solidFill>
          <a:ln w="13335">
            <a:solidFill>
              <a:srgbClr val="5B6472"/>
            </a:solidFill>
            <a:prstDash val="solid"/>
          </a:ln>
        </p:spPr>
        <p:txBody>
          <a:bodyPr/>
          <a:lstStyle/>
          <a:p>
            <a:endParaRPr/>
          </a:p>
        </p:txBody>
      </p:sp>
      <p:sp>
        <p:nvSpPr>
          <p:cNvPr id="99" name="dr-title">
            <a:extLst>
              <a:ext uri="{FF2B5EF4-FFF2-40B4-BE49-F238E27FC236}">
                <a16:creationId xmlns:a16="http://schemas.microsoft.com/office/drawing/2014/main" id="{D917AF59-812E-4362-B099-D79E080D8AD5}"/>
              </a:ext>
            </a:extLst>
          </p:cNvPr>
          <p:cNvSpPr>
            <a:spLocks noGrp="1"/>
          </p:cNvSpPr>
          <p:nvPr/>
        </p:nvSpPr>
        <p:spPr>
          <a:xfrm>
            <a:off x="2200275" y="6200775"/>
            <a:ext cx="6972300"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Secondary AWS Region • warm standby</a:t>
            </a:r>
          </a:p>
        </p:txBody>
      </p:sp>
      <p:sp>
        <p:nvSpPr>
          <p:cNvPr id="100" name="dr-detail">
            <a:extLst>
              <a:ext uri="{FF2B5EF4-FFF2-40B4-BE49-F238E27FC236}">
                <a16:creationId xmlns:a16="http://schemas.microsoft.com/office/drawing/2014/main" id="{31630C35-4CD1-4B46-A406-F4BA2F94FD2E}"/>
              </a:ext>
            </a:extLst>
          </p:cNvPr>
          <p:cNvSpPr>
            <a:spLocks noGrp="1"/>
          </p:cNvSpPr>
          <p:nvPr/>
        </p:nvSpPr>
        <p:spPr>
          <a:xfrm>
            <a:off x="1838325" y="6391275"/>
            <a:ext cx="7334250" cy="180975"/>
          </a:xfrm>
          <a:prstGeom prst="rect">
            <a:avLst/>
          </a:prstGeom>
          <a:noFill/>
          <a:ln w="0">
            <a:noFill/>
            <a:prstDash val="solid"/>
          </a:ln>
        </p:spPr>
        <p:txBody>
          <a:bodyPr/>
          <a:lstStyle/>
          <a:p>
            <a:pPr algn="ctr">
              <a:buNone/>
              <a:defRPr sz="825">
                <a:solidFill>
                  <a:srgbClr val="4B5563"/>
                </a:solidFill>
              </a:defRPr>
            </a:pPr>
            <a:r>
              <a:rPr sz="825">
                <a:solidFill>
                  <a:srgbClr val="4B5563"/>
                </a:solidFill>
              </a:rPr>
              <a:t>Route 53 failover • DynamoDB Global Tables • replicated assets • IaC recovery</a:t>
            </a:r>
          </a:p>
        </p:txBody>
      </p:sp>
      <p:pic>
        <p:nvPicPr>
          <p:cNvPr id="544" name="Picture 235"/>
          <p:cNvPicPr>
            <a:picLocks noChangeAspect="1"/>
          </p:cNvPicPr>
          <p:nvPr/>
        </p:nvPicPr>
        <p:blipFill>
          <a:blip r:embed="rId21"/>
          <a:stretch/>
        </p:blipFill>
        <p:spPr>
          <a:xfrm>
            <a:off x="1857375" y="6181725"/>
            <a:ext cx="238125" cy="238125"/>
          </a:xfrm>
          <a:prstGeom prst="rect">
            <a:avLst/>
          </a:prstGeom>
        </p:spPr>
      </p:pic>
      <p:sp>
        <p:nvSpPr>
          <p:cNvPr id="102" name="find-dealer-journey-tag">
            <a:extLst>
              <a:ext uri="{FF2B5EF4-FFF2-40B4-BE49-F238E27FC236}">
                <a16:creationId xmlns:a16="http://schemas.microsoft.com/office/drawing/2014/main" id="{7462B2D3-791C-4E79-BFD3-BE74878B8F55}"/>
              </a:ext>
            </a:extLst>
          </p:cNvPr>
          <p:cNvSpPr>
            <a:spLocks noGrp="1"/>
          </p:cNvSpPr>
          <p:nvPr/>
        </p:nvSpPr>
        <p:spPr>
          <a:xfrm>
            <a:off x="9496425" y="1304925"/>
            <a:ext cx="2247900" cy="304800"/>
          </a:xfrm>
          <a:prstGeom prst="roundRect">
            <a:avLst>
              <a:gd name="adj" fmla="val 25000"/>
            </a:avLst>
          </a:prstGeom>
          <a:solidFill>
            <a:srgbClr val="E8F7F5"/>
          </a:solidFill>
          <a:ln w="11430">
            <a:solidFill>
              <a:srgbClr val="08A89B"/>
            </a:solidFill>
            <a:prstDash val="solid"/>
          </a:ln>
        </p:spPr>
        <p:txBody>
          <a:bodyPr/>
          <a:lstStyle/>
          <a:p>
            <a:endParaRPr/>
          </a:p>
        </p:txBody>
      </p:sp>
      <p:sp>
        <p:nvSpPr>
          <p:cNvPr id="103" name="find-dealer-journey-tag-text">
            <a:extLst>
              <a:ext uri="{FF2B5EF4-FFF2-40B4-BE49-F238E27FC236}">
                <a16:creationId xmlns:a16="http://schemas.microsoft.com/office/drawing/2014/main" id="{D4CB5B62-86E5-4CC9-BF60-D9FE487983B3}"/>
              </a:ext>
            </a:extLst>
          </p:cNvPr>
          <p:cNvSpPr>
            <a:spLocks noGrp="1"/>
          </p:cNvSpPr>
          <p:nvPr/>
        </p:nvSpPr>
        <p:spPr>
          <a:xfrm>
            <a:off x="9591675" y="1371600"/>
            <a:ext cx="2057400" cy="171450"/>
          </a:xfrm>
          <a:prstGeom prst="rect">
            <a:avLst/>
          </a:prstGeom>
          <a:noFill/>
          <a:ln w="0">
            <a:noFill/>
            <a:prstDash val="solid"/>
          </a:ln>
        </p:spPr>
        <p:txBody>
          <a:bodyPr/>
          <a:lstStyle/>
          <a:p>
            <a:pPr algn="ctr">
              <a:buNone/>
              <a:defRPr sz="825" b="1">
                <a:solidFill>
                  <a:srgbClr val="087F75"/>
                </a:solidFill>
              </a:defRPr>
            </a:pPr>
            <a:r>
              <a:rPr sz="825" b="1">
                <a:solidFill>
                  <a:srgbClr val="087F75"/>
                </a:solidFill>
              </a:rPr>
              <a:t>JOURNEY 4  •  SELECT &amp; BOOK A SLOT</a:t>
            </a:r>
          </a:p>
        </p:txBody>
      </p:sp>
      <p:sp>
        <p:nvSpPr>
          <p:cNvPr id="104" name="journey-step-1">
            <a:extLst>
              <a:ext uri="{FF2B5EF4-FFF2-40B4-BE49-F238E27FC236}">
                <a16:creationId xmlns:a16="http://schemas.microsoft.com/office/drawing/2014/main" id="{1BF1BD22-590C-4C92-9EDC-ED63E87D9C77}"/>
              </a:ext>
            </a:extLst>
          </p:cNvPr>
          <p:cNvSpPr>
            <a:spLocks noGrp="1"/>
          </p:cNvSpPr>
          <p:nvPr/>
        </p:nvSpPr>
        <p:spPr>
          <a:xfrm>
            <a:off x="1400175" y="2524125"/>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5" name="journey-step-1-number">
            <a:extLst>
              <a:ext uri="{FF2B5EF4-FFF2-40B4-BE49-F238E27FC236}">
                <a16:creationId xmlns:a16="http://schemas.microsoft.com/office/drawing/2014/main" id="{A6F25371-878D-496A-BFBB-B78317B978DB}"/>
              </a:ext>
            </a:extLst>
          </p:cNvPr>
          <p:cNvSpPr>
            <a:spLocks noGrp="1"/>
          </p:cNvSpPr>
          <p:nvPr/>
        </p:nvSpPr>
        <p:spPr>
          <a:xfrm>
            <a:off x="1400175" y="2543175"/>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1</a:t>
            </a:r>
          </a:p>
        </p:txBody>
      </p:sp>
      <p:sp>
        <p:nvSpPr>
          <p:cNvPr id="106" name="journey-step-2">
            <a:extLst>
              <a:ext uri="{FF2B5EF4-FFF2-40B4-BE49-F238E27FC236}">
                <a16:creationId xmlns:a16="http://schemas.microsoft.com/office/drawing/2014/main" id="{174DE2BC-A5AB-4C0A-90F5-D4E3D70D722A}"/>
              </a:ext>
            </a:extLst>
          </p:cNvPr>
          <p:cNvSpPr>
            <a:spLocks noGrp="1"/>
          </p:cNvSpPr>
          <p:nvPr/>
        </p:nvSpPr>
        <p:spPr>
          <a:xfrm>
            <a:off x="5657850" y="32004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7" name="journey-step-2-number">
            <a:extLst>
              <a:ext uri="{FF2B5EF4-FFF2-40B4-BE49-F238E27FC236}">
                <a16:creationId xmlns:a16="http://schemas.microsoft.com/office/drawing/2014/main" id="{05933934-6F3D-4316-A4AE-38E7EC5CD872}"/>
              </a:ext>
            </a:extLst>
          </p:cNvPr>
          <p:cNvSpPr>
            <a:spLocks noGrp="1"/>
          </p:cNvSpPr>
          <p:nvPr/>
        </p:nvSpPr>
        <p:spPr>
          <a:xfrm>
            <a:off x="5657850" y="32194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08" name="journey-step-3">
            <a:extLst>
              <a:ext uri="{FF2B5EF4-FFF2-40B4-BE49-F238E27FC236}">
                <a16:creationId xmlns:a16="http://schemas.microsoft.com/office/drawing/2014/main" id="{053F03A2-70AA-435D-B8F7-FD0E8662A1BB}"/>
              </a:ext>
            </a:extLst>
          </p:cNvPr>
          <p:cNvSpPr>
            <a:spLocks noGrp="1"/>
          </p:cNvSpPr>
          <p:nvPr/>
        </p:nvSpPr>
        <p:spPr>
          <a:xfrm>
            <a:off x="8753475" y="41529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9" name="journey-step-3-number">
            <a:extLst>
              <a:ext uri="{FF2B5EF4-FFF2-40B4-BE49-F238E27FC236}">
                <a16:creationId xmlns:a16="http://schemas.microsoft.com/office/drawing/2014/main" id="{2723AD46-8C7C-428B-A421-ED9866538109}"/>
              </a:ext>
            </a:extLst>
          </p:cNvPr>
          <p:cNvSpPr>
            <a:spLocks noGrp="1"/>
          </p:cNvSpPr>
          <p:nvPr/>
        </p:nvSpPr>
        <p:spPr>
          <a:xfrm>
            <a:off x="8753475" y="41719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10" name="journey-step-4">
            <a:extLst>
              <a:ext uri="{FF2B5EF4-FFF2-40B4-BE49-F238E27FC236}">
                <a16:creationId xmlns:a16="http://schemas.microsoft.com/office/drawing/2014/main" id="{237A3FE6-F6B8-4949-BA9A-0270F57516FA}"/>
              </a:ext>
            </a:extLst>
          </p:cNvPr>
          <p:cNvSpPr>
            <a:spLocks noGrp="1"/>
          </p:cNvSpPr>
          <p:nvPr/>
        </p:nvSpPr>
        <p:spPr>
          <a:xfrm>
            <a:off x="9363075" y="4124325"/>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1" name="journey-step-4-number">
            <a:extLst>
              <a:ext uri="{FF2B5EF4-FFF2-40B4-BE49-F238E27FC236}">
                <a16:creationId xmlns:a16="http://schemas.microsoft.com/office/drawing/2014/main" id="{4201623E-84BA-4597-80E2-674945A59BA0}"/>
              </a:ext>
            </a:extLst>
          </p:cNvPr>
          <p:cNvSpPr>
            <a:spLocks noGrp="1"/>
          </p:cNvSpPr>
          <p:nvPr/>
        </p:nvSpPr>
        <p:spPr>
          <a:xfrm>
            <a:off x="9363075" y="4143375"/>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112" name="journey-step-5">
            <a:extLst>
              <a:ext uri="{FF2B5EF4-FFF2-40B4-BE49-F238E27FC236}">
                <a16:creationId xmlns:a16="http://schemas.microsoft.com/office/drawing/2014/main" id="{A1BD8F75-5101-4F4F-B6AF-5C538273E28C}"/>
              </a:ext>
            </a:extLst>
          </p:cNvPr>
          <p:cNvSpPr>
            <a:spLocks noGrp="1"/>
          </p:cNvSpPr>
          <p:nvPr/>
        </p:nvSpPr>
        <p:spPr>
          <a:xfrm>
            <a:off x="6915150" y="32004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3" name="journey-step-5-number">
            <a:extLst>
              <a:ext uri="{FF2B5EF4-FFF2-40B4-BE49-F238E27FC236}">
                <a16:creationId xmlns:a16="http://schemas.microsoft.com/office/drawing/2014/main" id="{A749EC97-B7D2-4347-BCC7-0B6EEF61E010}"/>
              </a:ext>
            </a:extLst>
          </p:cNvPr>
          <p:cNvSpPr>
            <a:spLocks noGrp="1"/>
          </p:cNvSpPr>
          <p:nvPr/>
        </p:nvSpPr>
        <p:spPr>
          <a:xfrm>
            <a:off x="6915150" y="32194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cxnSp>
        <p:nvCxnSpPr>
          <p:cNvPr id="557" name="Connector: Elbow 248"/>
          <p:cNvCxnSpPr>
            <a:stCxn id="6" idx="3"/>
            <a:endCxn id="20" idx="1"/>
          </p:cNvCxnSpPr>
          <p:nvPr/>
        </p:nvCxnSpPr>
        <p:spPr>
          <a:xfrm flipV="1">
            <a:off x="1552575" y="2552700"/>
            <a:ext cx="447675" cy="552450"/>
          </a:xfrm>
          <a:prstGeom prst="bentConnector3">
            <a:avLst>
              <a:gd name="adj1" fmla="val 50000"/>
            </a:avLst>
          </a:prstGeom>
          <a:ln w="17145">
            <a:solidFill>
              <a:srgbClr val="2767A8"/>
            </a:solidFill>
            <a:prstDash val="solid"/>
            <a:tailEnd type="triangle" w="sm" len="sm"/>
          </a:ln>
        </p:spPr>
      </p:cxnSp>
      <p:cxnSp>
        <p:nvCxnSpPr>
          <p:cNvPr id="558" name="Connector: Elbow 249"/>
          <p:cNvCxnSpPr>
            <a:stCxn id="9" idx="3"/>
            <a:endCxn id="29" idx="1"/>
          </p:cNvCxnSpPr>
          <p:nvPr/>
        </p:nvCxnSpPr>
        <p:spPr>
          <a:xfrm flipV="1">
            <a:off x="1552575" y="2552700"/>
            <a:ext cx="3190875" cy="1828800"/>
          </a:xfrm>
          <a:prstGeom prst="bentConnector3">
            <a:avLst>
              <a:gd name="adj1" fmla="val 50000"/>
            </a:avLst>
          </a:prstGeom>
          <a:ln w="17145">
            <a:solidFill>
              <a:srgbClr val="6D4FB3"/>
            </a:solidFill>
            <a:prstDash val="dash"/>
            <a:tailEnd type="triangle" w="sm" len="sm"/>
          </a:ln>
        </p:spPr>
      </p:cxnSp>
      <p:cxnSp>
        <p:nvCxnSpPr>
          <p:cNvPr id="559" name="Straight Arrow Connector 250"/>
          <p:cNvCxnSpPr>
            <a:stCxn id="20" idx="3"/>
            <a:endCxn id="29" idx="1"/>
          </p:cNvCxnSpPr>
          <p:nvPr/>
        </p:nvCxnSpPr>
        <p:spPr>
          <a:xfrm>
            <a:off x="3219450" y="2552700"/>
            <a:ext cx="1524000" cy="0"/>
          </a:xfrm>
          <a:prstGeom prst="straightConnector1">
            <a:avLst/>
          </a:prstGeom>
          <a:ln w="17145">
            <a:solidFill>
              <a:srgbClr val="7A8492"/>
            </a:solidFill>
            <a:prstDash val="solid"/>
            <a:tailEnd type="triangle" w="sm" len="sm"/>
          </a:ln>
        </p:spPr>
      </p:cxnSp>
      <p:cxnSp>
        <p:nvCxnSpPr>
          <p:cNvPr id="560" name="Straight Arrow Connector 251"/>
          <p:cNvCxnSpPr>
            <a:stCxn id="25" idx="3"/>
            <a:endCxn id="29" idx="1"/>
          </p:cNvCxnSpPr>
          <p:nvPr/>
        </p:nvCxnSpPr>
        <p:spPr>
          <a:xfrm>
            <a:off x="4591050" y="2552700"/>
            <a:ext cx="152400" cy="0"/>
          </a:xfrm>
          <a:prstGeom prst="straightConnector1">
            <a:avLst/>
          </a:prstGeom>
          <a:ln w="17145">
            <a:solidFill>
              <a:srgbClr val="7A8492"/>
            </a:solidFill>
            <a:prstDash val="solid"/>
            <a:tailEnd type="triangle" w="sm" len="sm"/>
          </a:ln>
        </p:spPr>
      </p:cxnSp>
      <p:cxnSp>
        <p:nvCxnSpPr>
          <p:cNvPr id="561" name="Straight Arrow Connector 252"/>
          <p:cNvCxnSpPr>
            <a:stCxn id="29" idx="3"/>
            <a:endCxn id="33" idx="1"/>
          </p:cNvCxnSpPr>
          <p:nvPr/>
        </p:nvCxnSpPr>
        <p:spPr>
          <a:xfrm>
            <a:off x="5962650" y="2552700"/>
            <a:ext cx="152400" cy="0"/>
          </a:xfrm>
          <a:prstGeom prst="straightConnector1">
            <a:avLst/>
          </a:prstGeom>
          <a:ln w="17145">
            <a:solidFill>
              <a:srgbClr val="7A8492"/>
            </a:solidFill>
            <a:prstDash val="solid"/>
            <a:tailEnd type="triangle" w="sm" len="sm"/>
          </a:ln>
        </p:spPr>
      </p:cxnSp>
      <p:cxnSp>
        <p:nvCxnSpPr>
          <p:cNvPr id="562" name="Connector: Elbow 253"/>
          <p:cNvCxnSpPr>
            <a:stCxn id="33" idx="2"/>
            <a:endCxn id="40" idx="0"/>
          </p:cNvCxnSpPr>
          <p:nvPr/>
        </p:nvCxnSpPr>
        <p:spPr>
          <a:xfrm flipH="1">
            <a:off x="2705100" y="2857500"/>
            <a:ext cx="4019550" cy="457200"/>
          </a:xfrm>
          <a:prstGeom prst="bentConnector4">
            <a:avLst>
              <a:gd name="adj1" fmla="val 0"/>
              <a:gd name="adj2" fmla="val 50000"/>
            </a:avLst>
          </a:prstGeom>
          <a:ln w="17145">
            <a:solidFill>
              <a:srgbClr val="147A58"/>
            </a:solidFill>
            <a:prstDash val="solid"/>
            <a:tailEnd type="triangle" w="sm" len="sm"/>
          </a:ln>
        </p:spPr>
      </p:cxnSp>
      <p:cxnSp>
        <p:nvCxnSpPr>
          <p:cNvPr id="563" name="Connector: Elbow 254"/>
          <p:cNvCxnSpPr>
            <a:stCxn id="33" idx="2"/>
            <a:endCxn id="43" idx="0"/>
          </p:cNvCxnSpPr>
          <p:nvPr/>
        </p:nvCxnSpPr>
        <p:spPr>
          <a:xfrm flipH="1">
            <a:off x="3962400" y="2857500"/>
            <a:ext cx="2762250" cy="457200"/>
          </a:xfrm>
          <a:prstGeom prst="bentConnector4">
            <a:avLst>
              <a:gd name="adj1" fmla="val 0"/>
              <a:gd name="adj2" fmla="val 50000"/>
            </a:avLst>
          </a:prstGeom>
          <a:ln w="17145">
            <a:solidFill>
              <a:srgbClr val="147A58"/>
            </a:solidFill>
            <a:prstDash val="solid"/>
            <a:tailEnd type="triangle" w="sm" len="sm"/>
          </a:ln>
        </p:spPr>
      </p:cxnSp>
      <p:cxnSp>
        <p:nvCxnSpPr>
          <p:cNvPr id="564" name="Connector: Elbow 255"/>
          <p:cNvCxnSpPr>
            <a:stCxn id="33" idx="2"/>
            <a:endCxn id="46" idx="0"/>
          </p:cNvCxnSpPr>
          <p:nvPr/>
        </p:nvCxnSpPr>
        <p:spPr>
          <a:xfrm flipH="1">
            <a:off x="5219700" y="2857500"/>
            <a:ext cx="1504950" cy="457200"/>
          </a:xfrm>
          <a:prstGeom prst="bentConnector4">
            <a:avLst>
              <a:gd name="adj1" fmla="val 0"/>
              <a:gd name="adj2" fmla="val 50000"/>
            </a:avLst>
          </a:prstGeom>
          <a:ln w="17145">
            <a:solidFill>
              <a:srgbClr val="147A58"/>
            </a:solidFill>
            <a:prstDash val="solid"/>
            <a:tailEnd type="triangle" w="sm" len="sm"/>
          </a:ln>
        </p:spPr>
      </p:cxnSp>
      <p:cxnSp>
        <p:nvCxnSpPr>
          <p:cNvPr id="565" name="Connector: Elbow 256"/>
          <p:cNvCxnSpPr>
            <a:stCxn id="33" idx="2"/>
            <a:endCxn id="49" idx="0"/>
          </p:cNvCxnSpPr>
          <p:nvPr/>
        </p:nvCxnSpPr>
        <p:spPr>
          <a:xfrm flipH="1">
            <a:off x="6477000" y="2857500"/>
            <a:ext cx="247650" cy="457200"/>
          </a:xfrm>
          <a:prstGeom prst="bentConnector4">
            <a:avLst>
              <a:gd name="adj1" fmla="val 0"/>
              <a:gd name="adj2" fmla="val 50000"/>
            </a:avLst>
          </a:prstGeom>
          <a:ln w="17145">
            <a:solidFill>
              <a:srgbClr val="147A58"/>
            </a:solidFill>
            <a:prstDash val="solid"/>
            <a:tailEnd type="triangle" w="sm" len="sm"/>
          </a:ln>
        </p:spPr>
      </p:cxnSp>
      <p:cxnSp>
        <p:nvCxnSpPr>
          <p:cNvPr id="566" name="Straight Arrow Connector 257"/>
          <p:cNvCxnSpPr>
            <a:stCxn id="40" idx="2"/>
            <a:endCxn id="52" idx="0"/>
          </p:cNvCxnSpPr>
          <p:nvPr/>
        </p:nvCxnSpPr>
        <p:spPr>
          <a:xfrm>
            <a:off x="2705100" y="4000500"/>
            <a:ext cx="0" cy="133350"/>
          </a:xfrm>
          <a:prstGeom prst="straightConnector1">
            <a:avLst/>
          </a:prstGeom>
          <a:ln w="17145">
            <a:solidFill>
              <a:srgbClr val="7A8492"/>
            </a:solidFill>
            <a:prstDash val="solid"/>
            <a:tailEnd type="triangle" w="sm" len="sm"/>
          </a:ln>
        </p:spPr>
      </p:cxnSp>
      <p:cxnSp>
        <p:nvCxnSpPr>
          <p:cNvPr id="567" name="Connector: Elbow 258"/>
          <p:cNvCxnSpPr>
            <a:stCxn id="49" idx="2"/>
            <a:endCxn id="56" idx="0"/>
          </p:cNvCxnSpPr>
          <p:nvPr/>
        </p:nvCxnSpPr>
        <p:spPr>
          <a:xfrm flipH="1">
            <a:off x="3962400" y="4000500"/>
            <a:ext cx="2514600" cy="133350"/>
          </a:xfrm>
          <a:prstGeom prst="bentConnector4">
            <a:avLst>
              <a:gd name="adj1" fmla="val 0"/>
              <a:gd name="adj2" fmla="val 50000"/>
            </a:avLst>
          </a:prstGeom>
          <a:ln w="17145">
            <a:solidFill>
              <a:srgbClr val="7A8492"/>
            </a:solidFill>
            <a:prstDash val="solid"/>
            <a:tailEnd type="triangle" w="sm" len="sm"/>
          </a:ln>
        </p:spPr>
      </p:cxnSp>
      <p:cxnSp>
        <p:nvCxnSpPr>
          <p:cNvPr id="568" name="Straight Arrow Connector 259"/>
          <p:cNvCxnSpPr>
            <a:stCxn id="46" idx="2"/>
            <a:endCxn id="60" idx="0"/>
          </p:cNvCxnSpPr>
          <p:nvPr/>
        </p:nvCxnSpPr>
        <p:spPr>
          <a:xfrm>
            <a:off x="5219700" y="4000500"/>
            <a:ext cx="0" cy="133350"/>
          </a:xfrm>
          <a:prstGeom prst="straightConnector1">
            <a:avLst/>
          </a:prstGeom>
          <a:ln w="17145">
            <a:solidFill>
              <a:srgbClr val="7A8492"/>
            </a:solidFill>
            <a:prstDash val="solid"/>
            <a:tailEnd type="triangle" w="sm" len="sm"/>
          </a:ln>
        </p:spPr>
      </p:cxnSp>
      <p:cxnSp>
        <p:nvCxnSpPr>
          <p:cNvPr id="569" name="Straight Arrow Connector 260"/>
          <p:cNvCxnSpPr>
            <a:stCxn id="49" idx="2"/>
            <a:endCxn id="64" idx="0"/>
          </p:cNvCxnSpPr>
          <p:nvPr/>
        </p:nvCxnSpPr>
        <p:spPr>
          <a:xfrm>
            <a:off x="6477000" y="4000500"/>
            <a:ext cx="0" cy="133350"/>
          </a:xfrm>
          <a:prstGeom prst="straightConnector1">
            <a:avLst/>
          </a:prstGeom>
          <a:ln w="17145">
            <a:solidFill>
              <a:srgbClr val="7A8492"/>
            </a:solidFill>
            <a:prstDash val="solid"/>
            <a:tailEnd type="triangle" w="sm" len="sm"/>
          </a:ln>
        </p:spPr>
      </p:cxnSp>
      <p:cxnSp>
        <p:nvCxnSpPr>
          <p:cNvPr id="570" name="Connector: Elbow 261"/>
          <p:cNvCxnSpPr>
            <a:stCxn id="64" idx="2"/>
            <a:endCxn id="80" idx="0"/>
          </p:cNvCxnSpPr>
          <p:nvPr/>
        </p:nvCxnSpPr>
        <p:spPr>
          <a:xfrm flipH="1">
            <a:off x="3162300" y="4648200"/>
            <a:ext cx="3314700" cy="352425"/>
          </a:xfrm>
          <a:prstGeom prst="bentConnector4">
            <a:avLst>
              <a:gd name="adj1" fmla="val 0"/>
              <a:gd name="adj2" fmla="val 50000"/>
            </a:avLst>
          </a:prstGeom>
          <a:ln w="17145">
            <a:solidFill>
              <a:srgbClr val="B86713"/>
            </a:solidFill>
            <a:prstDash val="solid"/>
            <a:tailEnd type="triangle" w="sm" len="sm"/>
          </a:ln>
        </p:spPr>
      </p:cxnSp>
      <p:cxnSp>
        <p:nvCxnSpPr>
          <p:cNvPr id="571" name="Connector: Elbow 262"/>
          <p:cNvCxnSpPr>
            <a:stCxn id="43" idx="3"/>
            <a:endCxn id="71" idx="1"/>
          </p:cNvCxnSpPr>
          <p:nvPr/>
        </p:nvCxnSpPr>
        <p:spPr>
          <a:xfrm flipV="1">
            <a:off x="4524375" y="3152775"/>
            <a:ext cx="3152775" cy="504825"/>
          </a:xfrm>
          <a:prstGeom prst="bentConnector3">
            <a:avLst>
              <a:gd name="adj1" fmla="val 50000"/>
            </a:avLst>
          </a:prstGeom>
          <a:ln w="17145">
            <a:solidFill>
              <a:srgbClr val="198E84"/>
            </a:solidFill>
            <a:prstDash val="solid"/>
            <a:tailEnd type="triangle" w="sm" len="sm"/>
          </a:ln>
        </p:spPr>
      </p:cxnSp>
      <p:cxnSp>
        <p:nvCxnSpPr>
          <p:cNvPr id="572" name="Connector: Elbow 263"/>
          <p:cNvCxnSpPr>
            <a:stCxn id="43" idx="3"/>
            <a:endCxn id="74" idx="1"/>
          </p:cNvCxnSpPr>
          <p:nvPr/>
        </p:nvCxnSpPr>
        <p:spPr>
          <a:xfrm>
            <a:off x="4524375" y="3657600"/>
            <a:ext cx="3152775" cy="200025"/>
          </a:xfrm>
          <a:prstGeom prst="bentConnector3">
            <a:avLst>
              <a:gd name="adj1" fmla="val 50000"/>
            </a:avLst>
          </a:prstGeom>
          <a:ln w="17145">
            <a:solidFill>
              <a:srgbClr val="198E84"/>
            </a:solidFill>
            <a:prstDash val="solid"/>
            <a:tailEnd type="triangle" w="sm" len="sm"/>
          </a:ln>
        </p:spPr>
      </p:cxnSp>
      <p:cxnSp>
        <p:nvCxnSpPr>
          <p:cNvPr id="573" name="Connector: Elbow 264"/>
          <p:cNvCxnSpPr>
            <a:stCxn id="46" idx="3"/>
            <a:endCxn id="77" idx="1"/>
          </p:cNvCxnSpPr>
          <p:nvPr/>
        </p:nvCxnSpPr>
        <p:spPr>
          <a:xfrm>
            <a:off x="5781675" y="3657600"/>
            <a:ext cx="1895475" cy="904875"/>
          </a:xfrm>
          <a:prstGeom prst="bentConnector3">
            <a:avLst>
              <a:gd name="adj1" fmla="val 50000"/>
            </a:avLst>
          </a:prstGeom>
          <a:ln w="17145">
            <a:solidFill>
              <a:srgbClr val="198E84"/>
            </a:solidFill>
            <a:prstDash val="solid"/>
            <a:tailEnd type="triangle" w="sm" len="sm"/>
          </a:ln>
        </p:spPr>
      </p:cxnSp>
      <p:cxnSp>
        <p:nvCxnSpPr>
          <p:cNvPr id="574" name="Connector: Elbow 265"/>
          <p:cNvCxnSpPr>
            <a:stCxn id="49" idx="3"/>
            <a:endCxn id="77" idx="1"/>
          </p:cNvCxnSpPr>
          <p:nvPr/>
        </p:nvCxnSpPr>
        <p:spPr>
          <a:xfrm>
            <a:off x="7038975" y="3657600"/>
            <a:ext cx="638175" cy="904875"/>
          </a:xfrm>
          <a:prstGeom prst="bentConnector3">
            <a:avLst>
              <a:gd name="adj1" fmla="val 50000"/>
            </a:avLst>
          </a:prstGeom>
          <a:ln w="17145">
            <a:solidFill>
              <a:srgbClr val="198E84"/>
            </a:solidFill>
            <a:prstDash val="solid"/>
            <a:tailEnd type="triangle" w="sm" len="sm"/>
          </a:ln>
        </p:spPr>
      </p:cxnSp>
      <p:cxnSp>
        <p:nvCxnSpPr>
          <p:cNvPr id="575" name="Connector: Elbow 266"/>
          <p:cNvCxnSpPr>
            <a:stCxn id="71" idx="3"/>
            <a:endCxn id="88" idx="1"/>
          </p:cNvCxnSpPr>
          <p:nvPr/>
        </p:nvCxnSpPr>
        <p:spPr>
          <a:xfrm flipV="1">
            <a:off x="8877300" y="2505075"/>
            <a:ext cx="600075" cy="647700"/>
          </a:xfrm>
          <a:prstGeom prst="bentConnector3">
            <a:avLst>
              <a:gd name="adj1" fmla="val 50000"/>
            </a:avLst>
          </a:prstGeom>
          <a:ln w="17145">
            <a:solidFill>
              <a:srgbClr val="2767A8"/>
            </a:solidFill>
            <a:prstDash val="solid"/>
            <a:tailEnd type="triangle" w="sm" len="sm"/>
          </a:ln>
        </p:spPr>
      </p:cxnSp>
      <p:cxnSp>
        <p:nvCxnSpPr>
          <p:cNvPr id="576" name="Connector: Elbow 267"/>
          <p:cNvCxnSpPr>
            <a:stCxn id="74" idx="3"/>
            <a:endCxn id="91" idx="1"/>
          </p:cNvCxnSpPr>
          <p:nvPr/>
        </p:nvCxnSpPr>
        <p:spPr>
          <a:xfrm flipV="1">
            <a:off x="8877300" y="3552825"/>
            <a:ext cx="600075" cy="304800"/>
          </a:xfrm>
          <a:prstGeom prst="bentConnector3">
            <a:avLst>
              <a:gd name="adj1" fmla="val 50000"/>
            </a:avLst>
          </a:prstGeom>
          <a:ln w="17145">
            <a:solidFill>
              <a:srgbClr val="6D4FB3"/>
            </a:solidFill>
            <a:prstDash val="solid"/>
            <a:tailEnd type="triangle" w="sm" len="sm"/>
          </a:ln>
        </p:spPr>
      </p:cxnSp>
      <p:cxnSp>
        <p:nvCxnSpPr>
          <p:cNvPr id="577" name="Connector: Elbow 268"/>
          <p:cNvCxnSpPr>
            <a:stCxn id="77" idx="3"/>
            <a:endCxn id="94" idx="1"/>
          </p:cNvCxnSpPr>
          <p:nvPr/>
        </p:nvCxnSpPr>
        <p:spPr>
          <a:xfrm>
            <a:off x="8877300" y="4562475"/>
            <a:ext cx="600075" cy="76200"/>
          </a:xfrm>
          <a:prstGeom prst="bentConnector3">
            <a:avLst>
              <a:gd name="adj1" fmla="val 50000"/>
            </a:avLst>
          </a:prstGeom>
          <a:ln w="17145">
            <a:solidFill>
              <a:srgbClr val="B86713"/>
            </a:solidFill>
            <a:prstDash val="solid"/>
            <a:tailEnd type="triangle" w="sm" len="sm"/>
          </a:ln>
        </p:spPr>
      </p:cxnSp>
      <p:cxnSp>
        <p:nvCxnSpPr>
          <p:cNvPr id="578" name="Connector: Elbow 269"/>
          <p:cNvCxnSpPr>
            <a:stCxn id="85" idx="2"/>
            <a:endCxn id="98" idx="0"/>
          </p:cNvCxnSpPr>
          <p:nvPr/>
        </p:nvCxnSpPr>
        <p:spPr>
          <a:xfrm flipH="1">
            <a:off x="5505450" y="5553075"/>
            <a:ext cx="400050" cy="561975"/>
          </a:xfrm>
          <a:prstGeom prst="bentConnector4">
            <a:avLst>
              <a:gd name="adj1" fmla="val 0"/>
              <a:gd name="adj2" fmla="val 50000"/>
            </a:avLst>
          </a:prstGeom>
          <a:ln w="17145">
            <a:solidFill>
              <a:srgbClr val="5B6472"/>
            </a:solidFill>
            <a:prstDash val="dash"/>
            <a:tailEnd type="triangle" w="sm" len="sm"/>
          </a:ln>
        </p:spPr>
      </p:cxnSp>
    </p:spTree>
    <p:extLst>
      <p:ext uri="{BB962C8B-B14F-4D97-AF65-F5344CB8AC3E}">
        <p14:creationId xmlns:p14="http://schemas.microsoft.com/office/powerpoint/2010/main" val="485388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eyebrow">
            <a:extLst>
              <a:ext uri="{FF2B5EF4-FFF2-40B4-BE49-F238E27FC236}">
                <a16:creationId xmlns:a16="http://schemas.microsoft.com/office/drawing/2014/main" id="{BBD09199-E8BD-4312-AC3B-4716CAC30F93}"/>
              </a:ext>
            </a:extLst>
          </p:cNvPr>
          <p:cNvSpPr>
            <a:spLocks noGrp="1"/>
          </p:cNvSpPr>
          <p:nvPr/>
        </p:nvSpPr>
        <p:spPr>
          <a:xfrm>
            <a:off x="514350" y="238125"/>
            <a:ext cx="323850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PROPOSED SOLUTION ARCHITECTURE</a:t>
            </a:r>
          </a:p>
        </p:txBody>
      </p:sp>
      <p:sp>
        <p:nvSpPr>
          <p:cNvPr id="2" name="title">
            <a:extLst>
              <a:ext uri="{FF2B5EF4-FFF2-40B4-BE49-F238E27FC236}">
                <a16:creationId xmlns:a16="http://schemas.microsoft.com/office/drawing/2014/main" id="{391505D9-57F1-44FC-B27F-E5F597DEE3E9}"/>
              </a:ext>
            </a:extLst>
          </p:cNvPr>
          <p:cNvSpPr>
            <a:spLocks noGrp="1"/>
          </p:cNvSpPr>
          <p:nvPr/>
        </p:nvSpPr>
        <p:spPr>
          <a:xfrm>
            <a:off x="514350" y="457200"/>
            <a:ext cx="11163300" cy="419100"/>
          </a:xfrm>
          <a:prstGeom prst="rect">
            <a:avLst/>
          </a:prstGeom>
          <a:noFill/>
          <a:ln w="0">
            <a:noFill/>
            <a:prstDash val="solid"/>
          </a:ln>
        </p:spPr>
        <p:txBody>
          <a:bodyPr/>
          <a:lstStyle/>
          <a:p>
            <a:pPr>
              <a:buNone/>
              <a:defRPr sz="2625" b="1">
                <a:solidFill>
                  <a:srgbClr val="111827"/>
                </a:solidFill>
              </a:defRPr>
            </a:pPr>
            <a:r>
              <a:t>Journey 5 — Confirm and remind</a:t>
            </a:r>
          </a:p>
        </p:txBody>
      </p:sp>
      <p:sp>
        <p:nvSpPr>
          <p:cNvPr id="3" name="subtitle">
            <a:extLst>
              <a:ext uri="{FF2B5EF4-FFF2-40B4-BE49-F238E27FC236}">
                <a16:creationId xmlns:a16="http://schemas.microsoft.com/office/drawing/2014/main" id="{6D57C835-6FBA-469B-98DA-985211729D85}"/>
              </a:ext>
            </a:extLst>
          </p:cNvPr>
          <p:cNvSpPr>
            <a:spLocks noGrp="1"/>
          </p:cNvSpPr>
          <p:nvPr/>
        </p:nvSpPr>
        <p:spPr>
          <a:xfrm>
            <a:off x="514350" y="895350"/>
            <a:ext cx="11049000" cy="266700"/>
          </a:xfrm>
          <a:prstGeom prst="rect">
            <a:avLst/>
          </a:prstGeom>
          <a:noFill/>
          <a:ln w="0">
            <a:noFill/>
            <a:prstDash val="solid"/>
          </a:ln>
        </p:spPr>
        <p:txBody>
          <a:bodyPr/>
          <a:lstStyle/>
          <a:p>
            <a:pPr>
              <a:buNone/>
              <a:defRPr sz="1200">
                <a:solidFill>
                  <a:srgbClr val="5B6472"/>
                </a:solidFill>
              </a:defRPr>
            </a:pPr>
            <a:r>
              <a:rPr sz="1200">
                <a:solidFill>
                  <a:srgbClr val="5B6472"/>
                </a:solidFill>
              </a:rPr>
              <a:t>The cloud owns the customer journey and booking state; VIN, repair history, and appointment inventory remain authoritative in brownfield systems.</a:t>
            </a:r>
          </a:p>
        </p:txBody>
      </p:sp>
      <p:sp>
        <p:nvSpPr>
          <p:cNvPr id="4" name="aws-region">
            <a:extLst>
              <a:ext uri="{FF2B5EF4-FFF2-40B4-BE49-F238E27FC236}">
                <a16:creationId xmlns:a16="http://schemas.microsoft.com/office/drawing/2014/main" id="{710C153C-69E2-4813-876B-9D86C63A5FC7}"/>
              </a:ext>
            </a:extLst>
          </p:cNvPr>
          <p:cNvSpPr>
            <a:spLocks noGrp="1"/>
          </p:cNvSpPr>
          <p:nvPr/>
        </p:nvSpPr>
        <p:spPr>
          <a:xfrm>
            <a:off x="1743075" y="1285875"/>
            <a:ext cx="7524750" cy="4648200"/>
          </a:xfrm>
          <a:prstGeom prst="roundRect">
            <a:avLst>
              <a:gd name="adj" fmla="val 2459"/>
            </a:avLst>
          </a:prstGeom>
          <a:solidFill>
            <a:srgbClr val="FBFCFE"/>
          </a:solidFill>
          <a:ln w="17145">
            <a:solidFill>
              <a:srgbClr val="2767A8"/>
            </a:solidFill>
            <a:prstDash val="solid"/>
          </a:ln>
        </p:spPr>
        <p:txBody>
          <a:bodyPr/>
          <a:lstStyle/>
          <a:p>
            <a:endParaRPr/>
          </a:p>
        </p:txBody>
      </p:sp>
      <p:sp>
        <p:nvSpPr>
          <p:cNvPr id="5" name="region-label">
            <a:extLst>
              <a:ext uri="{FF2B5EF4-FFF2-40B4-BE49-F238E27FC236}">
                <a16:creationId xmlns:a16="http://schemas.microsoft.com/office/drawing/2014/main" id="{88362A3A-CB25-43F0-A6D1-78E6F88CBE4B}"/>
              </a:ext>
            </a:extLst>
          </p:cNvPr>
          <p:cNvSpPr>
            <a:spLocks noGrp="1"/>
          </p:cNvSpPr>
          <p:nvPr/>
        </p:nvSpPr>
        <p:spPr>
          <a:xfrm>
            <a:off x="1952625" y="1371600"/>
            <a:ext cx="2381250" cy="190500"/>
          </a:xfrm>
          <a:prstGeom prst="rect">
            <a:avLst/>
          </a:prstGeom>
          <a:noFill/>
          <a:ln w="0">
            <a:noFill/>
            <a:prstDash val="solid"/>
          </a:ln>
        </p:spPr>
        <p:txBody>
          <a:bodyPr/>
          <a:lstStyle/>
          <a:p>
            <a:pPr>
              <a:buNone/>
              <a:defRPr sz="975" b="1">
                <a:solidFill>
                  <a:srgbClr val="2767A8"/>
                </a:solidFill>
              </a:defRPr>
            </a:pPr>
            <a:r>
              <a:rPr sz="975" b="1">
                <a:solidFill>
                  <a:srgbClr val="2767A8"/>
                </a:solidFill>
              </a:rPr>
              <a:t>AWS REGION • MULTI-AZ</a:t>
            </a:r>
          </a:p>
        </p:txBody>
      </p:sp>
      <p:sp>
        <p:nvSpPr>
          <p:cNvPr id="6" name="customer">
            <a:extLst>
              <a:ext uri="{FF2B5EF4-FFF2-40B4-BE49-F238E27FC236}">
                <a16:creationId xmlns:a16="http://schemas.microsoft.com/office/drawing/2014/main" id="{3702FAA3-B032-4C33-9078-6575B0408CAB}"/>
              </a:ext>
            </a:extLst>
          </p:cNvPr>
          <p:cNvSpPr>
            <a:spLocks noGrp="1"/>
          </p:cNvSpPr>
          <p:nvPr/>
        </p:nvSpPr>
        <p:spPr>
          <a:xfrm>
            <a:off x="266700" y="2609850"/>
            <a:ext cx="1285875" cy="990600"/>
          </a:xfrm>
          <a:prstGeom prst="roundRect">
            <a:avLst>
              <a:gd name="adj" fmla="val 7692"/>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7" name="customer-title">
            <a:extLst>
              <a:ext uri="{FF2B5EF4-FFF2-40B4-BE49-F238E27FC236}">
                <a16:creationId xmlns:a16="http://schemas.microsoft.com/office/drawing/2014/main" id="{493BB134-C69F-4DEC-8836-90896967527F}"/>
              </a:ext>
            </a:extLst>
          </p:cNvPr>
          <p:cNvSpPr>
            <a:spLocks noGrp="1"/>
          </p:cNvSpPr>
          <p:nvPr/>
        </p:nvSpPr>
        <p:spPr>
          <a:xfrm>
            <a:off x="361950" y="2695575"/>
            <a:ext cx="1095375" cy="238125"/>
          </a:xfrm>
          <a:prstGeom prst="rect">
            <a:avLst/>
          </a:prstGeom>
          <a:noFill/>
          <a:ln w="0">
            <a:noFill/>
            <a:prstDash val="solid"/>
          </a:ln>
        </p:spPr>
        <p:txBody>
          <a:bodyPr/>
          <a:lstStyle/>
          <a:p>
            <a:pPr algn="ctr">
              <a:buNone/>
              <a:defRPr sz="1350" b="1">
                <a:solidFill>
                  <a:srgbClr val="172033"/>
                </a:solidFill>
              </a:defRPr>
            </a:pPr>
            <a:r>
              <a:rPr sz="1350" b="1">
                <a:solidFill>
                  <a:srgbClr val="172033"/>
                </a:solidFill>
              </a:rPr>
              <a:t>Customer</a:t>
            </a:r>
          </a:p>
        </p:txBody>
      </p:sp>
      <p:sp>
        <p:nvSpPr>
          <p:cNvPr id="8" name="customer-detail">
            <a:extLst>
              <a:ext uri="{FF2B5EF4-FFF2-40B4-BE49-F238E27FC236}">
                <a16:creationId xmlns:a16="http://schemas.microsoft.com/office/drawing/2014/main" id="{810323BE-CBBC-44D7-BDF5-BEB51FAB9511}"/>
              </a:ext>
            </a:extLst>
          </p:cNvPr>
          <p:cNvSpPr>
            <a:spLocks noGrp="1"/>
          </p:cNvSpPr>
          <p:nvPr/>
        </p:nvSpPr>
        <p:spPr>
          <a:xfrm>
            <a:off x="361950" y="2981325"/>
            <a:ext cx="1095375" cy="552450"/>
          </a:xfrm>
          <a:prstGeom prst="rect">
            <a:avLst/>
          </a:prstGeom>
          <a:noFill/>
          <a:ln w="0">
            <a:noFill/>
            <a:prstDash val="solid"/>
          </a:ln>
        </p:spPr>
        <p:txBody>
          <a:bodyPr/>
          <a:lstStyle/>
          <a:p>
            <a:pPr algn="ctr">
              <a:buNone/>
              <a:defRPr sz="900">
                <a:solidFill>
                  <a:srgbClr val="4B5563"/>
                </a:solidFill>
              </a:defRPr>
            </a:pPr>
            <a:r>
              <a:rPr sz="900">
                <a:solidFill>
                  <a:srgbClr val="4B5563"/>
                </a:solidFill>
              </a:rPr>
              <a:t>Web / mobile</a:t>
            </a:r>
          </a:p>
          <a:p>
            <a:pPr algn="ctr">
              <a:buNone/>
              <a:defRPr sz="900">
                <a:solidFill>
                  <a:srgbClr val="4B5563"/>
                </a:solidFill>
              </a:defRPr>
            </a:pPr>
            <a:r>
              <a:rPr sz="900">
                <a:solidFill>
                  <a:srgbClr val="4B5563"/>
                </a:solidFill>
              </a:rPr>
              <a:t>Guest or signed in</a:t>
            </a:r>
          </a:p>
        </p:txBody>
      </p:sp>
      <p:sp>
        <p:nvSpPr>
          <p:cNvPr id="9" name="dealer-staff">
            <a:extLst>
              <a:ext uri="{FF2B5EF4-FFF2-40B4-BE49-F238E27FC236}">
                <a16:creationId xmlns:a16="http://schemas.microsoft.com/office/drawing/2014/main" id="{FE52137A-C807-4A60-84B0-28B478CC1058}"/>
              </a:ext>
            </a:extLst>
          </p:cNvPr>
          <p:cNvSpPr>
            <a:spLocks noGrp="1"/>
          </p:cNvSpPr>
          <p:nvPr/>
        </p:nvSpPr>
        <p:spPr>
          <a:xfrm>
            <a:off x="266700" y="3886200"/>
            <a:ext cx="1285875" cy="990600"/>
          </a:xfrm>
          <a:prstGeom prst="roundRect">
            <a:avLst>
              <a:gd name="adj" fmla="val 7692"/>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dealer-staff-title">
            <a:extLst>
              <a:ext uri="{FF2B5EF4-FFF2-40B4-BE49-F238E27FC236}">
                <a16:creationId xmlns:a16="http://schemas.microsoft.com/office/drawing/2014/main" id="{86C0596F-47D6-42BA-B420-3B55534468E1}"/>
              </a:ext>
            </a:extLst>
          </p:cNvPr>
          <p:cNvSpPr>
            <a:spLocks noGrp="1"/>
          </p:cNvSpPr>
          <p:nvPr/>
        </p:nvSpPr>
        <p:spPr>
          <a:xfrm>
            <a:off x="361950" y="3971925"/>
            <a:ext cx="1095375" cy="238125"/>
          </a:xfrm>
          <a:prstGeom prst="rect">
            <a:avLst/>
          </a:prstGeom>
          <a:noFill/>
          <a:ln w="0">
            <a:noFill/>
            <a:prstDash val="solid"/>
          </a:ln>
        </p:spPr>
        <p:txBody>
          <a:bodyPr/>
          <a:lstStyle/>
          <a:p>
            <a:pPr algn="ctr">
              <a:buNone/>
              <a:defRPr sz="1125" b="1">
                <a:solidFill>
                  <a:srgbClr val="172033"/>
                </a:solidFill>
              </a:defRPr>
            </a:pPr>
            <a:r>
              <a:rPr sz="1125" b="1">
                <a:solidFill>
                  <a:srgbClr val="172033"/>
                </a:solidFill>
              </a:rPr>
              <a:t>Dealer personnel</a:t>
            </a:r>
          </a:p>
        </p:txBody>
      </p:sp>
      <p:sp>
        <p:nvSpPr>
          <p:cNvPr id="11" name="dealer-staff-detail">
            <a:extLst>
              <a:ext uri="{FF2B5EF4-FFF2-40B4-BE49-F238E27FC236}">
                <a16:creationId xmlns:a16="http://schemas.microsoft.com/office/drawing/2014/main" id="{006E432C-8004-44FE-A645-8F9212C64747}"/>
              </a:ext>
            </a:extLst>
          </p:cNvPr>
          <p:cNvSpPr>
            <a:spLocks noGrp="1"/>
          </p:cNvSpPr>
          <p:nvPr/>
        </p:nvSpPr>
        <p:spPr>
          <a:xfrm>
            <a:off x="361950" y="4295775"/>
            <a:ext cx="1095375" cy="514350"/>
          </a:xfrm>
          <a:prstGeom prst="rect">
            <a:avLst/>
          </a:prstGeom>
          <a:noFill/>
          <a:ln w="0">
            <a:noFill/>
            <a:prstDash val="solid"/>
          </a:ln>
        </p:spPr>
        <p:txBody>
          <a:bodyPr/>
          <a:lstStyle/>
          <a:p>
            <a:pPr algn="ctr">
              <a:buNone/>
              <a:defRPr sz="825">
                <a:solidFill>
                  <a:srgbClr val="4B5563"/>
                </a:solidFill>
              </a:defRPr>
            </a:pPr>
            <a:r>
              <a:rPr sz="825">
                <a:solidFill>
                  <a:srgbClr val="4B5563"/>
                </a:solidFill>
              </a:rPr>
              <a:t>Dealer-scoped access</a:t>
            </a:r>
          </a:p>
        </p:txBody>
      </p:sp>
      <p:sp>
        <p:nvSpPr>
          <p:cNvPr id="12" name="controls">
            <a:extLst>
              <a:ext uri="{FF2B5EF4-FFF2-40B4-BE49-F238E27FC236}">
                <a16:creationId xmlns:a16="http://schemas.microsoft.com/office/drawing/2014/main" id="{740B8A30-AE87-4C50-B58B-398A2CC9021D}"/>
              </a:ext>
            </a:extLst>
          </p:cNvPr>
          <p:cNvSpPr>
            <a:spLocks noGrp="1"/>
          </p:cNvSpPr>
          <p:nvPr/>
        </p:nvSpPr>
        <p:spPr>
          <a:xfrm>
            <a:off x="2000250" y="1619250"/>
            <a:ext cx="7029450" cy="457200"/>
          </a:xfrm>
          <a:prstGeom prst="roundRect">
            <a:avLst>
              <a:gd name="adj" fmla="val 16667"/>
            </a:avLst>
          </a:prstGeom>
          <a:solidFill>
            <a:srgbClr val="F4F7FA"/>
          </a:solidFill>
          <a:ln w="13335">
            <a:solidFill>
              <a:srgbClr val="8491A3"/>
            </a:solidFill>
            <a:prstDash val="solid"/>
          </a:ln>
        </p:spPr>
        <p:txBody>
          <a:bodyPr/>
          <a:lstStyle/>
          <a:p>
            <a:endParaRPr/>
          </a:p>
        </p:txBody>
      </p:sp>
      <p:sp>
        <p:nvSpPr>
          <p:cNvPr id="13" name="controls-title">
            <a:extLst>
              <a:ext uri="{FF2B5EF4-FFF2-40B4-BE49-F238E27FC236}">
                <a16:creationId xmlns:a16="http://schemas.microsoft.com/office/drawing/2014/main" id="{7CC0B1B2-E11D-4A67-B310-72E30FFC5977}"/>
              </a:ext>
            </a:extLst>
          </p:cNvPr>
          <p:cNvSpPr>
            <a:spLocks noGrp="1"/>
          </p:cNvSpPr>
          <p:nvPr/>
        </p:nvSpPr>
        <p:spPr>
          <a:xfrm>
            <a:off x="3571875" y="1704975"/>
            <a:ext cx="5362575" cy="190500"/>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Security &amp; operations</a:t>
            </a:r>
          </a:p>
        </p:txBody>
      </p:sp>
      <p:sp>
        <p:nvSpPr>
          <p:cNvPr id="14" name="controls-detail">
            <a:extLst>
              <a:ext uri="{FF2B5EF4-FFF2-40B4-BE49-F238E27FC236}">
                <a16:creationId xmlns:a16="http://schemas.microsoft.com/office/drawing/2014/main" id="{E314DA8E-FC49-476E-B823-24A4C4D167C4}"/>
              </a:ext>
            </a:extLst>
          </p:cNvPr>
          <p:cNvSpPr>
            <a:spLocks noGrp="1"/>
          </p:cNvSpPr>
          <p:nvPr/>
        </p:nvSpPr>
        <p:spPr>
          <a:xfrm>
            <a:off x="2095500" y="1857375"/>
            <a:ext cx="6838950" cy="152400"/>
          </a:xfrm>
          <a:prstGeom prst="rect">
            <a:avLst/>
          </a:prstGeom>
          <a:noFill/>
          <a:ln w="0">
            <a:noFill/>
            <a:prstDash val="solid"/>
          </a:ln>
        </p:spPr>
        <p:txBody>
          <a:bodyPr/>
          <a:lstStyle/>
          <a:p>
            <a:pPr algn="ctr">
              <a:buNone/>
              <a:defRPr sz="900">
                <a:solidFill>
                  <a:srgbClr val="4B5563"/>
                </a:solidFill>
              </a:defRPr>
            </a:pPr>
            <a:r>
              <a:rPr sz="900">
                <a:solidFill>
                  <a:srgbClr val="4B5563"/>
                </a:solidFill>
              </a:rPr>
              <a:t>WAF / Shield • KMS • Secrets Manager • CloudWatch / X-Ray • CloudTrail</a:t>
            </a:r>
          </a:p>
        </p:txBody>
      </p:sp>
      <p:pic>
        <p:nvPicPr>
          <p:cNvPr id="458" name="Picture 149"/>
          <p:cNvPicPr>
            <a:picLocks noChangeAspect="1"/>
          </p:cNvPicPr>
          <p:nvPr/>
        </p:nvPicPr>
        <p:blipFill>
          <a:blip r:embed="rId3"/>
          <a:stretch/>
        </p:blipFill>
        <p:spPr>
          <a:xfrm>
            <a:off x="2095500" y="1724025"/>
            <a:ext cx="200025" cy="200025"/>
          </a:xfrm>
          <a:prstGeom prst="rect">
            <a:avLst/>
          </a:prstGeom>
        </p:spPr>
      </p:pic>
      <p:pic>
        <p:nvPicPr>
          <p:cNvPr id="459" name="Picture 150"/>
          <p:cNvPicPr>
            <a:picLocks noChangeAspect="1"/>
          </p:cNvPicPr>
          <p:nvPr/>
        </p:nvPicPr>
        <p:blipFill>
          <a:blip r:embed="rId4"/>
          <a:stretch/>
        </p:blipFill>
        <p:spPr>
          <a:xfrm>
            <a:off x="2362200" y="1724025"/>
            <a:ext cx="200025" cy="200025"/>
          </a:xfrm>
          <a:prstGeom prst="rect">
            <a:avLst/>
          </a:prstGeom>
        </p:spPr>
      </p:pic>
      <p:pic>
        <p:nvPicPr>
          <p:cNvPr id="460" name="Picture 151"/>
          <p:cNvPicPr>
            <a:picLocks noChangeAspect="1"/>
          </p:cNvPicPr>
          <p:nvPr/>
        </p:nvPicPr>
        <p:blipFill>
          <a:blip r:embed="rId5"/>
          <a:stretch/>
        </p:blipFill>
        <p:spPr>
          <a:xfrm>
            <a:off x="2628900" y="1724025"/>
            <a:ext cx="200025" cy="200025"/>
          </a:xfrm>
          <a:prstGeom prst="rect">
            <a:avLst/>
          </a:prstGeom>
        </p:spPr>
      </p:pic>
      <p:pic>
        <p:nvPicPr>
          <p:cNvPr id="461" name="Picture 152"/>
          <p:cNvPicPr>
            <a:picLocks noChangeAspect="1"/>
          </p:cNvPicPr>
          <p:nvPr/>
        </p:nvPicPr>
        <p:blipFill>
          <a:blip r:embed="rId6"/>
          <a:stretch/>
        </p:blipFill>
        <p:spPr>
          <a:xfrm>
            <a:off x="2895600" y="1724025"/>
            <a:ext cx="200025" cy="200025"/>
          </a:xfrm>
          <a:prstGeom prst="rect">
            <a:avLst/>
          </a:prstGeom>
        </p:spPr>
      </p:pic>
      <p:pic>
        <p:nvPicPr>
          <p:cNvPr id="462" name="Picture 153"/>
          <p:cNvPicPr>
            <a:picLocks noChangeAspect="1"/>
          </p:cNvPicPr>
          <p:nvPr/>
        </p:nvPicPr>
        <p:blipFill>
          <a:blip r:embed="rId7"/>
          <a:stretch/>
        </p:blipFill>
        <p:spPr>
          <a:xfrm>
            <a:off x="3162300" y="1724025"/>
            <a:ext cx="200025" cy="200025"/>
          </a:xfrm>
          <a:prstGeom prst="rect">
            <a:avLst/>
          </a:prstGeom>
        </p:spPr>
      </p:pic>
      <p:sp>
        <p:nvSpPr>
          <p:cNvPr id="20" name="edge">
            <a:extLst>
              <a:ext uri="{FF2B5EF4-FFF2-40B4-BE49-F238E27FC236}">
                <a16:creationId xmlns:a16="http://schemas.microsoft.com/office/drawing/2014/main" id="{B2A5EA1F-DD9C-4EC9-9D41-6A7E93F03FBA}"/>
              </a:ext>
            </a:extLst>
          </p:cNvPr>
          <p:cNvSpPr>
            <a:spLocks noGrp="1"/>
          </p:cNvSpPr>
          <p:nvPr/>
        </p:nvSpPr>
        <p:spPr>
          <a:xfrm>
            <a:off x="2000250" y="2247900"/>
            <a:ext cx="1219200" cy="609600"/>
          </a:xfrm>
          <a:prstGeom prst="roundRect">
            <a:avLst>
              <a:gd name="adj" fmla="val 12500"/>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21" name="edge-title">
            <a:extLst>
              <a:ext uri="{FF2B5EF4-FFF2-40B4-BE49-F238E27FC236}">
                <a16:creationId xmlns:a16="http://schemas.microsoft.com/office/drawing/2014/main" id="{90D06F5B-4D0E-4FA8-8F90-8A5B54C11BC5}"/>
              </a:ext>
            </a:extLst>
          </p:cNvPr>
          <p:cNvSpPr>
            <a:spLocks noGrp="1"/>
          </p:cNvSpPr>
          <p:nvPr/>
        </p:nvSpPr>
        <p:spPr>
          <a:xfrm>
            <a:off x="2457450" y="2333625"/>
            <a:ext cx="66675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Web delivery</a:t>
            </a:r>
          </a:p>
        </p:txBody>
      </p:sp>
      <p:sp>
        <p:nvSpPr>
          <p:cNvPr id="22" name="edge-detail">
            <a:extLst>
              <a:ext uri="{FF2B5EF4-FFF2-40B4-BE49-F238E27FC236}">
                <a16:creationId xmlns:a16="http://schemas.microsoft.com/office/drawing/2014/main" id="{5320CAFF-6332-4D3E-A0A4-E792223EF166}"/>
              </a:ext>
            </a:extLst>
          </p:cNvPr>
          <p:cNvSpPr>
            <a:spLocks noGrp="1"/>
          </p:cNvSpPr>
          <p:nvPr/>
        </p:nvSpPr>
        <p:spPr>
          <a:xfrm>
            <a:off x="20955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CloudFront + S3</a:t>
            </a:r>
          </a:p>
        </p:txBody>
      </p:sp>
      <p:pic>
        <p:nvPicPr>
          <p:cNvPr id="466" name="Picture 157"/>
          <p:cNvPicPr>
            <a:picLocks noChangeAspect="1"/>
          </p:cNvPicPr>
          <p:nvPr/>
        </p:nvPicPr>
        <p:blipFill>
          <a:blip r:embed="rId8"/>
          <a:stretch/>
        </p:blipFill>
        <p:spPr>
          <a:xfrm>
            <a:off x="2066925" y="2324100"/>
            <a:ext cx="190500" cy="190500"/>
          </a:xfrm>
          <a:prstGeom prst="rect">
            <a:avLst/>
          </a:prstGeom>
        </p:spPr>
      </p:pic>
      <p:pic>
        <p:nvPicPr>
          <p:cNvPr id="467" name="Picture 158"/>
          <p:cNvPicPr>
            <a:picLocks noChangeAspect="1"/>
          </p:cNvPicPr>
          <p:nvPr/>
        </p:nvPicPr>
        <p:blipFill>
          <a:blip r:embed="rId9"/>
          <a:stretch/>
        </p:blipFill>
        <p:spPr>
          <a:xfrm>
            <a:off x="2266950" y="2324100"/>
            <a:ext cx="190500" cy="190500"/>
          </a:xfrm>
          <a:prstGeom prst="rect">
            <a:avLst/>
          </a:prstGeom>
        </p:spPr>
      </p:pic>
      <p:sp>
        <p:nvSpPr>
          <p:cNvPr id="25" name="identity">
            <a:extLst>
              <a:ext uri="{FF2B5EF4-FFF2-40B4-BE49-F238E27FC236}">
                <a16:creationId xmlns:a16="http://schemas.microsoft.com/office/drawing/2014/main" id="{8BA2C152-944C-459E-AD14-9E95F566503F}"/>
              </a:ext>
            </a:extLst>
          </p:cNvPr>
          <p:cNvSpPr>
            <a:spLocks noGrp="1"/>
          </p:cNvSpPr>
          <p:nvPr/>
        </p:nvSpPr>
        <p:spPr>
          <a:xfrm>
            <a:off x="3371850" y="2247900"/>
            <a:ext cx="1219200" cy="609600"/>
          </a:xfrm>
          <a:prstGeom prst="roundRect">
            <a:avLst>
              <a:gd name="adj" fmla="val 12500"/>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26" name="identity-title">
            <a:extLst>
              <a:ext uri="{FF2B5EF4-FFF2-40B4-BE49-F238E27FC236}">
                <a16:creationId xmlns:a16="http://schemas.microsoft.com/office/drawing/2014/main" id="{61C7AA8B-5850-436A-9861-40EF92BD2FDC}"/>
              </a:ext>
            </a:extLst>
          </p:cNvPr>
          <p:cNvSpPr>
            <a:spLocks noGrp="1"/>
          </p:cNvSpPr>
          <p:nvPr/>
        </p:nvSpPr>
        <p:spPr>
          <a:xfrm>
            <a:off x="37338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Amazon Cognito</a:t>
            </a:r>
          </a:p>
        </p:txBody>
      </p:sp>
      <p:sp>
        <p:nvSpPr>
          <p:cNvPr id="27" name="identity-detail">
            <a:extLst>
              <a:ext uri="{FF2B5EF4-FFF2-40B4-BE49-F238E27FC236}">
                <a16:creationId xmlns:a16="http://schemas.microsoft.com/office/drawing/2014/main" id="{B8872914-94BC-4BC2-AD18-B27838EDED72}"/>
              </a:ext>
            </a:extLst>
          </p:cNvPr>
          <p:cNvSpPr>
            <a:spLocks noGrp="1"/>
          </p:cNvSpPr>
          <p:nvPr/>
        </p:nvSpPr>
        <p:spPr>
          <a:xfrm>
            <a:off x="34671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Customer identity</a:t>
            </a:r>
          </a:p>
        </p:txBody>
      </p:sp>
      <p:pic>
        <p:nvPicPr>
          <p:cNvPr id="471" name="Picture 162"/>
          <p:cNvPicPr>
            <a:picLocks noChangeAspect="1"/>
          </p:cNvPicPr>
          <p:nvPr/>
        </p:nvPicPr>
        <p:blipFill>
          <a:blip r:embed="rId10"/>
          <a:stretch/>
        </p:blipFill>
        <p:spPr>
          <a:xfrm>
            <a:off x="3448050" y="2314575"/>
            <a:ext cx="219075" cy="219075"/>
          </a:xfrm>
          <a:prstGeom prst="rect">
            <a:avLst/>
          </a:prstGeom>
        </p:spPr>
      </p:pic>
      <p:sp>
        <p:nvSpPr>
          <p:cNvPr id="29" name="api">
            <a:extLst>
              <a:ext uri="{FF2B5EF4-FFF2-40B4-BE49-F238E27FC236}">
                <a16:creationId xmlns:a16="http://schemas.microsoft.com/office/drawing/2014/main" id="{A0EEA057-3AC3-470E-A2C3-E1E8197491EC}"/>
              </a:ext>
            </a:extLst>
          </p:cNvPr>
          <p:cNvSpPr>
            <a:spLocks noGrp="1"/>
          </p:cNvSpPr>
          <p:nvPr/>
        </p:nvSpPr>
        <p:spPr>
          <a:xfrm>
            <a:off x="4743450" y="2247900"/>
            <a:ext cx="1219200" cy="609600"/>
          </a:xfrm>
          <a:prstGeom prst="roundRect">
            <a:avLst>
              <a:gd name="adj" fmla="val 12500"/>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30" name="api-title">
            <a:extLst>
              <a:ext uri="{FF2B5EF4-FFF2-40B4-BE49-F238E27FC236}">
                <a16:creationId xmlns:a16="http://schemas.microsoft.com/office/drawing/2014/main" id="{9485B11F-24B7-46B5-9D67-A80323E27665}"/>
              </a:ext>
            </a:extLst>
          </p:cNvPr>
          <p:cNvSpPr>
            <a:spLocks noGrp="1"/>
          </p:cNvSpPr>
          <p:nvPr/>
        </p:nvSpPr>
        <p:spPr>
          <a:xfrm>
            <a:off x="51054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API Gateway</a:t>
            </a:r>
          </a:p>
        </p:txBody>
      </p:sp>
      <p:sp>
        <p:nvSpPr>
          <p:cNvPr id="31" name="api-detail">
            <a:extLst>
              <a:ext uri="{FF2B5EF4-FFF2-40B4-BE49-F238E27FC236}">
                <a16:creationId xmlns:a16="http://schemas.microsoft.com/office/drawing/2014/main" id="{2C512BB8-FD6C-457C-B4F5-A00CD6CFEC80}"/>
              </a:ext>
            </a:extLst>
          </p:cNvPr>
          <p:cNvSpPr>
            <a:spLocks noGrp="1"/>
          </p:cNvSpPr>
          <p:nvPr/>
        </p:nvSpPr>
        <p:spPr>
          <a:xfrm>
            <a:off x="4838700" y="2628900"/>
            <a:ext cx="1028700" cy="161925"/>
          </a:xfrm>
          <a:prstGeom prst="rect">
            <a:avLst/>
          </a:prstGeom>
          <a:noFill/>
          <a:ln w="0">
            <a:noFill/>
            <a:prstDash val="solid"/>
          </a:ln>
        </p:spPr>
        <p:txBody>
          <a:bodyPr/>
          <a:lstStyle/>
          <a:p>
            <a:pPr algn="ctr">
              <a:buNone/>
              <a:defRPr sz="750">
                <a:solidFill>
                  <a:srgbClr val="4B5563"/>
                </a:solidFill>
              </a:defRPr>
            </a:pPr>
            <a:r>
              <a:rPr sz="750">
                <a:solidFill>
                  <a:srgbClr val="4B5563"/>
                </a:solidFill>
              </a:rPr>
              <a:t>REST APIs + throttling</a:t>
            </a:r>
          </a:p>
        </p:txBody>
      </p:sp>
      <p:pic>
        <p:nvPicPr>
          <p:cNvPr id="475" name="Picture 166"/>
          <p:cNvPicPr>
            <a:picLocks noChangeAspect="1"/>
          </p:cNvPicPr>
          <p:nvPr/>
        </p:nvPicPr>
        <p:blipFill>
          <a:blip r:embed="rId11"/>
          <a:stretch/>
        </p:blipFill>
        <p:spPr>
          <a:xfrm>
            <a:off x="4819650" y="2314575"/>
            <a:ext cx="219075" cy="219075"/>
          </a:xfrm>
          <a:prstGeom prst="rect">
            <a:avLst/>
          </a:prstGeom>
        </p:spPr>
      </p:pic>
      <p:sp>
        <p:nvSpPr>
          <p:cNvPr id="33" name="workflow">
            <a:extLst>
              <a:ext uri="{FF2B5EF4-FFF2-40B4-BE49-F238E27FC236}">
                <a16:creationId xmlns:a16="http://schemas.microsoft.com/office/drawing/2014/main" id="{6E85D474-09EA-4F73-836A-88C3B68FC885}"/>
              </a:ext>
            </a:extLst>
          </p:cNvPr>
          <p:cNvSpPr>
            <a:spLocks noGrp="1"/>
          </p:cNvSpPr>
          <p:nvPr/>
        </p:nvSpPr>
        <p:spPr>
          <a:xfrm>
            <a:off x="6115050" y="2247900"/>
            <a:ext cx="1219200" cy="609600"/>
          </a:xfrm>
          <a:prstGeom prst="roundRect">
            <a:avLst>
              <a:gd name="adj" fmla="val 12500"/>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34" name="workflow-title">
            <a:extLst>
              <a:ext uri="{FF2B5EF4-FFF2-40B4-BE49-F238E27FC236}">
                <a16:creationId xmlns:a16="http://schemas.microsoft.com/office/drawing/2014/main" id="{87DCF6FF-6C4F-4473-806B-AA9B46AFF656}"/>
              </a:ext>
            </a:extLst>
          </p:cNvPr>
          <p:cNvSpPr>
            <a:spLocks noGrp="1"/>
          </p:cNvSpPr>
          <p:nvPr/>
        </p:nvSpPr>
        <p:spPr>
          <a:xfrm>
            <a:off x="6477000" y="2333625"/>
            <a:ext cx="762000" cy="295275"/>
          </a:xfrm>
          <a:prstGeom prst="rect">
            <a:avLst/>
          </a:prstGeom>
          <a:noFill/>
          <a:ln w="0">
            <a:noFill/>
            <a:prstDash val="solid"/>
          </a:ln>
        </p:spPr>
        <p:txBody>
          <a:bodyPr/>
          <a:lstStyle/>
          <a:p>
            <a:pPr algn="l">
              <a:buNone/>
              <a:defRPr sz="975" b="1">
                <a:solidFill>
                  <a:srgbClr val="172033"/>
                </a:solidFill>
              </a:defRPr>
            </a:pPr>
            <a:r>
              <a:rPr sz="975" b="1">
                <a:solidFill>
                  <a:srgbClr val="172033"/>
                </a:solidFill>
              </a:rPr>
              <a:t>Step Functions</a:t>
            </a:r>
          </a:p>
        </p:txBody>
      </p:sp>
      <p:sp>
        <p:nvSpPr>
          <p:cNvPr id="35" name="workflow-detail">
            <a:extLst>
              <a:ext uri="{FF2B5EF4-FFF2-40B4-BE49-F238E27FC236}">
                <a16:creationId xmlns:a16="http://schemas.microsoft.com/office/drawing/2014/main" id="{E78B7F3D-CD48-44DF-B6F7-6C9A5CBF37BD}"/>
              </a:ext>
            </a:extLst>
          </p:cNvPr>
          <p:cNvSpPr>
            <a:spLocks noGrp="1"/>
          </p:cNvSpPr>
          <p:nvPr/>
        </p:nvSpPr>
        <p:spPr>
          <a:xfrm>
            <a:off x="6210300" y="2628900"/>
            <a:ext cx="1028700" cy="161925"/>
          </a:xfrm>
          <a:prstGeom prst="rect">
            <a:avLst/>
          </a:prstGeom>
          <a:noFill/>
          <a:ln w="0">
            <a:noFill/>
            <a:prstDash val="solid"/>
          </a:ln>
        </p:spPr>
        <p:txBody>
          <a:bodyPr/>
          <a:lstStyle/>
          <a:p>
            <a:pPr algn="ctr">
              <a:buNone/>
              <a:defRPr sz="825">
                <a:solidFill>
                  <a:srgbClr val="4B5563"/>
                </a:solidFill>
              </a:defRPr>
            </a:pPr>
            <a:r>
              <a:rPr sz="825">
                <a:solidFill>
                  <a:srgbClr val="4B5563"/>
                </a:solidFill>
              </a:rPr>
              <a:t>Booking saga</a:t>
            </a:r>
          </a:p>
        </p:txBody>
      </p:sp>
      <p:pic>
        <p:nvPicPr>
          <p:cNvPr id="479" name="Picture 170"/>
          <p:cNvPicPr>
            <a:picLocks noChangeAspect="1"/>
          </p:cNvPicPr>
          <p:nvPr/>
        </p:nvPicPr>
        <p:blipFill>
          <a:blip r:embed="rId12"/>
          <a:stretch/>
        </p:blipFill>
        <p:spPr>
          <a:xfrm>
            <a:off x="6191250" y="2314575"/>
            <a:ext cx="219075" cy="219075"/>
          </a:xfrm>
          <a:prstGeom prst="rect">
            <a:avLst/>
          </a:prstGeom>
        </p:spPr>
      </p:pic>
      <p:sp>
        <p:nvSpPr>
          <p:cNvPr id="37" name="domain-boundary">
            <a:extLst>
              <a:ext uri="{FF2B5EF4-FFF2-40B4-BE49-F238E27FC236}">
                <a16:creationId xmlns:a16="http://schemas.microsoft.com/office/drawing/2014/main" id="{3808F7AB-6C50-4720-BE77-867413ABBAE8}"/>
              </a:ext>
            </a:extLst>
          </p:cNvPr>
          <p:cNvSpPr>
            <a:spLocks noGrp="1"/>
          </p:cNvSpPr>
          <p:nvPr/>
        </p:nvSpPr>
        <p:spPr>
          <a:xfrm>
            <a:off x="2000250" y="3048000"/>
            <a:ext cx="5334000" cy="1752600"/>
          </a:xfrm>
          <a:prstGeom prst="roundRect">
            <a:avLst>
              <a:gd name="adj" fmla="val 4348"/>
            </a:avLst>
          </a:prstGeom>
          <a:solidFill>
            <a:srgbClr val="FFFFFF"/>
          </a:solidFill>
          <a:ln w="11430">
            <a:solidFill>
              <a:srgbClr val="9AA4B2"/>
            </a:solidFill>
            <a:prstDash val="solid"/>
          </a:ln>
        </p:spPr>
        <p:txBody>
          <a:bodyPr/>
          <a:lstStyle/>
          <a:p>
            <a:endParaRPr/>
          </a:p>
        </p:txBody>
      </p:sp>
      <p:sp>
        <p:nvSpPr>
          <p:cNvPr id="38" name="domain-label">
            <a:extLst>
              <a:ext uri="{FF2B5EF4-FFF2-40B4-BE49-F238E27FC236}">
                <a16:creationId xmlns:a16="http://schemas.microsoft.com/office/drawing/2014/main" id="{9433DF7D-03CE-4AF6-A1C3-378A30F70E92}"/>
              </a:ext>
            </a:extLst>
          </p:cNvPr>
          <p:cNvSpPr>
            <a:spLocks noGrp="1"/>
          </p:cNvSpPr>
          <p:nvPr/>
        </p:nvSpPr>
        <p:spPr>
          <a:xfrm>
            <a:off x="2400300" y="3114675"/>
            <a:ext cx="3905250" cy="171450"/>
          </a:xfrm>
          <a:prstGeom prst="rect">
            <a:avLst/>
          </a:prstGeom>
          <a:noFill/>
          <a:ln w="0">
            <a:noFill/>
            <a:prstDash val="solid"/>
          </a:ln>
        </p:spPr>
        <p:txBody>
          <a:bodyPr/>
          <a:lstStyle/>
          <a:p>
            <a:pPr>
              <a:buNone/>
              <a:defRPr sz="825" b="1">
                <a:solidFill>
                  <a:srgbClr val="5B6472"/>
                </a:solidFill>
              </a:defRPr>
            </a:pPr>
            <a:r>
              <a:rPr sz="825" b="1">
                <a:solidFill>
                  <a:srgbClr val="5B6472"/>
                </a:solidFill>
              </a:rPr>
              <a:t>DOMAIN SERVICES • LAMBDA / CONTAINER ADAPTERS</a:t>
            </a:r>
          </a:p>
        </p:txBody>
      </p:sp>
      <p:pic>
        <p:nvPicPr>
          <p:cNvPr id="482" name="Picture 173"/>
          <p:cNvPicPr>
            <a:picLocks noChangeAspect="1"/>
          </p:cNvPicPr>
          <p:nvPr/>
        </p:nvPicPr>
        <p:blipFill>
          <a:blip r:embed="rId13"/>
          <a:stretch/>
        </p:blipFill>
        <p:spPr>
          <a:xfrm>
            <a:off x="2143125" y="3086100"/>
            <a:ext cx="200025" cy="200025"/>
          </a:xfrm>
          <a:prstGeom prst="rect">
            <a:avLst/>
          </a:prstGeom>
        </p:spPr>
      </p:pic>
      <p:sp>
        <p:nvSpPr>
          <p:cNvPr id="40" name="dealer-discovery">
            <a:extLst>
              <a:ext uri="{FF2B5EF4-FFF2-40B4-BE49-F238E27FC236}">
                <a16:creationId xmlns:a16="http://schemas.microsoft.com/office/drawing/2014/main" id="{281EA73F-39EE-4930-A3A5-B9A16CE21104}"/>
              </a:ext>
            </a:extLst>
          </p:cNvPr>
          <p:cNvSpPr>
            <a:spLocks noGrp="1"/>
          </p:cNvSpPr>
          <p:nvPr/>
        </p:nvSpPr>
        <p:spPr>
          <a:xfrm>
            <a:off x="2143125" y="3314700"/>
            <a:ext cx="1123950" cy="685800"/>
          </a:xfrm>
          <a:prstGeom prst="roundRect">
            <a:avLst>
              <a:gd name="adj" fmla="val 11111"/>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41" name="dealer-discovery-title">
            <a:extLst>
              <a:ext uri="{FF2B5EF4-FFF2-40B4-BE49-F238E27FC236}">
                <a16:creationId xmlns:a16="http://schemas.microsoft.com/office/drawing/2014/main" id="{CF3F7645-5590-4B81-A903-9CD2A5F526E2}"/>
              </a:ext>
            </a:extLst>
          </p:cNvPr>
          <p:cNvSpPr>
            <a:spLocks noGrp="1"/>
          </p:cNvSpPr>
          <p:nvPr/>
        </p:nvSpPr>
        <p:spPr>
          <a:xfrm>
            <a:off x="22383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Dealer discovery</a:t>
            </a:r>
          </a:p>
        </p:txBody>
      </p:sp>
      <p:sp>
        <p:nvSpPr>
          <p:cNvPr id="42" name="dealer-discovery-detail">
            <a:extLst>
              <a:ext uri="{FF2B5EF4-FFF2-40B4-BE49-F238E27FC236}">
                <a16:creationId xmlns:a16="http://schemas.microsoft.com/office/drawing/2014/main" id="{8347F29B-3D6D-4774-A8D4-FFE805866401}"/>
              </a:ext>
            </a:extLst>
          </p:cNvPr>
          <p:cNvSpPr>
            <a:spLocks noGrp="1"/>
          </p:cNvSpPr>
          <p:nvPr/>
        </p:nvSpPr>
        <p:spPr>
          <a:xfrm>
            <a:off x="22383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ZIP / geo search</a:t>
            </a:r>
          </a:p>
        </p:txBody>
      </p:sp>
      <p:sp>
        <p:nvSpPr>
          <p:cNvPr id="43" name="vehicle-service">
            <a:extLst>
              <a:ext uri="{FF2B5EF4-FFF2-40B4-BE49-F238E27FC236}">
                <a16:creationId xmlns:a16="http://schemas.microsoft.com/office/drawing/2014/main" id="{AEA6E081-5CA8-42D4-A4F2-F950C5E4A8AB}"/>
              </a:ext>
            </a:extLst>
          </p:cNvPr>
          <p:cNvSpPr>
            <a:spLocks noGrp="1"/>
          </p:cNvSpPr>
          <p:nvPr/>
        </p:nvSpPr>
        <p:spPr>
          <a:xfrm>
            <a:off x="3400425" y="3314700"/>
            <a:ext cx="1123950" cy="685800"/>
          </a:xfrm>
          <a:prstGeom prst="roundRect">
            <a:avLst>
              <a:gd name="adj" fmla="val 11111"/>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44" name="vehicle-service-title">
            <a:extLst>
              <a:ext uri="{FF2B5EF4-FFF2-40B4-BE49-F238E27FC236}">
                <a16:creationId xmlns:a16="http://schemas.microsoft.com/office/drawing/2014/main" id="{F1B8FB35-DCB3-4E90-A7C1-B92D1CFB58A8}"/>
              </a:ext>
            </a:extLst>
          </p:cNvPr>
          <p:cNvSpPr>
            <a:spLocks noGrp="1"/>
          </p:cNvSpPr>
          <p:nvPr/>
        </p:nvSpPr>
        <p:spPr>
          <a:xfrm>
            <a:off x="34956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Vehicle service</a:t>
            </a:r>
          </a:p>
        </p:txBody>
      </p:sp>
      <p:sp>
        <p:nvSpPr>
          <p:cNvPr id="45" name="vehicle-service-detail">
            <a:extLst>
              <a:ext uri="{FF2B5EF4-FFF2-40B4-BE49-F238E27FC236}">
                <a16:creationId xmlns:a16="http://schemas.microsoft.com/office/drawing/2014/main" id="{281D5F02-A874-4975-8B3C-A4D41B7EB516}"/>
              </a:ext>
            </a:extLst>
          </p:cNvPr>
          <p:cNvSpPr>
            <a:spLocks noGrp="1"/>
          </p:cNvSpPr>
          <p:nvPr/>
        </p:nvSpPr>
        <p:spPr>
          <a:xfrm>
            <a:off x="34956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VIN + repair history</a:t>
            </a:r>
          </a:p>
        </p:txBody>
      </p:sp>
      <p:sp>
        <p:nvSpPr>
          <p:cNvPr id="46" name="availability-service">
            <a:extLst>
              <a:ext uri="{FF2B5EF4-FFF2-40B4-BE49-F238E27FC236}">
                <a16:creationId xmlns:a16="http://schemas.microsoft.com/office/drawing/2014/main" id="{3EC2681F-D996-4247-8FB4-977BC6EC88F0}"/>
              </a:ext>
            </a:extLst>
          </p:cNvPr>
          <p:cNvSpPr>
            <a:spLocks noGrp="1"/>
          </p:cNvSpPr>
          <p:nvPr/>
        </p:nvSpPr>
        <p:spPr>
          <a:xfrm>
            <a:off x="4657725" y="3314700"/>
            <a:ext cx="1123950" cy="685800"/>
          </a:xfrm>
          <a:prstGeom prst="roundRect">
            <a:avLst>
              <a:gd name="adj" fmla="val 11111"/>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47" name="availability-service-title">
            <a:extLst>
              <a:ext uri="{FF2B5EF4-FFF2-40B4-BE49-F238E27FC236}">
                <a16:creationId xmlns:a16="http://schemas.microsoft.com/office/drawing/2014/main" id="{0CA6CA0E-1029-4F3D-9577-945EDBDB346B}"/>
              </a:ext>
            </a:extLst>
          </p:cNvPr>
          <p:cNvSpPr>
            <a:spLocks noGrp="1"/>
          </p:cNvSpPr>
          <p:nvPr/>
        </p:nvSpPr>
        <p:spPr>
          <a:xfrm>
            <a:off x="47529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Availability</a:t>
            </a:r>
          </a:p>
        </p:txBody>
      </p:sp>
      <p:sp>
        <p:nvSpPr>
          <p:cNvPr id="48" name="availability-service-detail">
            <a:extLst>
              <a:ext uri="{FF2B5EF4-FFF2-40B4-BE49-F238E27FC236}">
                <a16:creationId xmlns:a16="http://schemas.microsoft.com/office/drawing/2014/main" id="{83B6C9B2-6ADF-40ED-859A-17ABC79148E7}"/>
              </a:ext>
            </a:extLst>
          </p:cNvPr>
          <p:cNvSpPr>
            <a:spLocks noGrp="1"/>
          </p:cNvSpPr>
          <p:nvPr/>
        </p:nvSpPr>
        <p:spPr>
          <a:xfrm>
            <a:off x="47529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Search + short hold</a:t>
            </a:r>
          </a:p>
        </p:txBody>
      </p:sp>
      <p:sp>
        <p:nvSpPr>
          <p:cNvPr id="49" name="booking-service">
            <a:extLst>
              <a:ext uri="{FF2B5EF4-FFF2-40B4-BE49-F238E27FC236}">
                <a16:creationId xmlns:a16="http://schemas.microsoft.com/office/drawing/2014/main" id="{E61B9AF3-6488-4593-AB3E-F32C39EB6CB2}"/>
              </a:ext>
            </a:extLst>
          </p:cNvPr>
          <p:cNvSpPr>
            <a:spLocks noGrp="1"/>
          </p:cNvSpPr>
          <p:nvPr/>
        </p:nvSpPr>
        <p:spPr>
          <a:xfrm>
            <a:off x="5915025" y="3314700"/>
            <a:ext cx="1123950" cy="685800"/>
          </a:xfrm>
          <a:prstGeom prst="roundRect">
            <a:avLst>
              <a:gd name="adj" fmla="val 11111"/>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50" name="booking-service-title">
            <a:extLst>
              <a:ext uri="{FF2B5EF4-FFF2-40B4-BE49-F238E27FC236}">
                <a16:creationId xmlns:a16="http://schemas.microsoft.com/office/drawing/2014/main" id="{EF6B7E92-B78E-427A-B233-ABA677A4CD91}"/>
              </a:ext>
            </a:extLst>
          </p:cNvPr>
          <p:cNvSpPr>
            <a:spLocks noGrp="1"/>
          </p:cNvSpPr>
          <p:nvPr/>
        </p:nvSpPr>
        <p:spPr>
          <a:xfrm>
            <a:off x="6010275" y="3400425"/>
            <a:ext cx="933450" cy="2952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Booking</a:t>
            </a:r>
          </a:p>
        </p:txBody>
      </p:sp>
      <p:sp>
        <p:nvSpPr>
          <p:cNvPr id="51" name="booking-service-detail">
            <a:extLst>
              <a:ext uri="{FF2B5EF4-FFF2-40B4-BE49-F238E27FC236}">
                <a16:creationId xmlns:a16="http://schemas.microsoft.com/office/drawing/2014/main" id="{3A0E5F36-2398-455A-9745-BD62EACA65B9}"/>
              </a:ext>
            </a:extLst>
          </p:cNvPr>
          <p:cNvSpPr>
            <a:spLocks noGrp="1"/>
          </p:cNvSpPr>
          <p:nvPr/>
        </p:nvSpPr>
        <p:spPr>
          <a:xfrm>
            <a:off x="6010275" y="3724275"/>
            <a:ext cx="933450" cy="209550"/>
          </a:xfrm>
          <a:prstGeom prst="rect">
            <a:avLst/>
          </a:prstGeom>
          <a:noFill/>
          <a:ln w="0">
            <a:noFill/>
            <a:prstDash val="solid"/>
          </a:ln>
        </p:spPr>
        <p:txBody>
          <a:bodyPr/>
          <a:lstStyle/>
          <a:p>
            <a:pPr algn="ctr">
              <a:buNone/>
              <a:defRPr sz="750">
                <a:solidFill>
                  <a:srgbClr val="4B5563"/>
                </a:solidFill>
              </a:defRPr>
            </a:pPr>
            <a:r>
              <a:rPr sz="750">
                <a:solidFill>
                  <a:srgbClr val="4B5563"/>
                </a:solidFill>
              </a:rPr>
              <a:t>Confirm + reconcile</a:t>
            </a:r>
          </a:p>
        </p:txBody>
      </p:sp>
      <p:sp>
        <p:nvSpPr>
          <p:cNvPr id="52" name="location-store">
            <a:extLst>
              <a:ext uri="{FF2B5EF4-FFF2-40B4-BE49-F238E27FC236}">
                <a16:creationId xmlns:a16="http://schemas.microsoft.com/office/drawing/2014/main" id="{9CE66A3F-DD3D-48F2-B302-5D9433D7CB5F}"/>
              </a:ext>
            </a:extLst>
          </p:cNvPr>
          <p:cNvSpPr>
            <a:spLocks noGrp="1"/>
          </p:cNvSpPr>
          <p:nvPr/>
        </p:nvSpPr>
        <p:spPr>
          <a:xfrm>
            <a:off x="21431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3" name="location-store-title">
            <a:extLst>
              <a:ext uri="{FF2B5EF4-FFF2-40B4-BE49-F238E27FC236}">
                <a16:creationId xmlns:a16="http://schemas.microsoft.com/office/drawing/2014/main" id="{8E9F348B-7197-4252-8B08-EF2523FC8376}"/>
              </a:ext>
            </a:extLst>
          </p:cNvPr>
          <p:cNvSpPr>
            <a:spLocks noGrp="1"/>
          </p:cNvSpPr>
          <p:nvPr/>
        </p:nvSpPr>
        <p:spPr>
          <a:xfrm>
            <a:off x="24669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Location Service</a:t>
            </a:r>
          </a:p>
        </p:txBody>
      </p:sp>
      <p:sp>
        <p:nvSpPr>
          <p:cNvPr id="54" name="location-store-detail">
            <a:extLst>
              <a:ext uri="{FF2B5EF4-FFF2-40B4-BE49-F238E27FC236}">
                <a16:creationId xmlns:a16="http://schemas.microsoft.com/office/drawing/2014/main" id="{8AB5EC91-5450-4D76-9BF7-8A91D26E4ACA}"/>
              </a:ext>
            </a:extLst>
          </p:cNvPr>
          <p:cNvSpPr>
            <a:spLocks noGrp="1"/>
          </p:cNvSpPr>
          <p:nvPr/>
        </p:nvSpPr>
        <p:spPr>
          <a:xfrm>
            <a:off x="2238375" y="4457700"/>
            <a:ext cx="933450" cy="123825"/>
          </a:xfrm>
          <a:prstGeom prst="rect">
            <a:avLst/>
          </a:prstGeom>
          <a:noFill/>
          <a:ln w="0">
            <a:noFill/>
            <a:prstDash val="solid"/>
          </a:ln>
        </p:spPr>
        <p:txBody>
          <a:bodyPr/>
          <a:lstStyle/>
          <a:p>
            <a:pPr algn="ctr">
              <a:buNone/>
              <a:defRPr sz="750">
                <a:solidFill>
                  <a:srgbClr val="4B5563"/>
                </a:solidFill>
              </a:defRPr>
            </a:pPr>
            <a:r>
              <a:rPr sz="750">
                <a:solidFill>
                  <a:srgbClr val="4B5563"/>
                </a:solidFill>
              </a:rPr>
              <a:t>Dealer index</a:t>
            </a:r>
          </a:p>
        </p:txBody>
      </p:sp>
      <p:pic>
        <p:nvPicPr>
          <p:cNvPr id="498" name="Picture 189"/>
          <p:cNvPicPr>
            <a:picLocks noChangeAspect="1"/>
          </p:cNvPicPr>
          <p:nvPr/>
        </p:nvPicPr>
        <p:blipFill>
          <a:blip r:embed="rId14"/>
          <a:stretch/>
        </p:blipFill>
        <p:spPr>
          <a:xfrm>
            <a:off x="2219325" y="4191000"/>
            <a:ext cx="180975" cy="180975"/>
          </a:xfrm>
          <a:prstGeom prst="rect">
            <a:avLst/>
          </a:prstGeom>
        </p:spPr>
      </p:pic>
      <p:sp>
        <p:nvSpPr>
          <p:cNvPr id="56" name="state-store">
            <a:extLst>
              <a:ext uri="{FF2B5EF4-FFF2-40B4-BE49-F238E27FC236}">
                <a16:creationId xmlns:a16="http://schemas.microsoft.com/office/drawing/2014/main" id="{07AF2DFE-AADA-4B4E-BAEC-1492AAE07432}"/>
              </a:ext>
            </a:extLst>
          </p:cNvPr>
          <p:cNvSpPr>
            <a:spLocks noGrp="1"/>
          </p:cNvSpPr>
          <p:nvPr/>
        </p:nvSpPr>
        <p:spPr>
          <a:xfrm>
            <a:off x="34004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57" name="state-store-title">
            <a:extLst>
              <a:ext uri="{FF2B5EF4-FFF2-40B4-BE49-F238E27FC236}">
                <a16:creationId xmlns:a16="http://schemas.microsoft.com/office/drawing/2014/main" id="{D60C5423-E1AF-4248-8A85-0CAA56907680}"/>
              </a:ext>
            </a:extLst>
          </p:cNvPr>
          <p:cNvSpPr>
            <a:spLocks noGrp="1"/>
          </p:cNvSpPr>
          <p:nvPr/>
        </p:nvSpPr>
        <p:spPr>
          <a:xfrm>
            <a:off x="37242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DynamoDB</a:t>
            </a:r>
          </a:p>
        </p:txBody>
      </p:sp>
      <p:sp>
        <p:nvSpPr>
          <p:cNvPr id="58" name="state-store-detail">
            <a:extLst>
              <a:ext uri="{FF2B5EF4-FFF2-40B4-BE49-F238E27FC236}">
                <a16:creationId xmlns:a16="http://schemas.microsoft.com/office/drawing/2014/main" id="{625B6892-5469-4A10-847F-526EE5D4F3F6}"/>
              </a:ext>
            </a:extLst>
          </p:cNvPr>
          <p:cNvSpPr>
            <a:spLocks noGrp="1"/>
          </p:cNvSpPr>
          <p:nvPr/>
        </p:nvSpPr>
        <p:spPr>
          <a:xfrm>
            <a:off x="34956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Profile • booking • idempotency</a:t>
            </a:r>
          </a:p>
        </p:txBody>
      </p:sp>
      <p:pic>
        <p:nvPicPr>
          <p:cNvPr id="502" name="Picture 193"/>
          <p:cNvPicPr>
            <a:picLocks noChangeAspect="1"/>
          </p:cNvPicPr>
          <p:nvPr/>
        </p:nvPicPr>
        <p:blipFill>
          <a:blip r:embed="rId15"/>
          <a:stretch/>
        </p:blipFill>
        <p:spPr>
          <a:xfrm>
            <a:off x="3476625" y="4191000"/>
            <a:ext cx="180975" cy="180975"/>
          </a:xfrm>
          <a:prstGeom prst="rect">
            <a:avLst/>
          </a:prstGeom>
        </p:spPr>
      </p:pic>
      <p:sp>
        <p:nvSpPr>
          <p:cNvPr id="60" name="cache">
            <a:extLst>
              <a:ext uri="{FF2B5EF4-FFF2-40B4-BE49-F238E27FC236}">
                <a16:creationId xmlns:a16="http://schemas.microsoft.com/office/drawing/2014/main" id="{16E74A1B-590B-4F89-AC74-4CD4FDA09BC9}"/>
              </a:ext>
            </a:extLst>
          </p:cNvPr>
          <p:cNvSpPr>
            <a:spLocks noGrp="1"/>
          </p:cNvSpPr>
          <p:nvPr/>
        </p:nvSpPr>
        <p:spPr>
          <a:xfrm>
            <a:off x="46577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1" name="cache-title">
            <a:extLst>
              <a:ext uri="{FF2B5EF4-FFF2-40B4-BE49-F238E27FC236}">
                <a16:creationId xmlns:a16="http://schemas.microsoft.com/office/drawing/2014/main" id="{CF1B27C8-1761-4FCA-B28D-8E9812CDE8E6}"/>
              </a:ext>
            </a:extLst>
          </p:cNvPr>
          <p:cNvSpPr>
            <a:spLocks noGrp="1"/>
          </p:cNvSpPr>
          <p:nvPr/>
        </p:nvSpPr>
        <p:spPr>
          <a:xfrm>
            <a:off x="4981575" y="4219575"/>
            <a:ext cx="704850" cy="266700"/>
          </a:xfrm>
          <a:prstGeom prst="rect">
            <a:avLst/>
          </a:prstGeom>
          <a:noFill/>
          <a:ln w="0">
            <a:noFill/>
            <a:prstDash val="solid"/>
          </a:ln>
        </p:spPr>
        <p:txBody>
          <a:bodyPr/>
          <a:lstStyle/>
          <a:p>
            <a:pPr algn="l">
              <a:buNone/>
              <a:defRPr sz="825" b="1">
                <a:solidFill>
                  <a:srgbClr val="172033"/>
                </a:solidFill>
              </a:defRPr>
            </a:pPr>
            <a:r>
              <a:rPr sz="825" b="1">
                <a:solidFill>
                  <a:srgbClr val="172033"/>
                </a:solidFill>
              </a:rPr>
              <a:t>Valkey cache</a:t>
            </a:r>
          </a:p>
        </p:txBody>
      </p:sp>
      <p:sp>
        <p:nvSpPr>
          <p:cNvPr id="62" name="cache-detail">
            <a:extLst>
              <a:ext uri="{FF2B5EF4-FFF2-40B4-BE49-F238E27FC236}">
                <a16:creationId xmlns:a16="http://schemas.microsoft.com/office/drawing/2014/main" id="{4D011503-F1DF-48DF-B706-43FF3CC19FA2}"/>
              </a:ext>
            </a:extLst>
          </p:cNvPr>
          <p:cNvSpPr>
            <a:spLocks noGrp="1"/>
          </p:cNvSpPr>
          <p:nvPr/>
        </p:nvSpPr>
        <p:spPr>
          <a:xfrm>
            <a:off x="4752975" y="4457700"/>
            <a:ext cx="933450" cy="123825"/>
          </a:xfrm>
          <a:prstGeom prst="rect">
            <a:avLst/>
          </a:prstGeom>
          <a:noFill/>
          <a:ln w="0">
            <a:noFill/>
            <a:prstDash val="solid"/>
          </a:ln>
        </p:spPr>
        <p:txBody>
          <a:bodyPr/>
          <a:lstStyle/>
          <a:p>
            <a:pPr algn="ctr">
              <a:buNone/>
              <a:defRPr sz="675">
                <a:solidFill>
                  <a:srgbClr val="4B5563"/>
                </a:solidFill>
              </a:defRPr>
            </a:pPr>
            <a:r>
              <a:rPr sz="675">
                <a:solidFill>
                  <a:srgbClr val="4B5563"/>
                </a:solidFill>
              </a:rPr>
              <a:t>Short-lived slot views</a:t>
            </a:r>
          </a:p>
        </p:txBody>
      </p:sp>
      <p:pic>
        <p:nvPicPr>
          <p:cNvPr id="506" name="Picture 197"/>
          <p:cNvPicPr>
            <a:picLocks noChangeAspect="1"/>
          </p:cNvPicPr>
          <p:nvPr/>
        </p:nvPicPr>
        <p:blipFill>
          <a:blip r:embed="rId16"/>
          <a:stretch/>
        </p:blipFill>
        <p:spPr>
          <a:xfrm>
            <a:off x="4733925" y="4191000"/>
            <a:ext cx="180975" cy="180975"/>
          </a:xfrm>
          <a:prstGeom prst="rect">
            <a:avLst/>
          </a:prstGeom>
        </p:spPr>
      </p:pic>
      <p:sp>
        <p:nvSpPr>
          <p:cNvPr id="64" name="events">
            <a:extLst>
              <a:ext uri="{FF2B5EF4-FFF2-40B4-BE49-F238E27FC236}">
                <a16:creationId xmlns:a16="http://schemas.microsoft.com/office/drawing/2014/main" id="{B92C5ECE-3EB0-4E96-A091-A352D6BB944A}"/>
              </a:ext>
            </a:extLst>
          </p:cNvPr>
          <p:cNvSpPr>
            <a:spLocks noGrp="1"/>
          </p:cNvSpPr>
          <p:nvPr/>
        </p:nvSpPr>
        <p:spPr>
          <a:xfrm>
            <a:off x="5915025" y="4133850"/>
            <a:ext cx="1123950" cy="514350"/>
          </a:xfrm>
          <a:prstGeom prst="roundRect">
            <a:avLst>
              <a:gd name="adj" fmla="val 14815"/>
            </a:avLst>
          </a:prstGeom>
          <a:solidFill>
            <a:srgbClr val="F7F8FA"/>
          </a:solidFill>
          <a:ln w="13335">
            <a:solidFill>
              <a:srgbClr val="8491A3"/>
            </a:solidFill>
            <a:prstDash val="solid"/>
          </a:ln>
        </p:spPr>
        <p:txBody>
          <a:bodyPr/>
          <a:lstStyle/>
          <a:p>
            <a:endParaRPr/>
          </a:p>
        </p:txBody>
      </p:sp>
      <p:sp>
        <p:nvSpPr>
          <p:cNvPr id="65" name="events-title">
            <a:extLst>
              <a:ext uri="{FF2B5EF4-FFF2-40B4-BE49-F238E27FC236}">
                <a16:creationId xmlns:a16="http://schemas.microsoft.com/office/drawing/2014/main" id="{DCC041CA-0050-406C-81E7-057699E0CDCC}"/>
              </a:ext>
            </a:extLst>
          </p:cNvPr>
          <p:cNvSpPr>
            <a:spLocks noGrp="1"/>
          </p:cNvSpPr>
          <p:nvPr/>
        </p:nvSpPr>
        <p:spPr>
          <a:xfrm>
            <a:off x="6372225" y="4219575"/>
            <a:ext cx="571500" cy="266700"/>
          </a:xfrm>
          <a:prstGeom prst="rect">
            <a:avLst/>
          </a:prstGeom>
          <a:noFill/>
          <a:ln w="0">
            <a:noFill/>
            <a:prstDash val="solid"/>
          </a:ln>
        </p:spPr>
        <p:txBody>
          <a:bodyPr/>
          <a:lstStyle/>
          <a:p>
            <a:pPr algn="l">
              <a:buNone/>
              <a:defRPr sz="750" b="1">
                <a:solidFill>
                  <a:srgbClr val="172033"/>
                </a:solidFill>
              </a:defRPr>
            </a:pPr>
            <a:r>
              <a:rPr sz="750" b="1">
                <a:solidFill>
                  <a:srgbClr val="172033"/>
                </a:solidFill>
              </a:rPr>
              <a:t>Events + queues</a:t>
            </a:r>
          </a:p>
        </p:txBody>
      </p:sp>
      <p:sp>
        <p:nvSpPr>
          <p:cNvPr id="66" name="events-detail">
            <a:extLst>
              <a:ext uri="{FF2B5EF4-FFF2-40B4-BE49-F238E27FC236}">
                <a16:creationId xmlns:a16="http://schemas.microsoft.com/office/drawing/2014/main" id="{9D74DE9C-7D5A-4C99-A8D3-95DEF4C41646}"/>
              </a:ext>
            </a:extLst>
          </p:cNvPr>
          <p:cNvSpPr>
            <a:spLocks noGrp="1"/>
          </p:cNvSpPr>
          <p:nvPr/>
        </p:nvSpPr>
        <p:spPr>
          <a:xfrm>
            <a:off x="6010275" y="4457700"/>
            <a:ext cx="933450" cy="123825"/>
          </a:xfrm>
          <a:prstGeom prst="rect">
            <a:avLst/>
          </a:prstGeom>
          <a:noFill/>
          <a:ln w="0">
            <a:noFill/>
            <a:prstDash val="solid"/>
          </a:ln>
        </p:spPr>
        <p:txBody>
          <a:bodyPr/>
          <a:lstStyle/>
          <a:p>
            <a:pPr algn="ctr">
              <a:buNone/>
              <a:defRPr sz="600">
                <a:solidFill>
                  <a:srgbClr val="4B5563"/>
                </a:solidFill>
              </a:defRPr>
            </a:pPr>
            <a:r>
              <a:rPr sz="600">
                <a:solidFill>
                  <a:srgbClr val="4B5563"/>
                </a:solidFill>
              </a:rPr>
              <a:t>EventBridge • SQS • DLQs</a:t>
            </a:r>
          </a:p>
        </p:txBody>
      </p:sp>
      <p:pic>
        <p:nvPicPr>
          <p:cNvPr id="510" name="Picture 201"/>
          <p:cNvPicPr>
            <a:picLocks noChangeAspect="1"/>
          </p:cNvPicPr>
          <p:nvPr/>
        </p:nvPicPr>
        <p:blipFill>
          <a:blip r:embed="rId17"/>
          <a:stretch/>
        </p:blipFill>
        <p:spPr>
          <a:xfrm>
            <a:off x="5981700" y="4191000"/>
            <a:ext cx="171450" cy="171450"/>
          </a:xfrm>
          <a:prstGeom prst="rect">
            <a:avLst/>
          </a:prstGeom>
        </p:spPr>
      </p:pic>
      <p:pic>
        <p:nvPicPr>
          <p:cNvPr id="511" name="Picture 202"/>
          <p:cNvPicPr>
            <a:picLocks noChangeAspect="1"/>
          </p:cNvPicPr>
          <p:nvPr/>
        </p:nvPicPr>
        <p:blipFill>
          <a:blip r:embed="rId18"/>
          <a:stretch/>
        </p:blipFill>
        <p:spPr>
          <a:xfrm>
            <a:off x="6162675" y="4191000"/>
            <a:ext cx="171450" cy="171450"/>
          </a:xfrm>
          <a:prstGeom prst="rect">
            <a:avLst/>
          </a:prstGeom>
        </p:spPr>
      </p:pic>
      <p:sp>
        <p:nvSpPr>
          <p:cNvPr id="69" name="integration-boundary">
            <a:extLst>
              <a:ext uri="{FF2B5EF4-FFF2-40B4-BE49-F238E27FC236}">
                <a16:creationId xmlns:a16="http://schemas.microsoft.com/office/drawing/2014/main" id="{33E82CA5-8C5A-40AF-8EE8-8586E3E2AB7D}"/>
              </a:ext>
            </a:extLst>
          </p:cNvPr>
          <p:cNvSpPr>
            <a:spLocks noGrp="1"/>
          </p:cNvSpPr>
          <p:nvPr/>
        </p:nvSpPr>
        <p:spPr>
          <a:xfrm>
            <a:off x="7524750" y="2247900"/>
            <a:ext cx="1504950" cy="2552700"/>
          </a:xfrm>
          <a:prstGeom prst="roundRect">
            <a:avLst>
              <a:gd name="adj" fmla="val 5063"/>
            </a:avLst>
          </a:prstGeom>
          <a:solidFill>
            <a:srgbClr val="F5FBFA"/>
          </a:solidFill>
          <a:ln w="14288">
            <a:solidFill>
              <a:srgbClr val="198E84"/>
            </a:solidFill>
            <a:prstDash val="solid"/>
          </a:ln>
        </p:spPr>
        <p:txBody>
          <a:bodyPr/>
          <a:lstStyle/>
          <a:p>
            <a:endParaRPr/>
          </a:p>
        </p:txBody>
      </p:sp>
      <p:sp>
        <p:nvSpPr>
          <p:cNvPr id="70" name="integration-label">
            <a:extLst>
              <a:ext uri="{FF2B5EF4-FFF2-40B4-BE49-F238E27FC236}">
                <a16:creationId xmlns:a16="http://schemas.microsoft.com/office/drawing/2014/main" id="{95C6A10E-8CCF-4913-A7F3-B72EAB8C7AE2}"/>
              </a:ext>
            </a:extLst>
          </p:cNvPr>
          <p:cNvSpPr>
            <a:spLocks noGrp="1"/>
          </p:cNvSpPr>
          <p:nvPr/>
        </p:nvSpPr>
        <p:spPr>
          <a:xfrm>
            <a:off x="7667625" y="2390775"/>
            <a:ext cx="1219200" cy="361950"/>
          </a:xfrm>
          <a:prstGeom prst="rect">
            <a:avLst/>
          </a:prstGeom>
          <a:noFill/>
          <a:ln w="0">
            <a:noFill/>
            <a:prstDash val="solid"/>
          </a:ln>
        </p:spPr>
        <p:txBody>
          <a:bodyPr/>
          <a:lstStyle/>
          <a:p>
            <a:pPr algn="ctr">
              <a:buNone/>
              <a:defRPr sz="900" b="1">
                <a:solidFill>
                  <a:srgbClr val="198E84"/>
                </a:solidFill>
              </a:defRPr>
            </a:pPr>
            <a:r>
              <a:rPr sz="900" b="1">
                <a:solidFill>
                  <a:srgbClr val="198E84"/>
                </a:solidFill>
              </a:rPr>
              <a:t>STANDARDIZED</a:t>
            </a:r>
          </a:p>
          <a:p>
            <a:pPr algn="ctr">
              <a:buNone/>
              <a:defRPr sz="900" b="1">
                <a:solidFill>
                  <a:srgbClr val="198E84"/>
                </a:solidFill>
              </a:defRPr>
            </a:pPr>
            <a:r>
              <a:rPr sz="900" b="1">
                <a:solidFill>
                  <a:srgbClr val="198E84"/>
                </a:solidFill>
              </a:rPr>
              <a:t>INTEGRATION LAYER</a:t>
            </a:r>
          </a:p>
        </p:txBody>
      </p:sp>
      <p:sp>
        <p:nvSpPr>
          <p:cNvPr id="71" name="vin-adapter">
            <a:extLst>
              <a:ext uri="{FF2B5EF4-FFF2-40B4-BE49-F238E27FC236}">
                <a16:creationId xmlns:a16="http://schemas.microsoft.com/office/drawing/2014/main" id="{AD134F2A-0138-410C-9064-FA491E218EAF}"/>
              </a:ext>
            </a:extLst>
          </p:cNvPr>
          <p:cNvSpPr>
            <a:spLocks noGrp="1"/>
          </p:cNvSpPr>
          <p:nvPr/>
        </p:nvSpPr>
        <p:spPr>
          <a:xfrm>
            <a:off x="7677150" y="28575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2" name="vin-adapter-title">
            <a:extLst>
              <a:ext uri="{FF2B5EF4-FFF2-40B4-BE49-F238E27FC236}">
                <a16:creationId xmlns:a16="http://schemas.microsoft.com/office/drawing/2014/main" id="{9E25B812-2578-4BB5-91A0-7CD38C07CF09}"/>
              </a:ext>
            </a:extLst>
          </p:cNvPr>
          <p:cNvSpPr>
            <a:spLocks noGrp="1"/>
          </p:cNvSpPr>
          <p:nvPr/>
        </p:nvSpPr>
        <p:spPr>
          <a:xfrm>
            <a:off x="7772400" y="29432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VIN adapter</a:t>
            </a:r>
          </a:p>
        </p:txBody>
      </p:sp>
      <p:sp>
        <p:nvSpPr>
          <p:cNvPr id="73" name="vin-adapter-detail">
            <a:extLst>
              <a:ext uri="{FF2B5EF4-FFF2-40B4-BE49-F238E27FC236}">
                <a16:creationId xmlns:a16="http://schemas.microsoft.com/office/drawing/2014/main" id="{98262947-3D33-417E-947D-26029BBB5760}"/>
              </a:ext>
            </a:extLst>
          </p:cNvPr>
          <p:cNvSpPr>
            <a:spLocks noGrp="1"/>
          </p:cNvSpPr>
          <p:nvPr/>
        </p:nvSpPr>
        <p:spPr>
          <a:xfrm>
            <a:off x="7772400" y="32004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Timeout + circuit breaker</a:t>
            </a:r>
          </a:p>
        </p:txBody>
      </p:sp>
      <p:sp>
        <p:nvSpPr>
          <p:cNvPr id="74" name="history-adapter">
            <a:extLst>
              <a:ext uri="{FF2B5EF4-FFF2-40B4-BE49-F238E27FC236}">
                <a16:creationId xmlns:a16="http://schemas.microsoft.com/office/drawing/2014/main" id="{4FF9D4DC-2489-4488-9A45-FE045DB59A21}"/>
              </a:ext>
            </a:extLst>
          </p:cNvPr>
          <p:cNvSpPr>
            <a:spLocks noGrp="1"/>
          </p:cNvSpPr>
          <p:nvPr/>
        </p:nvSpPr>
        <p:spPr>
          <a:xfrm>
            <a:off x="7677150" y="356235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5" name="history-adapter-title">
            <a:extLst>
              <a:ext uri="{FF2B5EF4-FFF2-40B4-BE49-F238E27FC236}">
                <a16:creationId xmlns:a16="http://schemas.microsoft.com/office/drawing/2014/main" id="{B29A9BC8-4EE7-4563-A759-A08923786432}"/>
              </a:ext>
            </a:extLst>
          </p:cNvPr>
          <p:cNvSpPr>
            <a:spLocks noGrp="1"/>
          </p:cNvSpPr>
          <p:nvPr/>
        </p:nvSpPr>
        <p:spPr>
          <a:xfrm>
            <a:off x="7772400" y="3648075"/>
            <a:ext cx="1009650" cy="257175"/>
          </a:xfrm>
          <a:prstGeom prst="rect">
            <a:avLst/>
          </a:prstGeom>
          <a:noFill/>
          <a:ln w="0">
            <a:noFill/>
            <a:prstDash val="solid"/>
          </a:ln>
        </p:spPr>
        <p:txBody>
          <a:bodyPr/>
          <a:lstStyle/>
          <a:p>
            <a:pPr algn="ctr">
              <a:buNone/>
              <a:defRPr sz="825" b="1">
                <a:solidFill>
                  <a:srgbClr val="172033"/>
                </a:solidFill>
              </a:defRPr>
            </a:pPr>
            <a:r>
              <a:rPr sz="825" b="1">
                <a:solidFill>
                  <a:srgbClr val="172033"/>
                </a:solidFill>
              </a:rPr>
              <a:t>Mainframe adapter</a:t>
            </a:r>
          </a:p>
        </p:txBody>
      </p:sp>
      <p:sp>
        <p:nvSpPr>
          <p:cNvPr id="76" name="history-adapter-detail">
            <a:extLst>
              <a:ext uri="{FF2B5EF4-FFF2-40B4-BE49-F238E27FC236}">
                <a16:creationId xmlns:a16="http://schemas.microsoft.com/office/drawing/2014/main" id="{D3DC7500-B5D9-4123-B729-73A5FA45AA7C}"/>
              </a:ext>
            </a:extLst>
          </p:cNvPr>
          <p:cNvSpPr>
            <a:spLocks noGrp="1"/>
          </p:cNvSpPr>
          <p:nvPr/>
        </p:nvSpPr>
        <p:spPr>
          <a:xfrm>
            <a:off x="7772400" y="390525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MQ + schema mapping</a:t>
            </a:r>
          </a:p>
        </p:txBody>
      </p:sp>
      <p:sp>
        <p:nvSpPr>
          <p:cNvPr id="77" name="dealer-adapter">
            <a:extLst>
              <a:ext uri="{FF2B5EF4-FFF2-40B4-BE49-F238E27FC236}">
                <a16:creationId xmlns:a16="http://schemas.microsoft.com/office/drawing/2014/main" id="{4AEE604E-EFBA-4BB4-BA69-DECEF76195EA}"/>
              </a:ext>
            </a:extLst>
          </p:cNvPr>
          <p:cNvSpPr>
            <a:spLocks noGrp="1"/>
          </p:cNvSpPr>
          <p:nvPr/>
        </p:nvSpPr>
        <p:spPr>
          <a:xfrm>
            <a:off x="7677150" y="4267200"/>
            <a:ext cx="1200150" cy="590550"/>
          </a:xfrm>
          <a:prstGeom prst="roundRect">
            <a:avLst>
              <a:gd name="adj" fmla="val 12903"/>
            </a:avLst>
          </a:prstGeom>
          <a:solidFill>
            <a:srgbClr val="FFFFFF"/>
          </a:solidFill>
          <a:ln w="13335">
            <a:solidFill>
              <a:srgbClr val="198E84"/>
            </a:solidFill>
            <a:prstDash val="solid"/>
          </a:ln>
        </p:spPr>
        <p:txBody>
          <a:bodyPr/>
          <a:lstStyle/>
          <a:p>
            <a:endParaRPr/>
          </a:p>
        </p:txBody>
      </p:sp>
      <p:sp>
        <p:nvSpPr>
          <p:cNvPr id="78" name="dealer-adapter-title">
            <a:extLst>
              <a:ext uri="{FF2B5EF4-FFF2-40B4-BE49-F238E27FC236}">
                <a16:creationId xmlns:a16="http://schemas.microsoft.com/office/drawing/2014/main" id="{DAD73A14-4C2A-45BF-B5D7-19160B1269D3}"/>
              </a:ext>
            </a:extLst>
          </p:cNvPr>
          <p:cNvSpPr>
            <a:spLocks noGrp="1"/>
          </p:cNvSpPr>
          <p:nvPr/>
        </p:nvSpPr>
        <p:spPr>
          <a:xfrm>
            <a:off x="7772400" y="4352925"/>
            <a:ext cx="1009650" cy="257175"/>
          </a:xfrm>
          <a:prstGeom prst="rect">
            <a:avLst/>
          </a:prstGeom>
          <a:noFill/>
          <a:ln w="0">
            <a:noFill/>
            <a:prstDash val="solid"/>
          </a:ln>
        </p:spPr>
        <p:txBody>
          <a:bodyPr/>
          <a:lstStyle/>
          <a:p>
            <a:pPr algn="ctr">
              <a:buNone/>
              <a:defRPr sz="900" b="1">
                <a:solidFill>
                  <a:srgbClr val="172033"/>
                </a:solidFill>
              </a:defRPr>
            </a:pPr>
            <a:r>
              <a:rPr sz="900" b="1">
                <a:solidFill>
                  <a:srgbClr val="172033"/>
                </a:solidFill>
              </a:rPr>
              <a:t>Dealer adapters</a:t>
            </a:r>
          </a:p>
        </p:txBody>
      </p:sp>
      <p:sp>
        <p:nvSpPr>
          <p:cNvPr id="79" name="dealer-adapter-detail">
            <a:extLst>
              <a:ext uri="{FF2B5EF4-FFF2-40B4-BE49-F238E27FC236}">
                <a16:creationId xmlns:a16="http://schemas.microsoft.com/office/drawing/2014/main" id="{EFC67A2B-0523-4AFE-BA1A-8042F2472905}"/>
              </a:ext>
            </a:extLst>
          </p:cNvPr>
          <p:cNvSpPr>
            <a:spLocks noGrp="1"/>
          </p:cNvSpPr>
          <p:nvPr/>
        </p:nvSpPr>
        <p:spPr>
          <a:xfrm>
            <a:off x="7772400" y="4610100"/>
            <a:ext cx="1009650" cy="180975"/>
          </a:xfrm>
          <a:prstGeom prst="rect">
            <a:avLst/>
          </a:prstGeom>
          <a:noFill/>
          <a:ln w="0">
            <a:noFill/>
            <a:prstDash val="solid"/>
          </a:ln>
        </p:spPr>
        <p:txBody>
          <a:bodyPr/>
          <a:lstStyle/>
          <a:p>
            <a:pPr algn="ctr">
              <a:buNone/>
              <a:defRPr sz="675">
                <a:solidFill>
                  <a:srgbClr val="4B5563"/>
                </a:solidFill>
              </a:defRPr>
            </a:pPr>
            <a:r>
              <a:rPr sz="675">
                <a:solidFill>
                  <a:srgbClr val="4B5563"/>
                </a:solidFill>
              </a:rPr>
              <a:t>mTLS • hold / confirm</a:t>
            </a:r>
          </a:p>
        </p:txBody>
      </p:sp>
      <p:sp>
        <p:nvSpPr>
          <p:cNvPr id="80" name="notification">
            <a:extLst>
              <a:ext uri="{FF2B5EF4-FFF2-40B4-BE49-F238E27FC236}">
                <a16:creationId xmlns:a16="http://schemas.microsoft.com/office/drawing/2014/main" id="{5BF19000-AC9E-4B0B-90FF-AF27E7220478}"/>
              </a:ext>
            </a:extLst>
          </p:cNvPr>
          <p:cNvSpPr>
            <a:spLocks noGrp="1"/>
          </p:cNvSpPr>
          <p:nvPr/>
        </p:nvSpPr>
        <p:spPr>
          <a:xfrm>
            <a:off x="2000250" y="5000625"/>
            <a:ext cx="2324100" cy="552450"/>
          </a:xfrm>
          <a:prstGeom prst="roundRect">
            <a:avLst>
              <a:gd name="adj" fmla="val 13793"/>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81" name="notification-title">
            <a:extLst>
              <a:ext uri="{FF2B5EF4-FFF2-40B4-BE49-F238E27FC236}">
                <a16:creationId xmlns:a16="http://schemas.microsoft.com/office/drawing/2014/main" id="{EF0AF245-7C34-44DC-89A5-095D73C3C7DF}"/>
              </a:ext>
            </a:extLst>
          </p:cNvPr>
          <p:cNvSpPr>
            <a:spLocks noGrp="1"/>
          </p:cNvSpPr>
          <p:nvPr/>
        </p:nvSpPr>
        <p:spPr>
          <a:xfrm>
            <a:off x="2619375" y="5086350"/>
            <a:ext cx="1609725"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Notifications</a:t>
            </a:r>
          </a:p>
        </p:txBody>
      </p:sp>
      <p:sp>
        <p:nvSpPr>
          <p:cNvPr id="82" name="notification-detail">
            <a:extLst>
              <a:ext uri="{FF2B5EF4-FFF2-40B4-BE49-F238E27FC236}">
                <a16:creationId xmlns:a16="http://schemas.microsoft.com/office/drawing/2014/main" id="{0C4DE5D1-9970-4ED7-9CA7-D7FBC0F282C0}"/>
              </a:ext>
            </a:extLst>
          </p:cNvPr>
          <p:cNvSpPr>
            <a:spLocks noGrp="1"/>
          </p:cNvSpPr>
          <p:nvPr/>
        </p:nvSpPr>
        <p:spPr>
          <a:xfrm>
            <a:off x="2095500" y="5295900"/>
            <a:ext cx="21336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SES email • SNS SMS • reminders</a:t>
            </a:r>
          </a:p>
        </p:txBody>
      </p:sp>
      <p:pic>
        <p:nvPicPr>
          <p:cNvPr id="526" name="Picture 217"/>
          <p:cNvPicPr>
            <a:picLocks noChangeAspect="1"/>
          </p:cNvPicPr>
          <p:nvPr/>
        </p:nvPicPr>
        <p:blipFill>
          <a:blip r:embed="rId19"/>
          <a:stretch/>
        </p:blipFill>
        <p:spPr>
          <a:xfrm>
            <a:off x="2095500" y="5076825"/>
            <a:ext cx="209550" cy="209550"/>
          </a:xfrm>
          <a:prstGeom prst="rect">
            <a:avLst/>
          </a:prstGeom>
        </p:spPr>
      </p:pic>
      <p:pic>
        <p:nvPicPr>
          <p:cNvPr id="527" name="Picture 218"/>
          <p:cNvPicPr>
            <a:picLocks noChangeAspect="1"/>
          </p:cNvPicPr>
          <p:nvPr/>
        </p:nvPicPr>
        <p:blipFill>
          <a:blip r:embed="rId20"/>
          <a:stretch/>
        </p:blipFill>
        <p:spPr>
          <a:xfrm>
            <a:off x="2324100" y="5076825"/>
            <a:ext cx="209550" cy="209550"/>
          </a:xfrm>
          <a:prstGeom prst="rect">
            <a:avLst/>
          </a:prstGeom>
        </p:spPr>
      </p:pic>
      <p:sp>
        <p:nvSpPr>
          <p:cNvPr id="85" name="reliability">
            <a:extLst>
              <a:ext uri="{FF2B5EF4-FFF2-40B4-BE49-F238E27FC236}">
                <a16:creationId xmlns:a16="http://schemas.microsoft.com/office/drawing/2014/main" id="{D12A9274-DA1F-4084-9D30-7C9AEED15B45}"/>
              </a:ext>
            </a:extLst>
          </p:cNvPr>
          <p:cNvSpPr>
            <a:spLocks noGrp="1"/>
          </p:cNvSpPr>
          <p:nvPr/>
        </p:nvSpPr>
        <p:spPr>
          <a:xfrm>
            <a:off x="4476750" y="5000625"/>
            <a:ext cx="2857500" cy="552450"/>
          </a:xfrm>
          <a:prstGeom prst="roundRect">
            <a:avLst>
              <a:gd name="adj" fmla="val 13793"/>
            </a:avLst>
          </a:prstGeom>
          <a:solidFill>
            <a:srgbClr val="EAF8F3"/>
          </a:solidFill>
          <a:ln w="1333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sp>
        <p:nvSpPr>
          <p:cNvPr id="86" name="reliability-title">
            <a:extLst>
              <a:ext uri="{FF2B5EF4-FFF2-40B4-BE49-F238E27FC236}">
                <a16:creationId xmlns:a16="http://schemas.microsoft.com/office/drawing/2014/main" id="{CC9BD68D-3782-4AD0-A4AC-EC1B123BD3D1}"/>
              </a:ext>
            </a:extLst>
          </p:cNvPr>
          <p:cNvSpPr>
            <a:spLocks noGrp="1"/>
          </p:cNvSpPr>
          <p:nvPr/>
        </p:nvSpPr>
        <p:spPr>
          <a:xfrm>
            <a:off x="4572000" y="5086350"/>
            <a:ext cx="2667000" cy="238125"/>
          </a:xfrm>
          <a:prstGeom prst="rect">
            <a:avLst/>
          </a:prstGeom>
          <a:noFill/>
          <a:ln w="0">
            <a:noFill/>
            <a:prstDash val="solid"/>
          </a:ln>
        </p:spPr>
        <p:txBody>
          <a:bodyPr/>
          <a:lstStyle/>
          <a:p>
            <a:pPr algn="ctr">
              <a:buNone/>
              <a:defRPr sz="1050" b="1">
                <a:solidFill>
                  <a:srgbClr val="172033"/>
                </a:solidFill>
              </a:defRPr>
            </a:pPr>
            <a:r>
              <a:rPr sz="1050" b="1">
                <a:solidFill>
                  <a:srgbClr val="172033"/>
                </a:solidFill>
              </a:rPr>
              <a:t>Reliability controls</a:t>
            </a:r>
          </a:p>
        </p:txBody>
      </p:sp>
      <p:sp>
        <p:nvSpPr>
          <p:cNvPr id="87" name="reliability-detail">
            <a:extLst>
              <a:ext uri="{FF2B5EF4-FFF2-40B4-BE49-F238E27FC236}">
                <a16:creationId xmlns:a16="http://schemas.microsoft.com/office/drawing/2014/main" id="{441F1CAE-4233-4F6A-AE78-433485AAFC73}"/>
              </a:ext>
            </a:extLst>
          </p:cNvPr>
          <p:cNvSpPr>
            <a:spLocks noGrp="1"/>
          </p:cNvSpPr>
          <p:nvPr/>
        </p:nvSpPr>
        <p:spPr>
          <a:xfrm>
            <a:off x="4572000" y="5295900"/>
            <a:ext cx="2667000" cy="190500"/>
          </a:xfrm>
          <a:prstGeom prst="rect">
            <a:avLst/>
          </a:prstGeom>
          <a:noFill/>
          <a:ln w="0">
            <a:noFill/>
            <a:prstDash val="solid"/>
          </a:ln>
        </p:spPr>
        <p:txBody>
          <a:bodyPr/>
          <a:lstStyle/>
          <a:p>
            <a:pPr algn="ctr">
              <a:buNone/>
              <a:defRPr sz="825">
                <a:solidFill>
                  <a:srgbClr val="4B5563"/>
                </a:solidFill>
              </a:defRPr>
            </a:pPr>
            <a:r>
              <a:rPr sz="825">
                <a:solidFill>
                  <a:srgbClr val="4B5563"/>
                </a:solidFill>
              </a:rPr>
              <a:t>Retries • DLQs • reconciliation • audit trail</a:t>
            </a:r>
          </a:p>
        </p:txBody>
      </p:sp>
      <p:sp>
        <p:nvSpPr>
          <p:cNvPr id="88" name="vin-system">
            <a:extLst>
              <a:ext uri="{FF2B5EF4-FFF2-40B4-BE49-F238E27FC236}">
                <a16:creationId xmlns:a16="http://schemas.microsoft.com/office/drawing/2014/main" id="{6D15EB2A-4F9F-4E45-BC47-3BD827BA55DE}"/>
              </a:ext>
            </a:extLst>
          </p:cNvPr>
          <p:cNvSpPr>
            <a:spLocks noGrp="1"/>
          </p:cNvSpPr>
          <p:nvPr/>
        </p:nvSpPr>
        <p:spPr>
          <a:xfrm>
            <a:off x="9477375" y="2143125"/>
            <a:ext cx="2266950" cy="723900"/>
          </a:xfrm>
          <a:prstGeom prst="roundRect">
            <a:avLst>
              <a:gd name="adj" fmla="val 10526"/>
            </a:avLst>
          </a:prstGeom>
          <a:solidFill>
            <a:srgbClr val="EAF3FF"/>
          </a:solidFill>
          <a:ln w="1333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89" name="vin-system-title">
            <a:extLst>
              <a:ext uri="{FF2B5EF4-FFF2-40B4-BE49-F238E27FC236}">
                <a16:creationId xmlns:a16="http://schemas.microsoft.com/office/drawing/2014/main" id="{BF9EA148-D3DF-408D-A1DF-443C470F436E}"/>
              </a:ext>
            </a:extLst>
          </p:cNvPr>
          <p:cNvSpPr>
            <a:spLocks noGrp="1"/>
          </p:cNvSpPr>
          <p:nvPr/>
        </p:nvSpPr>
        <p:spPr>
          <a:xfrm>
            <a:off x="9572625" y="22288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On-prem VIN API</a:t>
            </a:r>
          </a:p>
        </p:txBody>
      </p:sp>
      <p:sp>
        <p:nvSpPr>
          <p:cNvPr id="90" name="vin-system-detail">
            <a:extLst>
              <a:ext uri="{FF2B5EF4-FFF2-40B4-BE49-F238E27FC236}">
                <a16:creationId xmlns:a16="http://schemas.microsoft.com/office/drawing/2014/main" id="{418D28DA-0272-4574-BD25-E6C5314D4EDE}"/>
              </a:ext>
            </a:extLst>
          </p:cNvPr>
          <p:cNvSpPr>
            <a:spLocks noGrp="1"/>
          </p:cNvSpPr>
          <p:nvPr/>
        </p:nvSpPr>
        <p:spPr>
          <a:xfrm>
            <a:off x="9572625" y="252412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Vehicle authority</a:t>
            </a:r>
          </a:p>
        </p:txBody>
      </p:sp>
      <p:sp>
        <p:nvSpPr>
          <p:cNvPr id="91" name="mainframe">
            <a:extLst>
              <a:ext uri="{FF2B5EF4-FFF2-40B4-BE49-F238E27FC236}">
                <a16:creationId xmlns:a16="http://schemas.microsoft.com/office/drawing/2014/main" id="{9B3C9D29-8A3C-40B7-B25D-8871F015CFC1}"/>
              </a:ext>
            </a:extLst>
          </p:cNvPr>
          <p:cNvSpPr>
            <a:spLocks noGrp="1"/>
          </p:cNvSpPr>
          <p:nvPr/>
        </p:nvSpPr>
        <p:spPr>
          <a:xfrm>
            <a:off x="9477375" y="3190875"/>
            <a:ext cx="2266950" cy="723900"/>
          </a:xfrm>
          <a:prstGeom prst="roundRect">
            <a:avLst>
              <a:gd name="adj" fmla="val 10526"/>
            </a:avLst>
          </a:prstGeom>
          <a:solidFill>
            <a:srgbClr val="F2ECFF"/>
          </a:solidFill>
          <a:ln w="1333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92" name="mainframe-title">
            <a:extLst>
              <a:ext uri="{FF2B5EF4-FFF2-40B4-BE49-F238E27FC236}">
                <a16:creationId xmlns:a16="http://schemas.microsoft.com/office/drawing/2014/main" id="{FF262CD8-B5A7-47B3-AAC4-440272CE42FE}"/>
              </a:ext>
            </a:extLst>
          </p:cNvPr>
          <p:cNvSpPr>
            <a:spLocks noGrp="1"/>
          </p:cNvSpPr>
          <p:nvPr/>
        </p:nvSpPr>
        <p:spPr>
          <a:xfrm>
            <a:off x="9572625" y="3276600"/>
            <a:ext cx="2076450" cy="238125"/>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Mainframe repair history</a:t>
            </a:r>
          </a:p>
        </p:txBody>
      </p:sp>
      <p:sp>
        <p:nvSpPr>
          <p:cNvPr id="93" name="mainframe-detail">
            <a:extLst>
              <a:ext uri="{FF2B5EF4-FFF2-40B4-BE49-F238E27FC236}">
                <a16:creationId xmlns:a16="http://schemas.microsoft.com/office/drawing/2014/main" id="{15758985-A693-455A-8B5C-96A5A07434E6}"/>
              </a:ext>
            </a:extLst>
          </p:cNvPr>
          <p:cNvSpPr>
            <a:spLocks noGrp="1"/>
          </p:cNvSpPr>
          <p:nvPr/>
        </p:nvSpPr>
        <p:spPr>
          <a:xfrm>
            <a:off x="9572625" y="3571875"/>
            <a:ext cx="2076450" cy="276225"/>
          </a:xfrm>
          <a:prstGeom prst="rect">
            <a:avLst/>
          </a:prstGeom>
          <a:noFill/>
          <a:ln w="0">
            <a:noFill/>
            <a:prstDash val="solid"/>
          </a:ln>
        </p:spPr>
        <p:txBody>
          <a:bodyPr/>
          <a:lstStyle/>
          <a:p>
            <a:pPr algn="ctr">
              <a:buNone/>
              <a:defRPr sz="975">
                <a:solidFill>
                  <a:srgbClr val="4B5563"/>
                </a:solidFill>
              </a:defRPr>
            </a:pPr>
            <a:r>
              <a:rPr sz="975">
                <a:solidFill>
                  <a:srgbClr val="4B5563"/>
                </a:solidFill>
              </a:rPr>
              <a:t>Service-record authority</a:t>
            </a:r>
          </a:p>
        </p:txBody>
      </p:sp>
      <p:sp>
        <p:nvSpPr>
          <p:cNvPr id="94" name="dealer-systems">
            <a:extLst>
              <a:ext uri="{FF2B5EF4-FFF2-40B4-BE49-F238E27FC236}">
                <a16:creationId xmlns:a16="http://schemas.microsoft.com/office/drawing/2014/main" id="{62B20C97-09E7-490D-8C3D-AACD048EA576}"/>
              </a:ext>
            </a:extLst>
          </p:cNvPr>
          <p:cNvSpPr>
            <a:spLocks noGrp="1"/>
          </p:cNvSpPr>
          <p:nvPr/>
        </p:nvSpPr>
        <p:spPr>
          <a:xfrm>
            <a:off x="9477375" y="4238625"/>
            <a:ext cx="2266950" cy="800100"/>
          </a:xfrm>
          <a:prstGeom prst="roundRect">
            <a:avLst>
              <a:gd name="adj" fmla="val 9524"/>
            </a:avLst>
          </a:prstGeom>
          <a:solidFill>
            <a:srgbClr val="FFF3E5"/>
          </a:solidFill>
          <a:ln w="1333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95" name="dealer-systems-title">
            <a:extLst>
              <a:ext uri="{FF2B5EF4-FFF2-40B4-BE49-F238E27FC236}">
                <a16:creationId xmlns:a16="http://schemas.microsoft.com/office/drawing/2014/main" id="{866A8BE0-90DE-4293-8722-E9BEE3866793}"/>
              </a:ext>
            </a:extLst>
          </p:cNvPr>
          <p:cNvSpPr>
            <a:spLocks noGrp="1"/>
          </p:cNvSpPr>
          <p:nvPr/>
        </p:nvSpPr>
        <p:spPr>
          <a:xfrm>
            <a:off x="9572625" y="4324350"/>
            <a:ext cx="2076450" cy="238125"/>
          </a:xfrm>
          <a:prstGeom prst="rect">
            <a:avLst/>
          </a:prstGeom>
          <a:noFill/>
          <a:ln w="0">
            <a:noFill/>
            <a:prstDash val="solid"/>
          </a:ln>
        </p:spPr>
        <p:txBody>
          <a:bodyPr/>
          <a:lstStyle/>
          <a:p>
            <a:pPr algn="ctr">
              <a:buNone/>
              <a:defRPr sz="1275" b="1">
                <a:solidFill>
                  <a:srgbClr val="172033"/>
                </a:solidFill>
              </a:defRPr>
            </a:pPr>
            <a:r>
              <a:rPr sz="1275" b="1">
                <a:solidFill>
                  <a:srgbClr val="172033"/>
                </a:solidFill>
              </a:rPr>
              <a:t>2,500+ dealer systems</a:t>
            </a:r>
          </a:p>
        </p:txBody>
      </p:sp>
      <p:sp>
        <p:nvSpPr>
          <p:cNvPr id="96" name="dealer-systems-detail">
            <a:extLst>
              <a:ext uri="{FF2B5EF4-FFF2-40B4-BE49-F238E27FC236}">
                <a16:creationId xmlns:a16="http://schemas.microsoft.com/office/drawing/2014/main" id="{DBCF3605-35A8-4996-ACA1-BD587CD060F2}"/>
              </a:ext>
            </a:extLst>
          </p:cNvPr>
          <p:cNvSpPr>
            <a:spLocks noGrp="1"/>
          </p:cNvSpPr>
          <p:nvPr/>
        </p:nvSpPr>
        <p:spPr>
          <a:xfrm>
            <a:off x="9572625" y="4638675"/>
            <a:ext cx="2076450" cy="333375"/>
          </a:xfrm>
          <a:prstGeom prst="rect">
            <a:avLst/>
          </a:prstGeom>
          <a:noFill/>
          <a:ln w="0">
            <a:noFill/>
            <a:prstDash val="solid"/>
          </a:ln>
        </p:spPr>
        <p:txBody>
          <a:bodyPr/>
          <a:lstStyle/>
          <a:p>
            <a:pPr algn="ctr">
              <a:buNone/>
              <a:defRPr sz="900">
                <a:solidFill>
                  <a:srgbClr val="4B5563"/>
                </a:solidFill>
              </a:defRPr>
            </a:pPr>
            <a:r>
              <a:rPr sz="900">
                <a:solidFill>
                  <a:srgbClr val="4B5563"/>
                </a:solidFill>
              </a:rPr>
              <a:t>Authoritative slots + appointments</a:t>
            </a:r>
          </a:p>
        </p:txBody>
      </p:sp>
      <p:sp>
        <p:nvSpPr>
          <p:cNvPr id="97" name="brownfield-label">
            <a:extLst>
              <a:ext uri="{FF2B5EF4-FFF2-40B4-BE49-F238E27FC236}">
                <a16:creationId xmlns:a16="http://schemas.microsoft.com/office/drawing/2014/main" id="{B84C19F6-F9ED-448C-B452-51BB5D2AA65D}"/>
              </a:ext>
            </a:extLst>
          </p:cNvPr>
          <p:cNvSpPr>
            <a:spLocks noGrp="1"/>
          </p:cNvSpPr>
          <p:nvPr/>
        </p:nvSpPr>
        <p:spPr>
          <a:xfrm>
            <a:off x="9477375" y="1695450"/>
            <a:ext cx="2266950" cy="209550"/>
          </a:xfrm>
          <a:prstGeom prst="rect">
            <a:avLst/>
          </a:prstGeom>
          <a:noFill/>
          <a:ln w="0">
            <a:noFill/>
            <a:prstDash val="solid"/>
          </a:ln>
        </p:spPr>
        <p:txBody>
          <a:bodyPr/>
          <a:lstStyle/>
          <a:p>
            <a:pPr algn="ctr">
              <a:buNone/>
              <a:defRPr sz="975" b="1">
                <a:solidFill>
                  <a:srgbClr val="5B6472"/>
                </a:solidFill>
              </a:defRPr>
            </a:pPr>
            <a:r>
              <a:rPr sz="975" b="1">
                <a:solidFill>
                  <a:srgbClr val="5B6472"/>
                </a:solidFill>
              </a:rPr>
              <a:t>BROWNFIELD SYSTEMS</a:t>
            </a:r>
          </a:p>
        </p:txBody>
      </p:sp>
      <p:sp>
        <p:nvSpPr>
          <p:cNvPr id="98" name="dr">
            <a:extLst>
              <a:ext uri="{FF2B5EF4-FFF2-40B4-BE49-F238E27FC236}">
                <a16:creationId xmlns:a16="http://schemas.microsoft.com/office/drawing/2014/main" id="{6B0EE4BE-9CB5-4FEA-8FF9-7BDB651D22BE}"/>
              </a:ext>
            </a:extLst>
          </p:cNvPr>
          <p:cNvSpPr>
            <a:spLocks noGrp="1"/>
          </p:cNvSpPr>
          <p:nvPr/>
        </p:nvSpPr>
        <p:spPr>
          <a:xfrm>
            <a:off x="1743075" y="6115050"/>
            <a:ext cx="7524750" cy="523875"/>
          </a:xfrm>
          <a:prstGeom prst="roundRect">
            <a:avLst>
              <a:gd name="adj" fmla="val 14545"/>
            </a:avLst>
          </a:prstGeom>
          <a:solidFill>
            <a:srgbClr val="F4F7FA"/>
          </a:solidFill>
          <a:ln w="13335">
            <a:solidFill>
              <a:srgbClr val="5B6472"/>
            </a:solidFill>
            <a:prstDash val="solid"/>
          </a:ln>
        </p:spPr>
        <p:txBody>
          <a:bodyPr/>
          <a:lstStyle/>
          <a:p>
            <a:endParaRPr/>
          </a:p>
        </p:txBody>
      </p:sp>
      <p:sp>
        <p:nvSpPr>
          <p:cNvPr id="99" name="dr-title">
            <a:extLst>
              <a:ext uri="{FF2B5EF4-FFF2-40B4-BE49-F238E27FC236}">
                <a16:creationId xmlns:a16="http://schemas.microsoft.com/office/drawing/2014/main" id="{29D0B629-DF06-48F8-A10E-E511CD3506EC}"/>
              </a:ext>
            </a:extLst>
          </p:cNvPr>
          <p:cNvSpPr>
            <a:spLocks noGrp="1"/>
          </p:cNvSpPr>
          <p:nvPr/>
        </p:nvSpPr>
        <p:spPr>
          <a:xfrm>
            <a:off x="2200275" y="6200775"/>
            <a:ext cx="6972300" cy="238125"/>
          </a:xfrm>
          <a:prstGeom prst="rect">
            <a:avLst/>
          </a:prstGeom>
          <a:noFill/>
          <a:ln w="0">
            <a:noFill/>
            <a:prstDash val="solid"/>
          </a:ln>
        </p:spPr>
        <p:txBody>
          <a:bodyPr/>
          <a:lstStyle/>
          <a:p>
            <a:pPr algn="l">
              <a:buNone/>
              <a:defRPr sz="1050" b="1">
                <a:solidFill>
                  <a:srgbClr val="172033"/>
                </a:solidFill>
              </a:defRPr>
            </a:pPr>
            <a:r>
              <a:rPr sz="1050" b="1">
                <a:solidFill>
                  <a:srgbClr val="172033"/>
                </a:solidFill>
              </a:rPr>
              <a:t>Secondary AWS Region • warm standby</a:t>
            </a:r>
          </a:p>
        </p:txBody>
      </p:sp>
      <p:sp>
        <p:nvSpPr>
          <p:cNvPr id="100" name="dr-detail">
            <a:extLst>
              <a:ext uri="{FF2B5EF4-FFF2-40B4-BE49-F238E27FC236}">
                <a16:creationId xmlns:a16="http://schemas.microsoft.com/office/drawing/2014/main" id="{8986EA6C-5575-47DC-8539-52B4E68C2363}"/>
              </a:ext>
            </a:extLst>
          </p:cNvPr>
          <p:cNvSpPr>
            <a:spLocks noGrp="1"/>
          </p:cNvSpPr>
          <p:nvPr/>
        </p:nvSpPr>
        <p:spPr>
          <a:xfrm>
            <a:off x="1838325" y="6391275"/>
            <a:ext cx="7334250" cy="180975"/>
          </a:xfrm>
          <a:prstGeom prst="rect">
            <a:avLst/>
          </a:prstGeom>
          <a:noFill/>
          <a:ln w="0">
            <a:noFill/>
            <a:prstDash val="solid"/>
          </a:ln>
        </p:spPr>
        <p:txBody>
          <a:bodyPr/>
          <a:lstStyle/>
          <a:p>
            <a:pPr algn="ctr">
              <a:buNone/>
              <a:defRPr sz="825">
                <a:solidFill>
                  <a:srgbClr val="4B5563"/>
                </a:solidFill>
              </a:defRPr>
            </a:pPr>
            <a:r>
              <a:rPr sz="825">
                <a:solidFill>
                  <a:srgbClr val="4B5563"/>
                </a:solidFill>
              </a:rPr>
              <a:t>Route 53 failover • DynamoDB Global Tables • replicated assets • IaC recovery</a:t>
            </a:r>
          </a:p>
        </p:txBody>
      </p:sp>
      <p:pic>
        <p:nvPicPr>
          <p:cNvPr id="544" name="Picture 235"/>
          <p:cNvPicPr>
            <a:picLocks noChangeAspect="1"/>
          </p:cNvPicPr>
          <p:nvPr/>
        </p:nvPicPr>
        <p:blipFill>
          <a:blip r:embed="rId21"/>
          <a:stretch/>
        </p:blipFill>
        <p:spPr>
          <a:xfrm>
            <a:off x="1857375" y="6181725"/>
            <a:ext cx="238125" cy="238125"/>
          </a:xfrm>
          <a:prstGeom prst="rect">
            <a:avLst/>
          </a:prstGeom>
        </p:spPr>
      </p:pic>
      <p:sp>
        <p:nvSpPr>
          <p:cNvPr id="102" name="find-dealer-journey-tag">
            <a:extLst>
              <a:ext uri="{FF2B5EF4-FFF2-40B4-BE49-F238E27FC236}">
                <a16:creationId xmlns:a16="http://schemas.microsoft.com/office/drawing/2014/main" id="{7DC814E7-17CE-475C-B668-D14AABE35809}"/>
              </a:ext>
            </a:extLst>
          </p:cNvPr>
          <p:cNvSpPr>
            <a:spLocks noGrp="1"/>
          </p:cNvSpPr>
          <p:nvPr/>
        </p:nvSpPr>
        <p:spPr>
          <a:xfrm>
            <a:off x="9496425" y="1304925"/>
            <a:ext cx="2247900" cy="304800"/>
          </a:xfrm>
          <a:prstGeom prst="roundRect">
            <a:avLst>
              <a:gd name="adj" fmla="val 25000"/>
            </a:avLst>
          </a:prstGeom>
          <a:solidFill>
            <a:srgbClr val="E8F7F5"/>
          </a:solidFill>
          <a:ln w="11430">
            <a:solidFill>
              <a:srgbClr val="08A89B"/>
            </a:solidFill>
            <a:prstDash val="solid"/>
          </a:ln>
        </p:spPr>
        <p:txBody>
          <a:bodyPr/>
          <a:lstStyle/>
          <a:p>
            <a:endParaRPr/>
          </a:p>
        </p:txBody>
      </p:sp>
      <p:sp>
        <p:nvSpPr>
          <p:cNvPr id="103" name="find-dealer-journey-tag-text">
            <a:extLst>
              <a:ext uri="{FF2B5EF4-FFF2-40B4-BE49-F238E27FC236}">
                <a16:creationId xmlns:a16="http://schemas.microsoft.com/office/drawing/2014/main" id="{2E501BF4-BA5A-4E49-AF0B-1422850D6EAE}"/>
              </a:ext>
            </a:extLst>
          </p:cNvPr>
          <p:cNvSpPr>
            <a:spLocks noGrp="1"/>
          </p:cNvSpPr>
          <p:nvPr/>
        </p:nvSpPr>
        <p:spPr>
          <a:xfrm>
            <a:off x="9591675" y="1371600"/>
            <a:ext cx="2057400" cy="171450"/>
          </a:xfrm>
          <a:prstGeom prst="rect">
            <a:avLst/>
          </a:prstGeom>
          <a:noFill/>
          <a:ln w="0">
            <a:noFill/>
            <a:prstDash val="solid"/>
          </a:ln>
        </p:spPr>
        <p:txBody>
          <a:bodyPr/>
          <a:lstStyle/>
          <a:p>
            <a:pPr algn="ctr">
              <a:buNone/>
              <a:defRPr sz="825" b="1">
                <a:solidFill>
                  <a:srgbClr val="087F75"/>
                </a:solidFill>
              </a:defRPr>
            </a:pPr>
            <a:r>
              <a:rPr sz="825" b="1">
                <a:solidFill>
                  <a:srgbClr val="087F75"/>
                </a:solidFill>
              </a:rPr>
              <a:t>JOURNEY 5  •  CONFIRM &amp; REMIND</a:t>
            </a:r>
          </a:p>
        </p:txBody>
      </p:sp>
      <p:sp>
        <p:nvSpPr>
          <p:cNvPr id="104" name="journey-step-1">
            <a:extLst>
              <a:ext uri="{FF2B5EF4-FFF2-40B4-BE49-F238E27FC236}">
                <a16:creationId xmlns:a16="http://schemas.microsoft.com/office/drawing/2014/main" id="{A95BDDFA-508B-45A9-9D21-21719E385003}"/>
              </a:ext>
            </a:extLst>
          </p:cNvPr>
          <p:cNvSpPr>
            <a:spLocks noGrp="1"/>
          </p:cNvSpPr>
          <p:nvPr/>
        </p:nvSpPr>
        <p:spPr>
          <a:xfrm>
            <a:off x="6915150" y="320040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5" name="journey-step-1-number">
            <a:extLst>
              <a:ext uri="{FF2B5EF4-FFF2-40B4-BE49-F238E27FC236}">
                <a16:creationId xmlns:a16="http://schemas.microsoft.com/office/drawing/2014/main" id="{997C5F99-2107-4FD9-8B42-69991DEA185E}"/>
              </a:ext>
            </a:extLst>
          </p:cNvPr>
          <p:cNvSpPr>
            <a:spLocks noGrp="1"/>
          </p:cNvSpPr>
          <p:nvPr/>
        </p:nvSpPr>
        <p:spPr>
          <a:xfrm>
            <a:off x="6915150" y="321945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1</a:t>
            </a:r>
          </a:p>
        </p:txBody>
      </p:sp>
      <p:sp>
        <p:nvSpPr>
          <p:cNvPr id="106" name="journey-step-2">
            <a:extLst>
              <a:ext uri="{FF2B5EF4-FFF2-40B4-BE49-F238E27FC236}">
                <a16:creationId xmlns:a16="http://schemas.microsoft.com/office/drawing/2014/main" id="{49933D74-C4B4-431D-9E19-87996E4A3688}"/>
              </a:ext>
            </a:extLst>
          </p:cNvPr>
          <p:cNvSpPr>
            <a:spLocks noGrp="1"/>
          </p:cNvSpPr>
          <p:nvPr/>
        </p:nvSpPr>
        <p:spPr>
          <a:xfrm>
            <a:off x="6915150" y="401955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7" name="journey-step-2-number">
            <a:extLst>
              <a:ext uri="{FF2B5EF4-FFF2-40B4-BE49-F238E27FC236}">
                <a16:creationId xmlns:a16="http://schemas.microsoft.com/office/drawing/2014/main" id="{8D3B6ACC-3627-47B5-9AB9-DACC19934D2D}"/>
              </a:ext>
            </a:extLst>
          </p:cNvPr>
          <p:cNvSpPr>
            <a:spLocks noGrp="1"/>
          </p:cNvSpPr>
          <p:nvPr/>
        </p:nvSpPr>
        <p:spPr>
          <a:xfrm>
            <a:off x="6915150" y="403860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108" name="journey-step-3">
            <a:extLst>
              <a:ext uri="{FF2B5EF4-FFF2-40B4-BE49-F238E27FC236}">
                <a16:creationId xmlns:a16="http://schemas.microsoft.com/office/drawing/2014/main" id="{53A24912-44F3-4189-8FD7-47EBE7885266}"/>
              </a:ext>
            </a:extLst>
          </p:cNvPr>
          <p:cNvSpPr>
            <a:spLocks noGrp="1"/>
          </p:cNvSpPr>
          <p:nvPr/>
        </p:nvSpPr>
        <p:spPr>
          <a:xfrm>
            <a:off x="4210050" y="4886325"/>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09" name="journey-step-3-number">
            <a:extLst>
              <a:ext uri="{FF2B5EF4-FFF2-40B4-BE49-F238E27FC236}">
                <a16:creationId xmlns:a16="http://schemas.microsoft.com/office/drawing/2014/main" id="{A052BE1B-4485-44A7-9C5D-3D419F0EA2B6}"/>
              </a:ext>
            </a:extLst>
          </p:cNvPr>
          <p:cNvSpPr>
            <a:spLocks noGrp="1"/>
          </p:cNvSpPr>
          <p:nvPr/>
        </p:nvSpPr>
        <p:spPr>
          <a:xfrm>
            <a:off x="4210050" y="4905375"/>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110" name="journey-step-4">
            <a:extLst>
              <a:ext uri="{FF2B5EF4-FFF2-40B4-BE49-F238E27FC236}">
                <a16:creationId xmlns:a16="http://schemas.microsoft.com/office/drawing/2014/main" id="{0C1D54A9-DA9E-41EE-A961-8501C406493A}"/>
              </a:ext>
            </a:extLst>
          </p:cNvPr>
          <p:cNvSpPr>
            <a:spLocks noGrp="1"/>
          </p:cNvSpPr>
          <p:nvPr/>
        </p:nvSpPr>
        <p:spPr>
          <a:xfrm>
            <a:off x="1885950" y="4886325"/>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1" name="journey-step-4-number">
            <a:extLst>
              <a:ext uri="{FF2B5EF4-FFF2-40B4-BE49-F238E27FC236}">
                <a16:creationId xmlns:a16="http://schemas.microsoft.com/office/drawing/2014/main" id="{22E09FE2-C235-4A15-A10F-EC60D295B91F}"/>
              </a:ext>
            </a:extLst>
          </p:cNvPr>
          <p:cNvSpPr>
            <a:spLocks noGrp="1"/>
          </p:cNvSpPr>
          <p:nvPr/>
        </p:nvSpPr>
        <p:spPr>
          <a:xfrm>
            <a:off x="1885950" y="4905375"/>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112" name="journey-step-5">
            <a:extLst>
              <a:ext uri="{FF2B5EF4-FFF2-40B4-BE49-F238E27FC236}">
                <a16:creationId xmlns:a16="http://schemas.microsoft.com/office/drawing/2014/main" id="{E9332313-5CBF-40E7-A0A4-2A5FBD3EFFD2}"/>
              </a:ext>
            </a:extLst>
          </p:cNvPr>
          <p:cNvSpPr>
            <a:spLocks noGrp="1"/>
          </p:cNvSpPr>
          <p:nvPr/>
        </p:nvSpPr>
        <p:spPr>
          <a:xfrm>
            <a:off x="1400175" y="3486150"/>
            <a:ext cx="257175" cy="257175"/>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113" name="journey-step-5-number">
            <a:extLst>
              <a:ext uri="{FF2B5EF4-FFF2-40B4-BE49-F238E27FC236}">
                <a16:creationId xmlns:a16="http://schemas.microsoft.com/office/drawing/2014/main" id="{32A1ACCF-7979-4399-A34D-A280ECFBB754}"/>
              </a:ext>
            </a:extLst>
          </p:cNvPr>
          <p:cNvSpPr>
            <a:spLocks noGrp="1"/>
          </p:cNvSpPr>
          <p:nvPr/>
        </p:nvSpPr>
        <p:spPr>
          <a:xfrm>
            <a:off x="1400175" y="3505200"/>
            <a:ext cx="257175" cy="20955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cxnSp>
        <p:nvCxnSpPr>
          <p:cNvPr id="557" name="Connector: Elbow 248"/>
          <p:cNvCxnSpPr>
            <a:stCxn id="6" idx="3"/>
            <a:endCxn id="20" idx="1"/>
          </p:cNvCxnSpPr>
          <p:nvPr/>
        </p:nvCxnSpPr>
        <p:spPr>
          <a:xfrm flipV="1">
            <a:off x="1552575" y="2552700"/>
            <a:ext cx="447675" cy="552450"/>
          </a:xfrm>
          <a:prstGeom prst="bentConnector3">
            <a:avLst>
              <a:gd name="adj1" fmla="val 50000"/>
            </a:avLst>
          </a:prstGeom>
          <a:ln w="17145">
            <a:solidFill>
              <a:srgbClr val="2767A8"/>
            </a:solidFill>
            <a:prstDash val="solid"/>
            <a:tailEnd type="triangle" w="sm" len="sm"/>
          </a:ln>
        </p:spPr>
      </p:cxnSp>
      <p:cxnSp>
        <p:nvCxnSpPr>
          <p:cNvPr id="558" name="Connector: Elbow 249"/>
          <p:cNvCxnSpPr>
            <a:stCxn id="9" idx="3"/>
            <a:endCxn id="29" idx="1"/>
          </p:cNvCxnSpPr>
          <p:nvPr/>
        </p:nvCxnSpPr>
        <p:spPr>
          <a:xfrm flipV="1">
            <a:off x="1552575" y="2552700"/>
            <a:ext cx="3190875" cy="1828800"/>
          </a:xfrm>
          <a:prstGeom prst="bentConnector3">
            <a:avLst>
              <a:gd name="adj1" fmla="val 50000"/>
            </a:avLst>
          </a:prstGeom>
          <a:ln w="17145">
            <a:solidFill>
              <a:srgbClr val="6D4FB3"/>
            </a:solidFill>
            <a:prstDash val="dash"/>
            <a:tailEnd type="triangle" w="sm" len="sm"/>
          </a:ln>
        </p:spPr>
      </p:cxnSp>
      <p:cxnSp>
        <p:nvCxnSpPr>
          <p:cNvPr id="559" name="Straight Arrow Connector 250"/>
          <p:cNvCxnSpPr>
            <a:stCxn id="20" idx="3"/>
            <a:endCxn id="29" idx="1"/>
          </p:cNvCxnSpPr>
          <p:nvPr/>
        </p:nvCxnSpPr>
        <p:spPr>
          <a:xfrm>
            <a:off x="3219450" y="2552700"/>
            <a:ext cx="1524000" cy="0"/>
          </a:xfrm>
          <a:prstGeom prst="straightConnector1">
            <a:avLst/>
          </a:prstGeom>
          <a:ln w="17145">
            <a:solidFill>
              <a:srgbClr val="7A8492"/>
            </a:solidFill>
            <a:prstDash val="solid"/>
            <a:tailEnd type="triangle" w="sm" len="sm"/>
          </a:ln>
        </p:spPr>
      </p:cxnSp>
      <p:cxnSp>
        <p:nvCxnSpPr>
          <p:cNvPr id="560" name="Straight Arrow Connector 251"/>
          <p:cNvCxnSpPr>
            <a:stCxn id="25" idx="3"/>
            <a:endCxn id="29" idx="1"/>
          </p:cNvCxnSpPr>
          <p:nvPr/>
        </p:nvCxnSpPr>
        <p:spPr>
          <a:xfrm>
            <a:off x="4591050" y="2552700"/>
            <a:ext cx="152400" cy="0"/>
          </a:xfrm>
          <a:prstGeom prst="straightConnector1">
            <a:avLst/>
          </a:prstGeom>
          <a:ln w="17145">
            <a:solidFill>
              <a:srgbClr val="7A8492"/>
            </a:solidFill>
            <a:prstDash val="solid"/>
            <a:tailEnd type="triangle" w="sm" len="sm"/>
          </a:ln>
        </p:spPr>
      </p:cxnSp>
      <p:cxnSp>
        <p:nvCxnSpPr>
          <p:cNvPr id="561" name="Straight Arrow Connector 252"/>
          <p:cNvCxnSpPr>
            <a:stCxn id="29" idx="3"/>
            <a:endCxn id="33" idx="1"/>
          </p:cNvCxnSpPr>
          <p:nvPr/>
        </p:nvCxnSpPr>
        <p:spPr>
          <a:xfrm>
            <a:off x="5962650" y="2552700"/>
            <a:ext cx="152400" cy="0"/>
          </a:xfrm>
          <a:prstGeom prst="straightConnector1">
            <a:avLst/>
          </a:prstGeom>
          <a:ln w="17145">
            <a:solidFill>
              <a:srgbClr val="7A8492"/>
            </a:solidFill>
            <a:prstDash val="solid"/>
            <a:tailEnd type="triangle" w="sm" len="sm"/>
          </a:ln>
        </p:spPr>
      </p:cxnSp>
      <p:cxnSp>
        <p:nvCxnSpPr>
          <p:cNvPr id="562" name="Connector: Elbow 253"/>
          <p:cNvCxnSpPr>
            <a:stCxn id="33" idx="2"/>
            <a:endCxn id="40" idx="0"/>
          </p:cNvCxnSpPr>
          <p:nvPr/>
        </p:nvCxnSpPr>
        <p:spPr>
          <a:xfrm flipH="1">
            <a:off x="2705100" y="2857500"/>
            <a:ext cx="4019550" cy="457200"/>
          </a:xfrm>
          <a:prstGeom prst="bentConnector4">
            <a:avLst>
              <a:gd name="adj1" fmla="val 0"/>
              <a:gd name="adj2" fmla="val 50000"/>
            </a:avLst>
          </a:prstGeom>
          <a:ln w="17145">
            <a:solidFill>
              <a:srgbClr val="147A58"/>
            </a:solidFill>
            <a:prstDash val="solid"/>
            <a:tailEnd type="triangle" w="sm" len="sm"/>
          </a:ln>
        </p:spPr>
      </p:cxnSp>
      <p:cxnSp>
        <p:nvCxnSpPr>
          <p:cNvPr id="563" name="Connector: Elbow 254"/>
          <p:cNvCxnSpPr>
            <a:stCxn id="33" idx="2"/>
            <a:endCxn id="43" idx="0"/>
          </p:cNvCxnSpPr>
          <p:nvPr/>
        </p:nvCxnSpPr>
        <p:spPr>
          <a:xfrm flipH="1">
            <a:off x="3962400" y="2857500"/>
            <a:ext cx="2762250" cy="457200"/>
          </a:xfrm>
          <a:prstGeom prst="bentConnector4">
            <a:avLst>
              <a:gd name="adj1" fmla="val 0"/>
              <a:gd name="adj2" fmla="val 50000"/>
            </a:avLst>
          </a:prstGeom>
          <a:ln w="17145">
            <a:solidFill>
              <a:srgbClr val="147A58"/>
            </a:solidFill>
            <a:prstDash val="solid"/>
            <a:tailEnd type="triangle" w="sm" len="sm"/>
          </a:ln>
        </p:spPr>
      </p:cxnSp>
      <p:cxnSp>
        <p:nvCxnSpPr>
          <p:cNvPr id="564" name="Connector: Elbow 255"/>
          <p:cNvCxnSpPr>
            <a:stCxn id="33" idx="2"/>
            <a:endCxn id="46" idx="0"/>
          </p:cNvCxnSpPr>
          <p:nvPr/>
        </p:nvCxnSpPr>
        <p:spPr>
          <a:xfrm flipH="1">
            <a:off x="5219700" y="2857500"/>
            <a:ext cx="1504950" cy="457200"/>
          </a:xfrm>
          <a:prstGeom prst="bentConnector4">
            <a:avLst>
              <a:gd name="adj1" fmla="val 0"/>
              <a:gd name="adj2" fmla="val 50000"/>
            </a:avLst>
          </a:prstGeom>
          <a:ln w="17145">
            <a:solidFill>
              <a:srgbClr val="147A58"/>
            </a:solidFill>
            <a:prstDash val="solid"/>
            <a:tailEnd type="triangle" w="sm" len="sm"/>
          </a:ln>
        </p:spPr>
      </p:cxnSp>
      <p:cxnSp>
        <p:nvCxnSpPr>
          <p:cNvPr id="565" name="Connector: Elbow 256"/>
          <p:cNvCxnSpPr>
            <a:stCxn id="33" idx="2"/>
            <a:endCxn id="49" idx="0"/>
          </p:cNvCxnSpPr>
          <p:nvPr/>
        </p:nvCxnSpPr>
        <p:spPr>
          <a:xfrm flipH="1">
            <a:off x="6477000" y="2857500"/>
            <a:ext cx="247650" cy="457200"/>
          </a:xfrm>
          <a:prstGeom prst="bentConnector4">
            <a:avLst>
              <a:gd name="adj1" fmla="val 0"/>
              <a:gd name="adj2" fmla="val 50000"/>
            </a:avLst>
          </a:prstGeom>
          <a:ln w="17145">
            <a:solidFill>
              <a:srgbClr val="147A58"/>
            </a:solidFill>
            <a:prstDash val="solid"/>
            <a:tailEnd type="triangle" w="sm" len="sm"/>
          </a:ln>
        </p:spPr>
      </p:cxnSp>
      <p:cxnSp>
        <p:nvCxnSpPr>
          <p:cNvPr id="566" name="Straight Arrow Connector 257"/>
          <p:cNvCxnSpPr>
            <a:stCxn id="40" idx="2"/>
            <a:endCxn id="52" idx="0"/>
          </p:cNvCxnSpPr>
          <p:nvPr/>
        </p:nvCxnSpPr>
        <p:spPr>
          <a:xfrm>
            <a:off x="2705100" y="4000500"/>
            <a:ext cx="0" cy="133350"/>
          </a:xfrm>
          <a:prstGeom prst="straightConnector1">
            <a:avLst/>
          </a:prstGeom>
          <a:ln w="17145">
            <a:solidFill>
              <a:srgbClr val="7A8492"/>
            </a:solidFill>
            <a:prstDash val="solid"/>
            <a:tailEnd type="triangle" w="sm" len="sm"/>
          </a:ln>
        </p:spPr>
      </p:cxnSp>
      <p:cxnSp>
        <p:nvCxnSpPr>
          <p:cNvPr id="567" name="Connector: Elbow 258"/>
          <p:cNvCxnSpPr>
            <a:stCxn id="49" idx="2"/>
            <a:endCxn id="56" idx="0"/>
          </p:cNvCxnSpPr>
          <p:nvPr/>
        </p:nvCxnSpPr>
        <p:spPr>
          <a:xfrm flipH="1">
            <a:off x="3962400" y="4000500"/>
            <a:ext cx="2514600" cy="133350"/>
          </a:xfrm>
          <a:prstGeom prst="bentConnector4">
            <a:avLst>
              <a:gd name="adj1" fmla="val 0"/>
              <a:gd name="adj2" fmla="val 50000"/>
            </a:avLst>
          </a:prstGeom>
          <a:ln w="17145">
            <a:solidFill>
              <a:srgbClr val="7A8492"/>
            </a:solidFill>
            <a:prstDash val="solid"/>
            <a:tailEnd type="triangle" w="sm" len="sm"/>
          </a:ln>
        </p:spPr>
      </p:cxnSp>
      <p:cxnSp>
        <p:nvCxnSpPr>
          <p:cNvPr id="568" name="Straight Arrow Connector 259"/>
          <p:cNvCxnSpPr>
            <a:stCxn id="46" idx="2"/>
            <a:endCxn id="60" idx="0"/>
          </p:cNvCxnSpPr>
          <p:nvPr/>
        </p:nvCxnSpPr>
        <p:spPr>
          <a:xfrm>
            <a:off x="5219700" y="4000500"/>
            <a:ext cx="0" cy="133350"/>
          </a:xfrm>
          <a:prstGeom prst="straightConnector1">
            <a:avLst/>
          </a:prstGeom>
          <a:ln w="17145">
            <a:solidFill>
              <a:srgbClr val="7A8492"/>
            </a:solidFill>
            <a:prstDash val="solid"/>
            <a:tailEnd type="triangle" w="sm" len="sm"/>
          </a:ln>
        </p:spPr>
      </p:cxnSp>
      <p:cxnSp>
        <p:nvCxnSpPr>
          <p:cNvPr id="569" name="Straight Arrow Connector 260"/>
          <p:cNvCxnSpPr>
            <a:stCxn id="49" idx="2"/>
            <a:endCxn id="64" idx="0"/>
          </p:cNvCxnSpPr>
          <p:nvPr/>
        </p:nvCxnSpPr>
        <p:spPr>
          <a:xfrm>
            <a:off x="6477000" y="4000500"/>
            <a:ext cx="0" cy="133350"/>
          </a:xfrm>
          <a:prstGeom prst="straightConnector1">
            <a:avLst/>
          </a:prstGeom>
          <a:ln w="17145">
            <a:solidFill>
              <a:srgbClr val="7A8492"/>
            </a:solidFill>
            <a:prstDash val="solid"/>
            <a:tailEnd type="triangle" w="sm" len="sm"/>
          </a:ln>
        </p:spPr>
      </p:cxnSp>
      <p:cxnSp>
        <p:nvCxnSpPr>
          <p:cNvPr id="570" name="Connector: Elbow 261"/>
          <p:cNvCxnSpPr>
            <a:stCxn id="64" idx="2"/>
            <a:endCxn id="80" idx="0"/>
          </p:cNvCxnSpPr>
          <p:nvPr/>
        </p:nvCxnSpPr>
        <p:spPr>
          <a:xfrm flipH="1">
            <a:off x="3162300" y="4648200"/>
            <a:ext cx="3314700" cy="352425"/>
          </a:xfrm>
          <a:prstGeom prst="bentConnector4">
            <a:avLst>
              <a:gd name="adj1" fmla="val 0"/>
              <a:gd name="adj2" fmla="val 50000"/>
            </a:avLst>
          </a:prstGeom>
          <a:ln w="17145">
            <a:solidFill>
              <a:srgbClr val="B86713"/>
            </a:solidFill>
            <a:prstDash val="solid"/>
            <a:tailEnd type="triangle" w="sm" len="sm"/>
          </a:ln>
        </p:spPr>
      </p:cxnSp>
      <p:cxnSp>
        <p:nvCxnSpPr>
          <p:cNvPr id="571" name="Connector: Elbow 262"/>
          <p:cNvCxnSpPr>
            <a:stCxn id="43" idx="3"/>
            <a:endCxn id="71" idx="1"/>
          </p:cNvCxnSpPr>
          <p:nvPr/>
        </p:nvCxnSpPr>
        <p:spPr>
          <a:xfrm flipV="1">
            <a:off x="4524375" y="3152775"/>
            <a:ext cx="3152775" cy="504825"/>
          </a:xfrm>
          <a:prstGeom prst="bentConnector3">
            <a:avLst>
              <a:gd name="adj1" fmla="val 50000"/>
            </a:avLst>
          </a:prstGeom>
          <a:ln w="17145">
            <a:solidFill>
              <a:srgbClr val="198E84"/>
            </a:solidFill>
            <a:prstDash val="solid"/>
            <a:tailEnd type="triangle" w="sm" len="sm"/>
          </a:ln>
        </p:spPr>
      </p:cxnSp>
      <p:cxnSp>
        <p:nvCxnSpPr>
          <p:cNvPr id="572" name="Connector: Elbow 263"/>
          <p:cNvCxnSpPr>
            <a:stCxn id="43" idx="3"/>
            <a:endCxn id="74" idx="1"/>
          </p:cNvCxnSpPr>
          <p:nvPr/>
        </p:nvCxnSpPr>
        <p:spPr>
          <a:xfrm>
            <a:off x="4524375" y="3657600"/>
            <a:ext cx="3152775" cy="200025"/>
          </a:xfrm>
          <a:prstGeom prst="bentConnector3">
            <a:avLst>
              <a:gd name="adj1" fmla="val 50000"/>
            </a:avLst>
          </a:prstGeom>
          <a:ln w="17145">
            <a:solidFill>
              <a:srgbClr val="198E84"/>
            </a:solidFill>
            <a:prstDash val="solid"/>
            <a:tailEnd type="triangle" w="sm" len="sm"/>
          </a:ln>
        </p:spPr>
      </p:cxnSp>
      <p:cxnSp>
        <p:nvCxnSpPr>
          <p:cNvPr id="573" name="Connector: Elbow 264"/>
          <p:cNvCxnSpPr>
            <a:stCxn id="46" idx="3"/>
            <a:endCxn id="77" idx="1"/>
          </p:cNvCxnSpPr>
          <p:nvPr/>
        </p:nvCxnSpPr>
        <p:spPr>
          <a:xfrm>
            <a:off x="5781675" y="3657600"/>
            <a:ext cx="1895475" cy="904875"/>
          </a:xfrm>
          <a:prstGeom prst="bentConnector3">
            <a:avLst>
              <a:gd name="adj1" fmla="val 50000"/>
            </a:avLst>
          </a:prstGeom>
          <a:ln w="17145">
            <a:solidFill>
              <a:srgbClr val="198E84"/>
            </a:solidFill>
            <a:prstDash val="solid"/>
            <a:tailEnd type="triangle" w="sm" len="sm"/>
          </a:ln>
        </p:spPr>
      </p:cxnSp>
      <p:cxnSp>
        <p:nvCxnSpPr>
          <p:cNvPr id="574" name="Connector: Elbow 265"/>
          <p:cNvCxnSpPr>
            <a:stCxn id="49" idx="3"/>
            <a:endCxn id="77" idx="1"/>
          </p:cNvCxnSpPr>
          <p:nvPr/>
        </p:nvCxnSpPr>
        <p:spPr>
          <a:xfrm>
            <a:off x="7038975" y="3657600"/>
            <a:ext cx="638175" cy="904875"/>
          </a:xfrm>
          <a:prstGeom prst="bentConnector3">
            <a:avLst>
              <a:gd name="adj1" fmla="val 50000"/>
            </a:avLst>
          </a:prstGeom>
          <a:ln w="17145">
            <a:solidFill>
              <a:srgbClr val="198E84"/>
            </a:solidFill>
            <a:prstDash val="solid"/>
            <a:tailEnd type="triangle" w="sm" len="sm"/>
          </a:ln>
        </p:spPr>
      </p:cxnSp>
      <p:cxnSp>
        <p:nvCxnSpPr>
          <p:cNvPr id="575" name="Connector: Elbow 266"/>
          <p:cNvCxnSpPr>
            <a:stCxn id="71" idx="3"/>
            <a:endCxn id="88" idx="1"/>
          </p:cNvCxnSpPr>
          <p:nvPr/>
        </p:nvCxnSpPr>
        <p:spPr>
          <a:xfrm flipV="1">
            <a:off x="8877300" y="2505075"/>
            <a:ext cx="600075" cy="647700"/>
          </a:xfrm>
          <a:prstGeom prst="bentConnector3">
            <a:avLst>
              <a:gd name="adj1" fmla="val 50000"/>
            </a:avLst>
          </a:prstGeom>
          <a:ln w="17145">
            <a:solidFill>
              <a:srgbClr val="2767A8"/>
            </a:solidFill>
            <a:prstDash val="solid"/>
            <a:tailEnd type="triangle" w="sm" len="sm"/>
          </a:ln>
        </p:spPr>
      </p:cxnSp>
      <p:cxnSp>
        <p:nvCxnSpPr>
          <p:cNvPr id="576" name="Connector: Elbow 267"/>
          <p:cNvCxnSpPr>
            <a:stCxn id="74" idx="3"/>
            <a:endCxn id="91" idx="1"/>
          </p:cNvCxnSpPr>
          <p:nvPr/>
        </p:nvCxnSpPr>
        <p:spPr>
          <a:xfrm flipV="1">
            <a:off x="8877300" y="3552825"/>
            <a:ext cx="600075" cy="304800"/>
          </a:xfrm>
          <a:prstGeom prst="bentConnector3">
            <a:avLst>
              <a:gd name="adj1" fmla="val 50000"/>
            </a:avLst>
          </a:prstGeom>
          <a:ln w="17145">
            <a:solidFill>
              <a:srgbClr val="6D4FB3"/>
            </a:solidFill>
            <a:prstDash val="solid"/>
            <a:tailEnd type="triangle" w="sm" len="sm"/>
          </a:ln>
        </p:spPr>
      </p:cxnSp>
      <p:cxnSp>
        <p:nvCxnSpPr>
          <p:cNvPr id="577" name="Connector: Elbow 268"/>
          <p:cNvCxnSpPr>
            <a:stCxn id="77" idx="3"/>
            <a:endCxn id="94" idx="1"/>
          </p:cNvCxnSpPr>
          <p:nvPr/>
        </p:nvCxnSpPr>
        <p:spPr>
          <a:xfrm>
            <a:off x="8877300" y="4562475"/>
            <a:ext cx="600075" cy="76200"/>
          </a:xfrm>
          <a:prstGeom prst="bentConnector3">
            <a:avLst>
              <a:gd name="adj1" fmla="val 50000"/>
            </a:avLst>
          </a:prstGeom>
          <a:ln w="17145">
            <a:solidFill>
              <a:srgbClr val="B86713"/>
            </a:solidFill>
            <a:prstDash val="solid"/>
            <a:tailEnd type="triangle" w="sm" len="sm"/>
          </a:ln>
        </p:spPr>
      </p:cxnSp>
      <p:cxnSp>
        <p:nvCxnSpPr>
          <p:cNvPr id="578" name="Connector: Elbow 269"/>
          <p:cNvCxnSpPr>
            <a:stCxn id="85" idx="2"/>
            <a:endCxn id="98" idx="0"/>
          </p:cNvCxnSpPr>
          <p:nvPr/>
        </p:nvCxnSpPr>
        <p:spPr>
          <a:xfrm flipH="1">
            <a:off x="5505450" y="5553075"/>
            <a:ext cx="400050" cy="561975"/>
          </a:xfrm>
          <a:prstGeom prst="bentConnector4">
            <a:avLst>
              <a:gd name="adj1" fmla="val 0"/>
              <a:gd name="adj2" fmla="val 50000"/>
            </a:avLst>
          </a:prstGeom>
          <a:ln w="17145">
            <a:solidFill>
              <a:srgbClr val="5B6472"/>
            </a:solidFill>
            <a:prstDash val="dash"/>
            <a:tailEnd type="triangle" w="sm" len="sm"/>
          </a:ln>
        </p:spPr>
      </p:cxnSp>
    </p:spTree>
    <p:extLst>
      <p:ext uri="{BB962C8B-B14F-4D97-AF65-F5344CB8AC3E}">
        <p14:creationId xmlns:p14="http://schemas.microsoft.com/office/powerpoint/2010/main" val="2775271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verage-1">
            <a:extLst>
              <a:ext uri="{FF2B5EF4-FFF2-40B4-BE49-F238E27FC236}">
                <a16:creationId xmlns:a16="http://schemas.microsoft.com/office/drawing/2014/main" id="{FE097948-54CE-E128-98C6-352351F7ECA9}"/>
              </a:ext>
            </a:extLst>
          </p:cNvPr>
          <p:cNvSpPr>
            <a:spLocks noGrp="1"/>
          </p:cNvSpPr>
          <p:nvPr/>
        </p:nvSpPr>
        <p:spPr>
          <a:xfrm>
            <a:off x="2632015" y="1312895"/>
            <a:ext cx="6145306" cy="2151528"/>
          </a:xfrm>
          <a:prstGeom prst="roundRect">
            <a:avLst>
              <a:gd name="adj" fmla="val 10526"/>
            </a:avLst>
          </a:prstGeom>
          <a:solidFill>
            <a:srgbClr val="FFFFFF"/>
          </a:solidFill>
          <a:ln w="14288">
            <a:solidFill>
              <a:srgbClr val="2767A8"/>
            </a:solidFill>
            <a:prstDash val="solid"/>
          </a:ln>
        </p:spPr>
        <p:txBody>
          <a:bodyPr/>
          <a:lstStyle/>
          <a:p>
            <a:r>
              <a:rPr sz="4800"/>
              <a:t>Security and Scale</a:t>
            </a:r>
          </a:p>
        </p:txBody>
      </p:sp>
      <p:sp>
        <p:nvSpPr>
          <p:cNvPr id="6" name="TextBox 5">
            <a:extLst>
              <a:ext uri="{FF2B5EF4-FFF2-40B4-BE49-F238E27FC236}">
                <a16:creationId xmlns:a16="http://schemas.microsoft.com/office/drawing/2014/main" id="{8933BC09-966B-54DA-C39F-2B3B30E60A08}"/>
              </a:ext>
            </a:extLst>
          </p:cNvPr>
          <p:cNvSpPr txBox="1"/>
          <p:nvPr/>
        </p:nvSpPr>
        <p:spPr>
          <a:xfrm>
            <a:off x="1226634" y="4008204"/>
            <a:ext cx="9768467" cy="2554545"/>
          </a:xfrm>
          <a:prstGeom prst="rect">
            <a:avLst/>
          </a:prstGeom>
          <a:noFill/>
        </p:spPr>
        <p:txBody>
          <a:bodyPr wrap="square">
            <a:spAutoFit/>
          </a:bodyPr>
          <a:lstStyle/>
          <a:p>
            <a:pPr>
              <a:defRPr sz="713" b="1">
                <a:solidFill>
                  <a:srgbClr val="008296"/>
                </a:solidFill>
              </a:defRPr>
            </a:pPr>
            <a:r>
              <a:rPr lang="en-US" sz="2000" b="1" dirty="0">
                <a:solidFill>
                  <a:srgbClr val="008296"/>
                </a:solidFill>
              </a:rPr>
              <a:t>DESIGN PRINCIPLE </a:t>
            </a:r>
          </a:p>
          <a:p>
            <a:pPr marL="228600" indent="-228600">
              <a:buAutoNum type="arabicPeriod"/>
              <a:defRPr sz="713" b="1">
                <a:solidFill>
                  <a:srgbClr val="008296"/>
                </a:solidFill>
              </a:defRPr>
            </a:pPr>
            <a:r>
              <a:rPr lang="en-US" sz="2000" dirty="0">
                <a:solidFill>
                  <a:srgbClr val="183B56"/>
                </a:solidFill>
              </a:rPr>
              <a:t>Compute rule</a:t>
            </a:r>
            <a:r>
              <a:rPr lang="en-US" sz="2000" b="1" dirty="0">
                <a:solidFill>
                  <a:srgbClr val="183B56"/>
                </a:solidFill>
              </a:rPr>
              <a:t>: Lambda handles short, bursty work; Fargate handles persistent, connection-oriented integration adapters.</a:t>
            </a:r>
          </a:p>
          <a:p>
            <a:pPr marL="228600" indent="-228600">
              <a:buFontTx/>
              <a:buAutoNum type="arabicPeriod"/>
              <a:defRPr sz="713" b="1">
                <a:solidFill>
                  <a:srgbClr val="008296"/>
                </a:solidFill>
              </a:defRPr>
            </a:pPr>
            <a:r>
              <a:rPr lang="en-US" sz="2000" b="1" dirty="0">
                <a:solidFill>
                  <a:srgbClr val="183B56"/>
                </a:solidFill>
              </a:rPr>
              <a:t>Performance rule: cached availability accelerates search; only the authoritative dealer response confirms an appointment.</a:t>
            </a:r>
          </a:p>
          <a:p>
            <a:pPr marL="228600" indent="-228600">
              <a:buAutoNum type="arabicPeriod"/>
              <a:defRPr sz="713" b="1">
                <a:solidFill>
                  <a:srgbClr val="008296"/>
                </a:solidFill>
              </a:defRPr>
            </a:pPr>
            <a:endParaRPr lang="en-US" sz="2000" b="1" dirty="0">
              <a:solidFill>
                <a:srgbClr val="183B56"/>
              </a:solidFill>
            </a:endParaRPr>
          </a:p>
          <a:p>
            <a:pPr marL="228600" indent="-228600">
              <a:buAutoNum type="arabicPeriod"/>
              <a:defRPr sz="713" b="1">
                <a:solidFill>
                  <a:srgbClr val="008296"/>
                </a:solidFill>
              </a:defRPr>
            </a:pPr>
            <a:endParaRPr lang="en-US" sz="2000" b="1" dirty="0">
              <a:solidFill>
                <a:srgbClr val="183B56"/>
              </a:solidFill>
            </a:endParaRPr>
          </a:p>
          <a:p>
            <a:pPr>
              <a:defRPr sz="713" b="1">
                <a:solidFill>
                  <a:srgbClr val="008296"/>
                </a:solidFill>
              </a:defRPr>
            </a:pPr>
            <a:endParaRPr lang="en-US" sz="2000" b="1" dirty="0">
              <a:solidFill>
                <a:srgbClr val="008296"/>
              </a:solidFill>
            </a:endParaRPr>
          </a:p>
        </p:txBody>
      </p:sp>
    </p:spTree>
    <p:extLst>
      <p:ext uri="{BB962C8B-B14F-4D97-AF65-F5344CB8AC3E}">
        <p14:creationId xmlns:p14="http://schemas.microsoft.com/office/powerpoint/2010/main" val="1118504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eyebrow">
            <a:extLst>
              <a:ext uri="{FF2B5EF4-FFF2-40B4-BE49-F238E27FC236}">
                <a16:creationId xmlns:a16="http://schemas.microsoft.com/office/drawing/2014/main" id="{DFDE3014-554C-4834-9520-AE3A1195C09F}"/>
              </a:ext>
            </a:extLst>
          </p:cNvPr>
          <p:cNvSpPr>
            <a:spLocks noGrp="1"/>
          </p:cNvSpPr>
          <p:nvPr/>
        </p:nvSpPr>
        <p:spPr>
          <a:xfrm>
            <a:off x="552450" y="266700"/>
            <a:ext cx="4000500" cy="190500"/>
          </a:xfrm>
          <a:prstGeom prst="rect">
            <a:avLst/>
          </a:prstGeom>
          <a:noFill/>
          <a:ln w="0">
            <a:noFill/>
            <a:prstDash val="solid"/>
          </a:ln>
        </p:spPr>
        <p:txBody>
          <a:bodyPr/>
          <a:lstStyle/>
          <a:p>
            <a:pPr>
              <a:buNone/>
              <a:defRPr sz="975" b="1">
                <a:solidFill>
                  <a:srgbClr val="198E84"/>
                </a:solidFill>
              </a:defRPr>
            </a:pPr>
            <a:r>
              <a:rPr sz="975" b="1" dirty="0">
                <a:solidFill>
                  <a:srgbClr val="198E84"/>
                </a:solidFill>
              </a:rPr>
              <a:t>SECURITY &amp; COMPLIANCE</a:t>
            </a:r>
          </a:p>
        </p:txBody>
      </p:sp>
      <p:sp>
        <p:nvSpPr>
          <p:cNvPr id="2" name="title">
            <a:extLst>
              <a:ext uri="{FF2B5EF4-FFF2-40B4-BE49-F238E27FC236}">
                <a16:creationId xmlns:a16="http://schemas.microsoft.com/office/drawing/2014/main" id="{98C06CED-F26A-4914-A911-6353134F285A}"/>
              </a:ext>
            </a:extLst>
          </p:cNvPr>
          <p:cNvSpPr>
            <a:spLocks noGrp="1"/>
          </p:cNvSpPr>
          <p:nvPr/>
        </p:nvSpPr>
        <p:spPr>
          <a:xfrm>
            <a:off x="552450" y="523875"/>
            <a:ext cx="11087100" cy="742950"/>
          </a:xfrm>
          <a:prstGeom prst="rect">
            <a:avLst/>
          </a:prstGeom>
          <a:noFill/>
          <a:ln w="0">
            <a:noFill/>
            <a:prstDash val="solid"/>
          </a:ln>
        </p:spPr>
        <p:txBody>
          <a:bodyPr/>
          <a:lstStyle/>
          <a:p>
            <a:pPr>
              <a:buNone/>
              <a:defRPr sz="2475" b="1">
                <a:solidFill>
                  <a:srgbClr val="111827"/>
                </a:solidFill>
              </a:defRPr>
            </a:pPr>
            <a:r>
              <a:rPr sz="2475" b="1">
                <a:solidFill>
                  <a:srgbClr val="111827"/>
                </a:solidFill>
              </a:rPr>
              <a:t>Identity, tenant context and encryption enforce dealership-level isolation</a:t>
            </a:r>
          </a:p>
        </p:txBody>
      </p:sp>
      <p:sp>
        <p:nvSpPr>
          <p:cNvPr id="3" name="subtitle">
            <a:extLst>
              <a:ext uri="{FF2B5EF4-FFF2-40B4-BE49-F238E27FC236}">
                <a16:creationId xmlns:a16="http://schemas.microsoft.com/office/drawing/2014/main" id="{72712F74-6D05-48F1-90D5-AB0862EBC900}"/>
              </a:ext>
            </a:extLst>
          </p:cNvPr>
          <p:cNvSpPr>
            <a:spLocks noGrp="1"/>
          </p:cNvSpPr>
          <p:nvPr/>
        </p:nvSpPr>
        <p:spPr>
          <a:xfrm>
            <a:off x="552450" y="1333500"/>
            <a:ext cx="11087100" cy="400050"/>
          </a:xfrm>
          <a:prstGeom prst="rect">
            <a:avLst/>
          </a:prstGeom>
          <a:noFill/>
          <a:ln w="0">
            <a:noFill/>
            <a:prstDash val="solid"/>
          </a:ln>
        </p:spPr>
        <p:txBody>
          <a:bodyPr/>
          <a:lstStyle/>
          <a:p>
            <a:pPr>
              <a:buNone/>
              <a:defRPr sz="1275">
                <a:solidFill>
                  <a:srgbClr val="5B6472"/>
                </a:solidFill>
              </a:defRPr>
            </a:pPr>
            <a:r>
              <a:rPr sz="1275">
                <a:solidFill>
                  <a:srgbClr val="5B6472"/>
                </a:solidFill>
              </a:rPr>
              <a:t>Every request carries trusted identity and dealer scope from the edge through data access and audit.</a:t>
            </a:r>
          </a:p>
        </p:txBody>
      </p:sp>
      <p:sp>
        <p:nvSpPr>
          <p:cNvPr id="4" name="section-rule">
            <a:extLst>
              <a:ext uri="{FF2B5EF4-FFF2-40B4-BE49-F238E27FC236}">
                <a16:creationId xmlns:a16="http://schemas.microsoft.com/office/drawing/2014/main" id="{8AD639D8-84CE-47FB-9F71-0BD382695D3F}"/>
              </a:ext>
            </a:extLst>
          </p:cNvPr>
          <p:cNvSpPr>
            <a:spLocks noGrp="1"/>
          </p:cNvSpPr>
          <p:nvPr/>
        </p:nvSpPr>
        <p:spPr>
          <a:xfrm>
            <a:off x="552450" y="1876425"/>
            <a:ext cx="11087100" cy="0"/>
          </a:xfrm>
          <a:prstGeom prst="line">
            <a:avLst/>
          </a:prstGeom>
          <a:ln w="11430">
            <a:solidFill>
              <a:srgbClr val="D7DEE8"/>
            </a:solidFill>
            <a:prstDash val="solid"/>
          </a:ln>
        </p:spPr>
        <p:txBody>
          <a:bodyPr/>
          <a:lstStyle/>
          <a:p>
            <a:endParaRPr/>
          </a:p>
        </p:txBody>
      </p:sp>
      <p:sp>
        <p:nvSpPr>
          <p:cNvPr id="5" name="stage-Verify identity">
            <a:extLst>
              <a:ext uri="{FF2B5EF4-FFF2-40B4-BE49-F238E27FC236}">
                <a16:creationId xmlns:a16="http://schemas.microsoft.com/office/drawing/2014/main" id="{C60F475F-6FC2-4139-A4D0-7E3E4E85DF63}"/>
              </a:ext>
            </a:extLst>
          </p:cNvPr>
          <p:cNvSpPr>
            <a:spLocks noGrp="1"/>
          </p:cNvSpPr>
          <p:nvPr/>
        </p:nvSpPr>
        <p:spPr>
          <a:xfrm>
            <a:off x="552450" y="2152650"/>
            <a:ext cx="3276600" cy="2076450"/>
          </a:xfrm>
          <a:prstGeom prst="roundRect">
            <a:avLst>
              <a:gd name="adj" fmla="val 5505"/>
            </a:avLst>
          </a:prstGeom>
          <a:solidFill>
            <a:srgbClr val="FFFF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51" name="Picture 40"/>
          <p:cNvPicPr>
            <a:picLocks noChangeAspect="1"/>
          </p:cNvPicPr>
          <p:nvPr/>
        </p:nvPicPr>
        <p:blipFill>
          <a:blip r:embed="rId3"/>
          <a:stretch/>
        </p:blipFill>
        <p:spPr>
          <a:xfrm>
            <a:off x="838200" y="2390775"/>
            <a:ext cx="400050" cy="400050"/>
          </a:xfrm>
          <a:prstGeom prst="rect">
            <a:avLst/>
          </a:prstGeom>
        </p:spPr>
      </p:pic>
      <p:pic>
        <p:nvPicPr>
          <p:cNvPr id="52" name="Picture 41"/>
          <p:cNvPicPr>
            <a:picLocks noChangeAspect="1"/>
          </p:cNvPicPr>
          <p:nvPr/>
        </p:nvPicPr>
        <p:blipFill>
          <a:blip r:embed="rId4"/>
          <a:stretch/>
        </p:blipFill>
        <p:spPr>
          <a:xfrm>
            <a:off x="1352550" y="2390775"/>
            <a:ext cx="400050" cy="400050"/>
          </a:xfrm>
          <a:prstGeom prst="rect">
            <a:avLst/>
          </a:prstGeom>
        </p:spPr>
      </p:pic>
      <p:pic>
        <p:nvPicPr>
          <p:cNvPr id="53" name="Picture 42"/>
          <p:cNvPicPr>
            <a:picLocks noChangeAspect="1"/>
          </p:cNvPicPr>
          <p:nvPr/>
        </p:nvPicPr>
        <p:blipFill>
          <a:blip r:embed="rId5"/>
          <a:stretch/>
        </p:blipFill>
        <p:spPr>
          <a:xfrm>
            <a:off x="1866900" y="2390775"/>
            <a:ext cx="400050" cy="400050"/>
          </a:xfrm>
          <a:prstGeom prst="rect">
            <a:avLst/>
          </a:prstGeom>
        </p:spPr>
      </p:pic>
      <p:sp>
        <p:nvSpPr>
          <p:cNvPr id="9" name="Verify identity-title">
            <a:extLst>
              <a:ext uri="{FF2B5EF4-FFF2-40B4-BE49-F238E27FC236}">
                <a16:creationId xmlns:a16="http://schemas.microsoft.com/office/drawing/2014/main" id="{1602312B-47B3-4F39-B9FF-434F5B12840B}"/>
              </a:ext>
            </a:extLst>
          </p:cNvPr>
          <p:cNvSpPr>
            <a:spLocks noGrp="1"/>
          </p:cNvSpPr>
          <p:nvPr/>
        </p:nvSpPr>
        <p:spPr>
          <a:xfrm>
            <a:off x="8191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Verify identity</a:t>
            </a:r>
          </a:p>
        </p:txBody>
      </p:sp>
      <p:sp>
        <p:nvSpPr>
          <p:cNvPr id="10" name="Verify identity-detail">
            <a:extLst>
              <a:ext uri="{FF2B5EF4-FFF2-40B4-BE49-F238E27FC236}">
                <a16:creationId xmlns:a16="http://schemas.microsoft.com/office/drawing/2014/main" id="{E2844D78-CC9F-4226-9737-13FC057D811F}"/>
              </a:ext>
            </a:extLst>
          </p:cNvPr>
          <p:cNvSpPr>
            <a:spLocks noGrp="1"/>
          </p:cNvSpPr>
          <p:nvPr/>
        </p:nvSpPr>
        <p:spPr>
          <a:xfrm>
            <a:off x="8191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guest or customer identity</a:t>
            </a:r>
          </a:p>
          <a:p>
            <a:pPr>
              <a:buNone/>
              <a:defRPr sz="1125">
                <a:solidFill>
                  <a:srgbClr val="4B5563"/>
                </a:solidFill>
              </a:defRPr>
            </a:pPr>
            <a:r>
              <a:rPr sz="1125">
                <a:solidFill>
                  <a:srgbClr val="4B5563"/>
                </a:solidFill>
              </a:rPr>
              <a:t>federated dealer SSO</a:t>
            </a:r>
          </a:p>
          <a:p>
            <a:pPr>
              <a:buNone/>
              <a:defRPr sz="1125">
                <a:solidFill>
                  <a:srgbClr val="4B5563"/>
                </a:solidFill>
              </a:defRPr>
            </a:pPr>
            <a:r>
              <a:rPr sz="1125">
                <a:solidFill>
                  <a:srgbClr val="4B5563"/>
                </a:solidFill>
              </a:rPr>
              <a:t>least-privilege roles</a:t>
            </a:r>
          </a:p>
        </p:txBody>
      </p:sp>
      <p:sp>
        <p:nvSpPr>
          <p:cNvPr id="11" name="arrow-414">
            <a:extLst>
              <a:ext uri="{FF2B5EF4-FFF2-40B4-BE49-F238E27FC236}">
                <a16:creationId xmlns:a16="http://schemas.microsoft.com/office/drawing/2014/main" id="{1DC4576B-E885-43E8-9E05-D54D366A2BBF}"/>
              </a:ext>
            </a:extLst>
          </p:cNvPr>
          <p:cNvSpPr>
            <a:spLocks noGrp="1"/>
          </p:cNvSpPr>
          <p:nvPr/>
        </p:nvSpPr>
        <p:spPr>
          <a:xfrm>
            <a:off x="3943350" y="3009900"/>
            <a:ext cx="361950" cy="266700"/>
          </a:xfrm>
          <a:prstGeom prst="rightArrow">
            <a:avLst/>
          </a:prstGeom>
          <a:solidFill>
            <a:srgbClr val="08A89B"/>
          </a:solidFill>
          <a:ln w="0">
            <a:solidFill>
              <a:srgbClr val="08A89B"/>
            </a:solidFill>
            <a:prstDash val="solid"/>
          </a:ln>
        </p:spPr>
        <p:txBody>
          <a:bodyPr/>
          <a:lstStyle/>
          <a:p>
            <a:endParaRPr/>
          </a:p>
        </p:txBody>
      </p:sp>
      <p:sp>
        <p:nvSpPr>
          <p:cNvPr id="12" name="stage-Protect the boundary">
            <a:extLst>
              <a:ext uri="{FF2B5EF4-FFF2-40B4-BE49-F238E27FC236}">
                <a16:creationId xmlns:a16="http://schemas.microsoft.com/office/drawing/2014/main" id="{0BB52037-44F9-40FE-A911-221CC17DF599}"/>
              </a:ext>
            </a:extLst>
          </p:cNvPr>
          <p:cNvSpPr>
            <a:spLocks noGrp="1"/>
          </p:cNvSpPr>
          <p:nvPr/>
        </p:nvSpPr>
        <p:spPr>
          <a:xfrm>
            <a:off x="4457700" y="2152650"/>
            <a:ext cx="3276600" cy="2076450"/>
          </a:xfrm>
          <a:prstGeom prst="roundRect">
            <a:avLst>
              <a:gd name="adj" fmla="val 5505"/>
            </a:avLst>
          </a:prstGeom>
          <a:solidFill>
            <a:srgbClr val="FFFF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pic>
        <p:nvPicPr>
          <p:cNvPr id="58" name="Picture 47"/>
          <p:cNvPicPr>
            <a:picLocks noChangeAspect="1"/>
          </p:cNvPicPr>
          <p:nvPr/>
        </p:nvPicPr>
        <p:blipFill>
          <a:blip r:embed="rId6"/>
          <a:stretch/>
        </p:blipFill>
        <p:spPr>
          <a:xfrm>
            <a:off x="4743450" y="2390775"/>
            <a:ext cx="400050" cy="400050"/>
          </a:xfrm>
          <a:prstGeom prst="rect">
            <a:avLst/>
          </a:prstGeom>
        </p:spPr>
      </p:pic>
      <p:pic>
        <p:nvPicPr>
          <p:cNvPr id="59" name="Picture 48"/>
          <p:cNvPicPr>
            <a:picLocks noChangeAspect="1"/>
          </p:cNvPicPr>
          <p:nvPr/>
        </p:nvPicPr>
        <p:blipFill>
          <a:blip r:embed="rId7"/>
          <a:stretch/>
        </p:blipFill>
        <p:spPr>
          <a:xfrm>
            <a:off x="5257800" y="2390775"/>
            <a:ext cx="400050" cy="400050"/>
          </a:xfrm>
          <a:prstGeom prst="rect">
            <a:avLst/>
          </a:prstGeom>
        </p:spPr>
      </p:pic>
      <p:pic>
        <p:nvPicPr>
          <p:cNvPr id="60" name="Picture 49"/>
          <p:cNvPicPr>
            <a:picLocks noChangeAspect="1"/>
          </p:cNvPicPr>
          <p:nvPr/>
        </p:nvPicPr>
        <p:blipFill>
          <a:blip r:embed="rId8"/>
          <a:stretch/>
        </p:blipFill>
        <p:spPr>
          <a:xfrm>
            <a:off x="5772150" y="2390775"/>
            <a:ext cx="400050" cy="400050"/>
          </a:xfrm>
          <a:prstGeom prst="rect">
            <a:avLst/>
          </a:prstGeom>
        </p:spPr>
      </p:pic>
      <p:sp>
        <p:nvSpPr>
          <p:cNvPr id="16" name="Protect the boundary-title">
            <a:extLst>
              <a:ext uri="{FF2B5EF4-FFF2-40B4-BE49-F238E27FC236}">
                <a16:creationId xmlns:a16="http://schemas.microsoft.com/office/drawing/2014/main" id="{7590163A-47D0-4A12-B568-D288B53344F0}"/>
              </a:ext>
            </a:extLst>
          </p:cNvPr>
          <p:cNvSpPr>
            <a:spLocks noGrp="1"/>
          </p:cNvSpPr>
          <p:nvPr/>
        </p:nvSpPr>
        <p:spPr>
          <a:xfrm>
            <a:off x="472440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Protect the boundary</a:t>
            </a:r>
          </a:p>
        </p:txBody>
      </p:sp>
      <p:sp>
        <p:nvSpPr>
          <p:cNvPr id="17" name="Protect the boundary-detail">
            <a:extLst>
              <a:ext uri="{FF2B5EF4-FFF2-40B4-BE49-F238E27FC236}">
                <a16:creationId xmlns:a16="http://schemas.microsoft.com/office/drawing/2014/main" id="{EBCEA886-308A-473B-8B9D-686C20B906DB}"/>
              </a:ext>
            </a:extLst>
          </p:cNvPr>
          <p:cNvSpPr>
            <a:spLocks noGrp="1"/>
          </p:cNvSpPr>
          <p:nvPr/>
        </p:nvSpPr>
        <p:spPr>
          <a:xfrm>
            <a:off x="472440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managed WAF rules</a:t>
            </a:r>
          </a:p>
          <a:p>
            <a:pPr>
              <a:buNone/>
              <a:defRPr sz="1125">
                <a:solidFill>
                  <a:srgbClr val="4B5563"/>
                </a:solidFill>
              </a:defRPr>
            </a:pPr>
            <a:r>
              <a:rPr sz="1125">
                <a:solidFill>
                  <a:srgbClr val="4B5563"/>
                </a:solidFill>
              </a:rPr>
              <a:t>DDoS protection</a:t>
            </a:r>
          </a:p>
          <a:p>
            <a:pPr>
              <a:buNone/>
              <a:defRPr sz="1125">
                <a:solidFill>
                  <a:srgbClr val="4B5563"/>
                </a:solidFill>
              </a:defRPr>
            </a:pPr>
            <a:r>
              <a:rPr sz="1125">
                <a:solidFill>
                  <a:srgbClr val="4B5563"/>
                </a:solidFill>
              </a:rPr>
              <a:t>rotated credentials</a:t>
            </a:r>
          </a:p>
        </p:txBody>
      </p:sp>
      <p:sp>
        <p:nvSpPr>
          <p:cNvPr id="18" name="arrow-824">
            <a:extLst>
              <a:ext uri="{FF2B5EF4-FFF2-40B4-BE49-F238E27FC236}">
                <a16:creationId xmlns:a16="http://schemas.microsoft.com/office/drawing/2014/main" id="{25E30D95-9A1E-4ACB-82CB-E20A0E0AE30E}"/>
              </a:ext>
            </a:extLst>
          </p:cNvPr>
          <p:cNvSpPr>
            <a:spLocks noGrp="1"/>
          </p:cNvSpPr>
          <p:nvPr/>
        </p:nvSpPr>
        <p:spPr>
          <a:xfrm>
            <a:off x="7848600" y="3009900"/>
            <a:ext cx="361950" cy="266700"/>
          </a:xfrm>
          <a:prstGeom prst="rightArrow">
            <a:avLst/>
          </a:prstGeom>
          <a:solidFill>
            <a:srgbClr val="08A89B"/>
          </a:solidFill>
          <a:ln w="0">
            <a:solidFill>
              <a:srgbClr val="08A89B"/>
            </a:solidFill>
            <a:prstDash val="solid"/>
          </a:ln>
        </p:spPr>
        <p:txBody>
          <a:bodyPr/>
          <a:lstStyle/>
          <a:p>
            <a:endParaRPr/>
          </a:p>
        </p:txBody>
      </p:sp>
      <p:sp>
        <p:nvSpPr>
          <p:cNvPr id="19" name="stage-Protect and prove">
            <a:extLst>
              <a:ext uri="{FF2B5EF4-FFF2-40B4-BE49-F238E27FC236}">
                <a16:creationId xmlns:a16="http://schemas.microsoft.com/office/drawing/2014/main" id="{6EF0A962-AF44-4E48-8B6B-FE99D90B621A}"/>
              </a:ext>
            </a:extLst>
          </p:cNvPr>
          <p:cNvSpPr>
            <a:spLocks noGrp="1"/>
          </p:cNvSpPr>
          <p:nvPr/>
        </p:nvSpPr>
        <p:spPr>
          <a:xfrm>
            <a:off x="8362950" y="2152650"/>
            <a:ext cx="3276600" cy="2076450"/>
          </a:xfrm>
          <a:prstGeom prst="roundRect">
            <a:avLst>
              <a:gd name="adj" fmla="val 5505"/>
            </a:avLst>
          </a:prstGeom>
          <a:solidFill>
            <a:srgbClr val="FFFFFF"/>
          </a:solidFill>
          <a:ln w="1714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pic>
        <p:nvPicPr>
          <p:cNvPr id="65" name="Picture 54"/>
          <p:cNvPicPr>
            <a:picLocks noChangeAspect="1"/>
          </p:cNvPicPr>
          <p:nvPr/>
        </p:nvPicPr>
        <p:blipFill>
          <a:blip r:embed="rId9"/>
          <a:stretch/>
        </p:blipFill>
        <p:spPr>
          <a:xfrm>
            <a:off x="8648700" y="2390775"/>
            <a:ext cx="400050" cy="400050"/>
          </a:xfrm>
          <a:prstGeom prst="rect">
            <a:avLst/>
          </a:prstGeom>
        </p:spPr>
      </p:pic>
      <p:pic>
        <p:nvPicPr>
          <p:cNvPr id="66" name="Picture 55"/>
          <p:cNvPicPr>
            <a:picLocks noChangeAspect="1"/>
          </p:cNvPicPr>
          <p:nvPr/>
        </p:nvPicPr>
        <p:blipFill>
          <a:blip r:embed="rId10"/>
          <a:stretch/>
        </p:blipFill>
        <p:spPr>
          <a:xfrm>
            <a:off x="9163050" y="2390775"/>
            <a:ext cx="400050" cy="400050"/>
          </a:xfrm>
          <a:prstGeom prst="rect">
            <a:avLst/>
          </a:prstGeom>
        </p:spPr>
      </p:pic>
      <p:pic>
        <p:nvPicPr>
          <p:cNvPr id="67" name="Picture 56"/>
          <p:cNvPicPr>
            <a:picLocks noChangeAspect="1"/>
          </p:cNvPicPr>
          <p:nvPr/>
        </p:nvPicPr>
        <p:blipFill>
          <a:blip r:embed="rId11"/>
          <a:stretch/>
        </p:blipFill>
        <p:spPr>
          <a:xfrm>
            <a:off x="9677400" y="2390775"/>
            <a:ext cx="400050" cy="400050"/>
          </a:xfrm>
          <a:prstGeom prst="rect">
            <a:avLst/>
          </a:prstGeom>
        </p:spPr>
      </p:pic>
      <p:sp>
        <p:nvSpPr>
          <p:cNvPr id="23" name="Protect and prove-title">
            <a:extLst>
              <a:ext uri="{FF2B5EF4-FFF2-40B4-BE49-F238E27FC236}">
                <a16:creationId xmlns:a16="http://schemas.microsoft.com/office/drawing/2014/main" id="{F8871AFE-68AE-490F-977B-CD528292FC7E}"/>
              </a:ext>
            </a:extLst>
          </p:cNvPr>
          <p:cNvSpPr>
            <a:spLocks noGrp="1"/>
          </p:cNvSpPr>
          <p:nvPr/>
        </p:nvSpPr>
        <p:spPr>
          <a:xfrm>
            <a:off x="86296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Protect and prove</a:t>
            </a:r>
          </a:p>
        </p:txBody>
      </p:sp>
      <p:sp>
        <p:nvSpPr>
          <p:cNvPr id="24" name="Protect and prove-detail">
            <a:extLst>
              <a:ext uri="{FF2B5EF4-FFF2-40B4-BE49-F238E27FC236}">
                <a16:creationId xmlns:a16="http://schemas.microsoft.com/office/drawing/2014/main" id="{08A78359-1562-462E-A903-E56FE5F62108}"/>
              </a:ext>
            </a:extLst>
          </p:cNvPr>
          <p:cNvSpPr>
            <a:spLocks noGrp="1"/>
          </p:cNvSpPr>
          <p:nvPr/>
        </p:nvSpPr>
        <p:spPr>
          <a:xfrm>
            <a:off x="86296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encryption everywhere</a:t>
            </a:r>
          </a:p>
          <a:p>
            <a:pPr>
              <a:buNone/>
              <a:defRPr sz="1125">
                <a:solidFill>
                  <a:srgbClr val="4B5563"/>
                </a:solidFill>
              </a:defRPr>
            </a:pPr>
            <a:r>
              <a:rPr sz="1125">
                <a:solidFill>
                  <a:srgbClr val="4B5563"/>
                </a:solidFill>
              </a:rPr>
              <a:t>immutable audit trail</a:t>
            </a:r>
          </a:p>
          <a:p>
            <a:pPr>
              <a:buNone/>
              <a:defRPr sz="1125">
                <a:solidFill>
                  <a:srgbClr val="4B5563"/>
                </a:solidFill>
              </a:defRPr>
            </a:pPr>
            <a:r>
              <a:rPr sz="1125">
                <a:solidFill>
                  <a:srgbClr val="4B5563"/>
                </a:solidFill>
              </a:rPr>
              <a:t>central findings</a:t>
            </a:r>
          </a:p>
        </p:txBody>
      </p:sp>
      <p:sp>
        <p:nvSpPr>
          <p:cNvPr id="25" name="decisions-label">
            <a:extLst>
              <a:ext uri="{FF2B5EF4-FFF2-40B4-BE49-F238E27FC236}">
                <a16:creationId xmlns:a16="http://schemas.microsoft.com/office/drawing/2014/main" id="{CD001657-764D-44F1-8F88-D42191AA5AD6}"/>
              </a:ext>
            </a:extLst>
          </p:cNvPr>
          <p:cNvSpPr>
            <a:spLocks noGrp="1"/>
          </p:cNvSpPr>
          <p:nvPr/>
        </p:nvSpPr>
        <p:spPr>
          <a:xfrm>
            <a:off x="552450" y="4438650"/>
            <a:ext cx="2381250" cy="190500"/>
          </a:xfrm>
          <a:prstGeom prst="rect">
            <a:avLst/>
          </a:prstGeom>
          <a:noFill/>
          <a:ln w="0">
            <a:noFill/>
            <a:prstDash val="solid"/>
          </a:ln>
        </p:spPr>
        <p:txBody>
          <a:bodyPr/>
          <a:lstStyle/>
          <a:p>
            <a:pPr>
              <a:buNone/>
              <a:defRPr sz="900" b="1">
                <a:solidFill>
                  <a:srgbClr val="5B6472"/>
                </a:solidFill>
              </a:defRPr>
            </a:pPr>
            <a:r>
              <a:rPr sz="900" b="1">
                <a:solidFill>
                  <a:srgbClr val="5B6472"/>
                </a:solidFill>
              </a:rPr>
              <a:t>ARCHITECTURE DECISIONS</a:t>
            </a:r>
          </a:p>
        </p:txBody>
      </p:sp>
      <p:sp>
        <p:nvSpPr>
          <p:cNvPr id="26" name="decision-0-title">
            <a:extLst>
              <a:ext uri="{FF2B5EF4-FFF2-40B4-BE49-F238E27FC236}">
                <a16:creationId xmlns:a16="http://schemas.microsoft.com/office/drawing/2014/main" id="{3E7DCE64-C96A-4E9F-AD7B-F525CE2CD074}"/>
              </a:ext>
            </a:extLst>
          </p:cNvPr>
          <p:cNvSpPr>
            <a:spLocks noGrp="1"/>
          </p:cNvSpPr>
          <p:nvPr/>
        </p:nvSpPr>
        <p:spPr>
          <a:xfrm>
            <a:off x="552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DEALER ISOLATION</a:t>
            </a:r>
          </a:p>
        </p:txBody>
      </p:sp>
      <p:sp>
        <p:nvSpPr>
          <p:cNvPr id="27" name="decision-0-body">
            <a:extLst>
              <a:ext uri="{FF2B5EF4-FFF2-40B4-BE49-F238E27FC236}">
                <a16:creationId xmlns:a16="http://schemas.microsoft.com/office/drawing/2014/main" id="{55EABDCF-41D8-4B3E-9629-36C346696CC5}"/>
              </a:ext>
            </a:extLst>
          </p:cNvPr>
          <p:cNvSpPr>
            <a:spLocks noGrp="1"/>
          </p:cNvSpPr>
          <p:nvPr/>
        </p:nvSpPr>
        <p:spPr>
          <a:xfrm>
            <a:off x="552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Dealer ID is server-derived and enforced in authorization and every data partition key.</a:t>
            </a:r>
          </a:p>
        </p:txBody>
      </p:sp>
      <p:sp>
        <p:nvSpPr>
          <p:cNvPr id="28" name="decision-1-title">
            <a:extLst>
              <a:ext uri="{FF2B5EF4-FFF2-40B4-BE49-F238E27FC236}">
                <a16:creationId xmlns:a16="http://schemas.microsoft.com/office/drawing/2014/main" id="{E0DCF288-3007-4798-A8DD-A8AF71F70757}"/>
              </a:ext>
            </a:extLst>
          </p:cNvPr>
          <p:cNvSpPr>
            <a:spLocks noGrp="1"/>
          </p:cNvSpPr>
          <p:nvPr/>
        </p:nvSpPr>
        <p:spPr>
          <a:xfrm>
            <a:off x="3409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SENSITIVE DATA</a:t>
            </a:r>
          </a:p>
        </p:txBody>
      </p:sp>
      <p:sp>
        <p:nvSpPr>
          <p:cNvPr id="29" name="decision-1-body">
            <a:extLst>
              <a:ext uri="{FF2B5EF4-FFF2-40B4-BE49-F238E27FC236}">
                <a16:creationId xmlns:a16="http://schemas.microsoft.com/office/drawing/2014/main" id="{761DAAB7-6A19-43F8-BD81-CFCD89813C3D}"/>
              </a:ext>
            </a:extLst>
          </p:cNvPr>
          <p:cNvSpPr>
            <a:spLocks noGrp="1"/>
          </p:cNvSpPr>
          <p:nvPr/>
        </p:nvSpPr>
        <p:spPr>
          <a:xfrm>
            <a:off x="3409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Minimize VIN/PII collection; encrypt in transit and at rest with controlled KMS keys.</a:t>
            </a:r>
          </a:p>
        </p:txBody>
      </p:sp>
      <p:sp>
        <p:nvSpPr>
          <p:cNvPr id="30" name="decision-2-title">
            <a:extLst>
              <a:ext uri="{FF2B5EF4-FFF2-40B4-BE49-F238E27FC236}">
                <a16:creationId xmlns:a16="http://schemas.microsoft.com/office/drawing/2014/main" id="{E5673E06-3A2E-4096-8724-B918D6D3107C}"/>
              </a:ext>
            </a:extLst>
          </p:cNvPr>
          <p:cNvSpPr>
            <a:spLocks noGrp="1"/>
          </p:cNvSpPr>
          <p:nvPr/>
        </p:nvSpPr>
        <p:spPr>
          <a:xfrm>
            <a:off x="6267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BROWNFIELD TRUST</a:t>
            </a:r>
          </a:p>
        </p:txBody>
      </p:sp>
      <p:sp>
        <p:nvSpPr>
          <p:cNvPr id="31" name="decision-2-body">
            <a:extLst>
              <a:ext uri="{FF2B5EF4-FFF2-40B4-BE49-F238E27FC236}">
                <a16:creationId xmlns:a16="http://schemas.microsoft.com/office/drawing/2014/main" id="{2BCE0048-4522-4DD7-B6B9-C5338D8DBCDC}"/>
              </a:ext>
            </a:extLst>
          </p:cNvPr>
          <p:cNvSpPr>
            <a:spLocks noGrp="1"/>
          </p:cNvSpPr>
          <p:nvPr/>
        </p:nvSpPr>
        <p:spPr>
          <a:xfrm>
            <a:off x="6267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Use private connectivity, mTLS, short-lived credentials and explicit egress rules.</a:t>
            </a:r>
          </a:p>
        </p:txBody>
      </p:sp>
      <p:sp>
        <p:nvSpPr>
          <p:cNvPr id="32" name="decision-3-title">
            <a:extLst>
              <a:ext uri="{FF2B5EF4-FFF2-40B4-BE49-F238E27FC236}">
                <a16:creationId xmlns:a16="http://schemas.microsoft.com/office/drawing/2014/main" id="{174DD47D-F2D0-454C-A5A7-C9EED2B6CC2B}"/>
              </a:ext>
            </a:extLst>
          </p:cNvPr>
          <p:cNvSpPr>
            <a:spLocks noGrp="1"/>
          </p:cNvSpPr>
          <p:nvPr/>
        </p:nvSpPr>
        <p:spPr>
          <a:xfrm>
            <a:off x="9124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ASSURANCE</a:t>
            </a:r>
          </a:p>
        </p:txBody>
      </p:sp>
      <p:sp>
        <p:nvSpPr>
          <p:cNvPr id="33" name="decision-3-body">
            <a:extLst>
              <a:ext uri="{FF2B5EF4-FFF2-40B4-BE49-F238E27FC236}">
                <a16:creationId xmlns:a16="http://schemas.microsoft.com/office/drawing/2014/main" id="{031AE0FE-064E-4497-8DFC-5C13531AC95C}"/>
              </a:ext>
            </a:extLst>
          </p:cNvPr>
          <p:cNvSpPr>
            <a:spLocks noGrp="1"/>
          </p:cNvSpPr>
          <p:nvPr/>
        </p:nvSpPr>
        <p:spPr>
          <a:xfrm>
            <a:off x="9124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Continuous configuration checks, threat detection, access reviews and evidence retention.</a:t>
            </a:r>
          </a:p>
        </p:txBody>
      </p:sp>
      <p:sp>
        <p:nvSpPr>
          <p:cNvPr id="34" name="footer">
            <a:extLst>
              <a:ext uri="{FF2B5EF4-FFF2-40B4-BE49-F238E27FC236}">
                <a16:creationId xmlns:a16="http://schemas.microsoft.com/office/drawing/2014/main" id="{C016965A-9996-49EA-BFEE-470E5D879A97}"/>
              </a:ext>
            </a:extLst>
          </p:cNvPr>
          <p:cNvSpPr>
            <a:spLocks noGrp="1"/>
          </p:cNvSpPr>
          <p:nvPr/>
        </p:nvSpPr>
        <p:spPr>
          <a:xfrm>
            <a:off x="552450" y="5953125"/>
            <a:ext cx="11087100" cy="457200"/>
          </a:xfrm>
          <a:prstGeom prst="roundRect">
            <a:avLst>
              <a:gd name="adj" fmla="val 16667"/>
            </a:avLst>
          </a:prstGeom>
          <a:solidFill>
            <a:srgbClr val="F0FAF8"/>
          </a:solidFill>
          <a:ln w="9525">
            <a:solidFill>
              <a:srgbClr val="B7E2DC"/>
            </a:solidFill>
            <a:prstDash val="solid"/>
          </a:ln>
        </p:spPr>
        <p:txBody>
          <a:bodyPr/>
          <a:lstStyle/>
          <a:p>
            <a:endParaRPr/>
          </a:p>
        </p:txBody>
      </p:sp>
      <p:sp>
        <p:nvSpPr>
          <p:cNvPr id="35" name="footer-text">
            <a:extLst>
              <a:ext uri="{FF2B5EF4-FFF2-40B4-BE49-F238E27FC236}">
                <a16:creationId xmlns:a16="http://schemas.microsoft.com/office/drawing/2014/main" id="{64D8AE0A-4288-4E0D-89F8-839AD7458545}"/>
              </a:ext>
            </a:extLst>
          </p:cNvPr>
          <p:cNvSpPr>
            <a:spLocks noGrp="1"/>
          </p:cNvSpPr>
          <p:nvPr/>
        </p:nvSpPr>
        <p:spPr>
          <a:xfrm>
            <a:off x="781050" y="6086475"/>
            <a:ext cx="106299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Design principle: managed services first • explicit ownership • graceful degradation • measurable recovery</a:t>
            </a:r>
          </a:p>
        </p:txBody>
      </p:sp>
    </p:spTree>
    <p:extLst>
      <p:ext uri="{BB962C8B-B14F-4D97-AF65-F5344CB8AC3E}">
        <p14:creationId xmlns:p14="http://schemas.microsoft.com/office/powerpoint/2010/main" val="1617479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eyebrow">
            <a:extLst>
              <a:ext uri="{FF2B5EF4-FFF2-40B4-BE49-F238E27FC236}">
                <a16:creationId xmlns:a16="http://schemas.microsoft.com/office/drawing/2014/main" id="{68DE59CD-86A7-48D4-8998-C9DA25CD57E7}"/>
              </a:ext>
            </a:extLst>
          </p:cNvPr>
          <p:cNvSpPr>
            <a:spLocks noGrp="1"/>
          </p:cNvSpPr>
          <p:nvPr/>
        </p:nvSpPr>
        <p:spPr>
          <a:xfrm>
            <a:off x="552450" y="166687"/>
            <a:ext cx="3429000" cy="190500"/>
          </a:xfrm>
          <a:prstGeom prst="rect">
            <a:avLst/>
          </a:prstGeom>
          <a:noFill/>
          <a:ln w="0">
            <a:noFill/>
            <a:prstDash val="solid"/>
          </a:ln>
        </p:spPr>
        <p:txBody>
          <a:bodyPr/>
          <a:lstStyle/>
          <a:p>
            <a:pPr>
              <a:buNone/>
              <a:defRPr sz="975" b="1">
                <a:solidFill>
                  <a:srgbClr val="198E84"/>
                </a:solidFill>
              </a:defRPr>
            </a:pPr>
            <a:r>
              <a:rPr sz="975" b="1" dirty="0">
                <a:solidFill>
                  <a:srgbClr val="198E84"/>
                </a:solidFill>
              </a:rPr>
              <a:t>CUSTOM AUTHORIZATION — DEALER / LEGACY PATH</a:t>
            </a:r>
          </a:p>
        </p:txBody>
      </p:sp>
      <p:sp>
        <p:nvSpPr>
          <p:cNvPr id="2" name="title">
            <a:extLst>
              <a:ext uri="{FF2B5EF4-FFF2-40B4-BE49-F238E27FC236}">
                <a16:creationId xmlns:a16="http://schemas.microsoft.com/office/drawing/2014/main" id="{13C69B01-7C23-4A55-BF00-BCBF672E2611}"/>
              </a:ext>
            </a:extLst>
          </p:cNvPr>
          <p:cNvSpPr>
            <a:spLocks noGrp="1"/>
          </p:cNvSpPr>
          <p:nvPr/>
        </p:nvSpPr>
        <p:spPr>
          <a:xfrm>
            <a:off x="438150" y="357187"/>
            <a:ext cx="11087100" cy="457200"/>
          </a:xfrm>
          <a:prstGeom prst="rect">
            <a:avLst/>
          </a:prstGeom>
          <a:noFill/>
          <a:ln w="0">
            <a:noFill/>
            <a:prstDash val="solid"/>
          </a:ln>
        </p:spPr>
        <p:txBody>
          <a:bodyPr/>
          <a:lstStyle/>
          <a:p>
            <a:pPr>
              <a:buNone/>
              <a:defRPr sz="2550" b="1">
                <a:solidFill>
                  <a:srgbClr val="111827"/>
                </a:solidFill>
              </a:defRPr>
            </a:pPr>
            <a:r>
              <a:rPr sz="2550" b="1">
                <a:solidFill>
                  <a:srgbClr val="111827"/>
                </a:solidFill>
              </a:rPr>
              <a:t>Lambda authorizer handles dealer-aware and legacy-token access decisions</a:t>
            </a:r>
          </a:p>
        </p:txBody>
      </p:sp>
      <p:sp>
        <p:nvSpPr>
          <p:cNvPr id="3" name="subtitle">
            <a:extLst>
              <a:ext uri="{FF2B5EF4-FFF2-40B4-BE49-F238E27FC236}">
                <a16:creationId xmlns:a16="http://schemas.microsoft.com/office/drawing/2014/main" id="{0F5E681D-8FE9-4667-A42D-0772A0F67CFF}"/>
              </a:ext>
            </a:extLst>
          </p:cNvPr>
          <p:cNvSpPr>
            <a:spLocks noGrp="1"/>
          </p:cNvSpPr>
          <p:nvPr/>
        </p:nvSpPr>
        <p:spPr>
          <a:xfrm>
            <a:off x="552450" y="1019175"/>
            <a:ext cx="11087100" cy="342900"/>
          </a:xfrm>
          <a:prstGeom prst="rect">
            <a:avLst/>
          </a:prstGeom>
          <a:noFill/>
          <a:ln w="0">
            <a:noFill/>
            <a:prstDash val="solid"/>
          </a:ln>
        </p:spPr>
        <p:txBody>
          <a:bodyPr/>
          <a:lstStyle/>
          <a:p>
            <a:pPr>
              <a:buNone/>
              <a:defRPr sz="1200">
                <a:solidFill>
                  <a:srgbClr val="5B6472"/>
                </a:solidFill>
              </a:defRPr>
            </a:pPr>
            <a:r>
              <a:rPr sz="1200">
                <a:solidFill>
                  <a:srgbClr val="5B6472"/>
                </a:solidFill>
              </a:rPr>
              <a:t>Ordinary customer APIs use native Cognito/JWT authorization; this path is reserved for tenant, legacy-token, federation, or entitlement rules.</a:t>
            </a:r>
          </a:p>
        </p:txBody>
      </p:sp>
      <p:sp>
        <p:nvSpPr>
          <p:cNvPr id="4" name="arrow-client-idp">
            <a:extLst>
              <a:ext uri="{FF2B5EF4-FFF2-40B4-BE49-F238E27FC236}">
                <a16:creationId xmlns:a16="http://schemas.microsoft.com/office/drawing/2014/main" id="{63953839-2D6D-488C-8A18-CB150D914A41}"/>
              </a:ext>
            </a:extLst>
          </p:cNvPr>
          <p:cNvSpPr>
            <a:spLocks noGrp="1"/>
          </p:cNvSpPr>
          <p:nvPr/>
        </p:nvSpPr>
        <p:spPr>
          <a:xfrm>
            <a:off x="2247900" y="1724025"/>
            <a:ext cx="3114675" cy="123825"/>
          </a:xfrm>
          <a:prstGeom prst="rightArrow">
            <a:avLst/>
          </a:prstGeom>
          <a:solidFill>
            <a:srgbClr val="657080"/>
          </a:solidFill>
          <a:ln w="0">
            <a:solidFill>
              <a:srgbClr val="657080"/>
            </a:solidFill>
            <a:prstDash val="solid"/>
          </a:ln>
        </p:spPr>
        <p:txBody>
          <a:bodyPr/>
          <a:lstStyle/>
          <a:p>
            <a:endParaRPr/>
          </a:p>
        </p:txBody>
      </p:sp>
      <p:sp>
        <p:nvSpPr>
          <p:cNvPr id="5" name="arrow-client-api">
            <a:extLst>
              <a:ext uri="{FF2B5EF4-FFF2-40B4-BE49-F238E27FC236}">
                <a16:creationId xmlns:a16="http://schemas.microsoft.com/office/drawing/2014/main" id="{4BB500E4-1507-4AB4-BA83-66268D0EBBAA}"/>
              </a:ext>
            </a:extLst>
          </p:cNvPr>
          <p:cNvSpPr>
            <a:spLocks noGrp="1"/>
          </p:cNvSpPr>
          <p:nvPr/>
        </p:nvSpPr>
        <p:spPr>
          <a:xfrm>
            <a:off x="2219325" y="3352800"/>
            <a:ext cx="1285875" cy="123825"/>
          </a:xfrm>
          <a:prstGeom prst="rightArrow">
            <a:avLst/>
          </a:prstGeom>
          <a:solidFill>
            <a:srgbClr val="657080"/>
          </a:solidFill>
          <a:ln w="0">
            <a:solidFill>
              <a:srgbClr val="657080"/>
            </a:solidFill>
            <a:prstDash val="solid"/>
          </a:ln>
        </p:spPr>
        <p:txBody>
          <a:bodyPr/>
          <a:lstStyle/>
          <a:p>
            <a:endParaRPr/>
          </a:p>
        </p:txBody>
      </p:sp>
      <p:sp>
        <p:nvSpPr>
          <p:cNvPr id="6" name="arrow-api-authorizer">
            <a:extLst>
              <a:ext uri="{FF2B5EF4-FFF2-40B4-BE49-F238E27FC236}">
                <a16:creationId xmlns:a16="http://schemas.microsoft.com/office/drawing/2014/main" id="{6376EFC4-7F94-4E61-B0EC-54D0D8C1F122}"/>
              </a:ext>
            </a:extLst>
          </p:cNvPr>
          <p:cNvSpPr>
            <a:spLocks noGrp="1"/>
          </p:cNvSpPr>
          <p:nvPr/>
        </p:nvSpPr>
        <p:spPr>
          <a:xfrm>
            <a:off x="5619750" y="3352800"/>
            <a:ext cx="1314450" cy="123825"/>
          </a:xfrm>
          <a:prstGeom prst="rightArrow">
            <a:avLst/>
          </a:prstGeom>
          <a:solidFill>
            <a:srgbClr val="657080"/>
          </a:solidFill>
          <a:ln w="0">
            <a:solidFill>
              <a:srgbClr val="657080"/>
            </a:solidFill>
            <a:prstDash val="solid"/>
          </a:ln>
        </p:spPr>
        <p:txBody>
          <a:bodyPr/>
          <a:lstStyle/>
          <a:p>
            <a:endParaRPr/>
          </a:p>
        </p:txBody>
      </p:sp>
      <p:sp>
        <p:nvSpPr>
          <p:cNvPr id="7" name="arrow-authorizer-idp">
            <a:extLst>
              <a:ext uri="{FF2B5EF4-FFF2-40B4-BE49-F238E27FC236}">
                <a16:creationId xmlns:a16="http://schemas.microsoft.com/office/drawing/2014/main" id="{DABC0CE6-26DE-4058-A664-BB65BCF35B48}"/>
              </a:ext>
            </a:extLst>
          </p:cNvPr>
          <p:cNvSpPr>
            <a:spLocks noGrp="1"/>
          </p:cNvSpPr>
          <p:nvPr/>
        </p:nvSpPr>
        <p:spPr>
          <a:xfrm rot="16200000">
            <a:off x="8162925" y="2419350"/>
            <a:ext cx="857250" cy="123825"/>
          </a:xfrm>
          <a:prstGeom prst="rightArrow">
            <a:avLst/>
          </a:prstGeom>
          <a:solidFill>
            <a:srgbClr val="657080"/>
          </a:solidFill>
          <a:ln w="0">
            <a:solidFill>
              <a:srgbClr val="657080"/>
            </a:solidFill>
            <a:prstDash val="solid"/>
          </a:ln>
        </p:spPr>
        <p:txBody>
          <a:bodyPr/>
          <a:lstStyle/>
          <a:p>
            <a:endParaRPr/>
          </a:p>
        </p:txBody>
      </p:sp>
      <p:sp>
        <p:nvSpPr>
          <p:cNvPr id="8" name="arrow-authorizer-api">
            <a:extLst>
              <a:ext uri="{FF2B5EF4-FFF2-40B4-BE49-F238E27FC236}">
                <a16:creationId xmlns:a16="http://schemas.microsoft.com/office/drawing/2014/main" id="{B9CEA59E-0309-480F-9EED-E6A62863967E}"/>
              </a:ext>
            </a:extLst>
          </p:cNvPr>
          <p:cNvSpPr>
            <a:spLocks noGrp="1"/>
          </p:cNvSpPr>
          <p:nvPr/>
        </p:nvSpPr>
        <p:spPr>
          <a:xfrm rot="10800000">
            <a:off x="5619750" y="3781425"/>
            <a:ext cx="1314450" cy="123825"/>
          </a:xfrm>
          <a:prstGeom prst="rightArrow">
            <a:avLst/>
          </a:prstGeom>
          <a:solidFill>
            <a:srgbClr val="6D4FB3"/>
          </a:solidFill>
          <a:ln w="0">
            <a:solidFill>
              <a:srgbClr val="6D4FB3"/>
            </a:solidFill>
            <a:prstDash val="solid"/>
          </a:ln>
        </p:spPr>
        <p:txBody>
          <a:bodyPr/>
          <a:lstStyle/>
          <a:p>
            <a:endParaRPr/>
          </a:p>
        </p:txBody>
      </p:sp>
      <p:sp>
        <p:nvSpPr>
          <p:cNvPr id="9" name="arrow-api-resource">
            <a:extLst>
              <a:ext uri="{FF2B5EF4-FFF2-40B4-BE49-F238E27FC236}">
                <a16:creationId xmlns:a16="http://schemas.microsoft.com/office/drawing/2014/main" id="{A73989F7-80BD-41C3-A8AC-0162C9E57A57}"/>
              </a:ext>
            </a:extLst>
          </p:cNvPr>
          <p:cNvSpPr>
            <a:spLocks noGrp="1"/>
          </p:cNvSpPr>
          <p:nvPr/>
        </p:nvSpPr>
        <p:spPr>
          <a:xfrm rot="5400000">
            <a:off x="4476750" y="4143375"/>
            <a:ext cx="952500" cy="123825"/>
          </a:xfrm>
          <a:prstGeom prst="rightArrow">
            <a:avLst/>
          </a:prstGeom>
          <a:solidFill>
            <a:srgbClr val="657080"/>
          </a:solidFill>
          <a:ln w="0">
            <a:solidFill>
              <a:srgbClr val="657080"/>
            </a:solidFill>
            <a:prstDash val="solid"/>
          </a:ln>
        </p:spPr>
        <p:txBody>
          <a:bodyPr/>
          <a:lstStyle/>
          <a:p>
            <a:endParaRPr/>
          </a:p>
        </p:txBody>
      </p:sp>
      <p:sp>
        <p:nvSpPr>
          <p:cNvPr id="10" name="client">
            <a:extLst>
              <a:ext uri="{FF2B5EF4-FFF2-40B4-BE49-F238E27FC236}">
                <a16:creationId xmlns:a16="http://schemas.microsoft.com/office/drawing/2014/main" id="{A7B13D5B-6F72-4F14-9DF4-7056515403FE}"/>
              </a:ext>
            </a:extLst>
          </p:cNvPr>
          <p:cNvSpPr>
            <a:spLocks noGrp="1"/>
          </p:cNvSpPr>
          <p:nvPr/>
        </p:nvSpPr>
        <p:spPr>
          <a:xfrm>
            <a:off x="552450" y="2924175"/>
            <a:ext cx="2286000" cy="1200150"/>
          </a:xfrm>
          <a:prstGeom prst="roundRect">
            <a:avLst>
              <a:gd name="adj" fmla="val 10714"/>
            </a:avLst>
          </a:prstGeom>
          <a:solidFill>
            <a:srgbClr val="EAF3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71" name="Picture 64"/>
          <p:cNvPicPr>
            <a:picLocks noChangeAspect="1"/>
          </p:cNvPicPr>
          <p:nvPr/>
        </p:nvPicPr>
        <p:blipFill>
          <a:blip r:embed="rId3"/>
          <a:stretch/>
        </p:blipFill>
        <p:spPr>
          <a:xfrm>
            <a:off x="742950" y="3133725"/>
            <a:ext cx="476250" cy="476250"/>
          </a:xfrm>
          <a:prstGeom prst="rect">
            <a:avLst/>
          </a:prstGeom>
        </p:spPr>
      </p:pic>
      <p:sp>
        <p:nvSpPr>
          <p:cNvPr id="12" name="client-title">
            <a:extLst>
              <a:ext uri="{FF2B5EF4-FFF2-40B4-BE49-F238E27FC236}">
                <a16:creationId xmlns:a16="http://schemas.microsoft.com/office/drawing/2014/main" id="{AF0CD732-3AD6-4C12-9E52-3712426D7E87}"/>
              </a:ext>
            </a:extLst>
          </p:cNvPr>
          <p:cNvSpPr>
            <a:spLocks noGrp="1"/>
          </p:cNvSpPr>
          <p:nvPr/>
        </p:nvSpPr>
        <p:spPr>
          <a:xfrm>
            <a:off x="1322464" y="2986088"/>
            <a:ext cx="1276350" cy="409575"/>
          </a:xfrm>
          <a:prstGeom prst="rect">
            <a:avLst/>
          </a:prstGeom>
          <a:noFill/>
          <a:ln w="0">
            <a:noFill/>
            <a:prstDash val="solid"/>
          </a:ln>
        </p:spPr>
        <p:txBody>
          <a:bodyPr/>
          <a:lstStyle/>
          <a:p>
            <a:pPr>
              <a:buNone/>
              <a:defRPr sz="1275" b="1">
                <a:solidFill>
                  <a:srgbClr val="172033"/>
                </a:solidFill>
              </a:defRPr>
            </a:pPr>
            <a:r>
              <a:rPr sz="1275" b="1" dirty="0">
                <a:solidFill>
                  <a:srgbClr val="172033"/>
                </a:solidFill>
              </a:rPr>
              <a:t>Dealer or legacy-token user</a:t>
            </a:r>
          </a:p>
        </p:txBody>
      </p:sp>
      <p:sp>
        <p:nvSpPr>
          <p:cNvPr id="13" name="client-detail">
            <a:extLst>
              <a:ext uri="{FF2B5EF4-FFF2-40B4-BE49-F238E27FC236}">
                <a16:creationId xmlns:a16="http://schemas.microsoft.com/office/drawing/2014/main" id="{651F229E-DEDD-4676-8358-2ED8D6BE46CE}"/>
              </a:ext>
            </a:extLst>
          </p:cNvPr>
          <p:cNvSpPr>
            <a:spLocks noGrp="1"/>
          </p:cNvSpPr>
          <p:nvPr/>
        </p:nvSpPr>
        <p:spPr>
          <a:xfrm>
            <a:off x="1371600" y="3562350"/>
            <a:ext cx="1276350" cy="371475"/>
          </a:xfrm>
          <a:prstGeom prst="rect">
            <a:avLst/>
          </a:prstGeom>
          <a:noFill/>
          <a:ln w="0">
            <a:noFill/>
            <a:prstDash val="solid"/>
          </a:ln>
        </p:spPr>
        <p:txBody>
          <a:bodyPr/>
          <a:lstStyle/>
          <a:p>
            <a:pPr>
              <a:buNone/>
              <a:defRPr sz="825">
                <a:solidFill>
                  <a:srgbClr val="4B5563"/>
                </a:solidFill>
              </a:defRPr>
            </a:pPr>
            <a:r>
              <a:rPr sz="825" dirty="0">
                <a:solidFill>
                  <a:srgbClr val="4B5563"/>
                </a:solidFill>
              </a:rPr>
              <a:t>Dealer portal / partner client</a:t>
            </a:r>
          </a:p>
          <a:p>
            <a:pPr>
              <a:buNone/>
              <a:defRPr sz="825">
                <a:solidFill>
                  <a:srgbClr val="4B5563"/>
                </a:solidFill>
              </a:defRPr>
            </a:pPr>
            <a:r>
              <a:rPr sz="825" dirty="0">
                <a:solidFill>
                  <a:srgbClr val="4B5563"/>
                </a:solidFill>
              </a:rPr>
              <a:t>Federated or legacy identity</a:t>
            </a:r>
          </a:p>
        </p:txBody>
      </p:sp>
      <p:sp>
        <p:nvSpPr>
          <p:cNvPr id="14" name="idp">
            <a:extLst>
              <a:ext uri="{FF2B5EF4-FFF2-40B4-BE49-F238E27FC236}">
                <a16:creationId xmlns:a16="http://schemas.microsoft.com/office/drawing/2014/main" id="{5EE962F1-6F2A-436E-9D3E-E317EBADC4C9}"/>
              </a:ext>
            </a:extLst>
          </p:cNvPr>
          <p:cNvSpPr>
            <a:spLocks noGrp="1"/>
          </p:cNvSpPr>
          <p:nvPr/>
        </p:nvSpPr>
        <p:spPr>
          <a:xfrm>
            <a:off x="5334000" y="1447800"/>
            <a:ext cx="2952750" cy="1066800"/>
          </a:xfrm>
          <a:prstGeom prst="roundRect">
            <a:avLst>
              <a:gd name="adj" fmla="val 10714"/>
            </a:avLst>
          </a:prstGeom>
          <a:solidFill>
            <a:srgbClr val="F2EC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pic>
        <p:nvPicPr>
          <p:cNvPr id="75" name="Picture 68"/>
          <p:cNvPicPr>
            <a:picLocks noChangeAspect="1"/>
          </p:cNvPicPr>
          <p:nvPr/>
        </p:nvPicPr>
        <p:blipFill>
          <a:blip r:embed="rId3"/>
          <a:stretch/>
        </p:blipFill>
        <p:spPr>
          <a:xfrm>
            <a:off x="5524500" y="1657350"/>
            <a:ext cx="476250" cy="476250"/>
          </a:xfrm>
          <a:prstGeom prst="rect">
            <a:avLst/>
          </a:prstGeom>
        </p:spPr>
      </p:pic>
      <p:sp>
        <p:nvSpPr>
          <p:cNvPr id="16" name="idp-title">
            <a:extLst>
              <a:ext uri="{FF2B5EF4-FFF2-40B4-BE49-F238E27FC236}">
                <a16:creationId xmlns:a16="http://schemas.microsoft.com/office/drawing/2014/main" id="{3493352A-3B31-4F3F-BF17-69B0E67F0A8B}"/>
              </a:ext>
            </a:extLst>
          </p:cNvPr>
          <p:cNvSpPr>
            <a:spLocks noGrp="1"/>
          </p:cNvSpPr>
          <p:nvPr/>
        </p:nvSpPr>
        <p:spPr>
          <a:xfrm>
            <a:off x="6153150" y="1657350"/>
            <a:ext cx="1943100" cy="409575"/>
          </a:xfrm>
          <a:prstGeom prst="rect">
            <a:avLst/>
          </a:prstGeom>
          <a:noFill/>
          <a:ln w="0">
            <a:noFill/>
            <a:prstDash val="solid"/>
          </a:ln>
        </p:spPr>
        <p:txBody>
          <a:bodyPr/>
          <a:lstStyle/>
          <a:p>
            <a:pPr>
              <a:buNone/>
              <a:defRPr sz="1275" b="1">
                <a:solidFill>
                  <a:srgbClr val="172033"/>
                </a:solidFill>
              </a:defRPr>
            </a:pPr>
            <a:r>
              <a:rPr sz="1275" b="1">
                <a:solidFill>
                  <a:srgbClr val="172033"/>
                </a:solidFill>
              </a:rPr>
              <a:t>Identity provider</a:t>
            </a:r>
          </a:p>
        </p:txBody>
      </p:sp>
      <p:sp>
        <p:nvSpPr>
          <p:cNvPr id="17" name="idp-detail">
            <a:extLst>
              <a:ext uri="{FF2B5EF4-FFF2-40B4-BE49-F238E27FC236}">
                <a16:creationId xmlns:a16="http://schemas.microsoft.com/office/drawing/2014/main" id="{417D005E-5CF1-474D-B443-17392748C5A6}"/>
              </a:ext>
            </a:extLst>
          </p:cNvPr>
          <p:cNvSpPr>
            <a:spLocks noGrp="1"/>
          </p:cNvSpPr>
          <p:nvPr/>
        </p:nvSpPr>
        <p:spPr>
          <a:xfrm>
            <a:off x="6153150" y="2085975"/>
            <a:ext cx="1943100" cy="371475"/>
          </a:xfrm>
          <a:prstGeom prst="rect">
            <a:avLst/>
          </a:prstGeom>
          <a:noFill/>
          <a:ln w="0">
            <a:noFill/>
            <a:prstDash val="solid"/>
          </a:ln>
        </p:spPr>
        <p:txBody>
          <a:bodyPr/>
          <a:lstStyle/>
          <a:p>
            <a:pPr>
              <a:buNone/>
              <a:defRPr sz="825">
                <a:solidFill>
                  <a:srgbClr val="4B5563"/>
                </a:solidFill>
              </a:defRPr>
            </a:pPr>
            <a:r>
              <a:rPr sz="825">
                <a:solidFill>
                  <a:srgbClr val="4B5563"/>
                </a:solidFill>
              </a:rPr>
              <a:t>Cognito / federated IdP</a:t>
            </a:r>
          </a:p>
          <a:p>
            <a:pPr>
              <a:buNone/>
              <a:defRPr sz="825">
                <a:solidFill>
                  <a:srgbClr val="4B5563"/>
                </a:solidFill>
              </a:defRPr>
            </a:pPr>
            <a:r>
              <a:rPr sz="825">
                <a:solidFill>
                  <a:srgbClr val="4B5563"/>
                </a:solidFill>
              </a:rPr>
              <a:t>Issues a signed access token</a:t>
            </a:r>
          </a:p>
        </p:txBody>
      </p:sp>
      <p:sp>
        <p:nvSpPr>
          <p:cNvPr id="18" name="api">
            <a:extLst>
              <a:ext uri="{FF2B5EF4-FFF2-40B4-BE49-F238E27FC236}">
                <a16:creationId xmlns:a16="http://schemas.microsoft.com/office/drawing/2014/main" id="{BBF37816-2C2E-4575-B2C6-299ABBA9BF1D}"/>
              </a:ext>
            </a:extLst>
          </p:cNvPr>
          <p:cNvSpPr>
            <a:spLocks noGrp="1"/>
          </p:cNvSpPr>
          <p:nvPr/>
        </p:nvSpPr>
        <p:spPr>
          <a:xfrm>
            <a:off x="3505200" y="2924175"/>
            <a:ext cx="2114550" cy="1066800"/>
          </a:xfrm>
          <a:prstGeom prst="roundRect">
            <a:avLst>
              <a:gd name="adj" fmla="val 10714"/>
            </a:avLst>
          </a:prstGeom>
          <a:solidFill>
            <a:srgbClr val="FFF3E5"/>
          </a:solidFill>
          <a:ln w="1714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pic>
        <p:nvPicPr>
          <p:cNvPr id="79" name="Picture 72"/>
          <p:cNvPicPr>
            <a:picLocks noChangeAspect="1"/>
          </p:cNvPicPr>
          <p:nvPr/>
        </p:nvPicPr>
        <p:blipFill>
          <a:blip r:embed="rId4"/>
          <a:stretch/>
        </p:blipFill>
        <p:spPr>
          <a:xfrm>
            <a:off x="3695700" y="3133725"/>
            <a:ext cx="476250" cy="476250"/>
          </a:xfrm>
          <a:prstGeom prst="rect">
            <a:avLst/>
          </a:prstGeom>
        </p:spPr>
      </p:pic>
      <p:sp>
        <p:nvSpPr>
          <p:cNvPr id="20" name="api-title">
            <a:extLst>
              <a:ext uri="{FF2B5EF4-FFF2-40B4-BE49-F238E27FC236}">
                <a16:creationId xmlns:a16="http://schemas.microsoft.com/office/drawing/2014/main" id="{22647910-B1B9-4427-9D6B-909AEC5D8ECE}"/>
              </a:ext>
            </a:extLst>
          </p:cNvPr>
          <p:cNvSpPr>
            <a:spLocks noGrp="1"/>
          </p:cNvSpPr>
          <p:nvPr/>
        </p:nvSpPr>
        <p:spPr>
          <a:xfrm>
            <a:off x="4324350" y="3133725"/>
            <a:ext cx="1104900" cy="409575"/>
          </a:xfrm>
          <a:prstGeom prst="rect">
            <a:avLst/>
          </a:prstGeom>
          <a:noFill/>
          <a:ln w="0">
            <a:noFill/>
            <a:prstDash val="solid"/>
          </a:ln>
        </p:spPr>
        <p:txBody>
          <a:bodyPr/>
          <a:lstStyle/>
          <a:p>
            <a:pPr>
              <a:buNone/>
              <a:defRPr sz="1275" b="1">
                <a:solidFill>
                  <a:srgbClr val="172033"/>
                </a:solidFill>
              </a:defRPr>
            </a:pPr>
            <a:r>
              <a:rPr sz="1275" b="1">
                <a:solidFill>
                  <a:srgbClr val="172033"/>
                </a:solidFill>
              </a:rPr>
              <a:t>Amazon API Gateway</a:t>
            </a:r>
          </a:p>
        </p:txBody>
      </p:sp>
      <p:sp>
        <p:nvSpPr>
          <p:cNvPr id="21" name="api-detail">
            <a:extLst>
              <a:ext uri="{FF2B5EF4-FFF2-40B4-BE49-F238E27FC236}">
                <a16:creationId xmlns:a16="http://schemas.microsoft.com/office/drawing/2014/main" id="{0ECC773D-D8E5-4C0C-B140-C6E54DD49089}"/>
              </a:ext>
            </a:extLst>
          </p:cNvPr>
          <p:cNvSpPr>
            <a:spLocks noGrp="1"/>
          </p:cNvSpPr>
          <p:nvPr/>
        </p:nvSpPr>
        <p:spPr>
          <a:xfrm>
            <a:off x="4324350" y="3562350"/>
            <a:ext cx="1104900" cy="371475"/>
          </a:xfrm>
          <a:prstGeom prst="rect">
            <a:avLst/>
          </a:prstGeom>
          <a:noFill/>
          <a:ln w="0">
            <a:noFill/>
            <a:prstDash val="solid"/>
          </a:ln>
        </p:spPr>
        <p:txBody>
          <a:bodyPr/>
          <a:lstStyle/>
          <a:p>
            <a:pPr>
              <a:buNone/>
              <a:defRPr sz="825">
                <a:solidFill>
                  <a:srgbClr val="4B5563"/>
                </a:solidFill>
              </a:defRPr>
            </a:pPr>
            <a:r>
              <a:rPr sz="825">
                <a:solidFill>
                  <a:srgbClr val="4B5563"/>
                </a:solidFill>
              </a:rPr>
              <a:t>REST API entry point</a:t>
            </a:r>
          </a:p>
          <a:p>
            <a:pPr>
              <a:buNone/>
              <a:defRPr sz="825">
                <a:solidFill>
                  <a:srgbClr val="4B5563"/>
                </a:solidFill>
              </a:defRPr>
            </a:pPr>
            <a:r>
              <a:rPr sz="825">
                <a:solidFill>
                  <a:srgbClr val="4B5563"/>
                </a:solidFill>
              </a:rPr>
              <a:t>Invokes the authorizer</a:t>
            </a:r>
          </a:p>
        </p:txBody>
      </p:sp>
      <p:sp>
        <p:nvSpPr>
          <p:cNvPr id="22" name="authorizer">
            <a:extLst>
              <a:ext uri="{FF2B5EF4-FFF2-40B4-BE49-F238E27FC236}">
                <a16:creationId xmlns:a16="http://schemas.microsoft.com/office/drawing/2014/main" id="{0A083226-DEDB-443B-A57F-ECA24DD620F2}"/>
              </a:ext>
            </a:extLst>
          </p:cNvPr>
          <p:cNvSpPr>
            <a:spLocks noGrp="1"/>
          </p:cNvSpPr>
          <p:nvPr/>
        </p:nvSpPr>
        <p:spPr>
          <a:xfrm>
            <a:off x="6934200" y="2924175"/>
            <a:ext cx="2952750" cy="1066800"/>
          </a:xfrm>
          <a:prstGeom prst="roundRect">
            <a:avLst>
              <a:gd name="adj" fmla="val 10714"/>
            </a:avLst>
          </a:prstGeom>
          <a:solidFill>
            <a:srgbClr val="EAF8F3"/>
          </a:solidFill>
          <a:ln w="17145">
            <a:solidFill>
              <a:srgbClr val="147A58"/>
            </a:solidFill>
            <a:prstDash val="solid"/>
          </a:ln>
        </p:spPr>
        <p:style>
          <a:lnRef idx="0">
            <a:scrgbClr r="0" g="0" b="0"/>
          </a:lnRef>
          <a:fillRef idx="0">
            <a:scrgbClr r="0" g="0" b="0"/>
          </a:fillRef>
          <a:effectRef idx="4">
            <a:scrgbClr r="0" g="0" b="0"/>
          </a:effectRef>
          <a:fontRef idx="major"/>
        </p:style>
        <p:txBody>
          <a:bodyPr/>
          <a:lstStyle/>
          <a:p>
            <a:endParaRPr/>
          </a:p>
        </p:txBody>
      </p:sp>
      <p:pic>
        <p:nvPicPr>
          <p:cNvPr id="83" name="Picture 76"/>
          <p:cNvPicPr>
            <a:picLocks noChangeAspect="1"/>
          </p:cNvPicPr>
          <p:nvPr/>
        </p:nvPicPr>
        <p:blipFill>
          <a:blip r:embed="rId5"/>
          <a:stretch/>
        </p:blipFill>
        <p:spPr>
          <a:xfrm>
            <a:off x="7124700" y="3133725"/>
            <a:ext cx="476250" cy="476250"/>
          </a:xfrm>
          <a:prstGeom prst="rect">
            <a:avLst/>
          </a:prstGeom>
        </p:spPr>
      </p:pic>
      <p:sp>
        <p:nvSpPr>
          <p:cNvPr id="24" name="authorizer-title">
            <a:extLst>
              <a:ext uri="{FF2B5EF4-FFF2-40B4-BE49-F238E27FC236}">
                <a16:creationId xmlns:a16="http://schemas.microsoft.com/office/drawing/2014/main" id="{F6DB6EC7-CD5B-4B07-9DEB-A620DE22698A}"/>
              </a:ext>
            </a:extLst>
          </p:cNvPr>
          <p:cNvSpPr>
            <a:spLocks noGrp="1"/>
          </p:cNvSpPr>
          <p:nvPr/>
        </p:nvSpPr>
        <p:spPr>
          <a:xfrm>
            <a:off x="7753350" y="3133725"/>
            <a:ext cx="1943100" cy="409575"/>
          </a:xfrm>
          <a:prstGeom prst="rect">
            <a:avLst/>
          </a:prstGeom>
          <a:noFill/>
          <a:ln w="0">
            <a:noFill/>
            <a:prstDash val="solid"/>
          </a:ln>
        </p:spPr>
        <p:txBody>
          <a:bodyPr/>
          <a:lstStyle/>
          <a:p>
            <a:pPr>
              <a:buNone/>
              <a:defRPr sz="1275" b="1">
                <a:solidFill>
                  <a:srgbClr val="172033"/>
                </a:solidFill>
              </a:defRPr>
            </a:pPr>
            <a:r>
              <a:rPr sz="1275" b="1">
                <a:solidFill>
                  <a:srgbClr val="172033"/>
                </a:solidFill>
              </a:rPr>
              <a:t>Lambda authorizer</a:t>
            </a:r>
          </a:p>
        </p:txBody>
      </p:sp>
      <p:sp>
        <p:nvSpPr>
          <p:cNvPr id="25" name="authorizer-detail">
            <a:extLst>
              <a:ext uri="{FF2B5EF4-FFF2-40B4-BE49-F238E27FC236}">
                <a16:creationId xmlns:a16="http://schemas.microsoft.com/office/drawing/2014/main" id="{1399BDC3-286D-4364-A9FC-6F25A362C1E6}"/>
              </a:ext>
            </a:extLst>
          </p:cNvPr>
          <p:cNvSpPr>
            <a:spLocks noGrp="1"/>
          </p:cNvSpPr>
          <p:nvPr/>
        </p:nvSpPr>
        <p:spPr>
          <a:xfrm>
            <a:off x="7753350" y="3562350"/>
            <a:ext cx="1943100" cy="371475"/>
          </a:xfrm>
          <a:prstGeom prst="rect">
            <a:avLst/>
          </a:prstGeom>
          <a:noFill/>
          <a:ln w="0">
            <a:noFill/>
            <a:prstDash val="solid"/>
          </a:ln>
        </p:spPr>
        <p:txBody>
          <a:bodyPr/>
          <a:lstStyle/>
          <a:p>
            <a:pPr>
              <a:buNone/>
              <a:defRPr sz="825">
                <a:solidFill>
                  <a:srgbClr val="4B5563"/>
                </a:solidFill>
              </a:defRPr>
            </a:pPr>
            <a:r>
              <a:rPr sz="825">
                <a:solidFill>
                  <a:srgbClr val="4B5563"/>
                </a:solidFill>
              </a:rPr>
              <a:t>Token, tenant, and</a:t>
            </a:r>
          </a:p>
          <a:p>
            <a:pPr>
              <a:buNone/>
              <a:defRPr sz="825">
                <a:solidFill>
                  <a:srgbClr val="4B5563"/>
                </a:solidFill>
              </a:defRPr>
            </a:pPr>
            <a:r>
              <a:rPr sz="825">
                <a:solidFill>
                  <a:srgbClr val="4B5563"/>
                </a:solidFill>
              </a:rPr>
              <a:t>entitlement checks</a:t>
            </a:r>
          </a:p>
        </p:txBody>
      </p:sp>
      <p:sp>
        <p:nvSpPr>
          <p:cNvPr id="26" name="resource">
            <a:extLst>
              <a:ext uri="{FF2B5EF4-FFF2-40B4-BE49-F238E27FC236}">
                <a16:creationId xmlns:a16="http://schemas.microsoft.com/office/drawing/2014/main" id="{E9CC1BB5-1AE0-48EB-BAFE-A30F58800767}"/>
              </a:ext>
            </a:extLst>
          </p:cNvPr>
          <p:cNvSpPr>
            <a:spLocks noGrp="1"/>
          </p:cNvSpPr>
          <p:nvPr/>
        </p:nvSpPr>
        <p:spPr>
          <a:xfrm>
            <a:off x="3238500" y="4829175"/>
            <a:ext cx="2857500" cy="1009650"/>
          </a:xfrm>
          <a:prstGeom prst="roundRect">
            <a:avLst>
              <a:gd name="adj" fmla="val 11321"/>
            </a:avLst>
          </a:prstGeom>
          <a:solidFill>
            <a:srgbClr val="EAF3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87" name="Picture 80"/>
          <p:cNvPicPr>
            <a:picLocks noChangeAspect="1"/>
          </p:cNvPicPr>
          <p:nvPr/>
        </p:nvPicPr>
        <p:blipFill>
          <a:blip r:embed="rId5"/>
          <a:stretch/>
        </p:blipFill>
        <p:spPr>
          <a:xfrm>
            <a:off x="3429000" y="5038725"/>
            <a:ext cx="476250" cy="476250"/>
          </a:xfrm>
          <a:prstGeom prst="rect">
            <a:avLst/>
          </a:prstGeom>
        </p:spPr>
      </p:pic>
      <p:sp>
        <p:nvSpPr>
          <p:cNvPr id="28" name="resource-title">
            <a:extLst>
              <a:ext uri="{FF2B5EF4-FFF2-40B4-BE49-F238E27FC236}">
                <a16:creationId xmlns:a16="http://schemas.microsoft.com/office/drawing/2014/main" id="{EDEFC09A-B580-4D90-A904-3E252A0A4CEC}"/>
              </a:ext>
            </a:extLst>
          </p:cNvPr>
          <p:cNvSpPr>
            <a:spLocks noGrp="1"/>
          </p:cNvSpPr>
          <p:nvPr/>
        </p:nvSpPr>
        <p:spPr>
          <a:xfrm>
            <a:off x="4057650" y="5038725"/>
            <a:ext cx="1847850" cy="409575"/>
          </a:xfrm>
          <a:prstGeom prst="rect">
            <a:avLst/>
          </a:prstGeom>
          <a:noFill/>
          <a:ln w="0">
            <a:noFill/>
            <a:prstDash val="solid"/>
          </a:ln>
        </p:spPr>
        <p:txBody>
          <a:bodyPr/>
          <a:lstStyle/>
          <a:p>
            <a:pPr>
              <a:buNone/>
              <a:defRPr sz="1275" b="1">
                <a:solidFill>
                  <a:srgbClr val="172033"/>
                </a:solidFill>
              </a:defRPr>
            </a:pPr>
            <a:r>
              <a:rPr sz="1275" b="1">
                <a:solidFill>
                  <a:srgbClr val="172033"/>
                </a:solidFill>
              </a:rPr>
              <a:t>Protected API resource</a:t>
            </a:r>
          </a:p>
        </p:txBody>
      </p:sp>
      <p:sp>
        <p:nvSpPr>
          <p:cNvPr id="29" name="resource-detail">
            <a:extLst>
              <a:ext uri="{FF2B5EF4-FFF2-40B4-BE49-F238E27FC236}">
                <a16:creationId xmlns:a16="http://schemas.microsoft.com/office/drawing/2014/main" id="{099F2AEC-7C88-483D-A43C-0D24255385EE}"/>
              </a:ext>
            </a:extLst>
          </p:cNvPr>
          <p:cNvSpPr>
            <a:spLocks noGrp="1"/>
          </p:cNvSpPr>
          <p:nvPr/>
        </p:nvSpPr>
        <p:spPr>
          <a:xfrm>
            <a:off x="4057650" y="5467350"/>
            <a:ext cx="1847850" cy="314325"/>
          </a:xfrm>
          <a:prstGeom prst="rect">
            <a:avLst/>
          </a:prstGeom>
          <a:noFill/>
          <a:ln w="0">
            <a:noFill/>
            <a:prstDash val="solid"/>
          </a:ln>
        </p:spPr>
        <p:txBody>
          <a:bodyPr/>
          <a:lstStyle/>
          <a:p>
            <a:pPr>
              <a:buNone/>
              <a:defRPr sz="825">
                <a:solidFill>
                  <a:srgbClr val="4B5563"/>
                </a:solidFill>
              </a:defRPr>
            </a:pPr>
            <a:r>
              <a:rPr sz="825">
                <a:solidFill>
                  <a:srgbClr val="4B5563"/>
                </a:solidFill>
              </a:rPr>
              <a:t>Dealer, vehicle, availability,</a:t>
            </a:r>
          </a:p>
          <a:p>
            <a:pPr>
              <a:buNone/>
              <a:defRPr sz="825">
                <a:solidFill>
                  <a:srgbClr val="4B5563"/>
                </a:solidFill>
              </a:defRPr>
            </a:pPr>
            <a:r>
              <a:rPr sz="825">
                <a:solidFill>
                  <a:srgbClr val="4B5563"/>
                </a:solidFill>
              </a:rPr>
              <a:t>or booking service</a:t>
            </a:r>
          </a:p>
        </p:txBody>
      </p:sp>
      <p:sp>
        <p:nvSpPr>
          <p:cNvPr id="30" name="step-1">
            <a:extLst>
              <a:ext uri="{FF2B5EF4-FFF2-40B4-BE49-F238E27FC236}">
                <a16:creationId xmlns:a16="http://schemas.microsoft.com/office/drawing/2014/main" id="{470FE6A8-288D-4C3E-9848-6271B0361E7C}"/>
              </a:ext>
            </a:extLst>
          </p:cNvPr>
          <p:cNvSpPr>
            <a:spLocks noGrp="1"/>
          </p:cNvSpPr>
          <p:nvPr/>
        </p:nvSpPr>
        <p:spPr>
          <a:xfrm>
            <a:off x="2571750" y="1438275"/>
            <a:ext cx="266700" cy="266700"/>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31" name="step-1-number">
            <a:extLst>
              <a:ext uri="{FF2B5EF4-FFF2-40B4-BE49-F238E27FC236}">
                <a16:creationId xmlns:a16="http://schemas.microsoft.com/office/drawing/2014/main" id="{3A1BEF7F-6488-4B98-9F70-5065595757F6}"/>
              </a:ext>
            </a:extLst>
          </p:cNvPr>
          <p:cNvSpPr>
            <a:spLocks noGrp="1"/>
          </p:cNvSpPr>
          <p:nvPr/>
        </p:nvSpPr>
        <p:spPr>
          <a:xfrm>
            <a:off x="2571750" y="1466850"/>
            <a:ext cx="266700" cy="19050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1</a:t>
            </a:r>
          </a:p>
        </p:txBody>
      </p:sp>
      <p:sp>
        <p:nvSpPr>
          <p:cNvPr id="32" name="step-1-title">
            <a:extLst>
              <a:ext uri="{FF2B5EF4-FFF2-40B4-BE49-F238E27FC236}">
                <a16:creationId xmlns:a16="http://schemas.microsoft.com/office/drawing/2014/main" id="{DC64EA89-98BE-43A9-8489-9D41063D4F8D}"/>
              </a:ext>
            </a:extLst>
          </p:cNvPr>
          <p:cNvSpPr>
            <a:spLocks noGrp="1"/>
          </p:cNvSpPr>
          <p:nvPr/>
        </p:nvSpPr>
        <p:spPr>
          <a:xfrm>
            <a:off x="2933700" y="1428750"/>
            <a:ext cx="2305050" cy="200025"/>
          </a:xfrm>
          <a:prstGeom prst="rect">
            <a:avLst/>
          </a:prstGeom>
          <a:noFill/>
          <a:ln w="0">
            <a:noFill/>
            <a:prstDash val="solid"/>
          </a:ln>
        </p:spPr>
        <p:txBody>
          <a:bodyPr/>
          <a:lstStyle/>
          <a:p>
            <a:pPr>
              <a:buNone/>
              <a:defRPr sz="975" b="1">
                <a:solidFill>
                  <a:srgbClr val="172033"/>
                </a:solidFill>
              </a:defRPr>
            </a:pPr>
            <a:r>
              <a:rPr sz="975" b="1">
                <a:solidFill>
                  <a:srgbClr val="172033"/>
                </a:solidFill>
              </a:rPr>
              <a:t>Authenticate and receive token</a:t>
            </a:r>
          </a:p>
        </p:txBody>
      </p:sp>
      <p:sp>
        <p:nvSpPr>
          <p:cNvPr id="33" name="step-2">
            <a:extLst>
              <a:ext uri="{FF2B5EF4-FFF2-40B4-BE49-F238E27FC236}">
                <a16:creationId xmlns:a16="http://schemas.microsoft.com/office/drawing/2014/main" id="{C4772CF6-347F-433A-8C77-E9B823A8B2E0}"/>
              </a:ext>
            </a:extLst>
          </p:cNvPr>
          <p:cNvSpPr>
            <a:spLocks noGrp="1"/>
          </p:cNvSpPr>
          <p:nvPr/>
        </p:nvSpPr>
        <p:spPr>
          <a:xfrm>
            <a:off x="685800" y="4171950"/>
            <a:ext cx="266700" cy="266700"/>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34" name="step-2-number">
            <a:extLst>
              <a:ext uri="{FF2B5EF4-FFF2-40B4-BE49-F238E27FC236}">
                <a16:creationId xmlns:a16="http://schemas.microsoft.com/office/drawing/2014/main" id="{DFFBE75C-1EBB-44D9-A668-E0FBB7196B73}"/>
              </a:ext>
            </a:extLst>
          </p:cNvPr>
          <p:cNvSpPr>
            <a:spLocks noGrp="1"/>
          </p:cNvSpPr>
          <p:nvPr/>
        </p:nvSpPr>
        <p:spPr>
          <a:xfrm>
            <a:off x="685800" y="4200525"/>
            <a:ext cx="266700" cy="19050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2</a:t>
            </a:r>
          </a:p>
        </p:txBody>
      </p:sp>
      <p:sp>
        <p:nvSpPr>
          <p:cNvPr id="35" name="step-2-title">
            <a:extLst>
              <a:ext uri="{FF2B5EF4-FFF2-40B4-BE49-F238E27FC236}">
                <a16:creationId xmlns:a16="http://schemas.microsoft.com/office/drawing/2014/main" id="{19E5E843-4D79-40DD-B144-E427ADD840C6}"/>
              </a:ext>
            </a:extLst>
          </p:cNvPr>
          <p:cNvSpPr>
            <a:spLocks noGrp="1"/>
          </p:cNvSpPr>
          <p:nvPr/>
        </p:nvSpPr>
        <p:spPr>
          <a:xfrm>
            <a:off x="1047750" y="4162425"/>
            <a:ext cx="2590800" cy="200025"/>
          </a:xfrm>
          <a:prstGeom prst="rect">
            <a:avLst/>
          </a:prstGeom>
          <a:noFill/>
          <a:ln w="0">
            <a:noFill/>
            <a:prstDash val="solid"/>
          </a:ln>
        </p:spPr>
        <p:txBody>
          <a:bodyPr/>
          <a:lstStyle/>
          <a:p>
            <a:pPr>
              <a:buNone/>
              <a:defRPr sz="975" b="1">
                <a:solidFill>
                  <a:srgbClr val="172033"/>
                </a:solidFill>
              </a:defRPr>
            </a:pPr>
            <a:r>
              <a:rPr sz="975" b="1">
                <a:solidFill>
                  <a:srgbClr val="172033"/>
                </a:solidFill>
              </a:rPr>
              <a:t>Call a custom-authorized API</a:t>
            </a:r>
          </a:p>
        </p:txBody>
      </p:sp>
      <p:sp>
        <p:nvSpPr>
          <p:cNvPr id="36" name="step-2-detail">
            <a:extLst>
              <a:ext uri="{FF2B5EF4-FFF2-40B4-BE49-F238E27FC236}">
                <a16:creationId xmlns:a16="http://schemas.microsoft.com/office/drawing/2014/main" id="{4EB9FEE8-FAAE-4737-B3A3-F23F053285CB}"/>
              </a:ext>
            </a:extLst>
          </p:cNvPr>
          <p:cNvSpPr>
            <a:spLocks noGrp="1"/>
          </p:cNvSpPr>
          <p:nvPr/>
        </p:nvSpPr>
        <p:spPr>
          <a:xfrm>
            <a:off x="1047750" y="4371975"/>
            <a:ext cx="2590800" cy="323850"/>
          </a:xfrm>
          <a:prstGeom prst="rect">
            <a:avLst/>
          </a:prstGeom>
          <a:noFill/>
          <a:ln w="0">
            <a:noFill/>
            <a:prstDash val="solid"/>
          </a:ln>
        </p:spPr>
        <p:txBody>
          <a:bodyPr/>
          <a:lstStyle/>
          <a:p>
            <a:pPr>
              <a:buNone/>
              <a:defRPr sz="825">
                <a:solidFill>
                  <a:srgbClr val="5B6472"/>
                </a:solidFill>
              </a:defRPr>
            </a:pPr>
            <a:r>
              <a:rPr sz="825">
                <a:solidFill>
                  <a:srgbClr val="5B6472"/>
                </a:solidFill>
              </a:rPr>
              <a:t>The client sends a federated or legacy access token in the Authorization header.</a:t>
            </a:r>
          </a:p>
        </p:txBody>
      </p:sp>
      <p:sp>
        <p:nvSpPr>
          <p:cNvPr id="37" name="step-3">
            <a:extLst>
              <a:ext uri="{FF2B5EF4-FFF2-40B4-BE49-F238E27FC236}">
                <a16:creationId xmlns:a16="http://schemas.microsoft.com/office/drawing/2014/main" id="{68E90223-A6A2-43FC-810F-D4F0DDACF508}"/>
              </a:ext>
            </a:extLst>
          </p:cNvPr>
          <p:cNvSpPr>
            <a:spLocks noGrp="1"/>
          </p:cNvSpPr>
          <p:nvPr/>
        </p:nvSpPr>
        <p:spPr>
          <a:xfrm>
            <a:off x="5238750" y="2600325"/>
            <a:ext cx="266700" cy="266700"/>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38" name="step-3-number">
            <a:extLst>
              <a:ext uri="{FF2B5EF4-FFF2-40B4-BE49-F238E27FC236}">
                <a16:creationId xmlns:a16="http://schemas.microsoft.com/office/drawing/2014/main" id="{491E82F3-0DB5-4A53-A959-8A8C77D7292B}"/>
              </a:ext>
            </a:extLst>
          </p:cNvPr>
          <p:cNvSpPr>
            <a:spLocks noGrp="1"/>
          </p:cNvSpPr>
          <p:nvPr/>
        </p:nvSpPr>
        <p:spPr>
          <a:xfrm>
            <a:off x="5238750" y="2628900"/>
            <a:ext cx="266700" cy="19050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3</a:t>
            </a:r>
          </a:p>
        </p:txBody>
      </p:sp>
      <p:sp>
        <p:nvSpPr>
          <p:cNvPr id="39" name="step-3-title">
            <a:extLst>
              <a:ext uri="{FF2B5EF4-FFF2-40B4-BE49-F238E27FC236}">
                <a16:creationId xmlns:a16="http://schemas.microsoft.com/office/drawing/2014/main" id="{CC1AD43C-E109-4536-832A-25042936A070}"/>
              </a:ext>
            </a:extLst>
          </p:cNvPr>
          <p:cNvSpPr>
            <a:spLocks noGrp="1"/>
          </p:cNvSpPr>
          <p:nvPr/>
        </p:nvSpPr>
        <p:spPr>
          <a:xfrm>
            <a:off x="5600700" y="2590800"/>
            <a:ext cx="2209800" cy="200025"/>
          </a:xfrm>
          <a:prstGeom prst="rect">
            <a:avLst/>
          </a:prstGeom>
          <a:noFill/>
          <a:ln w="0">
            <a:noFill/>
            <a:prstDash val="solid"/>
          </a:ln>
        </p:spPr>
        <p:txBody>
          <a:bodyPr/>
          <a:lstStyle/>
          <a:p>
            <a:pPr>
              <a:buNone/>
              <a:defRPr sz="975" b="1">
                <a:solidFill>
                  <a:srgbClr val="172033"/>
                </a:solidFill>
              </a:defRPr>
            </a:pPr>
            <a:r>
              <a:rPr sz="975" b="1">
                <a:solidFill>
                  <a:srgbClr val="172033"/>
                </a:solidFill>
              </a:rPr>
              <a:t>Invoke the Lambda authorizer</a:t>
            </a:r>
          </a:p>
        </p:txBody>
      </p:sp>
      <p:sp>
        <p:nvSpPr>
          <p:cNvPr id="40" name="step-4">
            <a:extLst>
              <a:ext uri="{FF2B5EF4-FFF2-40B4-BE49-F238E27FC236}">
                <a16:creationId xmlns:a16="http://schemas.microsoft.com/office/drawing/2014/main" id="{B53DAD93-FA79-4A57-8241-BA65A5D27553}"/>
              </a:ext>
            </a:extLst>
          </p:cNvPr>
          <p:cNvSpPr>
            <a:spLocks noGrp="1"/>
          </p:cNvSpPr>
          <p:nvPr/>
        </p:nvSpPr>
        <p:spPr>
          <a:xfrm>
            <a:off x="8610600" y="1809750"/>
            <a:ext cx="266700" cy="266700"/>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41" name="step-4-number">
            <a:extLst>
              <a:ext uri="{FF2B5EF4-FFF2-40B4-BE49-F238E27FC236}">
                <a16:creationId xmlns:a16="http://schemas.microsoft.com/office/drawing/2014/main" id="{9D75CF4B-6C5D-4EFC-843D-101AEAE25869}"/>
              </a:ext>
            </a:extLst>
          </p:cNvPr>
          <p:cNvSpPr>
            <a:spLocks noGrp="1"/>
          </p:cNvSpPr>
          <p:nvPr/>
        </p:nvSpPr>
        <p:spPr>
          <a:xfrm>
            <a:off x="8610600" y="1838325"/>
            <a:ext cx="266700" cy="19050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4</a:t>
            </a:r>
          </a:p>
        </p:txBody>
      </p:sp>
      <p:sp>
        <p:nvSpPr>
          <p:cNvPr id="42" name="step-4-title">
            <a:extLst>
              <a:ext uri="{FF2B5EF4-FFF2-40B4-BE49-F238E27FC236}">
                <a16:creationId xmlns:a16="http://schemas.microsoft.com/office/drawing/2014/main" id="{E3743807-B5BA-4763-93A3-E714000CBB40}"/>
              </a:ext>
            </a:extLst>
          </p:cNvPr>
          <p:cNvSpPr>
            <a:spLocks noGrp="1"/>
          </p:cNvSpPr>
          <p:nvPr/>
        </p:nvSpPr>
        <p:spPr>
          <a:xfrm>
            <a:off x="8972550" y="1800225"/>
            <a:ext cx="2495550" cy="200025"/>
          </a:xfrm>
          <a:prstGeom prst="rect">
            <a:avLst/>
          </a:prstGeom>
          <a:noFill/>
          <a:ln w="0">
            <a:noFill/>
            <a:prstDash val="solid"/>
          </a:ln>
        </p:spPr>
        <p:txBody>
          <a:bodyPr/>
          <a:lstStyle/>
          <a:p>
            <a:pPr>
              <a:buNone/>
              <a:defRPr sz="975" b="1">
                <a:solidFill>
                  <a:srgbClr val="172033"/>
                </a:solidFill>
              </a:defRPr>
            </a:pPr>
            <a:r>
              <a:rPr sz="975" b="1">
                <a:solidFill>
                  <a:srgbClr val="172033"/>
                </a:solidFill>
              </a:rPr>
              <a:t>Validate identity and claims</a:t>
            </a:r>
          </a:p>
        </p:txBody>
      </p:sp>
      <p:sp>
        <p:nvSpPr>
          <p:cNvPr id="43" name="step-4-detail">
            <a:extLst>
              <a:ext uri="{FF2B5EF4-FFF2-40B4-BE49-F238E27FC236}">
                <a16:creationId xmlns:a16="http://schemas.microsoft.com/office/drawing/2014/main" id="{9859F161-626A-4CA4-BF8A-EADE1FA8D0B7}"/>
              </a:ext>
            </a:extLst>
          </p:cNvPr>
          <p:cNvSpPr>
            <a:spLocks noGrp="1"/>
          </p:cNvSpPr>
          <p:nvPr/>
        </p:nvSpPr>
        <p:spPr>
          <a:xfrm>
            <a:off x="8972550" y="2009775"/>
            <a:ext cx="2495550" cy="323850"/>
          </a:xfrm>
          <a:prstGeom prst="rect">
            <a:avLst/>
          </a:prstGeom>
          <a:noFill/>
          <a:ln w="0">
            <a:noFill/>
            <a:prstDash val="solid"/>
          </a:ln>
        </p:spPr>
        <p:txBody>
          <a:bodyPr/>
          <a:lstStyle/>
          <a:p>
            <a:pPr>
              <a:buNone/>
              <a:defRPr sz="825">
                <a:solidFill>
                  <a:srgbClr val="5B6472"/>
                </a:solidFill>
              </a:defRPr>
            </a:pPr>
            <a:r>
              <a:rPr sz="825">
                <a:solidFill>
                  <a:srgbClr val="5B6472"/>
                </a:solidFill>
              </a:rPr>
              <a:t>Verify signature, issuer, audience, expiry, and required claims.</a:t>
            </a:r>
          </a:p>
        </p:txBody>
      </p:sp>
      <p:sp>
        <p:nvSpPr>
          <p:cNvPr id="44" name="step-5">
            <a:extLst>
              <a:ext uri="{FF2B5EF4-FFF2-40B4-BE49-F238E27FC236}">
                <a16:creationId xmlns:a16="http://schemas.microsoft.com/office/drawing/2014/main" id="{5AB5615F-7264-4232-A183-973953B8F8E6}"/>
              </a:ext>
            </a:extLst>
          </p:cNvPr>
          <p:cNvSpPr>
            <a:spLocks noGrp="1"/>
          </p:cNvSpPr>
          <p:nvPr/>
        </p:nvSpPr>
        <p:spPr>
          <a:xfrm>
            <a:off x="7239000" y="4171950"/>
            <a:ext cx="266700" cy="266700"/>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45" name="step-5-number">
            <a:extLst>
              <a:ext uri="{FF2B5EF4-FFF2-40B4-BE49-F238E27FC236}">
                <a16:creationId xmlns:a16="http://schemas.microsoft.com/office/drawing/2014/main" id="{A76F88E1-E602-4863-8C91-8CEF1AE24137}"/>
              </a:ext>
            </a:extLst>
          </p:cNvPr>
          <p:cNvSpPr>
            <a:spLocks noGrp="1"/>
          </p:cNvSpPr>
          <p:nvPr/>
        </p:nvSpPr>
        <p:spPr>
          <a:xfrm>
            <a:off x="7239000" y="4200525"/>
            <a:ext cx="266700" cy="19050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5</a:t>
            </a:r>
          </a:p>
        </p:txBody>
      </p:sp>
      <p:sp>
        <p:nvSpPr>
          <p:cNvPr id="46" name="step-5-title">
            <a:extLst>
              <a:ext uri="{FF2B5EF4-FFF2-40B4-BE49-F238E27FC236}">
                <a16:creationId xmlns:a16="http://schemas.microsoft.com/office/drawing/2014/main" id="{779EB9FC-6681-47E5-9FB1-910A0640E391}"/>
              </a:ext>
            </a:extLst>
          </p:cNvPr>
          <p:cNvSpPr>
            <a:spLocks noGrp="1"/>
          </p:cNvSpPr>
          <p:nvPr/>
        </p:nvSpPr>
        <p:spPr>
          <a:xfrm>
            <a:off x="7600950" y="4162425"/>
            <a:ext cx="3162300" cy="200025"/>
          </a:xfrm>
          <a:prstGeom prst="rect">
            <a:avLst/>
          </a:prstGeom>
          <a:noFill/>
          <a:ln w="0">
            <a:noFill/>
            <a:prstDash val="solid"/>
          </a:ln>
        </p:spPr>
        <p:txBody>
          <a:bodyPr/>
          <a:lstStyle/>
          <a:p>
            <a:pPr>
              <a:buNone/>
              <a:defRPr sz="975" b="1">
                <a:solidFill>
                  <a:srgbClr val="172033"/>
                </a:solidFill>
              </a:defRPr>
            </a:pPr>
            <a:r>
              <a:rPr sz="975" b="1">
                <a:solidFill>
                  <a:srgbClr val="172033"/>
                </a:solidFill>
              </a:rPr>
              <a:t>Return policy and trusted context</a:t>
            </a:r>
          </a:p>
        </p:txBody>
      </p:sp>
      <p:sp>
        <p:nvSpPr>
          <p:cNvPr id="47" name="step-5-detail">
            <a:extLst>
              <a:ext uri="{FF2B5EF4-FFF2-40B4-BE49-F238E27FC236}">
                <a16:creationId xmlns:a16="http://schemas.microsoft.com/office/drawing/2014/main" id="{51F4FEFF-7FF5-4623-86E8-14E5F32E6177}"/>
              </a:ext>
            </a:extLst>
          </p:cNvPr>
          <p:cNvSpPr>
            <a:spLocks noGrp="1"/>
          </p:cNvSpPr>
          <p:nvPr/>
        </p:nvSpPr>
        <p:spPr>
          <a:xfrm>
            <a:off x="7600950" y="4371975"/>
            <a:ext cx="3162300" cy="323850"/>
          </a:xfrm>
          <a:prstGeom prst="rect">
            <a:avLst/>
          </a:prstGeom>
          <a:noFill/>
          <a:ln w="0">
            <a:noFill/>
            <a:prstDash val="solid"/>
          </a:ln>
        </p:spPr>
        <p:txBody>
          <a:bodyPr/>
          <a:lstStyle/>
          <a:p>
            <a:pPr>
              <a:buNone/>
              <a:defRPr sz="825">
                <a:solidFill>
                  <a:srgbClr val="5B6472"/>
                </a:solidFill>
              </a:defRPr>
            </a:pPr>
            <a:r>
              <a:rPr sz="825">
                <a:solidFill>
                  <a:srgbClr val="5B6472"/>
                </a:solidFill>
              </a:rPr>
              <a:t>Allow or deny; attach customer ID, dealer ID, role, and permissions.</a:t>
            </a:r>
          </a:p>
        </p:txBody>
      </p:sp>
      <p:sp>
        <p:nvSpPr>
          <p:cNvPr id="48" name="step-6">
            <a:extLst>
              <a:ext uri="{FF2B5EF4-FFF2-40B4-BE49-F238E27FC236}">
                <a16:creationId xmlns:a16="http://schemas.microsoft.com/office/drawing/2014/main" id="{8BED3B93-EDD1-430E-843D-813B6B8615C8}"/>
              </a:ext>
            </a:extLst>
          </p:cNvPr>
          <p:cNvSpPr>
            <a:spLocks noGrp="1"/>
          </p:cNvSpPr>
          <p:nvPr/>
        </p:nvSpPr>
        <p:spPr>
          <a:xfrm>
            <a:off x="6381750" y="5210175"/>
            <a:ext cx="266700" cy="266700"/>
          </a:xfrm>
          <a:prstGeom prst="ellipse">
            <a:avLst/>
          </a:prstGeom>
          <a:solidFill>
            <a:srgbClr val="08A89B"/>
          </a:solidFill>
          <a:ln w="19050">
            <a:solidFill>
              <a:srgbClr val="FFFFFF"/>
            </a:solidFill>
            <a:prstDash val="solid"/>
          </a:ln>
        </p:spPr>
        <p:style>
          <a:lnRef idx="0">
            <a:scrgbClr r="0" g="0" b="0"/>
          </a:lnRef>
          <a:fillRef idx="0">
            <a:scrgbClr r="0" g="0" b="0"/>
          </a:fillRef>
          <a:effectRef idx="4">
            <a:scrgbClr r="0" g="0" b="0"/>
          </a:effectRef>
          <a:fontRef idx="major"/>
        </p:style>
        <p:txBody>
          <a:bodyPr/>
          <a:lstStyle/>
          <a:p>
            <a:endParaRPr/>
          </a:p>
        </p:txBody>
      </p:sp>
      <p:sp>
        <p:nvSpPr>
          <p:cNvPr id="49" name="step-6-number">
            <a:extLst>
              <a:ext uri="{FF2B5EF4-FFF2-40B4-BE49-F238E27FC236}">
                <a16:creationId xmlns:a16="http://schemas.microsoft.com/office/drawing/2014/main" id="{48DF4B95-DA9D-4D28-B16A-785C8994A427}"/>
              </a:ext>
            </a:extLst>
          </p:cNvPr>
          <p:cNvSpPr>
            <a:spLocks noGrp="1"/>
          </p:cNvSpPr>
          <p:nvPr/>
        </p:nvSpPr>
        <p:spPr>
          <a:xfrm>
            <a:off x="6381750" y="5238750"/>
            <a:ext cx="266700" cy="190500"/>
          </a:xfrm>
          <a:prstGeom prst="rect">
            <a:avLst/>
          </a:prstGeom>
          <a:noFill/>
          <a:ln w="0">
            <a:noFill/>
            <a:prstDash val="solid"/>
          </a:ln>
        </p:spPr>
        <p:txBody>
          <a:bodyPr/>
          <a:lstStyle/>
          <a:p>
            <a:pPr algn="ctr">
              <a:buNone/>
              <a:defRPr sz="1050" b="1">
                <a:solidFill>
                  <a:srgbClr val="FFFFFF"/>
                </a:solidFill>
              </a:defRPr>
            </a:pPr>
            <a:r>
              <a:rPr sz="1050" b="1">
                <a:solidFill>
                  <a:srgbClr val="FFFFFF"/>
                </a:solidFill>
              </a:rPr>
              <a:t>6</a:t>
            </a:r>
          </a:p>
        </p:txBody>
      </p:sp>
      <p:sp>
        <p:nvSpPr>
          <p:cNvPr id="50" name="step-6-title">
            <a:extLst>
              <a:ext uri="{FF2B5EF4-FFF2-40B4-BE49-F238E27FC236}">
                <a16:creationId xmlns:a16="http://schemas.microsoft.com/office/drawing/2014/main" id="{2DFA3CB1-57D1-4C06-82C5-4998DFAF2F1C}"/>
              </a:ext>
            </a:extLst>
          </p:cNvPr>
          <p:cNvSpPr>
            <a:spLocks noGrp="1"/>
          </p:cNvSpPr>
          <p:nvPr/>
        </p:nvSpPr>
        <p:spPr>
          <a:xfrm>
            <a:off x="6743700" y="5200650"/>
            <a:ext cx="4781550" cy="200025"/>
          </a:xfrm>
          <a:prstGeom prst="rect">
            <a:avLst/>
          </a:prstGeom>
          <a:noFill/>
          <a:ln w="0">
            <a:noFill/>
            <a:prstDash val="solid"/>
          </a:ln>
        </p:spPr>
        <p:txBody>
          <a:bodyPr/>
          <a:lstStyle/>
          <a:p>
            <a:pPr>
              <a:buNone/>
              <a:defRPr sz="975" b="1">
                <a:solidFill>
                  <a:srgbClr val="172033"/>
                </a:solidFill>
              </a:defRPr>
            </a:pPr>
            <a:r>
              <a:rPr sz="975" b="1">
                <a:solidFill>
                  <a:srgbClr val="172033"/>
                </a:solidFill>
              </a:rPr>
              <a:t>Evaluate policy and invoke resource</a:t>
            </a:r>
          </a:p>
        </p:txBody>
      </p:sp>
      <p:sp>
        <p:nvSpPr>
          <p:cNvPr id="51" name="step-6-detail">
            <a:extLst>
              <a:ext uri="{FF2B5EF4-FFF2-40B4-BE49-F238E27FC236}">
                <a16:creationId xmlns:a16="http://schemas.microsoft.com/office/drawing/2014/main" id="{C5A71923-B715-449A-9F45-4309096CE355}"/>
              </a:ext>
            </a:extLst>
          </p:cNvPr>
          <p:cNvSpPr>
            <a:spLocks noGrp="1"/>
          </p:cNvSpPr>
          <p:nvPr/>
        </p:nvSpPr>
        <p:spPr>
          <a:xfrm>
            <a:off x="6743700" y="5410200"/>
            <a:ext cx="4781550" cy="323850"/>
          </a:xfrm>
          <a:prstGeom prst="rect">
            <a:avLst/>
          </a:prstGeom>
          <a:noFill/>
          <a:ln w="0">
            <a:noFill/>
            <a:prstDash val="solid"/>
          </a:ln>
        </p:spPr>
        <p:txBody>
          <a:bodyPr/>
          <a:lstStyle/>
          <a:p>
            <a:pPr>
              <a:buNone/>
              <a:defRPr sz="825">
                <a:solidFill>
                  <a:srgbClr val="5B6472"/>
                </a:solidFill>
              </a:defRPr>
            </a:pPr>
            <a:r>
              <a:rPr sz="825">
                <a:solidFill>
                  <a:srgbClr val="5B6472"/>
                </a:solidFill>
              </a:rPr>
              <a:t>API Gateway enforces the decision before the request reaches the service.</a:t>
            </a:r>
          </a:p>
        </p:txBody>
      </p:sp>
      <p:sp>
        <p:nvSpPr>
          <p:cNvPr id="52" name="custom-logic-callout">
            <a:extLst>
              <a:ext uri="{FF2B5EF4-FFF2-40B4-BE49-F238E27FC236}">
                <a16:creationId xmlns:a16="http://schemas.microsoft.com/office/drawing/2014/main" id="{E633FF6E-35C3-4A34-8BCC-205597D0BBD5}"/>
              </a:ext>
            </a:extLst>
          </p:cNvPr>
          <p:cNvSpPr>
            <a:spLocks noGrp="1"/>
          </p:cNvSpPr>
          <p:nvPr/>
        </p:nvSpPr>
        <p:spPr>
          <a:xfrm>
            <a:off x="10048875" y="2847975"/>
            <a:ext cx="1590675" cy="1238250"/>
          </a:xfrm>
          <a:prstGeom prst="roundRect">
            <a:avLst>
              <a:gd name="adj" fmla="val 6154"/>
            </a:avLst>
          </a:prstGeom>
          <a:solidFill>
            <a:srgbClr val="F0FAF8"/>
          </a:solidFill>
          <a:ln w="9525">
            <a:solidFill>
              <a:srgbClr val="8BD4CA"/>
            </a:solidFill>
            <a:prstDash val="solid"/>
          </a:ln>
        </p:spPr>
        <p:txBody>
          <a:bodyPr/>
          <a:lstStyle/>
          <a:p>
            <a:endParaRPr/>
          </a:p>
        </p:txBody>
      </p:sp>
      <p:sp>
        <p:nvSpPr>
          <p:cNvPr id="53" name="custom-logic-title">
            <a:extLst>
              <a:ext uri="{FF2B5EF4-FFF2-40B4-BE49-F238E27FC236}">
                <a16:creationId xmlns:a16="http://schemas.microsoft.com/office/drawing/2014/main" id="{50FF4C07-082E-4BF4-8D48-1005399DA06A}"/>
              </a:ext>
            </a:extLst>
          </p:cNvPr>
          <p:cNvSpPr>
            <a:spLocks noGrp="1"/>
          </p:cNvSpPr>
          <p:nvPr/>
        </p:nvSpPr>
        <p:spPr>
          <a:xfrm>
            <a:off x="10191750" y="3000375"/>
            <a:ext cx="1304925" cy="171450"/>
          </a:xfrm>
          <a:prstGeom prst="rect">
            <a:avLst/>
          </a:prstGeom>
          <a:noFill/>
          <a:ln w="0">
            <a:noFill/>
            <a:prstDash val="solid"/>
          </a:ln>
        </p:spPr>
        <p:txBody>
          <a:bodyPr/>
          <a:lstStyle/>
          <a:p>
            <a:pPr algn="ctr">
              <a:buNone/>
              <a:defRPr sz="825" b="1">
                <a:solidFill>
                  <a:srgbClr val="087F75"/>
                </a:solidFill>
              </a:defRPr>
            </a:pPr>
            <a:r>
              <a:rPr sz="825" b="1">
                <a:solidFill>
                  <a:srgbClr val="087F75"/>
                </a:solidFill>
              </a:rPr>
              <a:t>CUSTOM LOGIC</a:t>
            </a:r>
          </a:p>
        </p:txBody>
      </p:sp>
      <p:sp>
        <p:nvSpPr>
          <p:cNvPr id="54" name="custom-logic-body">
            <a:extLst>
              <a:ext uri="{FF2B5EF4-FFF2-40B4-BE49-F238E27FC236}">
                <a16:creationId xmlns:a16="http://schemas.microsoft.com/office/drawing/2014/main" id="{C13F975F-9B3D-4256-9001-D48A5BB58227}"/>
              </a:ext>
            </a:extLst>
          </p:cNvPr>
          <p:cNvSpPr>
            <a:spLocks noGrp="1"/>
          </p:cNvSpPr>
          <p:nvPr/>
        </p:nvSpPr>
        <p:spPr>
          <a:xfrm>
            <a:off x="10191750" y="3267075"/>
            <a:ext cx="1304925" cy="714375"/>
          </a:xfrm>
          <a:prstGeom prst="rect">
            <a:avLst/>
          </a:prstGeom>
          <a:noFill/>
          <a:ln w="0">
            <a:noFill/>
            <a:prstDash val="solid"/>
          </a:ln>
        </p:spPr>
        <p:txBody>
          <a:bodyPr/>
          <a:lstStyle/>
          <a:p>
            <a:pPr algn="ctr">
              <a:buNone/>
              <a:defRPr sz="825">
                <a:solidFill>
                  <a:srgbClr val="374151"/>
                </a:solidFill>
              </a:defRPr>
            </a:pPr>
            <a:r>
              <a:rPr sz="825">
                <a:solidFill>
                  <a:srgbClr val="374151"/>
                </a:solidFill>
              </a:rPr>
              <a:t>Dealer isolation</a:t>
            </a:r>
          </a:p>
          <a:p>
            <a:pPr algn="ctr">
              <a:buNone/>
              <a:defRPr sz="825">
                <a:solidFill>
                  <a:srgbClr val="374151"/>
                </a:solidFill>
              </a:defRPr>
            </a:pPr>
            <a:r>
              <a:rPr sz="825">
                <a:solidFill>
                  <a:srgbClr val="374151"/>
                </a:solidFill>
              </a:rPr>
              <a:t>Legacy-token mapping</a:t>
            </a:r>
          </a:p>
          <a:p>
            <a:pPr algn="ctr">
              <a:buNone/>
              <a:defRPr sz="825">
                <a:solidFill>
                  <a:srgbClr val="374151"/>
                </a:solidFill>
              </a:defRPr>
            </a:pPr>
            <a:r>
              <a:rPr sz="825">
                <a:solidFill>
                  <a:srgbClr val="374151"/>
                </a:solidFill>
              </a:rPr>
              <a:t>Enterprise IdP claims</a:t>
            </a:r>
          </a:p>
          <a:p>
            <a:pPr algn="ctr">
              <a:buNone/>
              <a:defRPr sz="825">
                <a:solidFill>
                  <a:srgbClr val="374151"/>
                </a:solidFill>
              </a:defRPr>
            </a:pPr>
            <a:r>
              <a:rPr sz="825">
                <a:solidFill>
                  <a:srgbClr val="374151"/>
                </a:solidFill>
              </a:rPr>
              <a:t>Route-level entitlements</a:t>
            </a:r>
          </a:p>
        </p:txBody>
      </p:sp>
    </p:spTree>
    <p:extLst>
      <p:ext uri="{BB962C8B-B14F-4D97-AF65-F5344CB8AC3E}">
        <p14:creationId xmlns:p14="http://schemas.microsoft.com/office/powerpoint/2010/main" val="2022228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eyebrow">
            <a:extLst>
              <a:ext uri="{FF2B5EF4-FFF2-40B4-BE49-F238E27FC236}">
                <a16:creationId xmlns:a16="http://schemas.microsoft.com/office/drawing/2014/main" id="{9C802175-6C81-4D18-8D7C-11DA10F15AB1}"/>
              </a:ext>
            </a:extLst>
          </p:cNvPr>
          <p:cNvSpPr>
            <a:spLocks noGrp="1"/>
          </p:cNvSpPr>
          <p:nvPr/>
        </p:nvSpPr>
        <p:spPr>
          <a:xfrm>
            <a:off x="552450" y="266700"/>
            <a:ext cx="4000500" cy="190500"/>
          </a:xfrm>
          <a:prstGeom prst="rect">
            <a:avLst/>
          </a:prstGeom>
          <a:noFill/>
          <a:ln w="0">
            <a:noFill/>
            <a:prstDash val="solid"/>
          </a:ln>
        </p:spPr>
        <p:txBody>
          <a:bodyPr/>
          <a:lstStyle/>
          <a:p>
            <a:pPr>
              <a:buNone/>
              <a:defRPr sz="975" b="1">
                <a:solidFill>
                  <a:srgbClr val="198E84"/>
                </a:solidFill>
              </a:defRPr>
            </a:pPr>
            <a:r>
              <a:rPr sz="975" b="1" dirty="0">
                <a:solidFill>
                  <a:srgbClr val="198E84"/>
                </a:solidFill>
              </a:rPr>
              <a:t>AVAILABILITY &amp; SCALABILITY</a:t>
            </a:r>
          </a:p>
        </p:txBody>
      </p:sp>
      <p:sp>
        <p:nvSpPr>
          <p:cNvPr id="2" name="title">
            <a:extLst>
              <a:ext uri="{FF2B5EF4-FFF2-40B4-BE49-F238E27FC236}">
                <a16:creationId xmlns:a16="http://schemas.microsoft.com/office/drawing/2014/main" id="{50ABED63-CBB0-4FCE-B599-99A6A133BEF8}"/>
              </a:ext>
            </a:extLst>
          </p:cNvPr>
          <p:cNvSpPr>
            <a:spLocks noGrp="1"/>
          </p:cNvSpPr>
          <p:nvPr/>
        </p:nvSpPr>
        <p:spPr>
          <a:xfrm>
            <a:off x="552450" y="523875"/>
            <a:ext cx="11087100" cy="742950"/>
          </a:xfrm>
          <a:prstGeom prst="rect">
            <a:avLst/>
          </a:prstGeom>
          <a:noFill/>
          <a:ln w="0">
            <a:noFill/>
            <a:prstDash val="solid"/>
          </a:ln>
        </p:spPr>
        <p:txBody>
          <a:bodyPr/>
          <a:lstStyle/>
          <a:p>
            <a:pPr>
              <a:buNone/>
              <a:defRPr sz="2475" b="1">
                <a:solidFill>
                  <a:srgbClr val="111827"/>
                </a:solidFill>
              </a:defRPr>
            </a:pPr>
            <a:r>
              <a:rPr sz="2475" b="1">
                <a:solidFill>
                  <a:srgbClr val="111827"/>
                </a:solidFill>
              </a:rPr>
              <a:t>Independent scaling absorbs national demand without weakening dealer authority</a:t>
            </a:r>
          </a:p>
        </p:txBody>
      </p:sp>
      <p:sp>
        <p:nvSpPr>
          <p:cNvPr id="3" name="subtitle">
            <a:extLst>
              <a:ext uri="{FF2B5EF4-FFF2-40B4-BE49-F238E27FC236}">
                <a16:creationId xmlns:a16="http://schemas.microsoft.com/office/drawing/2014/main" id="{6B7540AB-8EE3-4B3B-B1FE-4FC5D95B0256}"/>
              </a:ext>
            </a:extLst>
          </p:cNvPr>
          <p:cNvSpPr>
            <a:spLocks noGrp="1"/>
          </p:cNvSpPr>
          <p:nvPr/>
        </p:nvSpPr>
        <p:spPr>
          <a:xfrm>
            <a:off x="552450" y="1333500"/>
            <a:ext cx="11087100" cy="400050"/>
          </a:xfrm>
          <a:prstGeom prst="rect">
            <a:avLst/>
          </a:prstGeom>
          <a:noFill/>
          <a:ln w="0">
            <a:noFill/>
            <a:prstDash val="solid"/>
          </a:ln>
        </p:spPr>
        <p:txBody>
          <a:bodyPr/>
          <a:lstStyle/>
          <a:p>
            <a:pPr>
              <a:buNone/>
              <a:defRPr sz="1275">
                <a:solidFill>
                  <a:srgbClr val="5B6472"/>
                </a:solidFill>
              </a:defRPr>
            </a:pPr>
            <a:r>
              <a:rPr sz="1275">
                <a:solidFill>
                  <a:srgbClr val="5B6472"/>
                </a:solidFill>
              </a:rPr>
              <a:t>Cloud services scale by workload; dealer scheduling systems remain authoritative for every slot and appointment.</a:t>
            </a:r>
          </a:p>
        </p:txBody>
      </p:sp>
      <p:sp>
        <p:nvSpPr>
          <p:cNvPr id="4" name="section-rule">
            <a:extLst>
              <a:ext uri="{FF2B5EF4-FFF2-40B4-BE49-F238E27FC236}">
                <a16:creationId xmlns:a16="http://schemas.microsoft.com/office/drawing/2014/main" id="{78FF94CD-192A-4B89-8074-AD742FA495D5}"/>
              </a:ext>
            </a:extLst>
          </p:cNvPr>
          <p:cNvSpPr>
            <a:spLocks noGrp="1"/>
          </p:cNvSpPr>
          <p:nvPr/>
        </p:nvSpPr>
        <p:spPr>
          <a:xfrm>
            <a:off x="552450" y="1876425"/>
            <a:ext cx="11087100" cy="0"/>
          </a:xfrm>
          <a:prstGeom prst="line">
            <a:avLst/>
          </a:prstGeom>
          <a:ln w="11430">
            <a:solidFill>
              <a:srgbClr val="D7DEE8"/>
            </a:solidFill>
            <a:prstDash val="solid"/>
          </a:ln>
        </p:spPr>
        <p:txBody>
          <a:bodyPr/>
          <a:lstStyle/>
          <a:p>
            <a:endParaRPr/>
          </a:p>
        </p:txBody>
      </p:sp>
      <p:sp>
        <p:nvSpPr>
          <p:cNvPr id="5" name="stage-Global entry">
            <a:extLst>
              <a:ext uri="{FF2B5EF4-FFF2-40B4-BE49-F238E27FC236}">
                <a16:creationId xmlns:a16="http://schemas.microsoft.com/office/drawing/2014/main" id="{8AF594D8-50B9-4E6E-8E6C-D992C9DD8663}"/>
              </a:ext>
            </a:extLst>
          </p:cNvPr>
          <p:cNvSpPr>
            <a:spLocks noGrp="1"/>
          </p:cNvSpPr>
          <p:nvPr/>
        </p:nvSpPr>
        <p:spPr>
          <a:xfrm>
            <a:off x="552450" y="2152650"/>
            <a:ext cx="3276600" cy="2076450"/>
          </a:xfrm>
          <a:prstGeom prst="roundRect">
            <a:avLst>
              <a:gd name="adj" fmla="val 5505"/>
            </a:avLst>
          </a:prstGeom>
          <a:solidFill>
            <a:srgbClr val="FFFF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51" name="Picture 40"/>
          <p:cNvPicPr>
            <a:picLocks noChangeAspect="1"/>
          </p:cNvPicPr>
          <p:nvPr/>
        </p:nvPicPr>
        <p:blipFill>
          <a:blip r:embed="rId3"/>
          <a:stretch/>
        </p:blipFill>
        <p:spPr>
          <a:xfrm>
            <a:off x="838200" y="2390775"/>
            <a:ext cx="400050" cy="400050"/>
          </a:xfrm>
          <a:prstGeom prst="rect">
            <a:avLst/>
          </a:prstGeom>
        </p:spPr>
      </p:pic>
      <p:pic>
        <p:nvPicPr>
          <p:cNvPr id="52" name="Picture 41"/>
          <p:cNvPicPr>
            <a:picLocks noChangeAspect="1"/>
          </p:cNvPicPr>
          <p:nvPr/>
        </p:nvPicPr>
        <p:blipFill>
          <a:blip r:embed="rId4"/>
          <a:stretch/>
        </p:blipFill>
        <p:spPr>
          <a:xfrm>
            <a:off x="1352550" y="2390775"/>
            <a:ext cx="400050" cy="400050"/>
          </a:xfrm>
          <a:prstGeom prst="rect">
            <a:avLst/>
          </a:prstGeom>
        </p:spPr>
      </p:pic>
      <p:pic>
        <p:nvPicPr>
          <p:cNvPr id="53" name="Picture 42"/>
          <p:cNvPicPr>
            <a:picLocks noChangeAspect="1"/>
          </p:cNvPicPr>
          <p:nvPr/>
        </p:nvPicPr>
        <p:blipFill>
          <a:blip r:embed="rId5"/>
          <a:stretch/>
        </p:blipFill>
        <p:spPr>
          <a:xfrm>
            <a:off x="1866900" y="2390775"/>
            <a:ext cx="400050" cy="400050"/>
          </a:xfrm>
          <a:prstGeom prst="rect">
            <a:avLst/>
          </a:prstGeom>
        </p:spPr>
      </p:pic>
      <p:sp>
        <p:nvSpPr>
          <p:cNvPr id="9" name="Global entry-title">
            <a:extLst>
              <a:ext uri="{FF2B5EF4-FFF2-40B4-BE49-F238E27FC236}">
                <a16:creationId xmlns:a16="http://schemas.microsoft.com/office/drawing/2014/main" id="{E623C8A4-CF0F-4AA2-935D-388E24B8EFAD}"/>
              </a:ext>
            </a:extLst>
          </p:cNvPr>
          <p:cNvSpPr>
            <a:spLocks noGrp="1"/>
          </p:cNvSpPr>
          <p:nvPr/>
        </p:nvSpPr>
        <p:spPr>
          <a:xfrm>
            <a:off x="8191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Global entry</a:t>
            </a:r>
          </a:p>
        </p:txBody>
      </p:sp>
      <p:sp>
        <p:nvSpPr>
          <p:cNvPr id="10" name="Global entry-detail">
            <a:extLst>
              <a:ext uri="{FF2B5EF4-FFF2-40B4-BE49-F238E27FC236}">
                <a16:creationId xmlns:a16="http://schemas.microsoft.com/office/drawing/2014/main" id="{E95727F8-1A94-4EFB-A51F-97AD02D21674}"/>
              </a:ext>
            </a:extLst>
          </p:cNvPr>
          <p:cNvSpPr>
            <a:spLocks noGrp="1"/>
          </p:cNvSpPr>
          <p:nvPr/>
        </p:nvSpPr>
        <p:spPr>
          <a:xfrm>
            <a:off x="8191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CloudFront + WAF</a:t>
            </a:r>
          </a:p>
          <a:p>
            <a:pPr>
              <a:buNone/>
              <a:defRPr sz="1125">
                <a:solidFill>
                  <a:srgbClr val="4B5563"/>
                </a:solidFill>
              </a:defRPr>
            </a:pPr>
            <a:r>
              <a:rPr sz="1125">
                <a:solidFill>
                  <a:srgbClr val="4B5563"/>
                </a:solidFill>
              </a:rPr>
              <a:t>Regional API Gateway</a:t>
            </a:r>
          </a:p>
          <a:p>
            <a:pPr>
              <a:buNone/>
              <a:defRPr sz="1125">
                <a:solidFill>
                  <a:srgbClr val="4B5563"/>
                </a:solidFill>
              </a:defRPr>
            </a:pPr>
            <a:r>
              <a:rPr sz="1125">
                <a:solidFill>
                  <a:srgbClr val="4B5563"/>
                </a:solidFill>
              </a:rPr>
              <a:t>throttling and quotas</a:t>
            </a:r>
          </a:p>
        </p:txBody>
      </p:sp>
      <p:sp>
        <p:nvSpPr>
          <p:cNvPr id="11" name="arrow-414">
            <a:extLst>
              <a:ext uri="{FF2B5EF4-FFF2-40B4-BE49-F238E27FC236}">
                <a16:creationId xmlns:a16="http://schemas.microsoft.com/office/drawing/2014/main" id="{FBC3BC70-49EA-4AF1-94BB-BA7BB972E518}"/>
              </a:ext>
            </a:extLst>
          </p:cNvPr>
          <p:cNvSpPr>
            <a:spLocks noGrp="1"/>
          </p:cNvSpPr>
          <p:nvPr/>
        </p:nvSpPr>
        <p:spPr>
          <a:xfrm>
            <a:off x="3943350" y="3009900"/>
            <a:ext cx="361950" cy="266700"/>
          </a:xfrm>
          <a:prstGeom prst="rightArrow">
            <a:avLst/>
          </a:prstGeom>
          <a:solidFill>
            <a:srgbClr val="08A89B"/>
          </a:solidFill>
          <a:ln w="0">
            <a:solidFill>
              <a:srgbClr val="08A89B"/>
            </a:solidFill>
            <a:prstDash val="solid"/>
          </a:ln>
        </p:spPr>
        <p:txBody>
          <a:bodyPr/>
          <a:lstStyle/>
          <a:p>
            <a:endParaRPr/>
          </a:p>
        </p:txBody>
      </p:sp>
      <p:sp>
        <p:nvSpPr>
          <p:cNvPr id="12" name="stage-Elastic services">
            <a:extLst>
              <a:ext uri="{FF2B5EF4-FFF2-40B4-BE49-F238E27FC236}">
                <a16:creationId xmlns:a16="http://schemas.microsoft.com/office/drawing/2014/main" id="{8D06212E-B79A-4B49-B46F-A9E824672C2D}"/>
              </a:ext>
            </a:extLst>
          </p:cNvPr>
          <p:cNvSpPr>
            <a:spLocks noGrp="1"/>
          </p:cNvSpPr>
          <p:nvPr/>
        </p:nvSpPr>
        <p:spPr>
          <a:xfrm>
            <a:off x="4457700" y="2152650"/>
            <a:ext cx="3276600" cy="2076450"/>
          </a:xfrm>
          <a:prstGeom prst="roundRect">
            <a:avLst>
              <a:gd name="adj" fmla="val 5505"/>
            </a:avLst>
          </a:prstGeom>
          <a:solidFill>
            <a:srgbClr val="FFFF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pic>
        <p:nvPicPr>
          <p:cNvPr id="58" name="Picture 47"/>
          <p:cNvPicPr>
            <a:picLocks noChangeAspect="1"/>
          </p:cNvPicPr>
          <p:nvPr/>
        </p:nvPicPr>
        <p:blipFill>
          <a:blip r:embed="rId6"/>
          <a:stretch/>
        </p:blipFill>
        <p:spPr>
          <a:xfrm>
            <a:off x="4743450" y="2390775"/>
            <a:ext cx="400050" cy="400050"/>
          </a:xfrm>
          <a:prstGeom prst="rect">
            <a:avLst/>
          </a:prstGeom>
        </p:spPr>
      </p:pic>
      <p:pic>
        <p:nvPicPr>
          <p:cNvPr id="59" name="Picture 48"/>
          <p:cNvPicPr>
            <a:picLocks noChangeAspect="1"/>
          </p:cNvPicPr>
          <p:nvPr/>
        </p:nvPicPr>
        <p:blipFill>
          <a:blip r:embed="rId7"/>
          <a:stretch/>
        </p:blipFill>
        <p:spPr>
          <a:xfrm>
            <a:off x="5257800" y="2390775"/>
            <a:ext cx="400050" cy="400050"/>
          </a:xfrm>
          <a:prstGeom prst="rect">
            <a:avLst/>
          </a:prstGeom>
        </p:spPr>
      </p:pic>
      <p:pic>
        <p:nvPicPr>
          <p:cNvPr id="60" name="Picture 49"/>
          <p:cNvPicPr>
            <a:picLocks noChangeAspect="1"/>
          </p:cNvPicPr>
          <p:nvPr/>
        </p:nvPicPr>
        <p:blipFill>
          <a:blip r:embed="rId8"/>
          <a:stretch/>
        </p:blipFill>
        <p:spPr>
          <a:xfrm>
            <a:off x="5772150" y="2390775"/>
            <a:ext cx="400050" cy="400050"/>
          </a:xfrm>
          <a:prstGeom prst="rect">
            <a:avLst/>
          </a:prstGeom>
        </p:spPr>
      </p:pic>
      <p:sp>
        <p:nvSpPr>
          <p:cNvPr id="16" name="Elastic services-title">
            <a:extLst>
              <a:ext uri="{FF2B5EF4-FFF2-40B4-BE49-F238E27FC236}">
                <a16:creationId xmlns:a16="http://schemas.microsoft.com/office/drawing/2014/main" id="{863A8F54-30C2-4A35-8DC7-C4B901C03292}"/>
              </a:ext>
            </a:extLst>
          </p:cNvPr>
          <p:cNvSpPr>
            <a:spLocks noGrp="1"/>
          </p:cNvSpPr>
          <p:nvPr/>
        </p:nvSpPr>
        <p:spPr>
          <a:xfrm>
            <a:off x="472440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Elastic services</a:t>
            </a:r>
          </a:p>
        </p:txBody>
      </p:sp>
      <p:sp>
        <p:nvSpPr>
          <p:cNvPr id="17" name="Elastic services-detail">
            <a:extLst>
              <a:ext uri="{FF2B5EF4-FFF2-40B4-BE49-F238E27FC236}">
                <a16:creationId xmlns:a16="http://schemas.microsoft.com/office/drawing/2014/main" id="{63953FE2-48E1-4E94-9D41-F1B98AB0DAEF}"/>
              </a:ext>
            </a:extLst>
          </p:cNvPr>
          <p:cNvSpPr>
            <a:spLocks noGrp="1"/>
          </p:cNvSpPr>
          <p:nvPr/>
        </p:nvSpPr>
        <p:spPr>
          <a:xfrm>
            <a:off x="472440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Lambda for bursty flows</a:t>
            </a:r>
          </a:p>
          <a:p>
            <a:pPr>
              <a:buNone/>
              <a:defRPr sz="1125">
                <a:solidFill>
                  <a:srgbClr val="4B5563"/>
                </a:solidFill>
              </a:defRPr>
            </a:pPr>
            <a:r>
              <a:rPr sz="1125">
                <a:solidFill>
                  <a:srgbClr val="4B5563"/>
                </a:solidFill>
              </a:rPr>
              <a:t>ECS Fargate for adapters</a:t>
            </a:r>
          </a:p>
          <a:p>
            <a:pPr>
              <a:buNone/>
              <a:defRPr sz="1125">
                <a:solidFill>
                  <a:srgbClr val="4B5563"/>
                </a:solidFill>
              </a:defRPr>
            </a:pPr>
            <a:r>
              <a:rPr sz="1125">
                <a:solidFill>
                  <a:srgbClr val="4B5563"/>
                </a:solidFill>
              </a:rPr>
              <a:t>service-specific scaling</a:t>
            </a:r>
          </a:p>
        </p:txBody>
      </p:sp>
      <p:sp>
        <p:nvSpPr>
          <p:cNvPr id="18" name="arrow-824">
            <a:extLst>
              <a:ext uri="{FF2B5EF4-FFF2-40B4-BE49-F238E27FC236}">
                <a16:creationId xmlns:a16="http://schemas.microsoft.com/office/drawing/2014/main" id="{64E09129-25A3-4942-BD9A-17DB47DC9F5E}"/>
              </a:ext>
            </a:extLst>
          </p:cNvPr>
          <p:cNvSpPr>
            <a:spLocks noGrp="1"/>
          </p:cNvSpPr>
          <p:nvPr/>
        </p:nvSpPr>
        <p:spPr>
          <a:xfrm>
            <a:off x="7848600" y="3009900"/>
            <a:ext cx="361950" cy="266700"/>
          </a:xfrm>
          <a:prstGeom prst="rightArrow">
            <a:avLst/>
          </a:prstGeom>
          <a:solidFill>
            <a:srgbClr val="08A89B"/>
          </a:solidFill>
          <a:ln w="0">
            <a:solidFill>
              <a:srgbClr val="08A89B"/>
            </a:solidFill>
            <a:prstDash val="solid"/>
          </a:ln>
        </p:spPr>
        <p:txBody>
          <a:bodyPr/>
          <a:lstStyle/>
          <a:p>
            <a:endParaRPr/>
          </a:p>
        </p:txBody>
      </p:sp>
      <p:sp>
        <p:nvSpPr>
          <p:cNvPr id="19" name="stage-Resilient state">
            <a:extLst>
              <a:ext uri="{FF2B5EF4-FFF2-40B4-BE49-F238E27FC236}">
                <a16:creationId xmlns:a16="http://schemas.microsoft.com/office/drawing/2014/main" id="{CB051D9D-9D0F-4F17-BB49-F9BB031C48C8}"/>
              </a:ext>
            </a:extLst>
          </p:cNvPr>
          <p:cNvSpPr>
            <a:spLocks noGrp="1"/>
          </p:cNvSpPr>
          <p:nvPr/>
        </p:nvSpPr>
        <p:spPr>
          <a:xfrm>
            <a:off x="8362950" y="2152650"/>
            <a:ext cx="3276600" cy="2076450"/>
          </a:xfrm>
          <a:prstGeom prst="roundRect">
            <a:avLst>
              <a:gd name="adj" fmla="val 5505"/>
            </a:avLst>
          </a:prstGeom>
          <a:solidFill>
            <a:srgbClr val="FFFFFF"/>
          </a:solidFill>
          <a:ln w="1714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pic>
        <p:nvPicPr>
          <p:cNvPr id="65" name="Picture 54"/>
          <p:cNvPicPr>
            <a:picLocks noChangeAspect="1"/>
          </p:cNvPicPr>
          <p:nvPr/>
        </p:nvPicPr>
        <p:blipFill>
          <a:blip r:embed="rId9"/>
          <a:stretch/>
        </p:blipFill>
        <p:spPr>
          <a:xfrm>
            <a:off x="8648700" y="2390775"/>
            <a:ext cx="400050" cy="400050"/>
          </a:xfrm>
          <a:prstGeom prst="rect">
            <a:avLst/>
          </a:prstGeom>
        </p:spPr>
      </p:pic>
      <p:pic>
        <p:nvPicPr>
          <p:cNvPr id="66" name="Picture 55"/>
          <p:cNvPicPr>
            <a:picLocks noChangeAspect="1"/>
          </p:cNvPicPr>
          <p:nvPr/>
        </p:nvPicPr>
        <p:blipFill>
          <a:blip r:embed="rId10"/>
          <a:stretch/>
        </p:blipFill>
        <p:spPr>
          <a:xfrm>
            <a:off x="9163050" y="2390775"/>
            <a:ext cx="400050" cy="400050"/>
          </a:xfrm>
          <a:prstGeom prst="rect">
            <a:avLst/>
          </a:prstGeom>
        </p:spPr>
      </p:pic>
      <p:pic>
        <p:nvPicPr>
          <p:cNvPr id="67" name="Picture 56"/>
          <p:cNvPicPr>
            <a:picLocks noChangeAspect="1"/>
          </p:cNvPicPr>
          <p:nvPr/>
        </p:nvPicPr>
        <p:blipFill>
          <a:blip r:embed="rId11"/>
          <a:stretch/>
        </p:blipFill>
        <p:spPr>
          <a:xfrm>
            <a:off x="9677400" y="2390775"/>
            <a:ext cx="400050" cy="400050"/>
          </a:xfrm>
          <a:prstGeom prst="rect">
            <a:avLst/>
          </a:prstGeom>
        </p:spPr>
      </p:pic>
      <p:sp>
        <p:nvSpPr>
          <p:cNvPr id="23" name="Resilient state-title">
            <a:extLst>
              <a:ext uri="{FF2B5EF4-FFF2-40B4-BE49-F238E27FC236}">
                <a16:creationId xmlns:a16="http://schemas.microsoft.com/office/drawing/2014/main" id="{09F99AC6-39DD-4161-9434-B415C210B487}"/>
              </a:ext>
            </a:extLst>
          </p:cNvPr>
          <p:cNvSpPr>
            <a:spLocks noGrp="1"/>
          </p:cNvSpPr>
          <p:nvPr/>
        </p:nvSpPr>
        <p:spPr>
          <a:xfrm>
            <a:off x="86296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Resilient state</a:t>
            </a:r>
          </a:p>
        </p:txBody>
      </p:sp>
      <p:sp>
        <p:nvSpPr>
          <p:cNvPr id="24" name="Resilient state-detail">
            <a:extLst>
              <a:ext uri="{FF2B5EF4-FFF2-40B4-BE49-F238E27FC236}">
                <a16:creationId xmlns:a16="http://schemas.microsoft.com/office/drawing/2014/main" id="{89D1F079-7A56-4B03-9B5C-1146099CF3F2}"/>
              </a:ext>
            </a:extLst>
          </p:cNvPr>
          <p:cNvSpPr>
            <a:spLocks noGrp="1"/>
          </p:cNvSpPr>
          <p:nvPr/>
        </p:nvSpPr>
        <p:spPr>
          <a:xfrm>
            <a:off x="86296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Multi-AZ managed services</a:t>
            </a:r>
          </a:p>
          <a:p>
            <a:pPr>
              <a:buNone/>
              <a:defRPr sz="1125">
                <a:solidFill>
                  <a:srgbClr val="4B5563"/>
                </a:solidFill>
              </a:defRPr>
            </a:pPr>
            <a:r>
              <a:rPr sz="1125">
                <a:solidFill>
                  <a:srgbClr val="4B5563"/>
                </a:solidFill>
              </a:rPr>
              <a:t>queues absorb spikes</a:t>
            </a:r>
          </a:p>
          <a:p>
            <a:pPr>
              <a:buNone/>
              <a:defRPr sz="1125">
                <a:solidFill>
                  <a:srgbClr val="4B5563"/>
                </a:solidFill>
              </a:defRPr>
            </a:pPr>
            <a:r>
              <a:rPr sz="1125">
                <a:solidFill>
                  <a:srgbClr val="4B5563"/>
                </a:solidFill>
              </a:rPr>
              <a:t>warm-standby Region</a:t>
            </a:r>
          </a:p>
        </p:txBody>
      </p:sp>
      <p:sp>
        <p:nvSpPr>
          <p:cNvPr id="25" name="decisions-label">
            <a:extLst>
              <a:ext uri="{FF2B5EF4-FFF2-40B4-BE49-F238E27FC236}">
                <a16:creationId xmlns:a16="http://schemas.microsoft.com/office/drawing/2014/main" id="{3CC36DA5-D027-45C6-886E-4B34C05402DC}"/>
              </a:ext>
            </a:extLst>
          </p:cNvPr>
          <p:cNvSpPr>
            <a:spLocks noGrp="1"/>
          </p:cNvSpPr>
          <p:nvPr/>
        </p:nvSpPr>
        <p:spPr>
          <a:xfrm>
            <a:off x="552450" y="4438650"/>
            <a:ext cx="2381250" cy="190500"/>
          </a:xfrm>
          <a:prstGeom prst="rect">
            <a:avLst/>
          </a:prstGeom>
          <a:noFill/>
          <a:ln w="0">
            <a:noFill/>
            <a:prstDash val="solid"/>
          </a:ln>
        </p:spPr>
        <p:txBody>
          <a:bodyPr/>
          <a:lstStyle/>
          <a:p>
            <a:pPr>
              <a:buNone/>
              <a:defRPr sz="900" b="1">
                <a:solidFill>
                  <a:srgbClr val="5B6472"/>
                </a:solidFill>
              </a:defRPr>
            </a:pPr>
            <a:r>
              <a:rPr sz="900" b="1">
                <a:solidFill>
                  <a:srgbClr val="5B6472"/>
                </a:solidFill>
              </a:rPr>
              <a:t>ARCHITECTURE DECISIONS</a:t>
            </a:r>
          </a:p>
        </p:txBody>
      </p:sp>
      <p:sp>
        <p:nvSpPr>
          <p:cNvPr id="26" name="decision-0-title">
            <a:extLst>
              <a:ext uri="{FF2B5EF4-FFF2-40B4-BE49-F238E27FC236}">
                <a16:creationId xmlns:a16="http://schemas.microsoft.com/office/drawing/2014/main" id="{CAEBF7A6-9A6C-4BF2-8AEE-23356AEA60E1}"/>
              </a:ext>
            </a:extLst>
          </p:cNvPr>
          <p:cNvSpPr>
            <a:spLocks noGrp="1"/>
          </p:cNvSpPr>
          <p:nvPr/>
        </p:nvSpPr>
        <p:spPr>
          <a:xfrm>
            <a:off x="552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SCALE SIGNAL</a:t>
            </a:r>
          </a:p>
        </p:txBody>
      </p:sp>
      <p:sp>
        <p:nvSpPr>
          <p:cNvPr id="27" name="decision-0-body">
            <a:extLst>
              <a:ext uri="{FF2B5EF4-FFF2-40B4-BE49-F238E27FC236}">
                <a16:creationId xmlns:a16="http://schemas.microsoft.com/office/drawing/2014/main" id="{0CC27798-F4CF-406B-803C-D7FF4BC82830}"/>
              </a:ext>
            </a:extLst>
          </p:cNvPr>
          <p:cNvSpPr>
            <a:spLocks noGrp="1"/>
          </p:cNvSpPr>
          <p:nvPr/>
        </p:nvSpPr>
        <p:spPr>
          <a:xfrm>
            <a:off x="552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Latency, concurrency, CPU and queue depth—not one global threshold.</a:t>
            </a:r>
          </a:p>
        </p:txBody>
      </p:sp>
      <p:sp>
        <p:nvSpPr>
          <p:cNvPr id="28" name="decision-1-title">
            <a:extLst>
              <a:ext uri="{FF2B5EF4-FFF2-40B4-BE49-F238E27FC236}">
                <a16:creationId xmlns:a16="http://schemas.microsoft.com/office/drawing/2014/main" id="{91259393-50F3-4393-A7BA-9935A4ED6409}"/>
              </a:ext>
            </a:extLst>
          </p:cNvPr>
          <p:cNvSpPr>
            <a:spLocks noGrp="1"/>
          </p:cNvSpPr>
          <p:nvPr/>
        </p:nvSpPr>
        <p:spPr>
          <a:xfrm>
            <a:off x="3409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FAILURE ISOLATION</a:t>
            </a:r>
          </a:p>
        </p:txBody>
      </p:sp>
      <p:sp>
        <p:nvSpPr>
          <p:cNvPr id="29" name="decision-1-body">
            <a:extLst>
              <a:ext uri="{FF2B5EF4-FFF2-40B4-BE49-F238E27FC236}">
                <a16:creationId xmlns:a16="http://schemas.microsoft.com/office/drawing/2014/main" id="{DE56DA68-2655-4E13-B487-B261AFB55F1F}"/>
              </a:ext>
            </a:extLst>
          </p:cNvPr>
          <p:cNvSpPr>
            <a:spLocks noGrp="1"/>
          </p:cNvSpPr>
          <p:nvPr/>
        </p:nvSpPr>
        <p:spPr>
          <a:xfrm>
            <a:off x="3409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Bulkheads and circuit breakers prevent one dealer outage from spreading.</a:t>
            </a:r>
          </a:p>
        </p:txBody>
      </p:sp>
      <p:sp>
        <p:nvSpPr>
          <p:cNvPr id="30" name="decision-2-title">
            <a:extLst>
              <a:ext uri="{FF2B5EF4-FFF2-40B4-BE49-F238E27FC236}">
                <a16:creationId xmlns:a16="http://schemas.microsoft.com/office/drawing/2014/main" id="{888D6DD6-6409-44B5-85C9-FAB437E92917}"/>
              </a:ext>
            </a:extLst>
          </p:cNvPr>
          <p:cNvSpPr>
            <a:spLocks noGrp="1"/>
          </p:cNvSpPr>
          <p:nvPr/>
        </p:nvSpPr>
        <p:spPr>
          <a:xfrm>
            <a:off x="6267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RECALL EVENTS</a:t>
            </a:r>
          </a:p>
        </p:txBody>
      </p:sp>
      <p:sp>
        <p:nvSpPr>
          <p:cNvPr id="31" name="decision-2-body">
            <a:extLst>
              <a:ext uri="{FF2B5EF4-FFF2-40B4-BE49-F238E27FC236}">
                <a16:creationId xmlns:a16="http://schemas.microsoft.com/office/drawing/2014/main" id="{D43D94FA-ECB1-4EBA-BC86-C9B9781520F9}"/>
              </a:ext>
            </a:extLst>
          </p:cNvPr>
          <p:cNvSpPr>
            <a:spLocks noGrp="1"/>
          </p:cNvSpPr>
          <p:nvPr/>
        </p:nvSpPr>
        <p:spPr>
          <a:xfrm>
            <a:off x="6267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Reserved concurrency, quotas and queue buffering protect critical booking APIs.</a:t>
            </a:r>
          </a:p>
        </p:txBody>
      </p:sp>
      <p:sp>
        <p:nvSpPr>
          <p:cNvPr id="32" name="decision-3-title">
            <a:extLst>
              <a:ext uri="{FF2B5EF4-FFF2-40B4-BE49-F238E27FC236}">
                <a16:creationId xmlns:a16="http://schemas.microsoft.com/office/drawing/2014/main" id="{351D65CF-886D-4959-A957-F90C5974B838}"/>
              </a:ext>
            </a:extLst>
          </p:cNvPr>
          <p:cNvSpPr>
            <a:spLocks noGrp="1"/>
          </p:cNvSpPr>
          <p:nvPr/>
        </p:nvSpPr>
        <p:spPr>
          <a:xfrm>
            <a:off x="9124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RECOVERY TARGET</a:t>
            </a:r>
          </a:p>
        </p:txBody>
      </p:sp>
      <p:sp>
        <p:nvSpPr>
          <p:cNvPr id="33" name="decision-3-body">
            <a:extLst>
              <a:ext uri="{FF2B5EF4-FFF2-40B4-BE49-F238E27FC236}">
                <a16:creationId xmlns:a16="http://schemas.microsoft.com/office/drawing/2014/main" id="{B0A47B17-6751-49EF-B4D7-D21F4D20E04D}"/>
              </a:ext>
            </a:extLst>
          </p:cNvPr>
          <p:cNvSpPr>
            <a:spLocks noGrp="1"/>
          </p:cNvSpPr>
          <p:nvPr/>
        </p:nvSpPr>
        <p:spPr>
          <a:xfrm>
            <a:off x="9124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Define workload RTO/RPO; validate regional failover through game days.</a:t>
            </a:r>
          </a:p>
        </p:txBody>
      </p:sp>
      <p:sp>
        <p:nvSpPr>
          <p:cNvPr id="34" name="footer">
            <a:extLst>
              <a:ext uri="{FF2B5EF4-FFF2-40B4-BE49-F238E27FC236}">
                <a16:creationId xmlns:a16="http://schemas.microsoft.com/office/drawing/2014/main" id="{A0523926-00B0-4135-B11A-4E6321A65E9D}"/>
              </a:ext>
            </a:extLst>
          </p:cNvPr>
          <p:cNvSpPr>
            <a:spLocks noGrp="1"/>
          </p:cNvSpPr>
          <p:nvPr/>
        </p:nvSpPr>
        <p:spPr>
          <a:xfrm>
            <a:off x="552450" y="5953125"/>
            <a:ext cx="11087100" cy="457200"/>
          </a:xfrm>
          <a:prstGeom prst="roundRect">
            <a:avLst>
              <a:gd name="adj" fmla="val 16667"/>
            </a:avLst>
          </a:prstGeom>
          <a:solidFill>
            <a:srgbClr val="F0FAF8"/>
          </a:solidFill>
          <a:ln w="9525">
            <a:solidFill>
              <a:srgbClr val="B7E2DC"/>
            </a:solidFill>
            <a:prstDash val="solid"/>
          </a:ln>
        </p:spPr>
        <p:txBody>
          <a:bodyPr/>
          <a:lstStyle/>
          <a:p>
            <a:endParaRPr/>
          </a:p>
        </p:txBody>
      </p:sp>
      <p:sp>
        <p:nvSpPr>
          <p:cNvPr id="35" name="footer-text">
            <a:extLst>
              <a:ext uri="{FF2B5EF4-FFF2-40B4-BE49-F238E27FC236}">
                <a16:creationId xmlns:a16="http://schemas.microsoft.com/office/drawing/2014/main" id="{68174F39-A94A-45EE-9584-789E850F69CF}"/>
              </a:ext>
            </a:extLst>
          </p:cNvPr>
          <p:cNvSpPr>
            <a:spLocks noGrp="1"/>
          </p:cNvSpPr>
          <p:nvPr/>
        </p:nvSpPr>
        <p:spPr>
          <a:xfrm>
            <a:off x="781050" y="6086475"/>
            <a:ext cx="106299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Design principle: managed services first • explicit ownership • graceful degradation • measurable recovery</a:t>
            </a:r>
          </a:p>
        </p:txBody>
      </p:sp>
    </p:spTree>
    <p:extLst>
      <p:ext uri="{BB962C8B-B14F-4D97-AF65-F5344CB8AC3E}">
        <p14:creationId xmlns:p14="http://schemas.microsoft.com/office/powerpoint/2010/main" val="1446974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eyebrow">
            <a:extLst>
              <a:ext uri="{FF2B5EF4-FFF2-40B4-BE49-F238E27FC236}">
                <a16:creationId xmlns:a16="http://schemas.microsoft.com/office/drawing/2014/main" id="{298F3D68-ACF3-406E-AAC0-25E0660DB401}"/>
              </a:ext>
            </a:extLst>
          </p:cNvPr>
          <p:cNvSpPr>
            <a:spLocks noGrp="1"/>
          </p:cNvSpPr>
          <p:nvPr/>
        </p:nvSpPr>
        <p:spPr>
          <a:xfrm>
            <a:off x="552450" y="266700"/>
            <a:ext cx="4000500" cy="190500"/>
          </a:xfrm>
          <a:prstGeom prst="rect">
            <a:avLst/>
          </a:prstGeom>
          <a:noFill/>
          <a:ln w="0">
            <a:noFill/>
            <a:prstDash val="solid"/>
          </a:ln>
        </p:spPr>
        <p:txBody>
          <a:bodyPr/>
          <a:lstStyle/>
          <a:p>
            <a:pPr>
              <a:buNone/>
              <a:defRPr sz="975" b="1">
                <a:solidFill>
                  <a:srgbClr val="198E84"/>
                </a:solidFill>
              </a:defRPr>
            </a:pPr>
            <a:r>
              <a:rPr sz="975" b="1" dirty="0">
                <a:solidFill>
                  <a:srgbClr val="198E84"/>
                </a:solidFill>
              </a:rPr>
              <a:t>SPEED &amp; PERFORMANCE</a:t>
            </a:r>
          </a:p>
        </p:txBody>
      </p:sp>
      <p:sp>
        <p:nvSpPr>
          <p:cNvPr id="2" name="title">
            <a:extLst>
              <a:ext uri="{FF2B5EF4-FFF2-40B4-BE49-F238E27FC236}">
                <a16:creationId xmlns:a16="http://schemas.microsoft.com/office/drawing/2014/main" id="{1D0867D3-0A24-4D1B-9155-C721F07809BA}"/>
              </a:ext>
            </a:extLst>
          </p:cNvPr>
          <p:cNvSpPr>
            <a:spLocks noGrp="1"/>
          </p:cNvSpPr>
          <p:nvPr/>
        </p:nvSpPr>
        <p:spPr>
          <a:xfrm>
            <a:off x="552450" y="523875"/>
            <a:ext cx="11087100" cy="742950"/>
          </a:xfrm>
          <a:prstGeom prst="rect">
            <a:avLst/>
          </a:prstGeom>
          <a:noFill/>
          <a:ln w="0">
            <a:noFill/>
            <a:prstDash val="solid"/>
          </a:ln>
        </p:spPr>
        <p:txBody>
          <a:bodyPr/>
          <a:lstStyle/>
          <a:p>
            <a:pPr>
              <a:buNone/>
              <a:defRPr sz="2475" b="1">
                <a:solidFill>
                  <a:srgbClr val="111827"/>
                </a:solidFill>
              </a:defRPr>
            </a:pPr>
            <a:r>
              <a:rPr sz="2475" b="1">
                <a:solidFill>
                  <a:srgbClr val="111827"/>
                </a:solidFill>
              </a:rPr>
              <a:t>A latency budget keeps browsing fast while legacy calls degrade gracefully</a:t>
            </a:r>
          </a:p>
        </p:txBody>
      </p:sp>
      <p:sp>
        <p:nvSpPr>
          <p:cNvPr id="3" name="subtitle">
            <a:extLst>
              <a:ext uri="{FF2B5EF4-FFF2-40B4-BE49-F238E27FC236}">
                <a16:creationId xmlns:a16="http://schemas.microsoft.com/office/drawing/2014/main" id="{B9217D3E-4ED5-4C32-AD11-4C9DEDB3B198}"/>
              </a:ext>
            </a:extLst>
          </p:cNvPr>
          <p:cNvSpPr>
            <a:spLocks noGrp="1"/>
          </p:cNvSpPr>
          <p:nvPr/>
        </p:nvSpPr>
        <p:spPr>
          <a:xfrm>
            <a:off x="552450" y="1333500"/>
            <a:ext cx="11087100" cy="400050"/>
          </a:xfrm>
          <a:prstGeom prst="rect">
            <a:avLst/>
          </a:prstGeom>
          <a:noFill/>
          <a:ln w="0">
            <a:noFill/>
            <a:prstDash val="solid"/>
          </a:ln>
        </p:spPr>
        <p:txBody>
          <a:bodyPr/>
          <a:lstStyle/>
          <a:p>
            <a:pPr>
              <a:buNone/>
              <a:defRPr sz="1275">
                <a:solidFill>
                  <a:srgbClr val="5B6472"/>
                </a:solidFill>
              </a:defRPr>
            </a:pPr>
            <a:r>
              <a:rPr sz="1275">
                <a:solidFill>
                  <a:srgbClr val="5B6472"/>
                </a:solidFill>
              </a:rPr>
              <a:t>Cache safe reads, parallelize independent work, and keep slow brownfield systems away from the critical customer path.</a:t>
            </a:r>
          </a:p>
        </p:txBody>
      </p:sp>
      <p:sp>
        <p:nvSpPr>
          <p:cNvPr id="4" name="section-rule">
            <a:extLst>
              <a:ext uri="{FF2B5EF4-FFF2-40B4-BE49-F238E27FC236}">
                <a16:creationId xmlns:a16="http://schemas.microsoft.com/office/drawing/2014/main" id="{A227FF8A-DC5F-4CA0-9C9C-D958C0353737}"/>
              </a:ext>
            </a:extLst>
          </p:cNvPr>
          <p:cNvSpPr>
            <a:spLocks noGrp="1"/>
          </p:cNvSpPr>
          <p:nvPr/>
        </p:nvSpPr>
        <p:spPr>
          <a:xfrm>
            <a:off x="552450" y="1876425"/>
            <a:ext cx="11087100" cy="0"/>
          </a:xfrm>
          <a:prstGeom prst="line">
            <a:avLst/>
          </a:prstGeom>
          <a:ln w="11430">
            <a:solidFill>
              <a:srgbClr val="D7DEE8"/>
            </a:solidFill>
            <a:prstDash val="solid"/>
          </a:ln>
        </p:spPr>
        <p:txBody>
          <a:bodyPr/>
          <a:lstStyle/>
          <a:p>
            <a:endParaRPr/>
          </a:p>
        </p:txBody>
      </p:sp>
      <p:sp>
        <p:nvSpPr>
          <p:cNvPr id="5" name="stage-Deliver quickly">
            <a:extLst>
              <a:ext uri="{FF2B5EF4-FFF2-40B4-BE49-F238E27FC236}">
                <a16:creationId xmlns:a16="http://schemas.microsoft.com/office/drawing/2014/main" id="{AB72CE70-AF8F-4578-AF51-86A3B4BAB7AF}"/>
              </a:ext>
            </a:extLst>
          </p:cNvPr>
          <p:cNvSpPr>
            <a:spLocks noGrp="1"/>
          </p:cNvSpPr>
          <p:nvPr/>
        </p:nvSpPr>
        <p:spPr>
          <a:xfrm>
            <a:off x="552450" y="2152650"/>
            <a:ext cx="3276600" cy="2076450"/>
          </a:xfrm>
          <a:prstGeom prst="roundRect">
            <a:avLst>
              <a:gd name="adj" fmla="val 5505"/>
            </a:avLst>
          </a:prstGeom>
          <a:solidFill>
            <a:srgbClr val="FFFF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51" name="Picture 40"/>
          <p:cNvPicPr>
            <a:picLocks noChangeAspect="1"/>
          </p:cNvPicPr>
          <p:nvPr/>
        </p:nvPicPr>
        <p:blipFill>
          <a:blip r:embed="rId3"/>
          <a:stretch/>
        </p:blipFill>
        <p:spPr>
          <a:xfrm>
            <a:off x="838200" y="2390775"/>
            <a:ext cx="400050" cy="400050"/>
          </a:xfrm>
          <a:prstGeom prst="rect">
            <a:avLst/>
          </a:prstGeom>
        </p:spPr>
      </p:pic>
      <p:pic>
        <p:nvPicPr>
          <p:cNvPr id="52" name="Picture 41"/>
          <p:cNvPicPr>
            <a:picLocks noChangeAspect="1"/>
          </p:cNvPicPr>
          <p:nvPr/>
        </p:nvPicPr>
        <p:blipFill>
          <a:blip r:embed="rId4"/>
          <a:stretch/>
        </p:blipFill>
        <p:spPr>
          <a:xfrm>
            <a:off x="1352550" y="2390775"/>
            <a:ext cx="400050" cy="400050"/>
          </a:xfrm>
          <a:prstGeom prst="rect">
            <a:avLst/>
          </a:prstGeom>
        </p:spPr>
      </p:pic>
      <p:pic>
        <p:nvPicPr>
          <p:cNvPr id="53" name="Picture 42"/>
          <p:cNvPicPr>
            <a:picLocks noChangeAspect="1"/>
          </p:cNvPicPr>
          <p:nvPr/>
        </p:nvPicPr>
        <p:blipFill>
          <a:blip r:embed="rId5"/>
          <a:stretch/>
        </p:blipFill>
        <p:spPr>
          <a:xfrm>
            <a:off x="1866900" y="2390775"/>
            <a:ext cx="400050" cy="400050"/>
          </a:xfrm>
          <a:prstGeom prst="rect">
            <a:avLst/>
          </a:prstGeom>
        </p:spPr>
      </p:pic>
      <p:sp>
        <p:nvSpPr>
          <p:cNvPr id="9" name="Deliver quickly-title">
            <a:extLst>
              <a:ext uri="{FF2B5EF4-FFF2-40B4-BE49-F238E27FC236}">
                <a16:creationId xmlns:a16="http://schemas.microsoft.com/office/drawing/2014/main" id="{621329A2-4493-4134-BEDD-572E9C1824B8}"/>
              </a:ext>
            </a:extLst>
          </p:cNvPr>
          <p:cNvSpPr>
            <a:spLocks noGrp="1"/>
          </p:cNvSpPr>
          <p:nvPr/>
        </p:nvSpPr>
        <p:spPr>
          <a:xfrm>
            <a:off x="8191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Deliver quickly</a:t>
            </a:r>
          </a:p>
        </p:txBody>
      </p:sp>
      <p:sp>
        <p:nvSpPr>
          <p:cNvPr id="10" name="Deliver quickly-detail">
            <a:extLst>
              <a:ext uri="{FF2B5EF4-FFF2-40B4-BE49-F238E27FC236}">
                <a16:creationId xmlns:a16="http://schemas.microsoft.com/office/drawing/2014/main" id="{EED2CF31-774E-4AE3-9B63-B7905C31BC6D}"/>
              </a:ext>
            </a:extLst>
          </p:cNvPr>
          <p:cNvSpPr>
            <a:spLocks noGrp="1"/>
          </p:cNvSpPr>
          <p:nvPr/>
        </p:nvSpPr>
        <p:spPr>
          <a:xfrm>
            <a:off x="8191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CDN-cached SPA</a:t>
            </a:r>
          </a:p>
          <a:p>
            <a:pPr>
              <a:buNone/>
              <a:defRPr sz="1125">
                <a:solidFill>
                  <a:srgbClr val="4B5563"/>
                </a:solidFill>
              </a:defRPr>
            </a:pPr>
            <a:r>
              <a:rPr sz="1125">
                <a:solidFill>
                  <a:srgbClr val="4B5563"/>
                </a:solidFill>
              </a:rPr>
              <a:t>compressed assets</a:t>
            </a:r>
          </a:p>
          <a:p>
            <a:pPr>
              <a:buNone/>
              <a:defRPr sz="1125">
                <a:solidFill>
                  <a:srgbClr val="4B5563"/>
                </a:solidFill>
              </a:defRPr>
            </a:pPr>
            <a:r>
              <a:rPr sz="1125">
                <a:solidFill>
                  <a:srgbClr val="4B5563"/>
                </a:solidFill>
              </a:rPr>
              <a:t>regional API entry</a:t>
            </a:r>
          </a:p>
        </p:txBody>
      </p:sp>
      <p:sp>
        <p:nvSpPr>
          <p:cNvPr id="11" name="arrow-414">
            <a:extLst>
              <a:ext uri="{FF2B5EF4-FFF2-40B4-BE49-F238E27FC236}">
                <a16:creationId xmlns:a16="http://schemas.microsoft.com/office/drawing/2014/main" id="{AAF013F0-546B-4CD1-9305-63C276348D48}"/>
              </a:ext>
            </a:extLst>
          </p:cNvPr>
          <p:cNvSpPr>
            <a:spLocks noGrp="1"/>
          </p:cNvSpPr>
          <p:nvPr/>
        </p:nvSpPr>
        <p:spPr>
          <a:xfrm>
            <a:off x="3943350" y="3009900"/>
            <a:ext cx="361950" cy="266700"/>
          </a:xfrm>
          <a:prstGeom prst="rightArrow">
            <a:avLst/>
          </a:prstGeom>
          <a:solidFill>
            <a:srgbClr val="08A89B"/>
          </a:solidFill>
          <a:ln w="0">
            <a:solidFill>
              <a:srgbClr val="08A89B"/>
            </a:solidFill>
            <a:prstDash val="solid"/>
          </a:ln>
        </p:spPr>
        <p:txBody>
          <a:bodyPr/>
          <a:lstStyle/>
          <a:p>
            <a:endParaRPr/>
          </a:p>
        </p:txBody>
      </p:sp>
      <p:sp>
        <p:nvSpPr>
          <p:cNvPr id="12" name="stage-Respond efficiently">
            <a:extLst>
              <a:ext uri="{FF2B5EF4-FFF2-40B4-BE49-F238E27FC236}">
                <a16:creationId xmlns:a16="http://schemas.microsoft.com/office/drawing/2014/main" id="{6F9DD410-AE08-462C-92BA-83E841F5913A}"/>
              </a:ext>
            </a:extLst>
          </p:cNvPr>
          <p:cNvSpPr>
            <a:spLocks noGrp="1"/>
          </p:cNvSpPr>
          <p:nvPr/>
        </p:nvSpPr>
        <p:spPr>
          <a:xfrm>
            <a:off x="4457700" y="2152650"/>
            <a:ext cx="3276600" cy="2076450"/>
          </a:xfrm>
          <a:prstGeom prst="roundRect">
            <a:avLst>
              <a:gd name="adj" fmla="val 5505"/>
            </a:avLst>
          </a:prstGeom>
          <a:solidFill>
            <a:srgbClr val="FFFF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pic>
        <p:nvPicPr>
          <p:cNvPr id="58" name="Picture 47"/>
          <p:cNvPicPr>
            <a:picLocks noChangeAspect="1"/>
          </p:cNvPicPr>
          <p:nvPr/>
        </p:nvPicPr>
        <p:blipFill>
          <a:blip r:embed="rId6"/>
          <a:stretch/>
        </p:blipFill>
        <p:spPr>
          <a:xfrm>
            <a:off x="4743450" y="2390775"/>
            <a:ext cx="400050" cy="400050"/>
          </a:xfrm>
          <a:prstGeom prst="rect">
            <a:avLst/>
          </a:prstGeom>
        </p:spPr>
      </p:pic>
      <p:pic>
        <p:nvPicPr>
          <p:cNvPr id="59" name="Picture 48"/>
          <p:cNvPicPr>
            <a:picLocks noChangeAspect="1"/>
          </p:cNvPicPr>
          <p:nvPr/>
        </p:nvPicPr>
        <p:blipFill>
          <a:blip r:embed="rId7"/>
          <a:stretch/>
        </p:blipFill>
        <p:spPr>
          <a:xfrm>
            <a:off x="5257800" y="2390775"/>
            <a:ext cx="400050" cy="400050"/>
          </a:xfrm>
          <a:prstGeom prst="rect">
            <a:avLst/>
          </a:prstGeom>
        </p:spPr>
      </p:pic>
      <p:pic>
        <p:nvPicPr>
          <p:cNvPr id="60" name="Picture 49"/>
          <p:cNvPicPr>
            <a:picLocks noChangeAspect="1"/>
          </p:cNvPicPr>
          <p:nvPr/>
        </p:nvPicPr>
        <p:blipFill>
          <a:blip r:embed="rId8"/>
          <a:stretch/>
        </p:blipFill>
        <p:spPr>
          <a:xfrm>
            <a:off x="5772150" y="2390775"/>
            <a:ext cx="400050" cy="400050"/>
          </a:xfrm>
          <a:prstGeom prst="rect">
            <a:avLst/>
          </a:prstGeom>
        </p:spPr>
      </p:pic>
      <p:sp>
        <p:nvSpPr>
          <p:cNvPr id="16" name="Respond efficiently-title">
            <a:extLst>
              <a:ext uri="{FF2B5EF4-FFF2-40B4-BE49-F238E27FC236}">
                <a16:creationId xmlns:a16="http://schemas.microsoft.com/office/drawing/2014/main" id="{200A609E-DBBF-4E71-866D-5FA92BA66878}"/>
              </a:ext>
            </a:extLst>
          </p:cNvPr>
          <p:cNvSpPr>
            <a:spLocks noGrp="1"/>
          </p:cNvSpPr>
          <p:nvPr/>
        </p:nvSpPr>
        <p:spPr>
          <a:xfrm>
            <a:off x="472440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Respond efficiently</a:t>
            </a:r>
          </a:p>
        </p:txBody>
      </p:sp>
      <p:sp>
        <p:nvSpPr>
          <p:cNvPr id="17" name="Respond efficiently-detail">
            <a:extLst>
              <a:ext uri="{FF2B5EF4-FFF2-40B4-BE49-F238E27FC236}">
                <a16:creationId xmlns:a16="http://schemas.microsoft.com/office/drawing/2014/main" id="{3D12B1A7-871C-4633-BC6C-02087CBE6B3F}"/>
              </a:ext>
            </a:extLst>
          </p:cNvPr>
          <p:cNvSpPr>
            <a:spLocks noGrp="1"/>
          </p:cNvSpPr>
          <p:nvPr/>
        </p:nvSpPr>
        <p:spPr>
          <a:xfrm>
            <a:off x="472440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Valkey for safe read views</a:t>
            </a:r>
          </a:p>
          <a:p>
            <a:pPr>
              <a:buNone/>
              <a:defRPr sz="1125">
                <a:solidFill>
                  <a:srgbClr val="4B5563"/>
                </a:solidFill>
              </a:defRPr>
            </a:pPr>
            <a:r>
              <a:rPr sz="1125">
                <a:solidFill>
                  <a:srgbClr val="4B5563"/>
                </a:solidFill>
              </a:rPr>
              <a:t>parallel fan-out</a:t>
            </a:r>
          </a:p>
          <a:p>
            <a:pPr>
              <a:buNone/>
              <a:defRPr sz="1125">
                <a:solidFill>
                  <a:srgbClr val="4B5563"/>
                </a:solidFill>
              </a:defRPr>
            </a:pPr>
            <a:r>
              <a:rPr sz="1125">
                <a:solidFill>
                  <a:srgbClr val="4B5563"/>
                </a:solidFill>
              </a:rPr>
              <a:t>timeouts and budgets</a:t>
            </a:r>
          </a:p>
        </p:txBody>
      </p:sp>
      <p:sp>
        <p:nvSpPr>
          <p:cNvPr id="18" name="arrow-824">
            <a:extLst>
              <a:ext uri="{FF2B5EF4-FFF2-40B4-BE49-F238E27FC236}">
                <a16:creationId xmlns:a16="http://schemas.microsoft.com/office/drawing/2014/main" id="{E1FBD9F1-1502-449D-9CA2-E14D12331026}"/>
              </a:ext>
            </a:extLst>
          </p:cNvPr>
          <p:cNvSpPr>
            <a:spLocks noGrp="1"/>
          </p:cNvSpPr>
          <p:nvPr/>
        </p:nvSpPr>
        <p:spPr>
          <a:xfrm>
            <a:off x="7848600" y="3009900"/>
            <a:ext cx="361950" cy="266700"/>
          </a:xfrm>
          <a:prstGeom prst="rightArrow">
            <a:avLst/>
          </a:prstGeom>
          <a:solidFill>
            <a:srgbClr val="08A89B"/>
          </a:solidFill>
          <a:ln w="0">
            <a:solidFill>
              <a:srgbClr val="08A89B"/>
            </a:solidFill>
            <a:prstDash val="solid"/>
          </a:ln>
        </p:spPr>
        <p:txBody>
          <a:bodyPr/>
          <a:lstStyle/>
          <a:p>
            <a:endParaRPr/>
          </a:p>
        </p:txBody>
      </p:sp>
      <p:sp>
        <p:nvSpPr>
          <p:cNvPr id="19" name="stage-Finish asynchronously">
            <a:extLst>
              <a:ext uri="{FF2B5EF4-FFF2-40B4-BE49-F238E27FC236}">
                <a16:creationId xmlns:a16="http://schemas.microsoft.com/office/drawing/2014/main" id="{DFB9D899-7CB8-4C10-AD5F-13657075FCBB}"/>
              </a:ext>
            </a:extLst>
          </p:cNvPr>
          <p:cNvSpPr>
            <a:spLocks noGrp="1"/>
          </p:cNvSpPr>
          <p:nvPr/>
        </p:nvSpPr>
        <p:spPr>
          <a:xfrm>
            <a:off x="8362950" y="2152650"/>
            <a:ext cx="3276600" cy="2076450"/>
          </a:xfrm>
          <a:prstGeom prst="roundRect">
            <a:avLst>
              <a:gd name="adj" fmla="val 5505"/>
            </a:avLst>
          </a:prstGeom>
          <a:solidFill>
            <a:srgbClr val="FFFFFF"/>
          </a:solidFill>
          <a:ln w="1714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pic>
        <p:nvPicPr>
          <p:cNvPr id="65" name="Picture 54"/>
          <p:cNvPicPr>
            <a:picLocks noChangeAspect="1"/>
          </p:cNvPicPr>
          <p:nvPr/>
        </p:nvPicPr>
        <p:blipFill>
          <a:blip r:embed="rId9"/>
          <a:stretch/>
        </p:blipFill>
        <p:spPr>
          <a:xfrm>
            <a:off x="8648700" y="2390775"/>
            <a:ext cx="400050" cy="400050"/>
          </a:xfrm>
          <a:prstGeom prst="rect">
            <a:avLst/>
          </a:prstGeom>
        </p:spPr>
      </p:pic>
      <p:pic>
        <p:nvPicPr>
          <p:cNvPr id="66" name="Picture 55"/>
          <p:cNvPicPr>
            <a:picLocks noChangeAspect="1"/>
          </p:cNvPicPr>
          <p:nvPr/>
        </p:nvPicPr>
        <p:blipFill>
          <a:blip r:embed="rId10"/>
          <a:stretch/>
        </p:blipFill>
        <p:spPr>
          <a:xfrm>
            <a:off x="9163050" y="2390775"/>
            <a:ext cx="400050" cy="400050"/>
          </a:xfrm>
          <a:prstGeom prst="rect">
            <a:avLst/>
          </a:prstGeom>
        </p:spPr>
      </p:pic>
      <p:pic>
        <p:nvPicPr>
          <p:cNvPr id="67" name="Picture 56"/>
          <p:cNvPicPr>
            <a:picLocks noChangeAspect="1"/>
          </p:cNvPicPr>
          <p:nvPr/>
        </p:nvPicPr>
        <p:blipFill>
          <a:blip r:embed="rId11"/>
          <a:stretch/>
        </p:blipFill>
        <p:spPr>
          <a:xfrm>
            <a:off x="9677400" y="2390775"/>
            <a:ext cx="400050" cy="400050"/>
          </a:xfrm>
          <a:prstGeom prst="rect">
            <a:avLst/>
          </a:prstGeom>
        </p:spPr>
      </p:pic>
      <p:sp>
        <p:nvSpPr>
          <p:cNvPr id="23" name="Finish asynchronously-title">
            <a:extLst>
              <a:ext uri="{FF2B5EF4-FFF2-40B4-BE49-F238E27FC236}">
                <a16:creationId xmlns:a16="http://schemas.microsoft.com/office/drawing/2014/main" id="{086427B5-9AAC-4DC3-91D4-19790101CF18}"/>
              </a:ext>
            </a:extLst>
          </p:cNvPr>
          <p:cNvSpPr>
            <a:spLocks noGrp="1"/>
          </p:cNvSpPr>
          <p:nvPr/>
        </p:nvSpPr>
        <p:spPr>
          <a:xfrm>
            <a:off x="86296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Finish asynchronously</a:t>
            </a:r>
          </a:p>
        </p:txBody>
      </p:sp>
      <p:sp>
        <p:nvSpPr>
          <p:cNvPr id="24" name="Finish asynchronously-detail">
            <a:extLst>
              <a:ext uri="{FF2B5EF4-FFF2-40B4-BE49-F238E27FC236}">
                <a16:creationId xmlns:a16="http://schemas.microsoft.com/office/drawing/2014/main" id="{DE8D060A-5ADF-4A79-90CD-834733D97883}"/>
              </a:ext>
            </a:extLst>
          </p:cNvPr>
          <p:cNvSpPr>
            <a:spLocks noGrp="1"/>
          </p:cNvSpPr>
          <p:nvPr/>
        </p:nvSpPr>
        <p:spPr>
          <a:xfrm>
            <a:off x="86296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events and queues</a:t>
            </a:r>
          </a:p>
          <a:p>
            <a:pPr>
              <a:buNone/>
              <a:defRPr sz="1125">
                <a:solidFill>
                  <a:srgbClr val="4B5563"/>
                </a:solidFill>
              </a:defRPr>
            </a:pPr>
            <a:r>
              <a:rPr sz="1125">
                <a:solidFill>
                  <a:srgbClr val="4B5563"/>
                </a:solidFill>
              </a:rPr>
              <a:t>noncritical enrichment</a:t>
            </a:r>
          </a:p>
          <a:p>
            <a:pPr>
              <a:buNone/>
              <a:defRPr sz="1125">
                <a:solidFill>
                  <a:srgbClr val="4B5563"/>
                </a:solidFill>
              </a:defRPr>
            </a:pPr>
            <a:r>
              <a:rPr sz="1125">
                <a:solidFill>
                  <a:srgbClr val="4B5563"/>
                </a:solidFill>
              </a:rPr>
              <a:t>measure p95 / p99</a:t>
            </a:r>
          </a:p>
        </p:txBody>
      </p:sp>
      <p:sp>
        <p:nvSpPr>
          <p:cNvPr id="25" name="decisions-label">
            <a:extLst>
              <a:ext uri="{FF2B5EF4-FFF2-40B4-BE49-F238E27FC236}">
                <a16:creationId xmlns:a16="http://schemas.microsoft.com/office/drawing/2014/main" id="{4B908592-C9C2-458D-B3F3-C0B0EE32F814}"/>
              </a:ext>
            </a:extLst>
          </p:cNvPr>
          <p:cNvSpPr>
            <a:spLocks noGrp="1"/>
          </p:cNvSpPr>
          <p:nvPr/>
        </p:nvSpPr>
        <p:spPr>
          <a:xfrm>
            <a:off x="552450" y="4438650"/>
            <a:ext cx="2381250" cy="190500"/>
          </a:xfrm>
          <a:prstGeom prst="rect">
            <a:avLst/>
          </a:prstGeom>
          <a:noFill/>
          <a:ln w="0">
            <a:noFill/>
            <a:prstDash val="solid"/>
          </a:ln>
        </p:spPr>
        <p:txBody>
          <a:bodyPr/>
          <a:lstStyle/>
          <a:p>
            <a:pPr>
              <a:buNone/>
              <a:defRPr sz="900" b="1">
                <a:solidFill>
                  <a:srgbClr val="5B6472"/>
                </a:solidFill>
              </a:defRPr>
            </a:pPr>
            <a:r>
              <a:rPr sz="900" b="1">
                <a:solidFill>
                  <a:srgbClr val="5B6472"/>
                </a:solidFill>
              </a:rPr>
              <a:t>ARCHITECTURE DECISIONS</a:t>
            </a:r>
          </a:p>
        </p:txBody>
      </p:sp>
      <p:sp>
        <p:nvSpPr>
          <p:cNvPr id="26" name="decision-0-title">
            <a:extLst>
              <a:ext uri="{FF2B5EF4-FFF2-40B4-BE49-F238E27FC236}">
                <a16:creationId xmlns:a16="http://schemas.microsoft.com/office/drawing/2014/main" id="{4B04D06D-4F72-426E-94A5-AEBD885422EB}"/>
              </a:ext>
            </a:extLst>
          </p:cNvPr>
          <p:cNvSpPr>
            <a:spLocks noGrp="1"/>
          </p:cNvSpPr>
          <p:nvPr/>
        </p:nvSpPr>
        <p:spPr>
          <a:xfrm>
            <a:off x="552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CUSTOMER TARGET</a:t>
            </a:r>
          </a:p>
        </p:txBody>
      </p:sp>
      <p:sp>
        <p:nvSpPr>
          <p:cNvPr id="27" name="decision-0-body">
            <a:extLst>
              <a:ext uri="{FF2B5EF4-FFF2-40B4-BE49-F238E27FC236}">
                <a16:creationId xmlns:a16="http://schemas.microsoft.com/office/drawing/2014/main" id="{B182CB76-0038-4D8C-9A05-AAB1AB6E545D}"/>
              </a:ext>
            </a:extLst>
          </p:cNvPr>
          <p:cNvSpPr>
            <a:spLocks noGrp="1"/>
          </p:cNvSpPr>
          <p:nvPr/>
        </p:nvSpPr>
        <p:spPr>
          <a:xfrm>
            <a:off x="552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Set journey-level latency SLOs, then allocate budgets to every dependency.</a:t>
            </a:r>
          </a:p>
        </p:txBody>
      </p:sp>
      <p:sp>
        <p:nvSpPr>
          <p:cNvPr id="28" name="decision-1-title">
            <a:extLst>
              <a:ext uri="{FF2B5EF4-FFF2-40B4-BE49-F238E27FC236}">
                <a16:creationId xmlns:a16="http://schemas.microsoft.com/office/drawing/2014/main" id="{5CA11254-268D-485B-AE82-249638604BA9}"/>
              </a:ext>
            </a:extLst>
          </p:cNvPr>
          <p:cNvSpPr>
            <a:spLocks noGrp="1"/>
          </p:cNvSpPr>
          <p:nvPr/>
        </p:nvSpPr>
        <p:spPr>
          <a:xfrm>
            <a:off x="3409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CACHE BOUNDARY</a:t>
            </a:r>
          </a:p>
        </p:txBody>
      </p:sp>
      <p:sp>
        <p:nvSpPr>
          <p:cNvPr id="29" name="decision-1-body">
            <a:extLst>
              <a:ext uri="{FF2B5EF4-FFF2-40B4-BE49-F238E27FC236}">
                <a16:creationId xmlns:a16="http://schemas.microsoft.com/office/drawing/2014/main" id="{D706EB7A-AC7E-484F-8BE9-EEE1BD5F2AAE}"/>
              </a:ext>
            </a:extLst>
          </p:cNvPr>
          <p:cNvSpPr>
            <a:spLocks noGrp="1"/>
          </p:cNvSpPr>
          <p:nvPr/>
        </p:nvSpPr>
        <p:spPr>
          <a:xfrm>
            <a:off x="3409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Cache dealer directory and short-lived slot views; never cache confirmation authority.</a:t>
            </a:r>
          </a:p>
        </p:txBody>
      </p:sp>
      <p:sp>
        <p:nvSpPr>
          <p:cNvPr id="30" name="decision-2-title">
            <a:extLst>
              <a:ext uri="{FF2B5EF4-FFF2-40B4-BE49-F238E27FC236}">
                <a16:creationId xmlns:a16="http://schemas.microsoft.com/office/drawing/2014/main" id="{27D9C004-91A8-47DF-AB7F-FA8994497C09}"/>
              </a:ext>
            </a:extLst>
          </p:cNvPr>
          <p:cNvSpPr>
            <a:spLocks noGrp="1"/>
          </p:cNvSpPr>
          <p:nvPr/>
        </p:nvSpPr>
        <p:spPr>
          <a:xfrm>
            <a:off x="6267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LEGACY CALLS</a:t>
            </a:r>
          </a:p>
        </p:txBody>
      </p:sp>
      <p:sp>
        <p:nvSpPr>
          <p:cNvPr id="31" name="decision-2-body">
            <a:extLst>
              <a:ext uri="{FF2B5EF4-FFF2-40B4-BE49-F238E27FC236}">
                <a16:creationId xmlns:a16="http://schemas.microsoft.com/office/drawing/2014/main" id="{13783F04-3FBC-482C-8112-7311D291177C}"/>
              </a:ext>
            </a:extLst>
          </p:cNvPr>
          <p:cNvSpPr>
            <a:spLocks noGrp="1"/>
          </p:cNvSpPr>
          <p:nvPr/>
        </p:nvSpPr>
        <p:spPr>
          <a:xfrm>
            <a:off x="6267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Use strict timeouts, circuit breakers and partial responses for VIN or history delays.</a:t>
            </a:r>
          </a:p>
        </p:txBody>
      </p:sp>
      <p:sp>
        <p:nvSpPr>
          <p:cNvPr id="32" name="decision-3-title">
            <a:extLst>
              <a:ext uri="{FF2B5EF4-FFF2-40B4-BE49-F238E27FC236}">
                <a16:creationId xmlns:a16="http://schemas.microsoft.com/office/drawing/2014/main" id="{DB5DD516-1E7E-4B89-8276-42EB084C125F}"/>
              </a:ext>
            </a:extLst>
          </p:cNvPr>
          <p:cNvSpPr>
            <a:spLocks noGrp="1"/>
          </p:cNvSpPr>
          <p:nvPr/>
        </p:nvSpPr>
        <p:spPr>
          <a:xfrm>
            <a:off x="9124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COMPUTE CHOICE</a:t>
            </a:r>
          </a:p>
        </p:txBody>
      </p:sp>
      <p:sp>
        <p:nvSpPr>
          <p:cNvPr id="33" name="decision-3-body">
            <a:extLst>
              <a:ext uri="{FF2B5EF4-FFF2-40B4-BE49-F238E27FC236}">
                <a16:creationId xmlns:a16="http://schemas.microsoft.com/office/drawing/2014/main" id="{9B538C4A-D7AA-4D33-AFE3-90CFECC811C7}"/>
              </a:ext>
            </a:extLst>
          </p:cNvPr>
          <p:cNvSpPr>
            <a:spLocks noGrp="1"/>
          </p:cNvSpPr>
          <p:nvPr/>
        </p:nvSpPr>
        <p:spPr>
          <a:xfrm>
            <a:off x="9124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Use Lambda for bursty short work and Fargate where steady latency or runtime needs justify it.</a:t>
            </a:r>
          </a:p>
        </p:txBody>
      </p:sp>
      <p:sp>
        <p:nvSpPr>
          <p:cNvPr id="34" name="footer">
            <a:extLst>
              <a:ext uri="{FF2B5EF4-FFF2-40B4-BE49-F238E27FC236}">
                <a16:creationId xmlns:a16="http://schemas.microsoft.com/office/drawing/2014/main" id="{A5469341-F0F5-4609-9D74-BBF15F3320DD}"/>
              </a:ext>
            </a:extLst>
          </p:cNvPr>
          <p:cNvSpPr>
            <a:spLocks noGrp="1"/>
          </p:cNvSpPr>
          <p:nvPr/>
        </p:nvSpPr>
        <p:spPr>
          <a:xfrm>
            <a:off x="552450" y="5953125"/>
            <a:ext cx="11087100" cy="457200"/>
          </a:xfrm>
          <a:prstGeom prst="roundRect">
            <a:avLst>
              <a:gd name="adj" fmla="val 16667"/>
            </a:avLst>
          </a:prstGeom>
          <a:solidFill>
            <a:srgbClr val="F0FAF8"/>
          </a:solidFill>
          <a:ln w="9525">
            <a:solidFill>
              <a:srgbClr val="B7E2DC"/>
            </a:solidFill>
            <a:prstDash val="solid"/>
          </a:ln>
        </p:spPr>
        <p:txBody>
          <a:bodyPr/>
          <a:lstStyle/>
          <a:p>
            <a:endParaRPr/>
          </a:p>
        </p:txBody>
      </p:sp>
      <p:sp>
        <p:nvSpPr>
          <p:cNvPr id="35" name="footer-text">
            <a:extLst>
              <a:ext uri="{FF2B5EF4-FFF2-40B4-BE49-F238E27FC236}">
                <a16:creationId xmlns:a16="http://schemas.microsoft.com/office/drawing/2014/main" id="{9CD971B1-DBA3-4536-AD81-26960A75C0A5}"/>
              </a:ext>
            </a:extLst>
          </p:cNvPr>
          <p:cNvSpPr>
            <a:spLocks noGrp="1"/>
          </p:cNvSpPr>
          <p:nvPr/>
        </p:nvSpPr>
        <p:spPr>
          <a:xfrm>
            <a:off x="781050" y="6086475"/>
            <a:ext cx="106299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Design principle: managed services first • explicit ownership • graceful degradation • measurable recovery</a:t>
            </a:r>
          </a:p>
        </p:txBody>
      </p:sp>
    </p:spTree>
    <p:extLst>
      <p:ext uri="{BB962C8B-B14F-4D97-AF65-F5344CB8AC3E}">
        <p14:creationId xmlns:p14="http://schemas.microsoft.com/office/powerpoint/2010/main" val="878430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eyebrow">
            <a:extLst>
              <a:ext uri="{FF2B5EF4-FFF2-40B4-BE49-F238E27FC236}">
                <a16:creationId xmlns:a16="http://schemas.microsoft.com/office/drawing/2014/main" id="{1524D688-20DF-4534-8F61-C12516FF2954}"/>
              </a:ext>
            </a:extLst>
          </p:cNvPr>
          <p:cNvSpPr>
            <a:spLocks noGrp="1"/>
          </p:cNvSpPr>
          <p:nvPr/>
        </p:nvSpPr>
        <p:spPr>
          <a:xfrm>
            <a:off x="552450" y="266700"/>
            <a:ext cx="4000500" cy="190500"/>
          </a:xfrm>
          <a:prstGeom prst="rect">
            <a:avLst/>
          </a:prstGeom>
          <a:noFill/>
          <a:ln w="0">
            <a:noFill/>
            <a:prstDash val="solid"/>
          </a:ln>
        </p:spPr>
        <p:txBody>
          <a:bodyPr/>
          <a:lstStyle/>
          <a:p>
            <a:pPr>
              <a:buNone/>
              <a:defRPr sz="975" b="1">
                <a:solidFill>
                  <a:srgbClr val="198E84"/>
                </a:solidFill>
              </a:defRPr>
            </a:pPr>
            <a:r>
              <a:rPr sz="975" b="1" dirty="0">
                <a:solidFill>
                  <a:srgbClr val="198E84"/>
                </a:solidFill>
              </a:rPr>
              <a:t>CONTAINERIZATION</a:t>
            </a:r>
          </a:p>
        </p:txBody>
      </p:sp>
      <p:sp>
        <p:nvSpPr>
          <p:cNvPr id="2" name="title">
            <a:extLst>
              <a:ext uri="{FF2B5EF4-FFF2-40B4-BE49-F238E27FC236}">
                <a16:creationId xmlns:a16="http://schemas.microsoft.com/office/drawing/2014/main" id="{8A90C3BA-0846-4B48-85DB-D69660B57E6B}"/>
              </a:ext>
            </a:extLst>
          </p:cNvPr>
          <p:cNvSpPr>
            <a:spLocks noGrp="1"/>
          </p:cNvSpPr>
          <p:nvPr/>
        </p:nvSpPr>
        <p:spPr>
          <a:xfrm>
            <a:off x="552450" y="523875"/>
            <a:ext cx="11087100" cy="742950"/>
          </a:xfrm>
          <a:prstGeom prst="rect">
            <a:avLst/>
          </a:prstGeom>
          <a:noFill/>
          <a:ln w="0">
            <a:noFill/>
            <a:prstDash val="solid"/>
          </a:ln>
        </p:spPr>
        <p:txBody>
          <a:bodyPr/>
          <a:lstStyle/>
          <a:p>
            <a:pPr>
              <a:buNone/>
              <a:defRPr sz="2475" b="1">
                <a:solidFill>
                  <a:srgbClr val="111827"/>
                </a:solidFill>
              </a:defRPr>
            </a:pPr>
            <a:r>
              <a:rPr sz="2475" b="1">
                <a:solidFill>
                  <a:srgbClr val="111827"/>
                </a:solidFill>
              </a:rPr>
              <a:t>Fargate isolates dealer adapters while Lambda handles event-driven bursts</a:t>
            </a:r>
          </a:p>
        </p:txBody>
      </p:sp>
      <p:sp>
        <p:nvSpPr>
          <p:cNvPr id="3" name="subtitle">
            <a:extLst>
              <a:ext uri="{FF2B5EF4-FFF2-40B4-BE49-F238E27FC236}">
                <a16:creationId xmlns:a16="http://schemas.microsoft.com/office/drawing/2014/main" id="{D43F6348-5829-430E-8761-BA1C59C775CC}"/>
              </a:ext>
            </a:extLst>
          </p:cNvPr>
          <p:cNvSpPr>
            <a:spLocks noGrp="1"/>
          </p:cNvSpPr>
          <p:nvPr/>
        </p:nvSpPr>
        <p:spPr>
          <a:xfrm>
            <a:off x="552450" y="1333500"/>
            <a:ext cx="11087100" cy="400050"/>
          </a:xfrm>
          <a:prstGeom prst="rect">
            <a:avLst/>
          </a:prstGeom>
          <a:noFill/>
          <a:ln w="0">
            <a:noFill/>
            <a:prstDash val="solid"/>
          </a:ln>
        </p:spPr>
        <p:txBody>
          <a:bodyPr/>
          <a:lstStyle/>
          <a:p>
            <a:pPr>
              <a:buNone/>
              <a:defRPr sz="1275">
                <a:solidFill>
                  <a:srgbClr val="5B6472"/>
                </a:solidFill>
              </a:defRPr>
            </a:pPr>
            <a:r>
              <a:rPr sz="1275">
                <a:solidFill>
                  <a:srgbClr val="5B6472"/>
                </a:solidFill>
              </a:rPr>
              <a:t>A mixed compute model avoids forcing every workload into either containers or serverless functions.</a:t>
            </a:r>
          </a:p>
        </p:txBody>
      </p:sp>
      <p:sp>
        <p:nvSpPr>
          <p:cNvPr id="4" name="section-rule">
            <a:extLst>
              <a:ext uri="{FF2B5EF4-FFF2-40B4-BE49-F238E27FC236}">
                <a16:creationId xmlns:a16="http://schemas.microsoft.com/office/drawing/2014/main" id="{6B0720BF-049A-4735-8727-CB3EE2B2466B}"/>
              </a:ext>
            </a:extLst>
          </p:cNvPr>
          <p:cNvSpPr>
            <a:spLocks noGrp="1"/>
          </p:cNvSpPr>
          <p:nvPr/>
        </p:nvSpPr>
        <p:spPr>
          <a:xfrm>
            <a:off x="552450" y="1876425"/>
            <a:ext cx="11087100" cy="0"/>
          </a:xfrm>
          <a:prstGeom prst="line">
            <a:avLst/>
          </a:prstGeom>
          <a:ln w="11430">
            <a:solidFill>
              <a:srgbClr val="D7DEE8"/>
            </a:solidFill>
            <a:prstDash val="solid"/>
          </a:ln>
        </p:spPr>
        <p:txBody>
          <a:bodyPr/>
          <a:lstStyle/>
          <a:p>
            <a:endParaRPr/>
          </a:p>
        </p:txBody>
      </p:sp>
      <p:sp>
        <p:nvSpPr>
          <p:cNvPr id="5" name="stage-Build once">
            <a:extLst>
              <a:ext uri="{FF2B5EF4-FFF2-40B4-BE49-F238E27FC236}">
                <a16:creationId xmlns:a16="http://schemas.microsoft.com/office/drawing/2014/main" id="{24BD6B54-1E6B-43DD-B1E6-89AE8DCC9D40}"/>
              </a:ext>
            </a:extLst>
          </p:cNvPr>
          <p:cNvSpPr>
            <a:spLocks noGrp="1"/>
          </p:cNvSpPr>
          <p:nvPr/>
        </p:nvSpPr>
        <p:spPr>
          <a:xfrm>
            <a:off x="552450" y="2152650"/>
            <a:ext cx="3276600" cy="2076450"/>
          </a:xfrm>
          <a:prstGeom prst="roundRect">
            <a:avLst>
              <a:gd name="adj" fmla="val 5505"/>
            </a:avLst>
          </a:prstGeom>
          <a:solidFill>
            <a:srgbClr val="FFFF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49" name="Picture 39"/>
          <p:cNvPicPr>
            <a:picLocks noChangeAspect="1"/>
          </p:cNvPicPr>
          <p:nvPr/>
        </p:nvPicPr>
        <p:blipFill>
          <a:blip r:embed="rId3"/>
          <a:stretch/>
        </p:blipFill>
        <p:spPr>
          <a:xfrm>
            <a:off x="838200" y="2390775"/>
            <a:ext cx="400050" cy="400050"/>
          </a:xfrm>
          <a:prstGeom prst="rect">
            <a:avLst/>
          </a:prstGeom>
        </p:spPr>
      </p:pic>
      <p:pic>
        <p:nvPicPr>
          <p:cNvPr id="50" name="Picture 40"/>
          <p:cNvPicPr>
            <a:picLocks noChangeAspect="1"/>
          </p:cNvPicPr>
          <p:nvPr/>
        </p:nvPicPr>
        <p:blipFill>
          <a:blip r:embed="rId4"/>
          <a:stretch/>
        </p:blipFill>
        <p:spPr>
          <a:xfrm>
            <a:off x="1352550" y="2390775"/>
            <a:ext cx="400050" cy="400050"/>
          </a:xfrm>
          <a:prstGeom prst="rect">
            <a:avLst/>
          </a:prstGeom>
        </p:spPr>
      </p:pic>
      <p:sp>
        <p:nvSpPr>
          <p:cNvPr id="8" name="Build once-title">
            <a:extLst>
              <a:ext uri="{FF2B5EF4-FFF2-40B4-BE49-F238E27FC236}">
                <a16:creationId xmlns:a16="http://schemas.microsoft.com/office/drawing/2014/main" id="{DA1B47A0-B3A6-430B-877E-9491B670CA47}"/>
              </a:ext>
            </a:extLst>
          </p:cNvPr>
          <p:cNvSpPr>
            <a:spLocks noGrp="1"/>
          </p:cNvSpPr>
          <p:nvPr/>
        </p:nvSpPr>
        <p:spPr>
          <a:xfrm>
            <a:off x="8191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Build once</a:t>
            </a:r>
          </a:p>
        </p:txBody>
      </p:sp>
      <p:sp>
        <p:nvSpPr>
          <p:cNvPr id="9" name="Build once-detail">
            <a:extLst>
              <a:ext uri="{FF2B5EF4-FFF2-40B4-BE49-F238E27FC236}">
                <a16:creationId xmlns:a16="http://schemas.microsoft.com/office/drawing/2014/main" id="{BAE3786A-C3BE-48C3-82EA-208C132BCEC2}"/>
              </a:ext>
            </a:extLst>
          </p:cNvPr>
          <p:cNvSpPr>
            <a:spLocks noGrp="1"/>
          </p:cNvSpPr>
          <p:nvPr/>
        </p:nvSpPr>
        <p:spPr>
          <a:xfrm>
            <a:off x="8191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signed container image</a:t>
            </a:r>
          </a:p>
          <a:p>
            <a:pPr>
              <a:buNone/>
              <a:defRPr sz="1125">
                <a:solidFill>
                  <a:srgbClr val="4B5563"/>
                </a:solidFill>
              </a:defRPr>
            </a:pPr>
            <a:r>
              <a:rPr sz="1125">
                <a:solidFill>
                  <a:srgbClr val="4B5563"/>
                </a:solidFill>
              </a:rPr>
              <a:t>immutable version</a:t>
            </a:r>
          </a:p>
          <a:p>
            <a:pPr>
              <a:buNone/>
              <a:defRPr sz="1125">
                <a:solidFill>
                  <a:srgbClr val="4B5563"/>
                </a:solidFill>
              </a:defRPr>
            </a:pPr>
            <a:r>
              <a:rPr sz="1125">
                <a:solidFill>
                  <a:srgbClr val="4B5563"/>
                </a:solidFill>
              </a:rPr>
              <a:t>scan before promotion</a:t>
            </a:r>
          </a:p>
        </p:txBody>
      </p:sp>
      <p:sp>
        <p:nvSpPr>
          <p:cNvPr id="10" name="arrow-414">
            <a:extLst>
              <a:ext uri="{FF2B5EF4-FFF2-40B4-BE49-F238E27FC236}">
                <a16:creationId xmlns:a16="http://schemas.microsoft.com/office/drawing/2014/main" id="{5538CF8B-2DCA-4FF3-BDF7-BDBFD848A171}"/>
              </a:ext>
            </a:extLst>
          </p:cNvPr>
          <p:cNvSpPr>
            <a:spLocks noGrp="1"/>
          </p:cNvSpPr>
          <p:nvPr/>
        </p:nvSpPr>
        <p:spPr>
          <a:xfrm>
            <a:off x="3943350" y="3009900"/>
            <a:ext cx="361950" cy="266700"/>
          </a:xfrm>
          <a:prstGeom prst="rightArrow">
            <a:avLst/>
          </a:prstGeom>
          <a:solidFill>
            <a:srgbClr val="08A89B"/>
          </a:solidFill>
          <a:ln w="0">
            <a:solidFill>
              <a:srgbClr val="08A89B"/>
            </a:solidFill>
            <a:prstDash val="solid"/>
          </a:ln>
        </p:spPr>
        <p:txBody>
          <a:bodyPr/>
          <a:lstStyle/>
          <a:p>
            <a:endParaRPr/>
          </a:p>
        </p:txBody>
      </p:sp>
      <p:sp>
        <p:nvSpPr>
          <p:cNvPr id="11" name="stage-Run isolated">
            <a:extLst>
              <a:ext uri="{FF2B5EF4-FFF2-40B4-BE49-F238E27FC236}">
                <a16:creationId xmlns:a16="http://schemas.microsoft.com/office/drawing/2014/main" id="{E8434CD9-C2C7-4926-9351-292884E2EC42}"/>
              </a:ext>
            </a:extLst>
          </p:cNvPr>
          <p:cNvSpPr>
            <a:spLocks noGrp="1"/>
          </p:cNvSpPr>
          <p:nvPr/>
        </p:nvSpPr>
        <p:spPr>
          <a:xfrm>
            <a:off x="4457700" y="2152650"/>
            <a:ext cx="3276600" cy="2076450"/>
          </a:xfrm>
          <a:prstGeom prst="roundRect">
            <a:avLst>
              <a:gd name="adj" fmla="val 5505"/>
            </a:avLst>
          </a:prstGeom>
          <a:solidFill>
            <a:srgbClr val="FFFF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pic>
        <p:nvPicPr>
          <p:cNvPr id="55" name="Picture 45"/>
          <p:cNvPicPr>
            <a:picLocks noChangeAspect="1"/>
          </p:cNvPicPr>
          <p:nvPr/>
        </p:nvPicPr>
        <p:blipFill>
          <a:blip r:embed="rId5"/>
          <a:stretch/>
        </p:blipFill>
        <p:spPr>
          <a:xfrm>
            <a:off x="4743450" y="2390775"/>
            <a:ext cx="400050" cy="400050"/>
          </a:xfrm>
          <a:prstGeom prst="rect">
            <a:avLst/>
          </a:prstGeom>
        </p:spPr>
      </p:pic>
      <p:pic>
        <p:nvPicPr>
          <p:cNvPr id="56" name="Picture 46"/>
          <p:cNvPicPr>
            <a:picLocks noChangeAspect="1"/>
          </p:cNvPicPr>
          <p:nvPr/>
        </p:nvPicPr>
        <p:blipFill>
          <a:blip r:embed="rId6"/>
          <a:stretch/>
        </p:blipFill>
        <p:spPr>
          <a:xfrm>
            <a:off x="5257800" y="2390775"/>
            <a:ext cx="400050" cy="400050"/>
          </a:xfrm>
          <a:prstGeom prst="rect">
            <a:avLst/>
          </a:prstGeom>
        </p:spPr>
      </p:pic>
      <p:pic>
        <p:nvPicPr>
          <p:cNvPr id="57" name="Picture 47"/>
          <p:cNvPicPr>
            <a:picLocks noChangeAspect="1"/>
          </p:cNvPicPr>
          <p:nvPr/>
        </p:nvPicPr>
        <p:blipFill>
          <a:blip r:embed="rId7"/>
          <a:stretch/>
        </p:blipFill>
        <p:spPr>
          <a:xfrm>
            <a:off x="5772150" y="2390775"/>
            <a:ext cx="400050" cy="400050"/>
          </a:xfrm>
          <a:prstGeom prst="rect">
            <a:avLst/>
          </a:prstGeom>
        </p:spPr>
      </p:pic>
      <p:sp>
        <p:nvSpPr>
          <p:cNvPr id="15" name="Run isolated-title">
            <a:extLst>
              <a:ext uri="{FF2B5EF4-FFF2-40B4-BE49-F238E27FC236}">
                <a16:creationId xmlns:a16="http://schemas.microsoft.com/office/drawing/2014/main" id="{DD8A1E56-BBE2-4366-9B3D-F265FCA9DE88}"/>
              </a:ext>
            </a:extLst>
          </p:cNvPr>
          <p:cNvSpPr>
            <a:spLocks noGrp="1"/>
          </p:cNvSpPr>
          <p:nvPr/>
        </p:nvSpPr>
        <p:spPr>
          <a:xfrm>
            <a:off x="472440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Run isolated</a:t>
            </a:r>
          </a:p>
        </p:txBody>
      </p:sp>
      <p:sp>
        <p:nvSpPr>
          <p:cNvPr id="16" name="Run isolated-detail">
            <a:extLst>
              <a:ext uri="{FF2B5EF4-FFF2-40B4-BE49-F238E27FC236}">
                <a16:creationId xmlns:a16="http://schemas.microsoft.com/office/drawing/2014/main" id="{7210CFA2-9DD7-4620-8E5D-E5D8EF61CA80}"/>
              </a:ext>
            </a:extLst>
          </p:cNvPr>
          <p:cNvSpPr>
            <a:spLocks noGrp="1"/>
          </p:cNvSpPr>
          <p:nvPr/>
        </p:nvSpPr>
        <p:spPr>
          <a:xfrm>
            <a:off x="472440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ECS on Fargate</a:t>
            </a:r>
          </a:p>
          <a:p>
            <a:pPr>
              <a:buNone/>
              <a:defRPr sz="1125">
                <a:solidFill>
                  <a:srgbClr val="4B5563"/>
                </a:solidFill>
              </a:defRPr>
            </a:pPr>
            <a:r>
              <a:rPr sz="1125">
                <a:solidFill>
                  <a:srgbClr val="4B5563"/>
                </a:solidFill>
              </a:rPr>
              <a:t>private subnets</a:t>
            </a:r>
          </a:p>
          <a:p>
            <a:pPr>
              <a:buNone/>
              <a:defRPr sz="1125">
                <a:solidFill>
                  <a:srgbClr val="4B5563"/>
                </a:solidFill>
              </a:defRPr>
            </a:pPr>
            <a:r>
              <a:rPr sz="1125">
                <a:solidFill>
                  <a:srgbClr val="4B5563"/>
                </a:solidFill>
              </a:rPr>
              <a:t>one adapter boundary</a:t>
            </a:r>
          </a:p>
        </p:txBody>
      </p:sp>
      <p:sp>
        <p:nvSpPr>
          <p:cNvPr id="17" name="arrow-824">
            <a:extLst>
              <a:ext uri="{FF2B5EF4-FFF2-40B4-BE49-F238E27FC236}">
                <a16:creationId xmlns:a16="http://schemas.microsoft.com/office/drawing/2014/main" id="{40DE9BCA-C8E3-4118-93B5-FB5D500FCFD5}"/>
              </a:ext>
            </a:extLst>
          </p:cNvPr>
          <p:cNvSpPr>
            <a:spLocks noGrp="1"/>
          </p:cNvSpPr>
          <p:nvPr/>
        </p:nvSpPr>
        <p:spPr>
          <a:xfrm>
            <a:off x="7848600" y="3009900"/>
            <a:ext cx="361950" cy="266700"/>
          </a:xfrm>
          <a:prstGeom prst="rightArrow">
            <a:avLst/>
          </a:prstGeom>
          <a:solidFill>
            <a:srgbClr val="08A89B"/>
          </a:solidFill>
          <a:ln w="0">
            <a:solidFill>
              <a:srgbClr val="08A89B"/>
            </a:solidFill>
            <a:prstDash val="solid"/>
          </a:ln>
        </p:spPr>
        <p:txBody>
          <a:bodyPr/>
          <a:lstStyle/>
          <a:p>
            <a:endParaRPr/>
          </a:p>
        </p:txBody>
      </p:sp>
      <p:sp>
        <p:nvSpPr>
          <p:cNvPr id="18" name="stage-Scale deliberately">
            <a:extLst>
              <a:ext uri="{FF2B5EF4-FFF2-40B4-BE49-F238E27FC236}">
                <a16:creationId xmlns:a16="http://schemas.microsoft.com/office/drawing/2014/main" id="{3F574B3F-EDD9-4BA3-998A-D1C584E4FB7E}"/>
              </a:ext>
            </a:extLst>
          </p:cNvPr>
          <p:cNvSpPr>
            <a:spLocks noGrp="1"/>
          </p:cNvSpPr>
          <p:nvPr/>
        </p:nvSpPr>
        <p:spPr>
          <a:xfrm>
            <a:off x="8362950" y="2152650"/>
            <a:ext cx="3276600" cy="2076450"/>
          </a:xfrm>
          <a:prstGeom prst="roundRect">
            <a:avLst>
              <a:gd name="adj" fmla="val 5505"/>
            </a:avLst>
          </a:prstGeom>
          <a:solidFill>
            <a:srgbClr val="FFFFFF"/>
          </a:solidFill>
          <a:ln w="1714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pic>
        <p:nvPicPr>
          <p:cNvPr id="62" name="Picture 52"/>
          <p:cNvPicPr>
            <a:picLocks noChangeAspect="1"/>
          </p:cNvPicPr>
          <p:nvPr/>
        </p:nvPicPr>
        <p:blipFill>
          <a:blip r:embed="rId8"/>
          <a:stretch/>
        </p:blipFill>
        <p:spPr>
          <a:xfrm>
            <a:off x="8648700" y="2390775"/>
            <a:ext cx="400050" cy="400050"/>
          </a:xfrm>
          <a:prstGeom prst="rect">
            <a:avLst/>
          </a:prstGeom>
        </p:spPr>
      </p:pic>
      <p:pic>
        <p:nvPicPr>
          <p:cNvPr id="63" name="Picture 53"/>
          <p:cNvPicPr>
            <a:picLocks noChangeAspect="1"/>
          </p:cNvPicPr>
          <p:nvPr/>
        </p:nvPicPr>
        <p:blipFill>
          <a:blip r:embed="rId9"/>
          <a:stretch/>
        </p:blipFill>
        <p:spPr>
          <a:xfrm>
            <a:off x="9163050" y="2390775"/>
            <a:ext cx="400050" cy="400050"/>
          </a:xfrm>
          <a:prstGeom prst="rect">
            <a:avLst/>
          </a:prstGeom>
        </p:spPr>
      </p:pic>
      <p:pic>
        <p:nvPicPr>
          <p:cNvPr id="64" name="Picture 54"/>
          <p:cNvPicPr>
            <a:picLocks noChangeAspect="1"/>
          </p:cNvPicPr>
          <p:nvPr/>
        </p:nvPicPr>
        <p:blipFill>
          <a:blip r:embed="rId10"/>
          <a:stretch/>
        </p:blipFill>
        <p:spPr>
          <a:xfrm>
            <a:off x="9677400" y="2390775"/>
            <a:ext cx="400050" cy="400050"/>
          </a:xfrm>
          <a:prstGeom prst="rect">
            <a:avLst/>
          </a:prstGeom>
        </p:spPr>
      </p:pic>
      <p:sp>
        <p:nvSpPr>
          <p:cNvPr id="22" name="Scale deliberately-title">
            <a:extLst>
              <a:ext uri="{FF2B5EF4-FFF2-40B4-BE49-F238E27FC236}">
                <a16:creationId xmlns:a16="http://schemas.microsoft.com/office/drawing/2014/main" id="{E500FE91-9A47-4186-AED5-A75F39BF3C2E}"/>
              </a:ext>
            </a:extLst>
          </p:cNvPr>
          <p:cNvSpPr>
            <a:spLocks noGrp="1"/>
          </p:cNvSpPr>
          <p:nvPr/>
        </p:nvSpPr>
        <p:spPr>
          <a:xfrm>
            <a:off x="86296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Scale deliberately</a:t>
            </a:r>
          </a:p>
        </p:txBody>
      </p:sp>
      <p:sp>
        <p:nvSpPr>
          <p:cNvPr id="23" name="Scale deliberately-detail">
            <a:extLst>
              <a:ext uri="{FF2B5EF4-FFF2-40B4-BE49-F238E27FC236}">
                <a16:creationId xmlns:a16="http://schemas.microsoft.com/office/drawing/2014/main" id="{4D4CF68C-FD2E-4313-9276-7C673F06F193}"/>
              </a:ext>
            </a:extLst>
          </p:cNvPr>
          <p:cNvSpPr>
            <a:spLocks noGrp="1"/>
          </p:cNvSpPr>
          <p:nvPr/>
        </p:nvSpPr>
        <p:spPr>
          <a:xfrm>
            <a:off x="86296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service auto scaling</a:t>
            </a:r>
          </a:p>
          <a:p>
            <a:pPr>
              <a:buNone/>
              <a:defRPr sz="1125">
                <a:solidFill>
                  <a:srgbClr val="4B5563"/>
                </a:solidFill>
              </a:defRPr>
            </a:pPr>
            <a:r>
              <a:rPr sz="1125">
                <a:solidFill>
                  <a:srgbClr val="4B5563"/>
                </a:solidFill>
              </a:rPr>
              <a:t>queue-depth signals</a:t>
            </a:r>
          </a:p>
          <a:p>
            <a:pPr>
              <a:buNone/>
              <a:defRPr sz="1125">
                <a:solidFill>
                  <a:srgbClr val="4B5563"/>
                </a:solidFill>
              </a:defRPr>
            </a:pPr>
            <a:r>
              <a:rPr sz="1125">
                <a:solidFill>
                  <a:srgbClr val="4B5563"/>
                </a:solidFill>
              </a:rPr>
              <a:t>minimum healthy capacity</a:t>
            </a:r>
          </a:p>
        </p:txBody>
      </p:sp>
      <p:sp>
        <p:nvSpPr>
          <p:cNvPr id="24" name="decisions-label">
            <a:extLst>
              <a:ext uri="{FF2B5EF4-FFF2-40B4-BE49-F238E27FC236}">
                <a16:creationId xmlns:a16="http://schemas.microsoft.com/office/drawing/2014/main" id="{7D783BD8-8B97-4D32-A9EF-5CAC51126AA6}"/>
              </a:ext>
            </a:extLst>
          </p:cNvPr>
          <p:cNvSpPr>
            <a:spLocks noGrp="1"/>
          </p:cNvSpPr>
          <p:nvPr/>
        </p:nvSpPr>
        <p:spPr>
          <a:xfrm>
            <a:off x="552450" y="4438650"/>
            <a:ext cx="2381250" cy="190500"/>
          </a:xfrm>
          <a:prstGeom prst="rect">
            <a:avLst/>
          </a:prstGeom>
          <a:noFill/>
          <a:ln w="0">
            <a:noFill/>
            <a:prstDash val="solid"/>
          </a:ln>
        </p:spPr>
        <p:txBody>
          <a:bodyPr/>
          <a:lstStyle/>
          <a:p>
            <a:pPr>
              <a:buNone/>
              <a:defRPr sz="900" b="1">
                <a:solidFill>
                  <a:srgbClr val="5B6472"/>
                </a:solidFill>
              </a:defRPr>
            </a:pPr>
            <a:r>
              <a:rPr sz="900" b="1">
                <a:solidFill>
                  <a:srgbClr val="5B6472"/>
                </a:solidFill>
              </a:rPr>
              <a:t>ARCHITECTURE DECISIONS</a:t>
            </a:r>
          </a:p>
        </p:txBody>
      </p:sp>
      <p:sp>
        <p:nvSpPr>
          <p:cNvPr id="25" name="decision-0-title">
            <a:extLst>
              <a:ext uri="{FF2B5EF4-FFF2-40B4-BE49-F238E27FC236}">
                <a16:creationId xmlns:a16="http://schemas.microsoft.com/office/drawing/2014/main" id="{B0277FF0-420F-40A7-93B9-0A94618F0E57}"/>
              </a:ext>
            </a:extLst>
          </p:cNvPr>
          <p:cNvSpPr>
            <a:spLocks noGrp="1"/>
          </p:cNvSpPr>
          <p:nvPr/>
        </p:nvSpPr>
        <p:spPr>
          <a:xfrm>
            <a:off x="552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BEST FIT</a:t>
            </a:r>
          </a:p>
        </p:txBody>
      </p:sp>
      <p:sp>
        <p:nvSpPr>
          <p:cNvPr id="26" name="decision-0-body">
            <a:extLst>
              <a:ext uri="{FF2B5EF4-FFF2-40B4-BE49-F238E27FC236}">
                <a16:creationId xmlns:a16="http://schemas.microsoft.com/office/drawing/2014/main" id="{4B401C24-0B12-4FA5-B48B-9B67C1262F2F}"/>
              </a:ext>
            </a:extLst>
          </p:cNvPr>
          <p:cNvSpPr>
            <a:spLocks noGrp="1"/>
          </p:cNvSpPr>
          <p:nvPr/>
        </p:nvSpPr>
        <p:spPr>
          <a:xfrm>
            <a:off x="552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Fargate for protocol adapters and predictable runtimes; Lambda for short event handlers.</a:t>
            </a:r>
          </a:p>
        </p:txBody>
      </p:sp>
      <p:sp>
        <p:nvSpPr>
          <p:cNvPr id="27" name="decision-1-title">
            <a:extLst>
              <a:ext uri="{FF2B5EF4-FFF2-40B4-BE49-F238E27FC236}">
                <a16:creationId xmlns:a16="http://schemas.microsoft.com/office/drawing/2014/main" id="{CBDB990E-C92E-42C0-AC9A-F27B801DD7D2}"/>
              </a:ext>
            </a:extLst>
          </p:cNvPr>
          <p:cNvSpPr>
            <a:spLocks noGrp="1"/>
          </p:cNvSpPr>
          <p:nvPr/>
        </p:nvSpPr>
        <p:spPr>
          <a:xfrm>
            <a:off x="3409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SCALING</a:t>
            </a:r>
          </a:p>
        </p:txBody>
      </p:sp>
      <p:sp>
        <p:nvSpPr>
          <p:cNvPr id="28" name="decision-1-body">
            <a:extLst>
              <a:ext uri="{FF2B5EF4-FFF2-40B4-BE49-F238E27FC236}">
                <a16:creationId xmlns:a16="http://schemas.microsoft.com/office/drawing/2014/main" id="{E124173A-8284-4C3C-9442-63F76A3ED2AF}"/>
              </a:ext>
            </a:extLst>
          </p:cNvPr>
          <p:cNvSpPr>
            <a:spLocks noGrp="1"/>
          </p:cNvSpPr>
          <p:nvPr/>
        </p:nvSpPr>
        <p:spPr>
          <a:xfrm>
            <a:off x="3409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Set independent min/max capacity and signals for each microservice.</a:t>
            </a:r>
          </a:p>
        </p:txBody>
      </p:sp>
      <p:sp>
        <p:nvSpPr>
          <p:cNvPr id="29" name="decision-2-title">
            <a:extLst>
              <a:ext uri="{FF2B5EF4-FFF2-40B4-BE49-F238E27FC236}">
                <a16:creationId xmlns:a16="http://schemas.microsoft.com/office/drawing/2014/main" id="{0728A758-D002-48FF-A4B1-4F8FD23C82BA}"/>
              </a:ext>
            </a:extLst>
          </p:cNvPr>
          <p:cNvSpPr>
            <a:spLocks noGrp="1"/>
          </p:cNvSpPr>
          <p:nvPr/>
        </p:nvSpPr>
        <p:spPr>
          <a:xfrm>
            <a:off x="6267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RESILIENCE</a:t>
            </a:r>
          </a:p>
        </p:txBody>
      </p:sp>
      <p:sp>
        <p:nvSpPr>
          <p:cNvPr id="30" name="decision-2-body">
            <a:extLst>
              <a:ext uri="{FF2B5EF4-FFF2-40B4-BE49-F238E27FC236}">
                <a16:creationId xmlns:a16="http://schemas.microsoft.com/office/drawing/2014/main" id="{80CC9FD7-695B-406F-91BD-2613E0CA7CD8}"/>
              </a:ext>
            </a:extLst>
          </p:cNvPr>
          <p:cNvSpPr>
            <a:spLocks noGrp="1"/>
          </p:cNvSpPr>
          <p:nvPr/>
        </p:nvSpPr>
        <p:spPr>
          <a:xfrm>
            <a:off x="6267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Spread tasks across Availability Zones and enforce health-based replacement.</a:t>
            </a:r>
          </a:p>
        </p:txBody>
      </p:sp>
      <p:sp>
        <p:nvSpPr>
          <p:cNvPr id="31" name="decision-3-title">
            <a:extLst>
              <a:ext uri="{FF2B5EF4-FFF2-40B4-BE49-F238E27FC236}">
                <a16:creationId xmlns:a16="http://schemas.microsoft.com/office/drawing/2014/main" id="{9F6B38EE-68E4-443B-88F8-6D0959B1082E}"/>
              </a:ext>
            </a:extLst>
          </p:cNvPr>
          <p:cNvSpPr>
            <a:spLocks noGrp="1"/>
          </p:cNvSpPr>
          <p:nvPr/>
        </p:nvSpPr>
        <p:spPr>
          <a:xfrm>
            <a:off x="9124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OPERATIONS</a:t>
            </a:r>
          </a:p>
        </p:txBody>
      </p:sp>
      <p:sp>
        <p:nvSpPr>
          <p:cNvPr id="32" name="decision-3-body">
            <a:extLst>
              <a:ext uri="{FF2B5EF4-FFF2-40B4-BE49-F238E27FC236}">
                <a16:creationId xmlns:a16="http://schemas.microsoft.com/office/drawing/2014/main" id="{6AE92F97-71CC-4533-9360-2A88AC4E780D}"/>
              </a:ext>
            </a:extLst>
          </p:cNvPr>
          <p:cNvSpPr>
            <a:spLocks noGrp="1"/>
          </p:cNvSpPr>
          <p:nvPr/>
        </p:nvSpPr>
        <p:spPr>
          <a:xfrm>
            <a:off x="9124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Use standardized images, sidecar-free telemetry and automated patch replacement.</a:t>
            </a:r>
          </a:p>
        </p:txBody>
      </p:sp>
      <p:sp>
        <p:nvSpPr>
          <p:cNvPr id="33" name="footer">
            <a:extLst>
              <a:ext uri="{FF2B5EF4-FFF2-40B4-BE49-F238E27FC236}">
                <a16:creationId xmlns:a16="http://schemas.microsoft.com/office/drawing/2014/main" id="{3685DCE4-10C1-41AE-9064-921595926074}"/>
              </a:ext>
            </a:extLst>
          </p:cNvPr>
          <p:cNvSpPr>
            <a:spLocks noGrp="1"/>
          </p:cNvSpPr>
          <p:nvPr/>
        </p:nvSpPr>
        <p:spPr>
          <a:xfrm>
            <a:off x="552450" y="5953125"/>
            <a:ext cx="11087100" cy="457200"/>
          </a:xfrm>
          <a:prstGeom prst="roundRect">
            <a:avLst>
              <a:gd name="adj" fmla="val 16667"/>
            </a:avLst>
          </a:prstGeom>
          <a:solidFill>
            <a:srgbClr val="F0FAF8"/>
          </a:solidFill>
          <a:ln w="9525">
            <a:solidFill>
              <a:srgbClr val="B7E2DC"/>
            </a:solidFill>
            <a:prstDash val="solid"/>
          </a:ln>
        </p:spPr>
        <p:txBody>
          <a:bodyPr/>
          <a:lstStyle/>
          <a:p>
            <a:endParaRPr/>
          </a:p>
        </p:txBody>
      </p:sp>
      <p:sp>
        <p:nvSpPr>
          <p:cNvPr id="34" name="footer-text">
            <a:extLst>
              <a:ext uri="{FF2B5EF4-FFF2-40B4-BE49-F238E27FC236}">
                <a16:creationId xmlns:a16="http://schemas.microsoft.com/office/drawing/2014/main" id="{C0F08B2D-636F-4AEF-9855-E65AF4DD6761}"/>
              </a:ext>
            </a:extLst>
          </p:cNvPr>
          <p:cNvSpPr>
            <a:spLocks noGrp="1"/>
          </p:cNvSpPr>
          <p:nvPr/>
        </p:nvSpPr>
        <p:spPr>
          <a:xfrm>
            <a:off x="781050" y="6086475"/>
            <a:ext cx="106299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Design principle: managed services first • explicit ownership • graceful degradation • measurable recovery</a:t>
            </a:r>
          </a:p>
        </p:txBody>
      </p:sp>
    </p:spTree>
    <p:extLst>
      <p:ext uri="{BB962C8B-B14F-4D97-AF65-F5344CB8AC3E}">
        <p14:creationId xmlns:p14="http://schemas.microsoft.com/office/powerpoint/2010/main" val="1710397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eyebrow">
            <a:extLst>
              <a:ext uri="{FF2B5EF4-FFF2-40B4-BE49-F238E27FC236}">
                <a16:creationId xmlns:a16="http://schemas.microsoft.com/office/drawing/2014/main" id="{8EC2B7D3-B386-401B-9DA1-70911F44C7EB}"/>
              </a:ext>
            </a:extLst>
          </p:cNvPr>
          <p:cNvSpPr>
            <a:spLocks noGrp="1"/>
          </p:cNvSpPr>
          <p:nvPr/>
        </p:nvSpPr>
        <p:spPr>
          <a:xfrm>
            <a:off x="552450" y="266700"/>
            <a:ext cx="4000500" cy="190500"/>
          </a:xfrm>
          <a:prstGeom prst="rect">
            <a:avLst/>
          </a:prstGeom>
          <a:noFill/>
          <a:ln w="0">
            <a:noFill/>
            <a:prstDash val="solid"/>
          </a:ln>
        </p:spPr>
        <p:txBody>
          <a:bodyPr/>
          <a:lstStyle/>
          <a:p>
            <a:pPr>
              <a:buNone/>
              <a:defRPr sz="975" b="1">
                <a:solidFill>
                  <a:srgbClr val="198E84"/>
                </a:solidFill>
              </a:defRPr>
            </a:pPr>
            <a:r>
              <a:rPr sz="975" b="1" dirty="0">
                <a:solidFill>
                  <a:srgbClr val="198E84"/>
                </a:solidFill>
              </a:rPr>
              <a:t>STORAGE &amp; DATA</a:t>
            </a:r>
          </a:p>
        </p:txBody>
      </p:sp>
      <p:sp>
        <p:nvSpPr>
          <p:cNvPr id="2" name="title">
            <a:extLst>
              <a:ext uri="{FF2B5EF4-FFF2-40B4-BE49-F238E27FC236}">
                <a16:creationId xmlns:a16="http://schemas.microsoft.com/office/drawing/2014/main" id="{6E428103-2E04-4AA0-91F4-5AC9F6C98BF9}"/>
              </a:ext>
            </a:extLst>
          </p:cNvPr>
          <p:cNvSpPr>
            <a:spLocks noGrp="1"/>
          </p:cNvSpPr>
          <p:nvPr/>
        </p:nvSpPr>
        <p:spPr>
          <a:xfrm>
            <a:off x="552450" y="523875"/>
            <a:ext cx="11087100" cy="742950"/>
          </a:xfrm>
          <a:prstGeom prst="rect">
            <a:avLst/>
          </a:prstGeom>
          <a:noFill/>
          <a:ln w="0">
            <a:noFill/>
            <a:prstDash val="solid"/>
          </a:ln>
        </p:spPr>
        <p:txBody>
          <a:bodyPr/>
          <a:lstStyle/>
          <a:p>
            <a:pPr>
              <a:buNone/>
              <a:defRPr sz="2475" b="1">
                <a:solidFill>
                  <a:srgbClr val="111827"/>
                </a:solidFill>
              </a:defRPr>
            </a:pPr>
            <a:r>
              <a:rPr sz="2475" b="1">
                <a:solidFill>
                  <a:srgbClr val="111827"/>
                </a:solidFill>
              </a:rPr>
              <a:t>Each data store has one purpose—and brownfield systems retain authority</a:t>
            </a:r>
          </a:p>
        </p:txBody>
      </p:sp>
      <p:sp>
        <p:nvSpPr>
          <p:cNvPr id="3" name="subtitle">
            <a:extLst>
              <a:ext uri="{FF2B5EF4-FFF2-40B4-BE49-F238E27FC236}">
                <a16:creationId xmlns:a16="http://schemas.microsoft.com/office/drawing/2014/main" id="{EA3BF8F0-BD1B-4F56-8053-E37CDD02C3D0}"/>
              </a:ext>
            </a:extLst>
          </p:cNvPr>
          <p:cNvSpPr>
            <a:spLocks noGrp="1"/>
          </p:cNvSpPr>
          <p:nvPr/>
        </p:nvSpPr>
        <p:spPr>
          <a:xfrm>
            <a:off x="552450" y="1333500"/>
            <a:ext cx="11087100" cy="400050"/>
          </a:xfrm>
          <a:prstGeom prst="rect">
            <a:avLst/>
          </a:prstGeom>
          <a:noFill/>
          <a:ln w="0">
            <a:noFill/>
            <a:prstDash val="solid"/>
          </a:ln>
        </p:spPr>
        <p:txBody>
          <a:bodyPr/>
          <a:lstStyle/>
          <a:p>
            <a:pPr>
              <a:buNone/>
              <a:defRPr sz="1275">
                <a:solidFill>
                  <a:srgbClr val="5B6472"/>
                </a:solidFill>
              </a:defRPr>
            </a:pPr>
            <a:r>
              <a:rPr sz="1275">
                <a:solidFill>
                  <a:srgbClr val="5B6472"/>
                </a:solidFill>
              </a:rPr>
              <a:t>The cloud stores journey state and customer preferences without duplicating authoritative vehicle, repair, or dealer inventory data.</a:t>
            </a:r>
          </a:p>
        </p:txBody>
      </p:sp>
      <p:sp>
        <p:nvSpPr>
          <p:cNvPr id="4" name="section-rule">
            <a:extLst>
              <a:ext uri="{FF2B5EF4-FFF2-40B4-BE49-F238E27FC236}">
                <a16:creationId xmlns:a16="http://schemas.microsoft.com/office/drawing/2014/main" id="{19096F32-2AE0-4A91-B840-6259A053C8E8}"/>
              </a:ext>
            </a:extLst>
          </p:cNvPr>
          <p:cNvSpPr>
            <a:spLocks noGrp="1"/>
          </p:cNvSpPr>
          <p:nvPr/>
        </p:nvSpPr>
        <p:spPr>
          <a:xfrm>
            <a:off x="552450" y="1876425"/>
            <a:ext cx="11087100" cy="0"/>
          </a:xfrm>
          <a:prstGeom prst="line">
            <a:avLst/>
          </a:prstGeom>
          <a:ln w="11430">
            <a:solidFill>
              <a:srgbClr val="D7DEE8"/>
            </a:solidFill>
            <a:prstDash val="solid"/>
          </a:ln>
        </p:spPr>
        <p:txBody>
          <a:bodyPr/>
          <a:lstStyle/>
          <a:p>
            <a:endParaRPr/>
          </a:p>
        </p:txBody>
      </p:sp>
      <p:sp>
        <p:nvSpPr>
          <p:cNvPr id="5" name="stage-Transactional state">
            <a:extLst>
              <a:ext uri="{FF2B5EF4-FFF2-40B4-BE49-F238E27FC236}">
                <a16:creationId xmlns:a16="http://schemas.microsoft.com/office/drawing/2014/main" id="{7CF35ED7-55C1-4C1C-A7E1-587B375C2FBA}"/>
              </a:ext>
            </a:extLst>
          </p:cNvPr>
          <p:cNvSpPr>
            <a:spLocks noGrp="1"/>
          </p:cNvSpPr>
          <p:nvPr/>
        </p:nvSpPr>
        <p:spPr>
          <a:xfrm>
            <a:off x="552450" y="2152650"/>
            <a:ext cx="3276600" cy="2076450"/>
          </a:xfrm>
          <a:prstGeom prst="roundRect">
            <a:avLst>
              <a:gd name="adj" fmla="val 5505"/>
            </a:avLst>
          </a:prstGeom>
          <a:solidFill>
            <a:srgbClr val="FFFF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51" name="Picture 40"/>
          <p:cNvPicPr>
            <a:picLocks noChangeAspect="1"/>
          </p:cNvPicPr>
          <p:nvPr/>
        </p:nvPicPr>
        <p:blipFill>
          <a:blip r:embed="rId3"/>
          <a:stretch/>
        </p:blipFill>
        <p:spPr>
          <a:xfrm>
            <a:off x="838200" y="2390775"/>
            <a:ext cx="400050" cy="400050"/>
          </a:xfrm>
          <a:prstGeom prst="rect">
            <a:avLst/>
          </a:prstGeom>
        </p:spPr>
      </p:pic>
      <p:pic>
        <p:nvPicPr>
          <p:cNvPr id="52" name="Picture 41"/>
          <p:cNvPicPr>
            <a:picLocks noChangeAspect="1"/>
          </p:cNvPicPr>
          <p:nvPr/>
        </p:nvPicPr>
        <p:blipFill>
          <a:blip r:embed="rId4"/>
          <a:stretch/>
        </p:blipFill>
        <p:spPr>
          <a:xfrm>
            <a:off x="1352550" y="2390775"/>
            <a:ext cx="400050" cy="400050"/>
          </a:xfrm>
          <a:prstGeom prst="rect">
            <a:avLst/>
          </a:prstGeom>
        </p:spPr>
      </p:pic>
      <p:pic>
        <p:nvPicPr>
          <p:cNvPr id="53" name="Picture 42"/>
          <p:cNvPicPr>
            <a:picLocks noChangeAspect="1"/>
          </p:cNvPicPr>
          <p:nvPr/>
        </p:nvPicPr>
        <p:blipFill>
          <a:blip r:embed="rId5"/>
          <a:stretch/>
        </p:blipFill>
        <p:spPr>
          <a:xfrm>
            <a:off x="1866900" y="2390775"/>
            <a:ext cx="400050" cy="400050"/>
          </a:xfrm>
          <a:prstGeom prst="rect">
            <a:avLst/>
          </a:prstGeom>
        </p:spPr>
      </p:pic>
      <p:sp>
        <p:nvSpPr>
          <p:cNvPr id="9" name="Transactional state-title">
            <a:extLst>
              <a:ext uri="{FF2B5EF4-FFF2-40B4-BE49-F238E27FC236}">
                <a16:creationId xmlns:a16="http://schemas.microsoft.com/office/drawing/2014/main" id="{4EC1BDBB-8E26-498F-B2DB-B04AF342242B}"/>
              </a:ext>
            </a:extLst>
          </p:cNvPr>
          <p:cNvSpPr>
            <a:spLocks noGrp="1"/>
          </p:cNvSpPr>
          <p:nvPr/>
        </p:nvSpPr>
        <p:spPr>
          <a:xfrm>
            <a:off x="8191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Transactional state</a:t>
            </a:r>
          </a:p>
        </p:txBody>
      </p:sp>
      <p:sp>
        <p:nvSpPr>
          <p:cNvPr id="10" name="Transactional state-detail">
            <a:extLst>
              <a:ext uri="{FF2B5EF4-FFF2-40B4-BE49-F238E27FC236}">
                <a16:creationId xmlns:a16="http://schemas.microsoft.com/office/drawing/2014/main" id="{FBB9933C-168B-47D0-B201-3A325B4EE787}"/>
              </a:ext>
            </a:extLst>
          </p:cNvPr>
          <p:cNvSpPr>
            <a:spLocks noGrp="1"/>
          </p:cNvSpPr>
          <p:nvPr/>
        </p:nvSpPr>
        <p:spPr>
          <a:xfrm>
            <a:off x="8191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profiles and preferences</a:t>
            </a:r>
          </a:p>
          <a:p>
            <a:pPr>
              <a:buNone/>
              <a:defRPr sz="1125">
                <a:solidFill>
                  <a:srgbClr val="4B5563"/>
                </a:solidFill>
              </a:defRPr>
            </a:pPr>
            <a:r>
              <a:rPr sz="1125">
                <a:solidFill>
                  <a:srgbClr val="4B5563"/>
                </a:solidFill>
              </a:rPr>
              <a:t>booking workflow state</a:t>
            </a:r>
          </a:p>
          <a:p>
            <a:pPr>
              <a:buNone/>
              <a:defRPr sz="1125">
                <a:solidFill>
                  <a:srgbClr val="4B5563"/>
                </a:solidFill>
              </a:defRPr>
            </a:pPr>
            <a:r>
              <a:rPr sz="1125">
                <a:solidFill>
                  <a:srgbClr val="4B5563"/>
                </a:solidFill>
              </a:rPr>
              <a:t>PITR and encryption</a:t>
            </a:r>
          </a:p>
        </p:txBody>
      </p:sp>
      <p:sp>
        <p:nvSpPr>
          <p:cNvPr id="11" name="arrow-414">
            <a:extLst>
              <a:ext uri="{FF2B5EF4-FFF2-40B4-BE49-F238E27FC236}">
                <a16:creationId xmlns:a16="http://schemas.microsoft.com/office/drawing/2014/main" id="{E4B844AF-2428-4989-BE3B-3AB6278FEFD1}"/>
              </a:ext>
            </a:extLst>
          </p:cNvPr>
          <p:cNvSpPr>
            <a:spLocks noGrp="1"/>
          </p:cNvSpPr>
          <p:nvPr/>
        </p:nvSpPr>
        <p:spPr>
          <a:xfrm>
            <a:off x="3943350" y="3009900"/>
            <a:ext cx="361950" cy="266700"/>
          </a:xfrm>
          <a:prstGeom prst="rightArrow">
            <a:avLst/>
          </a:prstGeom>
          <a:solidFill>
            <a:srgbClr val="08A89B"/>
          </a:solidFill>
          <a:ln w="0">
            <a:solidFill>
              <a:srgbClr val="08A89B"/>
            </a:solidFill>
            <a:prstDash val="solid"/>
          </a:ln>
        </p:spPr>
        <p:txBody>
          <a:bodyPr/>
          <a:lstStyle/>
          <a:p>
            <a:endParaRPr/>
          </a:p>
        </p:txBody>
      </p:sp>
      <p:sp>
        <p:nvSpPr>
          <p:cNvPr id="12" name="stage-Objects and cache">
            <a:extLst>
              <a:ext uri="{FF2B5EF4-FFF2-40B4-BE49-F238E27FC236}">
                <a16:creationId xmlns:a16="http://schemas.microsoft.com/office/drawing/2014/main" id="{8369D9B2-73AB-4FD8-A2DE-5B7AA1CBC44F}"/>
              </a:ext>
            </a:extLst>
          </p:cNvPr>
          <p:cNvSpPr>
            <a:spLocks noGrp="1"/>
          </p:cNvSpPr>
          <p:nvPr/>
        </p:nvSpPr>
        <p:spPr>
          <a:xfrm>
            <a:off x="4457700" y="2152650"/>
            <a:ext cx="3276600" cy="2076450"/>
          </a:xfrm>
          <a:prstGeom prst="roundRect">
            <a:avLst>
              <a:gd name="adj" fmla="val 5505"/>
            </a:avLst>
          </a:prstGeom>
          <a:solidFill>
            <a:srgbClr val="FFFF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pic>
        <p:nvPicPr>
          <p:cNvPr id="58" name="Picture 47"/>
          <p:cNvPicPr>
            <a:picLocks noChangeAspect="1"/>
          </p:cNvPicPr>
          <p:nvPr/>
        </p:nvPicPr>
        <p:blipFill>
          <a:blip r:embed="rId6"/>
          <a:stretch/>
        </p:blipFill>
        <p:spPr>
          <a:xfrm>
            <a:off x="4743450" y="2390775"/>
            <a:ext cx="400050" cy="400050"/>
          </a:xfrm>
          <a:prstGeom prst="rect">
            <a:avLst/>
          </a:prstGeom>
        </p:spPr>
      </p:pic>
      <p:pic>
        <p:nvPicPr>
          <p:cNvPr id="59" name="Picture 48"/>
          <p:cNvPicPr>
            <a:picLocks noChangeAspect="1"/>
          </p:cNvPicPr>
          <p:nvPr/>
        </p:nvPicPr>
        <p:blipFill>
          <a:blip r:embed="rId7"/>
          <a:stretch/>
        </p:blipFill>
        <p:spPr>
          <a:xfrm>
            <a:off x="5257800" y="2390775"/>
            <a:ext cx="400050" cy="400050"/>
          </a:xfrm>
          <a:prstGeom prst="rect">
            <a:avLst/>
          </a:prstGeom>
        </p:spPr>
      </p:pic>
      <p:pic>
        <p:nvPicPr>
          <p:cNvPr id="60" name="Picture 49"/>
          <p:cNvPicPr>
            <a:picLocks noChangeAspect="1"/>
          </p:cNvPicPr>
          <p:nvPr/>
        </p:nvPicPr>
        <p:blipFill>
          <a:blip r:embed="rId8"/>
          <a:stretch/>
        </p:blipFill>
        <p:spPr>
          <a:xfrm>
            <a:off x="5772150" y="2390775"/>
            <a:ext cx="400050" cy="400050"/>
          </a:xfrm>
          <a:prstGeom prst="rect">
            <a:avLst/>
          </a:prstGeom>
        </p:spPr>
      </p:pic>
      <p:sp>
        <p:nvSpPr>
          <p:cNvPr id="16" name="Objects and cache-title">
            <a:extLst>
              <a:ext uri="{FF2B5EF4-FFF2-40B4-BE49-F238E27FC236}">
                <a16:creationId xmlns:a16="http://schemas.microsoft.com/office/drawing/2014/main" id="{FD148FD7-B9A1-44A6-A3D7-BAC501931FB4}"/>
              </a:ext>
            </a:extLst>
          </p:cNvPr>
          <p:cNvSpPr>
            <a:spLocks noGrp="1"/>
          </p:cNvSpPr>
          <p:nvPr/>
        </p:nvSpPr>
        <p:spPr>
          <a:xfrm>
            <a:off x="472440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Objects and cache</a:t>
            </a:r>
          </a:p>
        </p:txBody>
      </p:sp>
      <p:sp>
        <p:nvSpPr>
          <p:cNvPr id="17" name="Objects and cache-detail">
            <a:extLst>
              <a:ext uri="{FF2B5EF4-FFF2-40B4-BE49-F238E27FC236}">
                <a16:creationId xmlns:a16="http://schemas.microsoft.com/office/drawing/2014/main" id="{F231C48B-817C-462B-B1D6-CBC50D9C516D}"/>
              </a:ext>
            </a:extLst>
          </p:cNvPr>
          <p:cNvSpPr>
            <a:spLocks noGrp="1"/>
          </p:cNvSpPr>
          <p:nvPr/>
        </p:nvSpPr>
        <p:spPr>
          <a:xfrm>
            <a:off x="472440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static assets and exports</a:t>
            </a:r>
          </a:p>
          <a:p>
            <a:pPr>
              <a:buNone/>
              <a:defRPr sz="1125">
                <a:solidFill>
                  <a:srgbClr val="4B5563"/>
                </a:solidFill>
              </a:defRPr>
            </a:pPr>
            <a:r>
              <a:rPr sz="1125">
                <a:solidFill>
                  <a:srgbClr val="4B5563"/>
                </a:solidFill>
              </a:rPr>
              <a:t>versioning and lifecycle</a:t>
            </a:r>
          </a:p>
          <a:p>
            <a:pPr>
              <a:buNone/>
              <a:defRPr sz="1125">
                <a:solidFill>
                  <a:srgbClr val="4B5563"/>
                </a:solidFill>
              </a:defRPr>
            </a:pPr>
            <a:r>
              <a:rPr sz="1125">
                <a:solidFill>
                  <a:srgbClr val="4B5563"/>
                </a:solidFill>
              </a:rPr>
              <a:t>short-lived read cache</a:t>
            </a:r>
          </a:p>
        </p:txBody>
      </p:sp>
      <p:sp>
        <p:nvSpPr>
          <p:cNvPr id="18" name="arrow-824">
            <a:extLst>
              <a:ext uri="{FF2B5EF4-FFF2-40B4-BE49-F238E27FC236}">
                <a16:creationId xmlns:a16="http://schemas.microsoft.com/office/drawing/2014/main" id="{5B6FEAFA-E3C1-4420-B487-4C654AD21ECF}"/>
              </a:ext>
            </a:extLst>
          </p:cNvPr>
          <p:cNvSpPr>
            <a:spLocks noGrp="1"/>
          </p:cNvSpPr>
          <p:nvPr/>
        </p:nvSpPr>
        <p:spPr>
          <a:xfrm>
            <a:off x="7848600" y="3009900"/>
            <a:ext cx="361950" cy="266700"/>
          </a:xfrm>
          <a:prstGeom prst="rightArrow">
            <a:avLst/>
          </a:prstGeom>
          <a:solidFill>
            <a:srgbClr val="08A89B"/>
          </a:solidFill>
          <a:ln w="0">
            <a:solidFill>
              <a:srgbClr val="08A89B"/>
            </a:solidFill>
            <a:prstDash val="solid"/>
          </a:ln>
        </p:spPr>
        <p:txBody>
          <a:bodyPr/>
          <a:lstStyle/>
          <a:p>
            <a:endParaRPr/>
          </a:p>
        </p:txBody>
      </p:sp>
      <p:sp>
        <p:nvSpPr>
          <p:cNvPr id="19" name="stage-Systems of record">
            <a:extLst>
              <a:ext uri="{FF2B5EF4-FFF2-40B4-BE49-F238E27FC236}">
                <a16:creationId xmlns:a16="http://schemas.microsoft.com/office/drawing/2014/main" id="{6BC58128-B6CA-4BF5-95FC-F9C5CF61B497}"/>
              </a:ext>
            </a:extLst>
          </p:cNvPr>
          <p:cNvSpPr>
            <a:spLocks noGrp="1"/>
          </p:cNvSpPr>
          <p:nvPr/>
        </p:nvSpPr>
        <p:spPr>
          <a:xfrm>
            <a:off x="8362950" y="2152650"/>
            <a:ext cx="3276600" cy="2076450"/>
          </a:xfrm>
          <a:prstGeom prst="roundRect">
            <a:avLst>
              <a:gd name="adj" fmla="val 5505"/>
            </a:avLst>
          </a:prstGeom>
          <a:solidFill>
            <a:srgbClr val="FFFFFF"/>
          </a:solidFill>
          <a:ln w="1714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pic>
        <p:nvPicPr>
          <p:cNvPr id="65" name="Picture 54"/>
          <p:cNvPicPr>
            <a:picLocks noChangeAspect="1"/>
          </p:cNvPicPr>
          <p:nvPr/>
        </p:nvPicPr>
        <p:blipFill>
          <a:blip r:embed="rId9"/>
          <a:stretch/>
        </p:blipFill>
        <p:spPr>
          <a:xfrm>
            <a:off x="8648700" y="2390775"/>
            <a:ext cx="400050" cy="400050"/>
          </a:xfrm>
          <a:prstGeom prst="rect">
            <a:avLst/>
          </a:prstGeom>
        </p:spPr>
      </p:pic>
      <p:pic>
        <p:nvPicPr>
          <p:cNvPr id="66" name="Picture 55"/>
          <p:cNvPicPr>
            <a:picLocks noChangeAspect="1"/>
          </p:cNvPicPr>
          <p:nvPr/>
        </p:nvPicPr>
        <p:blipFill>
          <a:blip r:embed="rId10"/>
          <a:stretch/>
        </p:blipFill>
        <p:spPr>
          <a:xfrm>
            <a:off x="9163050" y="2390775"/>
            <a:ext cx="400050" cy="400050"/>
          </a:xfrm>
          <a:prstGeom prst="rect">
            <a:avLst/>
          </a:prstGeom>
        </p:spPr>
      </p:pic>
      <p:pic>
        <p:nvPicPr>
          <p:cNvPr id="67" name="Picture 56"/>
          <p:cNvPicPr>
            <a:picLocks noChangeAspect="1"/>
          </p:cNvPicPr>
          <p:nvPr/>
        </p:nvPicPr>
        <p:blipFill>
          <a:blip r:embed="rId11"/>
          <a:stretch/>
        </p:blipFill>
        <p:spPr>
          <a:xfrm>
            <a:off x="9677400" y="2390775"/>
            <a:ext cx="400050" cy="400050"/>
          </a:xfrm>
          <a:prstGeom prst="rect">
            <a:avLst/>
          </a:prstGeom>
        </p:spPr>
      </p:pic>
      <p:sp>
        <p:nvSpPr>
          <p:cNvPr id="23" name="Systems of record-title">
            <a:extLst>
              <a:ext uri="{FF2B5EF4-FFF2-40B4-BE49-F238E27FC236}">
                <a16:creationId xmlns:a16="http://schemas.microsoft.com/office/drawing/2014/main" id="{60D8AC4F-3DB2-44D5-A640-6A19A98DD2F5}"/>
              </a:ext>
            </a:extLst>
          </p:cNvPr>
          <p:cNvSpPr>
            <a:spLocks noGrp="1"/>
          </p:cNvSpPr>
          <p:nvPr/>
        </p:nvSpPr>
        <p:spPr>
          <a:xfrm>
            <a:off x="86296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Systems of record</a:t>
            </a:r>
          </a:p>
        </p:txBody>
      </p:sp>
      <p:sp>
        <p:nvSpPr>
          <p:cNvPr id="24" name="Systems of record-detail">
            <a:extLst>
              <a:ext uri="{FF2B5EF4-FFF2-40B4-BE49-F238E27FC236}">
                <a16:creationId xmlns:a16="http://schemas.microsoft.com/office/drawing/2014/main" id="{BAEBD44A-4D35-420C-9D9F-4854A49EAB33}"/>
              </a:ext>
            </a:extLst>
          </p:cNvPr>
          <p:cNvSpPr>
            <a:spLocks noGrp="1"/>
          </p:cNvSpPr>
          <p:nvPr/>
        </p:nvSpPr>
        <p:spPr>
          <a:xfrm>
            <a:off x="86296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VIN API and mainframe</a:t>
            </a:r>
          </a:p>
          <a:p>
            <a:pPr>
              <a:buNone/>
              <a:defRPr sz="1125">
                <a:solidFill>
                  <a:srgbClr val="4B5563"/>
                </a:solidFill>
              </a:defRPr>
            </a:pPr>
            <a:r>
              <a:rPr sz="1125">
                <a:solidFill>
                  <a:srgbClr val="4B5563"/>
                </a:solidFill>
              </a:rPr>
              <a:t>dealer-owned inventory</a:t>
            </a:r>
          </a:p>
          <a:p>
            <a:pPr>
              <a:buNone/>
              <a:defRPr sz="1125">
                <a:solidFill>
                  <a:srgbClr val="4B5563"/>
                </a:solidFill>
              </a:defRPr>
            </a:pPr>
            <a:r>
              <a:rPr sz="1125">
                <a:solidFill>
                  <a:srgbClr val="4B5563"/>
                </a:solidFill>
              </a:rPr>
              <a:t>private secured access</a:t>
            </a:r>
          </a:p>
        </p:txBody>
      </p:sp>
      <p:sp>
        <p:nvSpPr>
          <p:cNvPr id="25" name="decisions-label">
            <a:extLst>
              <a:ext uri="{FF2B5EF4-FFF2-40B4-BE49-F238E27FC236}">
                <a16:creationId xmlns:a16="http://schemas.microsoft.com/office/drawing/2014/main" id="{D08AEE0F-0137-43A7-B429-C0664C028F1F}"/>
              </a:ext>
            </a:extLst>
          </p:cNvPr>
          <p:cNvSpPr>
            <a:spLocks noGrp="1"/>
          </p:cNvSpPr>
          <p:nvPr/>
        </p:nvSpPr>
        <p:spPr>
          <a:xfrm>
            <a:off x="552450" y="4438650"/>
            <a:ext cx="2381250" cy="190500"/>
          </a:xfrm>
          <a:prstGeom prst="rect">
            <a:avLst/>
          </a:prstGeom>
          <a:noFill/>
          <a:ln w="0">
            <a:noFill/>
            <a:prstDash val="solid"/>
          </a:ln>
        </p:spPr>
        <p:txBody>
          <a:bodyPr/>
          <a:lstStyle/>
          <a:p>
            <a:pPr>
              <a:buNone/>
              <a:defRPr sz="900" b="1">
                <a:solidFill>
                  <a:srgbClr val="5B6472"/>
                </a:solidFill>
              </a:defRPr>
            </a:pPr>
            <a:r>
              <a:rPr sz="900" b="1">
                <a:solidFill>
                  <a:srgbClr val="5B6472"/>
                </a:solidFill>
              </a:rPr>
              <a:t>ARCHITECTURE DECISIONS</a:t>
            </a:r>
          </a:p>
        </p:txBody>
      </p:sp>
      <p:sp>
        <p:nvSpPr>
          <p:cNvPr id="26" name="decision-0-title">
            <a:extLst>
              <a:ext uri="{FF2B5EF4-FFF2-40B4-BE49-F238E27FC236}">
                <a16:creationId xmlns:a16="http://schemas.microsoft.com/office/drawing/2014/main" id="{1F188DE7-5A57-4BD9-A3CF-9D15C7105C80}"/>
              </a:ext>
            </a:extLst>
          </p:cNvPr>
          <p:cNvSpPr>
            <a:spLocks noGrp="1"/>
          </p:cNvSpPr>
          <p:nvPr/>
        </p:nvSpPr>
        <p:spPr>
          <a:xfrm>
            <a:off x="552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OWNERSHIP</a:t>
            </a:r>
          </a:p>
        </p:txBody>
      </p:sp>
      <p:sp>
        <p:nvSpPr>
          <p:cNvPr id="27" name="decision-0-body">
            <a:extLst>
              <a:ext uri="{FF2B5EF4-FFF2-40B4-BE49-F238E27FC236}">
                <a16:creationId xmlns:a16="http://schemas.microsoft.com/office/drawing/2014/main" id="{0E0D435E-E074-4C4F-AA28-3294FC3DD82C}"/>
              </a:ext>
            </a:extLst>
          </p:cNvPr>
          <p:cNvSpPr>
            <a:spLocks noGrp="1"/>
          </p:cNvSpPr>
          <p:nvPr/>
        </p:nvSpPr>
        <p:spPr>
          <a:xfrm>
            <a:off x="552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Cloud: customer and workflow state. Legacy: VIN, repair history and dealer slots.</a:t>
            </a:r>
          </a:p>
        </p:txBody>
      </p:sp>
      <p:sp>
        <p:nvSpPr>
          <p:cNvPr id="28" name="decision-1-title">
            <a:extLst>
              <a:ext uri="{FF2B5EF4-FFF2-40B4-BE49-F238E27FC236}">
                <a16:creationId xmlns:a16="http://schemas.microsoft.com/office/drawing/2014/main" id="{8D33C31E-B0D8-4A85-8CB2-AE87C86516FA}"/>
              </a:ext>
            </a:extLst>
          </p:cNvPr>
          <p:cNvSpPr>
            <a:spLocks noGrp="1"/>
          </p:cNvSpPr>
          <p:nvPr/>
        </p:nvSpPr>
        <p:spPr>
          <a:xfrm>
            <a:off x="3409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PARTITIONING</a:t>
            </a:r>
          </a:p>
        </p:txBody>
      </p:sp>
      <p:sp>
        <p:nvSpPr>
          <p:cNvPr id="29" name="decision-1-body">
            <a:extLst>
              <a:ext uri="{FF2B5EF4-FFF2-40B4-BE49-F238E27FC236}">
                <a16:creationId xmlns:a16="http://schemas.microsoft.com/office/drawing/2014/main" id="{FF77A515-88B4-4DB4-BEC9-FD9956D24B3B}"/>
              </a:ext>
            </a:extLst>
          </p:cNvPr>
          <p:cNvSpPr>
            <a:spLocks noGrp="1"/>
          </p:cNvSpPr>
          <p:nvPr/>
        </p:nvSpPr>
        <p:spPr>
          <a:xfrm>
            <a:off x="3409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Dealer-scoped keys and access paths prevent cross-dealer personnel visibility.</a:t>
            </a:r>
          </a:p>
        </p:txBody>
      </p:sp>
      <p:sp>
        <p:nvSpPr>
          <p:cNvPr id="30" name="decision-2-title">
            <a:extLst>
              <a:ext uri="{FF2B5EF4-FFF2-40B4-BE49-F238E27FC236}">
                <a16:creationId xmlns:a16="http://schemas.microsoft.com/office/drawing/2014/main" id="{79DD95D3-DEFC-4C43-8DFD-8D5687B4078E}"/>
              </a:ext>
            </a:extLst>
          </p:cNvPr>
          <p:cNvSpPr>
            <a:spLocks noGrp="1"/>
          </p:cNvSpPr>
          <p:nvPr/>
        </p:nvSpPr>
        <p:spPr>
          <a:xfrm>
            <a:off x="6267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PROTECTION</a:t>
            </a:r>
          </a:p>
        </p:txBody>
      </p:sp>
      <p:sp>
        <p:nvSpPr>
          <p:cNvPr id="31" name="decision-2-body">
            <a:extLst>
              <a:ext uri="{FF2B5EF4-FFF2-40B4-BE49-F238E27FC236}">
                <a16:creationId xmlns:a16="http://schemas.microsoft.com/office/drawing/2014/main" id="{559A76C5-BCEF-47ED-8703-7FDD99E077C1}"/>
              </a:ext>
            </a:extLst>
          </p:cNvPr>
          <p:cNvSpPr>
            <a:spLocks noGrp="1"/>
          </p:cNvSpPr>
          <p:nvPr/>
        </p:nvSpPr>
        <p:spPr>
          <a:xfrm>
            <a:off x="6267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PITR, versioning, backup policies, retention and tested restore procedures.</a:t>
            </a:r>
          </a:p>
        </p:txBody>
      </p:sp>
      <p:sp>
        <p:nvSpPr>
          <p:cNvPr id="32" name="decision-3-title">
            <a:extLst>
              <a:ext uri="{FF2B5EF4-FFF2-40B4-BE49-F238E27FC236}">
                <a16:creationId xmlns:a16="http://schemas.microsoft.com/office/drawing/2014/main" id="{94585D70-AA12-41D2-85AB-1518F9F27D3B}"/>
              </a:ext>
            </a:extLst>
          </p:cNvPr>
          <p:cNvSpPr>
            <a:spLocks noGrp="1"/>
          </p:cNvSpPr>
          <p:nvPr/>
        </p:nvSpPr>
        <p:spPr>
          <a:xfrm>
            <a:off x="9124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LIFECYCLE</a:t>
            </a:r>
          </a:p>
        </p:txBody>
      </p:sp>
      <p:sp>
        <p:nvSpPr>
          <p:cNvPr id="33" name="decision-3-body">
            <a:extLst>
              <a:ext uri="{FF2B5EF4-FFF2-40B4-BE49-F238E27FC236}">
                <a16:creationId xmlns:a16="http://schemas.microsoft.com/office/drawing/2014/main" id="{9EC78A18-A3FE-419A-B48F-7D0F8A09BE75}"/>
              </a:ext>
            </a:extLst>
          </p:cNvPr>
          <p:cNvSpPr>
            <a:spLocks noGrp="1"/>
          </p:cNvSpPr>
          <p:nvPr/>
        </p:nvSpPr>
        <p:spPr>
          <a:xfrm>
            <a:off x="9124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Classify data, minimize duplication and expire caches, logs and exports intentionally.</a:t>
            </a:r>
          </a:p>
        </p:txBody>
      </p:sp>
      <p:sp>
        <p:nvSpPr>
          <p:cNvPr id="34" name="footer">
            <a:extLst>
              <a:ext uri="{FF2B5EF4-FFF2-40B4-BE49-F238E27FC236}">
                <a16:creationId xmlns:a16="http://schemas.microsoft.com/office/drawing/2014/main" id="{69D1C6B2-9ABC-48F4-A673-515FE4C77871}"/>
              </a:ext>
            </a:extLst>
          </p:cNvPr>
          <p:cNvSpPr>
            <a:spLocks noGrp="1"/>
          </p:cNvSpPr>
          <p:nvPr/>
        </p:nvSpPr>
        <p:spPr>
          <a:xfrm>
            <a:off x="552450" y="5953125"/>
            <a:ext cx="11087100" cy="457200"/>
          </a:xfrm>
          <a:prstGeom prst="roundRect">
            <a:avLst>
              <a:gd name="adj" fmla="val 16667"/>
            </a:avLst>
          </a:prstGeom>
          <a:solidFill>
            <a:srgbClr val="F0FAF8"/>
          </a:solidFill>
          <a:ln w="9525">
            <a:solidFill>
              <a:srgbClr val="B7E2DC"/>
            </a:solidFill>
            <a:prstDash val="solid"/>
          </a:ln>
        </p:spPr>
        <p:txBody>
          <a:bodyPr/>
          <a:lstStyle/>
          <a:p>
            <a:endParaRPr/>
          </a:p>
        </p:txBody>
      </p:sp>
      <p:sp>
        <p:nvSpPr>
          <p:cNvPr id="35" name="footer-text">
            <a:extLst>
              <a:ext uri="{FF2B5EF4-FFF2-40B4-BE49-F238E27FC236}">
                <a16:creationId xmlns:a16="http://schemas.microsoft.com/office/drawing/2014/main" id="{F4CCFFBD-5CAA-4E6B-92FD-EC4866258DD4}"/>
              </a:ext>
            </a:extLst>
          </p:cNvPr>
          <p:cNvSpPr>
            <a:spLocks noGrp="1"/>
          </p:cNvSpPr>
          <p:nvPr/>
        </p:nvSpPr>
        <p:spPr>
          <a:xfrm>
            <a:off x="781050" y="6086475"/>
            <a:ext cx="106299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Design principle: managed services first • explicit ownership • graceful degradation • measurable recovery</a:t>
            </a:r>
          </a:p>
        </p:txBody>
      </p:sp>
    </p:spTree>
    <p:extLst>
      <p:ext uri="{BB962C8B-B14F-4D97-AF65-F5344CB8AC3E}">
        <p14:creationId xmlns:p14="http://schemas.microsoft.com/office/powerpoint/2010/main" val="786965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eyebrow">
            <a:extLst>
              <a:ext uri="{FF2B5EF4-FFF2-40B4-BE49-F238E27FC236}">
                <a16:creationId xmlns:a16="http://schemas.microsoft.com/office/drawing/2014/main" id="{4F97C97B-ACE4-4E46-B148-A786688C0BF7}"/>
              </a:ext>
            </a:extLst>
          </p:cNvPr>
          <p:cNvSpPr>
            <a:spLocks noGrp="1"/>
          </p:cNvSpPr>
          <p:nvPr/>
        </p:nvSpPr>
        <p:spPr>
          <a:xfrm>
            <a:off x="552450" y="266700"/>
            <a:ext cx="4000500" cy="190500"/>
          </a:xfrm>
          <a:prstGeom prst="rect">
            <a:avLst/>
          </a:prstGeom>
          <a:noFill/>
          <a:ln w="0">
            <a:noFill/>
            <a:prstDash val="solid"/>
          </a:ln>
        </p:spPr>
        <p:txBody>
          <a:bodyPr/>
          <a:lstStyle/>
          <a:p>
            <a:pPr>
              <a:buNone/>
              <a:defRPr sz="975" b="1">
                <a:solidFill>
                  <a:srgbClr val="198E84"/>
                </a:solidFill>
              </a:defRPr>
            </a:pPr>
            <a:r>
              <a:rPr sz="975" b="1" dirty="0">
                <a:solidFill>
                  <a:srgbClr val="198E84"/>
                </a:solidFill>
              </a:rPr>
              <a:t>MONITORING &amp; OBSERVABILITY</a:t>
            </a:r>
          </a:p>
        </p:txBody>
      </p:sp>
      <p:sp>
        <p:nvSpPr>
          <p:cNvPr id="2" name="title">
            <a:extLst>
              <a:ext uri="{FF2B5EF4-FFF2-40B4-BE49-F238E27FC236}">
                <a16:creationId xmlns:a16="http://schemas.microsoft.com/office/drawing/2014/main" id="{142F0FC5-FCB6-47DE-8A50-466F8525500F}"/>
              </a:ext>
            </a:extLst>
          </p:cNvPr>
          <p:cNvSpPr>
            <a:spLocks noGrp="1"/>
          </p:cNvSpPr>
          <p:nvPr/>
        </p:nvSpPr>
        <p:spPr>
          <a:xfrm>
            <a:off x="552450" y="523875"/>
            <a:ext cx="11087100" cy="742950"/>
          </a:xfrm>
          <a:prstGeom prst="rect">
            <a:avLst/>
          </a:prstGeom>
          <a:noFill/>
          <a:ln w="0">
            <a:noFill/>
            <a:prstDash val="solid"/>
          </a:ln>
        </p:spPr>
        <p:txBody>
          <a:bodyPr/>
          <a:lstStyle/>
          <a:p>
            <a:pPr>
              <a:buNone/>
              <a:defRPr sz="2475" b="1">
                <a:solidFill>
                  <a:srgbClr val="111827"/>
                </a:solidFill>
              </a:defRPr>
            </a:pPr>
            <a:r>
              <a:rPr sz="2475" b="1">
                <a:solidFill>
                  <a:srgbClr val="111827"/>
                </a:solidFill>
              </a:rPr>
              <a:t>Journey telemetry reveals customer impact before infrastructure alarms do</a:t>
            </a:r>
          </a:p>
        </p:txBody>
      </p:sp>
      <p:sp>
        <p:nvSpPr>
          <p:cNvPr id="3" name="subtitle">
            <a:extLst>
              <a:ext uri="{FF2B5EF4-FFF2-40B4-BE49-F238E27FC236}">
                <a16:creationId xmlns:a16="http://schemas.microsoft.com/office/drawing/2014/main" id="{4FAC258B-5EC5-4944-8500-9A64D5BBA79D}"/>
              </a:ext>
            </a:extLst>
          </p:cNvPr>
          <p:cNvSpPr>
            <a:spLocks noGrp="1"/>
          </p:cNvSpPr>
          <p:nvPr/>
        </p:nvSpPr>
        <p:spPr>
          <a:xfrm>
            <a:off x="552450" y="1333500"/>
            <a:ext cx="11087100" cy="400050"/>
          </a:xfrm>
          <a:prstGeom prst="rect">
            <a:avLst/>
          </a:prstGeom>
          <a:noFill/>
          <a:ln w="0">
            <a:noFill/>
            <a:prstDash val="solid"/>
          </a:ln>
        </p:spPr>
        <p:txBody>
          <a:bodyPr/>
          <a:lstStyle/>
          <a:p>
            <a:pPr>
              <a:buNone/>
              <a:defRPr sz="1275">
                <a:solidFill>
                  <a:srgbClr val="5B6472"/>
                </a:solidFill>
              </a:defRPr>
            </a:pPr>
            <a:r>
              <a:rPr sz="1275">
                <a:solidFill>
                  <a:srgbClr val="5B6472"/>
                </a:solidFill>
              </a:rPr>
              <a:t>Correlated logs, metrics and traces connect customer outcomes to AWS services and dealer dependencies.</a:t>
            </a:r>
          </a:p>
        </p:txBody>
      </p:sp>
      <p:sp>
        <p:nvSpPr>
          <p:cNvPr id="4" name="section-rule">
            <a:extLst>
              <a:ext uri="{FF2B5EF4-FFF2-40B4-BE49-F238E27FC236}">
                <a16:creationId xmlns:a16="http://schemas.microsoft.com/office/drawing/2014/main" id="{2D222C48-385C-44B2-89FD-6336EFD2C30D}"/>
              </a:ext>
            </a:extLst>
          </p:cNvPr>
          <p:cNvSpPr>
            <a:spLocks noGrp="1"/>
          </p:cNvSpPr>
          <p:nvPr/>
        </p:nvSpPr>
        <p:spPr>
          <a:xfrm>
            <a:off x="552450" y="1876425"/>
            <a:ext cx="11087100" cy="0"/>
          </a:xfrm>
          <a:prstGeom prst="line">
            <a:avLst/>
          </a:prstGeom>
          <a:ln w="11430">
            <a:solidFill>
              <a:srgbClr val="D7DEE8"/>
            </a:solidFill>
            <a:prstDash val="solid"/>
          </a:ln>
        </p:spPr>
        <p:txBody>
          <a:bodyPr/>
          <a:lstStyle/>
          <a:p>
            <a:endParaRPr/>
          </a:p>
        </p:txBody>
      </p:sp>
      <p:sp>
        <p:nvSpPr>
          <p:cNvPr id="5" name="stage-Instrument">
            <a:extLst>
              <a:ext uri="{FF2B5EF4-FFF2-40B4-BE49-F238E27FC236}">
                <a16:creationId xmlns:a16="http://schemas.microsoft.com/office/drawing/2014/main" id="{AD9413F2-BD6E-43B8-AED1-E7BD2248794B}"/>
              </a:ext>
            </a:extLst>
          </p:cNvPr>
          <p:cNvSpPr>
            <a:spLocks noGrp="1"/>
          </p:cNvSpPr>
          <p:nvPr/>
        </p:nvSpPr>
        <p:spPr>
          <a:xfrm>
            <a:off x="552450" y="2152650"/>
            <a:ext cx="3276600" cy="2076450"/>
          </a:xfrm>
          <a:prstGeom prst="roundRect">
            <a:avLst>
              <a:gd name="adj" fmla="val 5505"/>
            </a:avLst>
          </a:prstGeom>
          <a:solidFill>
            <a:srgbClr val="FFFF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51" name="Picture 40"/>
          <p:cNvPicPr>
            <a:picLocks noChangeAspect="1"/>
          </p:cNvPicPr>
          <p:nvPr/>
        </p:nvPicPr>
        <p:blipFill>
          <a:blip r:embed="rId3"/>
          <a:stretch/>
        </p:blipFill>
        <p:spPr>
          <a:xfrm>
            <a:off x="838200" y="2390775"/>
            <a:ext cx="400050" cy="400050"/>
          </a:xfrm>
          <a:prstGeom prst="rect">
            <a:avLst/>
          </a:prstGeom>
        </p:spPr>
      </p:pic>
      <p:pic>
        <p:nvPicPr>
          <p:cNvPr id="52" name="Picture 41"/>
          <p:cNvPicPr>
            <a:picLocks noChangeAspect="1"/>
          </p:cNvPicPr>
          <p:nvPr/>
        </p:nvPicPr>
        <p:blipFill>
          <a:blip r:embed="rId4"/>
          <a:stretch/>
        </p:blipFill>
        <p:spPr>
          <a:xfrm>
            <a:off x="1352550" y="2390775"/>
            <a:ext cx="400050" cy="400050"/>
          </a:xfrm>
          <a:prstGeom prst="rect">
            <a:avLst/>
          </a:prstGeom>
        </p:spPr>
      </p:pic>
      <p:pic>
        <p:nvPicPr>
          <p:cNvPr id="53" name="Picture 42"/>
          <p:cNvPicPr>
            <a:picLocks noChangeAspect="1"/>
          </p:cNvPicPr>
          <p:nvPr/>
        </p:nvPicPr>
        <p:blipFill>
          <a:blip r:embed="rId5"/>
          <a:stretch/>
        </p:blipFill>
        <p:spPr>
          <a:xfrm>
            <a:off x="1866900" y="2390775"/>
            <a:ext cx="400050" cy="400050"/>
          </a:xfrm>
          <a:prstGeom prst="rect">
            <a:avLst/>
          </a:prstGeom>
        </p:spPr>
      </p:pic>
      <p:sp>
        <p:nvSpPr>
          <p:cNvPr id="9" name="Instrument-title">
            <a:extLst>
              <a:ext uri="{FF2B5EF4-FFF2-40B4-BE49-F238E27FC236}">
                <a16:creationId xmlns:a16="http://schemas.microsoft.com/office/drawing/2014/main" id="{56855C2F-F722-4603-AB6F-8DA5D1E14827}"/>
              </a:ext>
            </a:extLst>
          </p:cNvPr>
          <p:cNvSpPr>
            <a:spLocks noGrp="1"/>
          </p:cNvSpPr>
          <p:nvPr/>
        </p:nvSpPr>
        <p:spPr>
          <a:xfrm>
            <a:off x="8191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Instrument</a:t>
            </a:r>
          </a:p>
        </p:txBody>
      </p:sp>
      <p:sp>
        <p:nvSpPr>
          <p:cNvPr id="10" name="Instrument-detail">
            <a:extLst>
              <a:ext uri="{FF2B5EF4-FFF2-40B4-BE49-F238E27FC236}">
                <a16:creationId xmlns:a16="http://schemas.microsoft.com/office/drawing/2014/main" id="{C196C9AA-CCC6-4457-BEB9-75BFD9CDD92A}"/>
              </a:ext>
            </a:extLst>
          </p:cNvPr>
          <p:cNvSpPr>
            <a:spLocks noGrp="1"/>
          </p:cNvSpPr>
          <p:nvPr/>
        </p:nvSpPr>
        <p:spPr>
          <a:xfrm>
            <a:off x="8191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structured logs</a:t>
            </a:r>
          </a:p>
          <a:p>
            <a:pPr>
              <a:buNone/>
              <a:defRPr sz="1125">
                <a:solidFill>
                  <a:srgbClr val="4B5563"/>
                </a:solidFill>
              </a:defRPr>
            </a:pPr>
            <a:r>
              <a:rPr sz="1125">
                <a:solidFill>
                  <a:srgbClr val="4B5563"/>
                </a:solidFill>
              </a:rPr>
              <a:t>correlation IDs</a:t>
            </a:r>
          </a:p>
          <a:p>
            <a:pPr>
              <a:buNone/>
              <a:defRPr sz="1125">
                <a:solidFill>
                  <a:srgbClr val="4B5563"/>
                </a:solidFill>
              </a:defRPr>
            </a:pPr>
            <a:r>
              <a:rPr sz="1125">
                <a:solidFill>
                  <a:srgbClr val="4B5563"/>
                </a:solidFill>
              </a:rPr>
              <a:t>distributed traces</a:t>
            </a:r>
          </a:p>
        </p:txBody>
      </p:sp>
      <p:sp>
        <p:nvSpPr>
          <p:cNvPr id="11" name="arrow-414">
            <a:extLst>
              <a:ext uri="{FF2B5EF4-FFF2-40B4-BE49-F238E27FC236}">
                <a16:creationId xmlns:a16="http://schemas.microsoft.com/office/drawing/2014/main" id="{A771EF5B-BCB1-46CC-B0AC-3E79B39CB8BA}"/>
              </a:ext>
            </a:extLst>
          </p:cNvPr>
          <p:cNvSpPr>
            <a:spLocks noGrp="1"/>
          </p:cNvSpPr>
          <p:nvPr/>
        </p:nvSpPr>
        <p:spPr>
          <a:xfrm>
            <a:off x="3943350" y="3009900"/>
            <a:ext cx="361950" cy="266700"/>
          </a:xfrm>
          <a:prstGeom prst="rightArrow">
            <a:avLst/>
          </a:prstGeom>
          <a:solidFill>
            <a:srgbClr val="08A89B"/>
          </a:solidFill>
          <a:ln w="0">
            <a:solidFill>
              <a:srgbClr val="08A89B"/>
            </a:solidFill>
            <a:prstDash val="solid"/>
          </a:ln>
        </p:spPr>
        <p:txBody>
          <a:bodyPr/>
          <a:lstStyle/>
          <a:p>
            <a:endParaRPr/>
          </a:p>
        </p:txBody>
      </p:sp>
      <p:sp>
        <p:nvSpPr>
          <p:cNvPr id="12" name="stage-Detect">
            <a:extLst>
              <a:ext uri="{FF2B5EF4-FFF2-40B4-BE49-F238E27FC236}">
                <a16:creationId xmlns:a16="http://schemas.microsoft.com/office/drawing/2014/main" id="{FA49E077-23EC-46AF-95F1-D24EDA71110A}"/>
              </a:ext>
            </a:extLst>
          </p:cNvPr>
          <p:cNvSpPr>
            <a:spLocks noGrp="1"/>
          </p:cNvSpPr>
          <p:nvPr/>
        </p:nvSpPr>
        <p:spPr>
          <a:xfrm>
            <a:off x="4457700" y="2152650"/>
            <a:ext cx="3276600" cy="2076450"/>
          </a:xfrm>
          <a:prstGeom prst="roundRect">
            <a:avLst>
              <a:gd name="adj" fmla="val 5505"/>
            </a:avLst>
          </a:prstGeom>
          <a:solidFill>
            <a:srgbClr val="FFFF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pic>
        <p:nvPicPr>
          <p:cNvPr id="58" name="Picture 47"/>
          <p:cNvPicPr>
            <a:picLocks noChangeAspect="1"/>
          </p:cNvPicPr>
          <p:nvPr/>
        </p:nvPicPr>
        <p:blipFill>
          <a:blip r:embed="rId3"/>
          <a:stretch/>
        </p:blipFill>
        <p:spPr>
          <a:xfrm>
            <a:off x="4743450" y="2390775"/>
            <a:ext cx="400050" cy="400050"/>
          </a:xfrm>
          <a:prstGeom prst="rect">
            <a:avLst/>
          </a:prstGeom>
        </p:spPr>
      </p:pic>
      <p:pic>
        <p:nvPicPr>
          <p:cNvPr id="59" name="Picture 48"/>
          <p:cNvPicPr>
            <a:picLocks noChangeAspect="1"/>
          </p:cNvPicPr>
          <p:nvPr/>
        </p:nvPicPr>
        <p:blipFill>
          <a:blip r:embed="rId6"/>
          <a:stretch/>
        </p:blipFill>
        <p:spPr>
          <a:xfrm>
            <a:off x="5257800" y="2390775"/>
            <a:ext cx="400050" cy="400050"/>
          </a:xfrm>
          <a:prstGeom prst="rect">
            <a:avLst/>
          </a:prstGeom>
        </p:spPr>
      </p:pic>
      <p:pic>
        <p:nvPicPr>
          <p:cNvPr id="60" name="Picture 49"/>
          <p:cNvPicPr>
            <a:picLocks noChangeAspect="1"/>
          </p:cNvPicPr>
          <p:nvPr/>
        </p:nvPicPr>
        <p:blipFill>
          <a:blip r:embed="rId7"/>
          <a:stretch/>
        </p:blipFill>
        <p:spPr>
          <a:xfrm>
            <a:off x="5772150" y="2390775"/>
            <a:ext cx="400050" cy="400050"/>
          </a:xfrm>
          <a:prstGeom prst="rect">
            <a:avLst/>
          </a:prstGeom>
        </p:spPr>
      </p:pic>
      <p:sp>
        <p:nvSpPr>
          <p:cNvPr id="16" name="Detect-title">
            <a:extLst>
              <a:ext uri="{FF2B5EF4-FFF2-40B4-BE49-F238E27FC236}">
                <a16:creationId xmlns:a16="http://schemas.microsoft.com/office/drawing/2014/main" id="{9316C489-1527-4B0A-A1CC-B883EDB211F1}"/>
              </a:ext>
            </a:extLst>
          </p:cNvPr>
          <p:cNvSpPr>
            <a:spLocks noGrp="1"/>
          </p:cNvSpPr>
          <p:nvPr/>
        </p:nvSpPr>
        <p:spPr>
          <a:xfrm>
            <a:off x="472440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Detect</a:t>
            </a:r>
          </a:p>
        </p:txBody>
      </p:sp>
      <p:sp>
        <p:nvSpPr>
          <p:cNvPr id="17" name="Detect-detail">
            <a:extLst>
              <a:ext uri="{FF2B5EF4-FFF2-40B4-BE49-F238E27FC236}">
                <a16:creationId xmlns:a16="http://schemas.microsoft.com/office/drawing/2014/main" id="{EAD714C7-A354-4A67-9573-5128C7BE41B2}"/>
              </a:ext>
            </a:extLst>
          </p:cNvPr>
          <p:cNvSpPr>
            <a:spLocks noGrp="1"/>
          </p:cNvSpPr>
          <p:nvPr/>
        </p:nvSpPr>
        <p:spPr>
          <a:xfrm>
            <a:off x="472440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SLO burn alerts</a:t>
            </a:r>
          </a:p>
          <a:p>
            <a:pPr>
              <a:buNone/>
              <a:defRPr sz="1125">
                <a:solidFill>
                  <a:srgbClr val="4B5563"/>
                </a:solidFill>
              </a:defRPr>
            </a:pPr>
            <a:r>
              <a:rPr sz="1125">
                <a:solidFill>
                  <a:srgbClr val="4B5563"/>
                </a:solidFill>
              </a:rPr>
              <a:t>DLQ and dependency health</a:t>
            </a:r>
          </a:p>
          <a:p>
            <a:pPr>
              <a:buNone/>
              <a:defRPr sz="1125">
                <a:solidFill>
                  <a:srgbClr val="4B5563"/>
                </a:solidFill>
              </a:defRPr>
            </a:pPr>
            <a:r>
              <a:rPr sz="1125">
                <a:solidFill>
                  <a:srgbClr val="4B5563"/>
                </a:solidFill>
              </a:rPr>
              <a:t>security anomalies</a:t>
            </a:r>
          </a:p>
        </p:txBody>
      </p:sp>
      <p:sp>
        <p:nvSpPr>
          <p:cNvPr id="18" name="arrow-824">
            <a:extLst>
              <a:ext uri="{FF2B5EF4-FFF2-40B4-BE49-F238E27FC236}">
                <a16:creationId xmlns:a16="http://schemas.microsoft.com/office/drawing/2014/main" id="{2BC71F37-AF8A-470B-8C59-F51F9F3CCF55}"/>
              </a:ext>
            </a:extLst>
          </p:cNvPr>
          <p:cNvSpPr>
            <a:spLocks noGrp="1"/>
          </p:cNvSpPr>
          <p:nvPr/>
        </p:nvSpPr>
        <p:spPr>
          <a:xfrm>
            <a:off x="7848600" y="3009900"/>
            <a:ext cx="361950" cy="266700"/>
          </a:xfrm>
          <a:prstGeom prst="rightArrow">
            <a:avLst/>
          </a:prstGeom>
          <a:solidFill>
            <a:srgbClr val="08A89B"/>
          </a:solidFill>
          <a:ln w="0">
            <a:solidFill>
              <a:srgbClr val="08A89B"/>
            </a:solidFill>
            <a:prstDash val="solid"/>
          </a:ln>
        </p:spPr>
        <p:txBody>
          <a:bodyPr/>
          <a:lstStyle/>
          <a:p>
            <a:endParaRPr/>
          </a:p>
        </p:txBody>
      </p:sp>
      <p:sp>
        <p:nvSpPr>
          <p:cNvPr id="19" name="stage-Respond and learn">
            <a:extLst>
              <a:ext uri="{FF2B5EF4-FFF2-40B4-BE49-F238E27FC236}">
                <a16:creationId xmlns:a16="http://schemas.microsoft.com/office/drawing/2014/main" id="{B0718A95-7E11-4405-B534-36324F82BA12}"/>
              </a:ext>
            </a:extLst>
          </p:cNvPr>
          <p:cNvSpPr>
            <a:spLocks noGrp="1"/>
          </p:cNvSpPr>
          <p:nvPr/>
        </p:nvSpPr>
        <p:spPr>
          <a:xfrm>
            <a:off x="8362950" y="2152650"/>
            <a:ext cx="3276600" cy="2076450"/>
          </a:xfrm>
          <a:prstGeom prst="roundRect">
            <a:avLst>
              <a:gd name="adj" fmla="val 5505"/>
            </a:avLst>
          </a:prstGeom>
          <a:solidFill>
            <a:srgbClr val="FFFFFF"/>
          </a:solidFill>
          <a:ln w="1714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pic>
        <p:nvPicPr>
          <p:cNvPr id="65" name="Picture 54"/>
          <p:cNvPicPr>
            <a:picLocks noChangeAspect="1"/>
          </p:cNvPicPr>
          <p:nvPr/>
        </p:nvPicPr>
        <p:blipFill>
          <a:blip r:embed="rId8"/>
          <a:stretch/>
        </p:blipFill>
        <p:spPr>
          <a:xfrm>
            <a:off x="8648700" y="2390775"/>
            <a:ext cx="400050" cy="400050"/>
          </a:xfrm>
          <a:prstGeom prst="rect">
            <a:avLst/>
          </a:prstGeom>
        </p:spPr>
      </p:pic>
      <p:pic>
        <p:nvPicPr>
          <p:cNvPr id="66" name="Picture 55"/>
          <p:cNvPicPr>
            <a:picLocks noChangeAspect="1"/>
          </p:cNvPicPr>
          <p:nvPr/>
        </p:nvPicPr>
        <p:blipFill>
          <a:blip r:embed="rId9"/>
          <a:stretch/>
        </p:blipFill>
        <p:spPr>
          <a:xfrm>
            <a:off x="9163050" y="2390775"/>
            <a:ext cx="400050" cy="400050"/>
          </a:xfrm>
          <a:prstGeom prst="rect">
            <a:avLst/>
          </a:prstGeom>
        </p:spPr>
      </p:pic>
      <p:pic>
        <p:nvPicPr>
          <p:cNvPr id="67" name="Picture 56"/>
          <p:cNvPicPr>
            <a:picLocks noChangeAspect="1"/>
          </p:cNvPicPr>
          <p:nvPr/>
        </p:nvPicPr>
        <p:blipFill>
          <a:blip r:embed="rId10"/>
          <a:stretch/>
        </p:blipFill>
        <p:spPr>
          <a:xfrm>
            <a:off x="9677400" y="2390775"/>
            <a:ext cx="400050" cy="400050"/>
          </a:xfrm>
          <a:prstGeom prst="rect">
            <a:avLst/>
          </a:prstGeom>
        </p:spPr>
      </p:pic>
      <p:sp>
        <p:nvSpPr>
          <p:cNvPr id="23" name="Respond and learn-title">
            <a:extLst>
              <a:ext uri="{FF2B5EF4-FFF2-40B4-BE49-F238E27FC236}">
                <a16:creationId xmlns:a16="http://schemas.microsoft.com/office/drawing/2014/main" id="{1526944F-877E-4BF2-824C-71A1EE5AB5F6}"/>
              </a:ext>
            </a:extLst>
          </p:cNvPr>
          <p:cNvSpPr>
            <a:spLocks noGrp="1"/>
          </p:cNvSpPr>
          <p:nvPr/>
        </p:nvSpPr>
        <p:spPr>
          <a:xfrm>
            <a:off x="86296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Respond and learn</a:t>
            </a:r>
          </a:p>
        </p:txBody>
      </p:sp>
      <p:sp>
        <p:nvSpPr>
          <p:cNvPr id="24" name="Respond and learn-detail">
            <a:extLst>
              <a:ext uri="{FF2B5EF4-FFF2-40B4-BE49-F238E27FC236}">
                <a16:creationId xmlns:a16="http://schemas.microsoft.com/office/drawing/2014/main" id="{2AB92B41-B512-4F22-AE52-26AE4DF7EE16}"/>
              </a:ext>
            </a:extLst>
          </p:cNvPr>
          <p:cNvSpPr>
            <a:spLocks noGrp="1"/>
          </p:cNvSpPr>
          <p:nvPr/>
        </p:nvSpPr>
        <p:spPr>
          <a:xfrm>
            <a:off x="86296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automated routing</a:t>
            </a:r>
          </a:p>
          <a:p>
            <a:pPr>
              <a:buNone/>
              <a:defRPr sz="1125">
                <a:solidFill>
                  <a:srgbClr val="4B5563"/>
                </a:solidFill>
              </a:defRPr>
            </a:pPr>
            <a:r>
              <a:rPr sz="1125">
                <a:solidFill>
                  <a:srgbClr val="4B5563"/>
                </a:solidFill>
              </a:rPr>
              <a:t>incident evidence</a:t>
            </a:r>
          </a:p>
          <a:p>
            <a:pPr>
              <a:buNone/>
              <a:defRPr sz="1125">
                <a:solidFill>
                  <a:srgbClr val="4B5563"/>
                </a:solidFill>
              </a:defRPr>
            </a:pPr>
            <a:r>
              <a:rPr sz="1125">
                <a:solidFill>
                  <a:srgbClr val="4B5563"/>
                </a:solidFill>
              </a:rPr>
              <a:t>post-incident actions</a:t>
            </a:r>
          </a:p>
        </p:txBody>
      </p:sp>
      <p:sp>
        <p:nvSpPr>
          <p:cNvPr id="25" name="decisions-label">
            <a:extLst>
              <a:ext uri="{FF2B5EF4-FFF2-40B4-BE49-F238E27FC236}">
                <a16:creationId xmlns:a16="http://schemas.microsoft.com/office/drawing/2014/main" id="{5074F194-788B-40E0-83BA-B3E9E805E6AF}"/>
              </a:ext>
            </a:extLst>
          </p:cNvPr>
          <p:cNvSpPr>
            <a:spLocks noGrp="1"/>
          </p:cNvSpPr>
          <p:nvPr/>
        </p:nvSpPr>
        <p:spPr>
          <a:xfrm>
            <a:off x="552450" y="4438650"/>
            <a:ext cx="2381250" cy="190500"/>
          </a:xfrm>
          <a:prstGeom prst="rect">
            <a:avLst/>
          </a:prstGeom>
          <a:noFill/>
          <a:ln w="0">
            <a:noFill/>
            <a:prstDash val="solid"/>
          </a:ln>
        </p:spPr>
        <p:txBody>
          <a:bodyPr/>
          <a:lstStyle/>
          <a:p>
            <a:pPr>
              <a:buNone/>
              <a:defRPr sz="900" b="1">
                <a:solidFill>
                  <a:srgbClr val="5B6472"/>
                </a:solidFill>
              </a:defRPr>
            </a:pPr>
            <a:r>
              <a:rPr sz="900" b="1">
                <a:solidFill>
                  <a:srgbClr val="5B6472"/>
                </a:solidFill>
              </a:rPr>
              <a:t>ARCHITECTURE DECISIONS</a:t>
            </a:r>
          </a:p>
        </p:txBody>
      </p:sp>
      <p:sp>
        <p:nvSpPr>
          <p:cNvPr id="26" name="decision-0-title">
            <a:extLst>
              <a:ext uri="{FF2B5EF4-FFF2-40B4-BE49-F238E27FC236}">
                <a16:creationId xmlns:a16="http://schemas.microsoft.com/office/drawing/2014/main" id="{A7D32C4E-DC1B-478F-8394-D01F05F6D16E}"/>
              </a:ext>
            </a:extLst>
          </p:cNvPr>
          <p:cNvSpPr>
            <a:spLocks noGrp="1"/>
          </p:cNvSpPr>
          <p:nvPr/>
        </p:nvSpPr>
        <p:spPr>
          <a:xfrm>
            <a:off x="552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GOLDEN SIGNALS</a:t>
            </a:r>
          </a:p>
        </p:txBody>
      </p:sp>
      <p:sp>
        <p:nvSpPr>
          <p:cNvPr id="27" name="decision-0-body">
            <a:extLst>
              <a:ext uri="{FF2B5EF4-FFF2-40B4-BE49-F238E27FC236}">
                <a16:creationId xmlns:a16="http://schemas.microsoft.com/office/drawing/2014/main" id="{18E8661C-2D67-4BF4-847B-EC693955545E}"/>
              </a:ext>
            </a:extLst>
          </p:cNvPr>
          <p:cNvSpPr>
            <a:spLocks noGrp="1"/>
          </p:cNvSpPr>
          <p:nvPr/>
        </p:nvSpPr>
        <p:spPr>
          <a:xfrm>
            <a:off x="552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Availability, latency, traffic, errors and saturation by journey and dealer dependency.</a:t>
            </a:r>
          </a:p>
        </p:txBody>
      </p:sp>
      <p:sp>
        <p:nvSpPr>
          <p:cNvPr id="28" name="decision-1-title">
            <a:extLst>
              <a:ext uri="{FF2B5EF4-FFF2-40B4-BE49-F238E27FC236}">
                <a16:creationId xmlns:a16="http://schemas.microsoft.com/office/drawing/2014/main" id="{D2DC69F4-41F2-476A-AFED-9DC2E5BC2EF2}"/>
              </a:ext>
            </a:extLst>
          </p:cNvPr>
          <p:cNvSpPr>
            <a:spLocks noGrp="1"/>
          </p:cNvSpPr>
          <p:nvPr/>
        </p:nvSpPr>
        <p:spPr>
          <a:xfrm>
            <a:off x="3409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BUSINESS SIGNALS</a:t>
            </a:r>
          </a:p>
        </p:txBody>
      </p:sp>
      <p:sp>
        <p:nvSpPr>
          <p:cNvPr id="29" name="decision-1-body">
            <a:extLst>
              <a:ext uri="{FF2B5EF4-FFF2-40B4-BE49-F238E27FC236}">
                <a16:creationId xmlns:a16="http://schemas.microsoft.com/office/drawing/2014/main" id="{4E706A3C-C457-4CBD-87A5-AA7C59F3B62D}"/>
              </a:ext>
            </a:extLst>
          </p:cNvPr>
          <p:cNvSpPr>
            <a:spLocks noGrp="1"/>
          </p:cNvSpPr>
          <p:nvPr/>
        </p:nvSpPr>
        <p:spPr>
          <a:xfrm>
            <a:off x="3409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Search success, hold success, confirmation success and notification delivery.</a:t>
            </a:r>
          </a:p>
        </p:txBody>
      </p:sp>
      <p:sp>
        <p:nvSpPr>
          <p:cNvPr id="30" name="decision-2-title">
            <a:extLst>
              <a:ext uri="{FF2B5EF4-FFF2-40B4-BE49-F238E27FC236}">
                <a16:creationId xmlns:a16="http://schemas.microsoft.com/office/drawing/2014/main" id="{90C90C97-36BD-42ED-A826-AE276024008A}"/>
              </a:ext>
            </a:extLst>
          </p:cNvPr>
          <p:cNvSpPr>
            <a:spLocks noGrp="1"/>
          </p:cNvSpPr>
          <p:nvPr/>
        </p:nvSpPr>
        <p:spPr>
          <a:xfrm>
            <a:off x="6267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TRACEABILITY</a:t>
            </a:r>
          </a:p>
        </p:txBody>
      </p:sp>
      <p:sp>
        <p:nvSpPr>
          <p:cNvPr id="31" name="decision-2-body">
            <a:extLst>
              <a:ext uri="{FF2B5EF4-FFF2-40B4-BE49-F238E27FC236}">
                <a16:creationId xmlns:a16="http://schemas.microsoft.com/office/drawing/2014/main" id="{7B911D08-BE8F-48CD-ACA8-F9496CEC0085}"/>
              </a:ext>
            </a:extLst>
          </p:cNvPr>
          <p:cNvSpPr>
            <a:spLocks noGrp="1"/>
          </p:cNvSpPr>
          <p:nvPr/>
        </p:nvSpPr>
        <p:spPr>
          <a:xfrm>
            <a:off x="6267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One correlation ID across API, saga, adapter, dealer call and asynchronous events.</a:t>
            </a:r>
          </a:p>
        </p:txBody>
      </p:sp>
      <p:sp>
        <p:nvSpPr>
          <p:cNvPr id="32" name="decision-3-title">
            <a:extLst>
              <a:ext uri="{FF2B5EF4-FFF2-40B4-BE49-F238E27FC236}">
                <a16:creationId xmlns:a16="http://schemas.microsoft.com/office/drawing/2014/main" id="{03BF1401-0162-4A5F-B553-CB834CAF4327}"/>
              </a:ext>
            </a:extLst>
          </p:cNvPr>
          <p:cNvSpPr>
            <a:spLocks noGrp="1"/>
          </p:cNvSpPr>
          <p:nvPr/>
        </p:nvSpPr>
        <p:spPr>
          <a:xfrm>
            <a:off x="9124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ALERT QUALITY</a:t>
            </a:r>
          </a:p>
        </p:txBody>
      </p:sp>
      <p:sp>
        <p:nvSpPr>
          <p:cNvPr id="33" name="decision-3-body">
            <a:extLst>
              <a:ext uri="{FF2B5EF4-FFF2-40B4-BE49-F238E27FC236}">
                <a16:creationId xmlns:a16="http://schemas.microsoft.com/office/drawing/2014/main" id="{36EBBB5E-805E-4A87-9B0A-1B23796177AD}"/>
              </a:ext>
            </a:extLst>
          </p:cNvPr>
          <p:cNvSpPr>
            <a:spLocks noGrp="1"/>
          </p:cNvSpPr>
          <p:nvPr/>
        </p:nvSpPr>
        <p:spPr>
          <a:xfrm>
            <a:off x="9124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Page on customer impact; route lower-severity anomalies into actionable queues.</a:t>
            </a:r>
          </a:p>
        </p:txBody>
      </p:sp>
      <p:sp>
        <p:nvSpPr>
          <p:cNvPr id="34" name="footer">
            <a:extLst>
              <a:ext uri="{FF2B5EF4-FFF2-40B4-BE49-F238E27FC236}">
                <a16:creationId xmlns:a16="http://schemas.microsoft.com/office/drawing/2014/main" id="{9291B0E6-17A9-4A4C-BCF1-8A56B55B7B58}"/>
              </a:ext>
            </a:extLst>
          </p:cNvPr>
          <p:cNvSpPr>
            <a:spLocks noGrp="1"/>
          </p:cNvSpPr>
          <p:nvPr/>
        </p:nvSpPr>
        <p:spPr>
          <a:xfrm>
            <a:off x="552450" y="5953125"/>
            <a:ext cx="11087100" cy="457200"/>
          </a:xfrm>
          <a:prstGeom prst="roundRect">
            <a:avLst>
              <a:gd name="adj" fmla="val 16667"/>
            </a:avLst>
          </a:prstGeom>
          <a:solidFill>
            <a:srgbClr val="F0FAF8"/>
          </a:solidFill>
          <a:ln w="9525">
            <a:solidFill>
              <a:srgbClr val="B7E2DC"/>
            </a:solidFill>
            <a:prstDash val="solid"/>
          </a:ln>
        </p:spPr>
        <p:txBody>
          <a:bodyPr/>
          <a:lstStyle/>
          <a:p>
            <a:endParaRPr/>
          </a:p>
        </p:txBody>
      </p:sp>
      <p:sp>
        <p:nvSpPr>
          <p:cNvPr id="35" name="footer-text">
            <a:extLst>
              <a:ext uri="{FF2B5EF4-FFF2-40B4-BE49-F238E27FC236}">
                <a16:creationId xmlns:a16="http://schemas.microsoft.com/office/drawing/2014/main" id="{360CEEE3-DED2-4B1C-A7E4-FCCFC0E4C0C9}"/>
              </a:ext>
            </a:extLst>
          </p:cNvPr>
          <p:cNvSpPr>
            <a:spLocks noGrp="1"/>
          </p:cNvSpPr>
          <p:nvPr/>
        </p:nvSpPr>
        <p:spPr>
          <a:xfrm>
            <a:off x="781050" y="6086475"/>
            <a:ext cx="106299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Design principle: managed services first • explicit ownership • graceful degradation • measurable recovery</a:t>
            </a:r>
          </a:p>
        </p:txBody>
      </p:sp>
    </p:spTree>
    <p:extLst>
      <p:ext uri="{BB962C8B-B14F-4D97-AF65-F5344CB8AC3E}">
        <p14:creationId xmlns:p14="http://schemas.microsoft.com/office/powerpoint/2010/main" val="1237514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eyebrow">
            <a:extLst>
              <a:ext uri="{FF2B5EF4-FFF2-40B4-BE49-F238E27FC236}">
                <a16:creationId xmlns:a16="http://schemas.microsoft.com/office/drawing/2014/main" id="{C75A9CBB-E768-4D4A-8828-B732A28A3FA0}"/>
              </a:ext>
            </a:extLst>
          </p:cNvPr>
          <p:cNvSpPr>
            <a:spLocks noGrp="1"/>
          </p:cNvSpPr>
          <p:nvPr/>
        </p:nvSpPr>
        <p:spPr>
          <a:xfrm>
            <a:off x="552450" y="266700"/>
            <a:ext cx="4000500" cy="190500"/>
          </a:xfrm>
          <a:prstGeom prst="rect">
            <a:avLst/>
          </a:prstGeom>
          <a:noFill/>
          <a:ln w="0">
            <a:noFill/>
            <a:prstDash val="solid"/>
          </a:ln>
        </p:spPr>
        <p:txBody>
          <a:bodyPr/>
          <a:lstStyle/>
          <a:p>
            <a:pPr>
              <a:buNone/>
              <a:defRPr sz="975" b="1">
                <a:solidFill>
                  <a:srgbClr val="198E84"/>
                </a:solidFill>
              </a:defRPr>
            </a:pPr>
            <a:r>
              <a:rPr sz="975" b="1" dirty="0">
                <a:solidFill>
                  <a:srgbClr val="198E84"/>
                </a:solidFill>
              </a:rPr>
              <a:t>RESOURCE PROVISIONING</a:t>
            </a:r>
          </a:p>
        </p:txBody>
      </p:sp>
      <p:sp>
        <p:nvSpPr>
          <p:cNvPr id="2" name="title">
            <a:extLst>
              <a:ext uri="{FF2B5EF4-FFF2-40B4-BE49-F238E27FC236}">
                <a16:creationId xmlns:a16="http://schemas.microsoft.com/office/drawing/2014/main" id="{1BA0DBB4-2256-421E-B726-CE84AD88AA94}"/>
              </a:ext>
            </a:extLst>
          </p:cNvPr>
          <p:cNvSpPr>
            <a:spLocks noGrp="1"/>
          </p:cNvSpPr>
          <p:nvPr/>
        </p:nvSpPr>
        <p:spPr>
          <a:xfrm>
            <a:off x="552450" y="523875"/>
            <a:ext cx="11087100" cy="742950"/>
          </a:xfrm>
          <a:prstGeom prst="rect">
            <a:avLst/>
          </a:prstGeom>
          <a:noFill/>
          <a:ln w="0">
            <a:noFill/>
            <a:prstDash val="solid"/>
          </a:ln>
        </p:spPr>
        <p:txBody>
          <a:bodyPr/>
          <a:lstStyle/>
          <a:p>
            <a:pPr>
              <a:buNone/>
              <a:defRPr sz="2475" b="1">
                <a:solidFill>
                  <a:srgbClr val="111827"/>
                </a:solidFill>
              </a:defRPr>
            </a:pPr>
            <a:r>
              <a:rPr sz="2475" b="1">
                <a:solidFill>
                  <a:srgbClr val="111827"/>
                </a:solidFill>
              </a:rPr>
              <a:t>Reusable infrastructure modules make every environment consistent and recoverable</a:t>
            </a:r>
          </a:p>
        </p:txBody>
      </p:sp>
      <p:sp>
        <p:nvSpPr>
          <p:cNvPr id="3" name="subtitle">
            <a:extLst>
              <a:ext uri="{FF2B5EF4-FFF2-40B4-BE49-F238E27FC236}">
                <a16:creationId xmlns:a16="http://schemas.microsoft.com/office/drawing/2014/main" id="{5B0D2881-05B9-4B18-BB17-1C7E7F4E5D9E}"/>
              </a:ext>
            </a:extLst>
          </p:cNvPr>
          <p:cNvSpPr>
            <a:spLocks noGrp="1"/>
          </p:cNvSpPr>
          <p:nvPr/>
        </p:nvSpPr>
        <p:spPr>
          <a:xfrm>
            <a:off x="552450" y="1333500"/>
            <a:ext cx="11087100" cy="400050"/>
          </a:xfrm>
          <a:prstGeom prst="rect">
            <a:avLst/>
          </a:prstGeom>
          <a:noFill/>
          <a:ln w="0">
            <a:noFill/>
            <a:prstDash val="solid"/>
          </a:ln>
        </p:spPr>
        <p:txBody>
          <a:bodyPr/>
          <a:lstStyle/>
          <a:p>
            <a:pPr>
              <a:buNone/>
              <a:defRPr sz="1275">
                <a:solidFill>
                  <a:srgbClr val="5B6472"/>
                </a:solidFill>
              </a:defRPr>
            </a:pPr>
            <a:r>
              <a:rPr sz="1275">
                <a:solidFill>
                  <a:srgbClr val="5B6472"/>
                </a:solidFill>
              </a:rPr>
              <a:t>Versioned CDK constructs produce reviewable CloudFormation changes across accounts, Regions and delivery stages.</a:t>
            </a:r>
          </a:p>
        </p:txBody>
      </p:sp>
      <p:sp>
        <p:nvSpPr>
          <p:cNvPr id="4" name="section-rule">
            <a:extLst>
              <a:ext uri="{FF2B5EF4-FFF2-40B4-BE49-F238E27FC236}">
                <a16:creationId xmlns:a16="http://schemas.microsoft.com/office/drawing/2014/main" id="{A36DDF1E-6EF5-4755-BDCF-79F1469246B3}"/>
              </a:ext>
            </a:extLst>
          </p:cNvPr>
          <p:cNvSpPr>
            <a:spLocks noGrp="1"/>
          </p:cNvSpPr>
          <p:nvPr/>
        </p:nvSpPr>
        <p:spPr>
          <a:xfrm>
            <a:off x="552450" y="1876425"/>
            <a:ext cx="11087100" cy="0"/>
          </a:xfrm>
          <a:prstGeom prst="line">
            <a:avLst/>
          </a:prstGeom>
          <a:ln w="11430">
            <a:solidFill>
              <a:srgbClr val="D7DEE8"/>
            </a:solidFill>
            <a:prstDash val="solid"/>
          </a:ln>
        </p:spPr>
        <p:txBody>
          <a:bodyPr/>
          <a:lstStyle/>
          <a:p>
            <a:endParaRPr/>
          </a:p>
        </p:txBody>
      </p:sp>
      <p:sp>
        <p:nvSpPr>
          <p:cNvPr id="5" name="stage-Define">
            <a:extLst>
              <a:ext uri="{FF2B5EF4-FFF2-40B4-BE49-F238E27FC236}">
                <a16:creationId xmlns:a16="http://schemas.microsoft.com/office/drawing/2014/main" id="{ACCBD655-23E7-49B2-BEE4-0BB1BD75DECC}"/>
              </a:ext>
            </a:extLst>
          </p:cNvPr>
          <p:cNvSpPr>
            <a:spLocks noGrp="1"/>
          </p:cNvSpPr>
          <p:nvPr/>
        </p:nvSpPr>
        <p:spPr>
          <a:xfrm>
            <a:off x="552450" y="2152650"/>
            <a:ext cx="3276600" cy="2076450"/>
          </a:xfrm>
          <a:prstGeom prst="roundRect">
            <a:avLst>
              <a:gd name="adj" fmla="val 5505"/>
            </a:avLst>
          </a:prstGeom>
          <a:solidFill>
            <a:srgbClr val="FFFF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49" name="Picture 39"/>
          <p:cNvPicPr>
            <a:picLocks noChangeAspect="1"/>
          </p:cNvPicPr>
          <p:nvPr/>
        </p:nvPicPr>
        <p:blipFill>
          <a:blip r:embed="rId3"/>
          <a:stretch/>
        </p:blipFill>
        <p:spPr>
          <a:xfrm>
            <a:off x="838200" y="2390775"/>
            <a:ext cx="400050" cy="400050"/>
          </a:xfrm>
          <a:prstGeom prst="rect">
            <a:avLst/>
          </a:prstGeom>
        </p:spPr>
      </p:pic>
      <p:pic>
        <p:nvPicPr>
          <p:cNvPr id="50" name="Picture 40"/>
          <p:cNvPicPr>
            <a:picLocks noChangeAspect="1"/>
          </p:cNvPicPr>
          <p:nvPr/>
        </p:nvPicPr>
        <p:blipFill>
          <a:blip r:embed="rId4"/>
          <a:stretch/>
        </p:blipFill>
        <p:spPr>
          <a:xfrm>
            <a:off x="1352550" y="2390775"/>
            <a:ext cx="400050" cy="400050"/>
          </a:xfrm>
          <a:prstGeom prst="rect">
            <a:avLst/>
          </a:prstGeom>
        </p:spPr>
      </p:pic>
      <p:sp>
        <p:nvSpPr>
          <p:cNvPr id="8" name="Define-title">
            <a:extLst>
              <a:ext uri="{FF2B5EF4-FFF2-40B4-BE49-F238E27FC236}">
                <a16:creationId xmlns:a16="http://schemas.microsoft.com/office/drawing/2014/main" id="{83635CD4-D790-4CC9-94F8-82C897E8913A}"/>
              </a:ext>
            </a:extLst>
          </p:cNvPr>
          <p:cNvSpPr>
            <a:spLocks noGrp="1"/>
          </p:cNvSpPr>
          <p:nvPr/>
        </p:nvSpPr>
        <p:spPr>
          <a:xfrm>
            <a:off x="8191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Define</a:t>
            </a:r>
          </a:p>
        </p:txBody>
      </p:sp>
      <p:sp>
        <p:nvSpPr>
          <p:cNvPr id="9" name="Define-detail">
            <a:extLst>
              <a:ext uri="{FF2B5EF4-FFF2-40B4-BE49-F238E27FC236}">
                <a16:creationId xmlns:a16="http://schemas.microsoft.com/office/drawing/2014/main" id="{547CF8E9-255B-40C2-BB90-8F58A86EFF6C}"/>
              </a:ext>
            </a:extLst>
          </p:cNvPr>
          <p:cNvSpPr>
            <a:spLocks noGrp="1"/>
          </p:cNvSpPr>
          <p:nvPr/>
        </p:nvSpPr>
        <p:spPr>
          <a:xfrm>
            <a:off x="8191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reusable constructs</a:t>
            </a:r>
          </a:p>
          <a:p>
            <a:pPr>
              <a:buNone/>
              <a:defRPr sz="1125">
                <a:solidFill>
                  <a:srgbClr val="4B5563"/>
                </a:solidFill>
              </a:defRPr>
            </a:pPr>
            <a:r>
              <a:rPr sz="1125">
                <a:solidFill>
                  <a:srgbClr val="4B5563"/>
                </a:solidFill>
              </a:rPr>
              <a:t>versioned configuration</a:t>
            </a:r>
          </a:p>
          <a:p>
            <a:pPr>
              <a:buNone/>
              <a:defRPr sz="1125">
                <a:solidFill>
                  <a:srgbClr val="4B5563"/>
                </a:solidFill>
              </a:defRPr>
            </a:pPr>
            <a:r>
              <a:rPr sz="1125">
                <a:solidFill>
                  <a:srgbClr val="4B5563"/>
                </a:solidFill>
              </a:rPr>
              <a:t>policy-as-code checks</a:t>
            </a:r>
          </a:p>
        </p:txBody>
      </p:sp>
      <p:sp>
        <p:nvSpPr>
          <p:cNvPr id="10" name="arrow-414">
            <a:extLst>
              <a:ext uri="{FF2B5EF4-FFF2-40B4-BE49-F238E27FC236}">
                <a16:creationId xmlns:a16="http://schemas.microsoft.com/office/drawing/2014/main" id="{9FABC940-84BD-445F-97B1-32DFBFBAF462}"/>
              </a:ext>
            </a:extLst>
          </p:cNvPr>
          <p:cNvSpPr>
            <a:spLocks noGrp="1"/>
          </p:cNvSpPr>
          <p:nvPr/>
        </p:nvSpPr>
        <p:spPr>
          <a:xfrm>
            <a:off x="3943350" y="3009900"/>
            <a:ext cx="361950" cy="266700"/>
          </a:xfrm>
          <a:prstGeom prst="rightArrow">
            <a:avLst/>
          </a:prstGeom>
          <a:solidFill>
            <a:srgbClr val="08A89B"/>
          </a:solidFill>
          <a:ln w="0">
            <a:solidFill>
              <a:srgbClr val="08A89B"/>
            </a:solidFill>
            <a:prstDash val="solid"/>
          </a:ln>
        </p:spPr>
        <p:txBody>
          <a:bodyPr/>
          <a:lstStyle/>
          <a:p>
            <a:endParaRPr/>
          </a:p>
        </p:txBody>
      </p:sp>
      <p:sp>
        <p:nvSpPr>
          <p:cNvPr id="11" name="stage-Promote">
            <a:extLst>
              <a:ext uri="{FF2B5EF4-FFF2-40B4-BE49-F238E27FC236}">
                <a16:creationId xmlns:a16="http://schemas.microsoft.com/office/drawing/2014/main" id="{8311EE49-0B3F-4EC5-A901-6FEC42F45A1B}"/>
              </a:ext>
            </a:extLst>
          </p:cNvPr>
          <p:cNvSpPr>
            <a:spLocks noGrp="1"/>
          </p:cNvSpPr>
          <p:nvPr/>
        </p:nvSpPr>
        <p:spPr>
          <a:xfrm>
            <a:off x="4457700" y="2152650"/>
            <a:ext cx="3276600" cy="2076450"/>
          </a:xfrm>
          <a:prstGeom prst="roundRect">
            <a:avLst>
              <a:gd name="adj" fmla="val 5505"/>
            </a:avLst>
          </a:prstGeom>
          <a:solidFill>
            <a:srgbClr val="FFFF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pic>
        <p:nvPicPr>
          <p:cNvPr id="55" name="Picture 45"/>
          <p:cNvPicPr>
            <a:picLocks noChangeAspect="1"/>
          </p:cNvPicPr>
          <p:nvPr/>
        </p:nvPicPr>
        <p:blipFill>
          <a:blip r:embed="rId5"/>
          <a:stretch/>
        </p:blipFill>
        <p:spPr>
          <a:xfrm>
            <a:off x="4743450" y="2390775"/>
            <a:ext cx="400050" cy="400050"/>
          </a:xfrm>
          <a:prstGeom prst="rect">
            <a:avLst/>
          </a:prstGeom>
        </p:spPr>
      </p:pic>
      <p:pic>
        <p:nvPicPr>
          <p:cNvPr id="56" name="Picture 46"/>
          <p:cNvPicPr>
            <a:picLocks noChangeAspect="1"/>
          </p:cNvPicPr>
          <p:nvPr/>
        </p:nvPicPr>
        <p:blipFill>
          <a:blip r:embed="rId6"/>
          <a:stretch/>
        </p:blipFill>
        <p:spPr>
          <a:xfrm>
            <a:off x="5257800" y="2390775"/>
            <a:ext cx="400050" cy="400050"/>
          </a:xfrm>
          <a:prstGeom prst="rect">
            <a:avLst/>
          </a:prstGeom>
        </p:spPr>
      </p:pic>
      <p:pic>
        <p:nvPicPr>
          <p:cNvPr id="57" name="Picture 47"/>
          <p:cNvPicPr>
            <a:picLocks noChangeAspect="1"/>
          </p:cNvPicPr>
          <p:nvPr/>
        </p:nvPicPr>
        <p:blipFill>
          <a:blip r:embed="rId7"/>
          <a:stretch/>
        </p:blipFill>
        <p:spPr>
          <a:xfrm>
            <a:off x="5772150" y="2390775"/>
            <a:ext cx="400050" cy="400050"/>
          </a:xfrm>
          <a:prstGeom prst="rect">
            <a:avLst/>
          </a:prstGeom>
        </p:spPr>
      </p:pic>
      <p:sp>
        <p:nvSpPr>
          <p:cNvPr id="15" name="Promote-title">
            <a:extLst>
              <a:ext uri="{FF2B5EF4-FFF2-40B4-BE49-F238E27FC236}">
                <a16:creationId xmlns:a16="http://schemas.microsoft.com/office/drawing/2014/main" id="{3591D3ED-6D40-4D18-9BA6-CDB4EBEF56DE}"/>
              </a:ext>
            </a:extLst>
          </p:cNvPr>
          <p:cNvSpPr>
            <a:spLocks noGrp="1"/>
          </p:cNvSpPr>
          <p:nvPr/>
        </p:nvSpPr>
        <p:spPr>
          <a:xfrm>
            <a:off x="472440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Promote</a:t>
            </a:r>
          </a:p>
        </p:txBody>
      </p:sp>
      <p:sp>
        <p:nvSpPr>
          <p:cNvPr id="16" name="Promote-detail">
            <a:extLst>
              <a:ext uri="{FF2B5EF4-FFF2-40B4-BE49-F238E27FC236}">
                <a16:creationId xmlns:a16="http://schemas.microsoft.com/office/drawing/2014/main" id="{71E5BA08-1C94-4D19-ABEF-55F118D24DD7}"/>
              </a:ext>
            </a:extLst>
          </p:cNvPr>
          <p:cNvSpPr>
            <a:spLocks noGrp="1"/>
          </p:cNvSpPr>
          <p:nvPr/>
        </p:nvSpPr>
        <p:spPr>
          <a:xfrm>
            <a:off x="472440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dev → QA → production</a:t>
            </a:r>
          </a:p>
          <a:p>
            <a:pPr>
              <a:buNone/>
              <a:defRPr sz="1125">
                <a:solidFill>
                  <a:srgbClr val="4B5563"/>
                </a:solidFill>
              </a:defRPr>
            </a:pPr>
            <a:r>
              <a:rPr sz="1125">
                <a:solidFill>
                  <a:srgbClr val="4B5563"/>
                </a:solidFill>
              </a:rPr>
              <a:t>change-set approval</a:t>
            </a:r>
          </a:p>
          <a:p>
            <a:pPr>
              <a:buNone/>
              <a:defRPr sz="1125">
                <a:solidFill>
                  <a:srgbClr val="4B5563"/>
                </a:solidFill>
              </a:defRPr>
            </a:pPr>
            <a:r>
              <a:rPr sz="1125">
                <a:solidFill>
                  <a:srgbClr val="4B5563"/>
                </a:solidFill>
              </a:rPr>
              <a:t>cross-account roles</a:t>
            </a:r>
          </a:p>
        </p:txBody>
      </p:sp>
      <p:sp>
        <p:nvSpPr>
          <p:cNvPr id="17" name="arrow-824">
            <a:extLst>
              <a:ext uri="{FF2B5EF4-FFF2-40B4-BE49-F238E27FC236}">
                <a16:creationId xmlns:a16="http://schemas.microsoft.com/office/drawing/2014/main" id="{AE2B8628-B90D-4FBB-BAC7-85AC95C90658}"/>
              </a:ext>
            </a:extLst>
          </p:cNvPr>
          <p:cNvSpPr>
            <a:spLocks noGrp="1"/>
          </p:cNvSpPr>
          <p:nvPr/>
        </p:nvSpPr>
        <p:spPr>
          <a:xfrm>
            <a:off x="7848600" y="3009900"/>
            <a:ext cx="361950" cy="266700"/>
          </a:xfrm>
          <a:prstGeom prst="rightArrow">
            <a:avLst/>
          </a:prstGeom>
          <a:solidFill>
            <a:srgbClr val="08A89B"/>
          </a:solidFill>
          <a:ln w="0">
            <a:solidFill>
              <a:srgbClr val="08A89B"/>
            </a:solidFill>
            <a:prstDash val="solid"/>
          </a:ln>
        </p:spPr>
        <p:txBody>
          <a:bodyPr/>
          <a:lstStyle/>
          <a:p>
            <a:endParaRPr/>
          </a:p>
        </p:txBody>
      </p:sp>
      <p:sp>
        <p:nvSpPr>
          <p:cNvPr id="18" name="stage-Recover">
            <a:extLst>
              <a:ext uri="{FF2B5EF4-FFF2-40B4-BE49-F238E27FC236}">
                <a16:creationId xmlns:a16="http://schemas.microsoft.com/office/drawing/2014/main" id="{8DDF61EE-12B1-4C26-8EFB-110263FF7787}"/>
              </a:ext>
            </a:extLst>
          </p:cNvPr>
          <p:cNvSpPr>
            <a:spLocks noGrp="1"/>
          </p:cNvSpPr>
          <p:nvPr/>
        </p:nvSpPr>
        <p:spPr>
          <a:xfrm>
            <a:off x="8362950" y="2152650"/>
            <a:ext cx="3276600" cy="2076450"/>
          </a:xfrm>
          <a:prstGeom prst="roundRect">
            <a:avLst>
              <a:gd name="adj" fmla="val 5505"/>
            </a:avLst>
          </a:prstGeom>
          <a:solidFill>
            <a:srgbClr val="FFFFFF"/>
          </a:solidFill>
          <a:ln w="1714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pic>
        <p:nvPicPr>
          <p:cNvPr id="62" name="Picture 52"/>
          <p:cNvPicPr>
            <a:picLocks noChangeAspect="1"/>
          </p:cNvPicPr>
          <p:nvPr/>
        </p:nvPicPr>
        <p:blipFill>
          <a:blip r:embed="rId8"/>
          <a:stretch/>
        </p:blipFill>
        <p:spPr>
          <a:xfrm>
            <a:off x="8648700" y="2390775"/>
            <a:ext cx="400050" cy="400050"/>
          </a:xfrm>
          <a:prstGeom prst="rect">
            <a:avLst/>
          </a:prstGeom>
        </p:spPr>
      </p:pic>
      <p:pic>
        <p:nvPicPr>
          <p:cNvPr id="63" name="Picture 53"/>
          <p:cNvPicPr>
            <a:picLocks noChangeAspect="1"/>
          </p:cNvPicPr>
          <p:nvPr/>
        </p:nvPicPr>
        <p:blipFill>
          <a:blip r:embed="rId9"/>
          <a:stretch/>
        </p:blipFill>
        <p:spPr>
          <a:xfrm>
            <a:off x="9163050" y="2390775"/>
            <a:ext cx="400050" cy="400050"/>
          </a:xfrm>
          <a:prstGeom prst="rect">
            <a:avLst/>
          </a:prstGeom>
        </p:spPr>
      </p:pic>
      <p:pic>
        <p:nvPicPr>
          <p:cNvPr id="64" name="Picture 54"/>
          <p:cNvPicPr>
            <a:picLocks noChangeAspect="1"/>
          </p:cNvPicPr>
          <p:nvPr/>
        </p:nvPicPr>
        <p:blipFill>
          <a:blip r:embed="rId10"/>
          <a:stretch/>
        </p:blipFill>
        <p:spPr>
          <a:xfrm>
            <a:off x="9677400" y="2390775"/>
            <a:ext cx="400050" cy="400050"/>
          </a:xfrm>
          <a:prstGeom prst="rect">
            <a:avLst/>
          </a:prstGeom>
        </p:spPr>
      </p:pic>
      <p:sp>
        <p:nvSpPr>
          <p:cNvPr id="22" name="Recover-title">
            <a:extLst>
              <a:ext uri="{FF2B5EF4-FFF2-40B4-BE49-F238E27FC236}">
                <a16:creationId xmlns:a16="http://schemas.microsoft.com/office/drawing/2014/main" id="{14C5E905-A22E-4DA1-B894-DA23019DC2EC}"/>
              </a:ext>
            </a:extLst>
          </p:cNvPr>
          <p:cNvSpPr>
            <a:spLocks noGrp="1"/>
          </p:cNvSpPr>
          <p:nvPr/>
        </p:nvSpPr>
        <p:spPr>
          <a:xfrm>
            <a:off x="86296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Recover</a:t>
            </a:r>
          </a:p>
        </p:txBody>
      </p:sp>
      <p:sp>
        <p:nvSpPr>
          <p:cNvPr id="23" name="Recover-detail">
            <a:extLst>
              <a:ext uri="{FF2B5EF4-FFF2-40B4-BE49-F238E27FC236}">
                <a16:creationId xmlns:a16="http://schemas.microsoft.com/office/drawing/2014/main" id="{E92B770F-3595-4A7A-B316-42C6EA25B36D}"/>
              </a:ext>
            </a:extLst>
          </p:cNvPr>
          <p:cNvSpPr>
            <a:spLocks noGrp="1"/>
          </p:cNvSpPr>
          <p:nvPr/>
        </p:nvSpPr>
        <p:spPr>
          <a:xfrm>
            <a:off x="86296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repeatable regional stack</a:t>
            </a:r>
          </a:p>
          <a:p>
            <a:pPr>
              <a:buNone/>
              <a:defRPr sz="1125">
                <a:solidFill>
                  <a:srgbClr val="4B5563"/>
                </a:solidFill>
              </a:defRPr>
            </a:pPr>
            <a:r>
              <a:rPr sz="1125">
                <a:solidFill>
                  <a:srgbClr val="4B5563"/>
                </a:solidFill>
              </a:rPr>
              <a:t>restorable data</a:t>
            </a:r>
          </a:p>
          <a:p>
            <a:pPr>
              <a:buNone/>
              <a:defRPr sz="1125">
                <a:solidFill>
                  <a:srgbClr val="4B5563"/>
                </a:solidFill>
              </a:defRPr>
            </a:pPr>
            <a:r>
              <a:rPr sz="1125">
                <a:solidFill>
                  <a:srgbClr val="4B5563"/>
                </a:solidFill>
              </a:rPr>
              <a:t>no manual snowflakes</a:t>
            </a:r>
          </a:p>
        </p:txBody>
      </p:sp>
      <p:sp>
        <p:nvSpPr>
          <p:cNvPr id="24" name="decisions-label">
            <a:extLst>
              <a:ext uri="{FF2B5EF4-FFF2-40B4-BE49-F238E27FC236}">
                <a16:creationId xmlns:a16="http://schemas.microsoft.com/office/drawing/2014/main" id="{2F416A01-317D-4036-BD28-54297B92D401}"/>
              </a:ext>
            </a:extLst>
          </p:cNvPr>
          <p:cNvSpPr>
            <a:spLocks noGrp="1"/>
          </p:cNvSpPr>
          <p:nvPr/>
        </p:nvSpPr>
        <p:spPr>
          <a:xfrm>
            <a:off x="552450" y="4438650"/>
            <a:ext cx="2381250" cy="190500"/>
          </a:xfrm>
          <a:prstGeom prst="rect">
            <a:avLst/>
          </a:prstGeom>
          <a:noFill/>
          <a:ln w="0">
            <a:noFill/>
            <a:prstDash val="solid"/>
          </a:ln>
        </p:spPr>
        <p:txBody>
          <a:bodyPr/>
          <a:lstStyle/>
          <a:p>
            <a:pPr>
              <a:buNone/>
              <a:defRPr sz="900" b="1">
                <a:solidFill>
                  <a:srgbClr val="5B6472"/>
                </a:solidFill>
              </a:defRPr>
            </a:pPr>
            <a:r>
              <a:rPr sz="900" b="1">
                <a:solidFill>
                  <a:srgbClr val="5B6472"/>
                </a:solidFill>
              </a:rPr>
              <a:t>ARCHITECTURE DECISIONS</a:t>
            </a:r>
          </a:p>
        </p:txBody>
      </p:sp>
      <p:sp>
        <p:nvSpPr>
          <p:cNvPr id="25" name="decision-0-title">
            <a:extLst>
              <a:ext uri="{FF2B5EF4-FFF2-40B4-BE49-F238E27FC236}">
                <a16:creationId xmlns:a16="http://schemas.microsoft.com/office/drawing/2014/main" id="{3AA799A4-5C6A-4E8D-A26E-1186B00C793C}"/>
              </a:ext>
            </a:extLst>
          </p:cNvPr>
          <p:cNvSpPr>
            <a:spLocks noGrp="1"/>
          </p:cNvSpPr>
          <p:nvPr/>
        </p:nvSpPr>
        <p:spPr>
          <a:xfrm>
            <a:off x="552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MODULARITY</a:t>
            </a:r>
          </a:p>
        </p:txBody>
      </p:sp>
      <p:sp>
        <p:nvSpPr>
          <p:cNvPr id="26" name="decision-0-body">
            <a:extLst>
              <a:ext uri="{FF2B5EF4-FFF2-40B4-BE49-F238E27FC236}">
                <a16:creationId xmlns:a16="http://schemas.microsoft.com/office/drawing/2014/main" id="{05688084-238F-45E6-AC58-8755252AF1F8}"/>
              </a:ext>
            </a:extLst>
          </p:cNvPr>
          <p:cNvSpPr>
            <a:spLocks noGrp="1"/>
          </p:cNvSpPr>
          <p:nvPr/>
        </p:nvSpPr>
        <p:spPr>
          <a:xfrm>
            <a:off x="552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Separate reusable platform, data, integration and workload stacks with explicit contracts.</a:t>
            </a:r>
          </a:p>
        </p:txBody>
      </p:sp>
      <p:sp>
        <p:nvSpPr>
          <p:cNvPr id="27" name="decision-1-title">
            <a:extLst>
              <a:ext uri="{FF2B5EF4-FFF2-40B4-BE49-F238E27FC236}">
                <a16:creationId xmlns:a16="http://schemas.microsoft.com/office/drawing/2014/main" id="{DFC70CBC-E10C-4A26-AF8E-031BA4C8BCD2}"/>
              </a:ext>
            </a:extLst>
          </p:cNvPr>
          <p:cNvSpPr>
            <a:spLocks noGrp="1"/>
          </p:cNvSpPr>
          <p:nvPr/>
        </p:nvSpPr>
        <p:spPr>
          <a:xfrm>
            <a:off x="3409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GUARDRAILS</a:t>
            </a:r>
          </a:p>
        </p:txBody>
      </p:sp>
      <p:sp>
        <p:nvSpPr>
          <p:cNvPr id="28" name="decision-1-body">
            <a:extLst>
              <a:ext uri="{FF2B5EF4-FFF2-40B4-BE49-F238E27FC236}">
                <a16:creationId xmlns:a16="http://schemas.microsoft.com/office/drawing/2014/main" id="{E19B26CF-DA61-496F-9755-74590A1A83B3}"/>
              </a:ext>
            </a:extLst>
          </p:cNvPr>
          <p:cNvSpPr>
            <a:spLocks noGrp="1"/>
          </p:cNvSpPr>
          <p:nvPr/>
        </p:nvSpPr>
        <p:spPr>
          <a:xfrm>
            <a:off x="3409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Automated security, cost, tagging and configuration checks before deployment.</a:t>
            </a:r>
          </a:p>
        </p:txBody>
      </p:sp>
      <p:sp>
        <p:nvSpPr>
          <p:cNvPr id="29" name="decision-2-title">
            <a:extLst>
              <a:ext uri="{FF2B5EF4-FFF2-40B4-BE49-F238E27FC236}">
                <a16:creationId xmlns:a16="http://schemas.microsoft.com/office/drawing/2014/main" id="{72BD1CBB-2631-420E-B8BB-52D51FF61BB9}"/>
              </a:ext>
            </a:extLst>
          </p:cNvPr>
          <p:cNvSpPr>
            <a:spLocks noGrp="1"/>
          </p:cNvSpPr>
          <p:nvPr/>
        </p:nvSpPr>
        <p:spPr>
          <a:xfrm>
            <a:off x="6267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CHANGE SAFETY</a:t>
            </a:r>
          </a:p>
        </p:txBody>
      </p:sp>
      <p:sp>
        <p:nvSpPr>
          <p:cNvPr id="30" name="decision-2-body">
            <a:extLst>
              <a:ext uri="{FF2B5EF4-FFF2-40B4-BE49-F238E27FC236}">
                <a16:creationId xmlns:a16="http://schemas.microsoft.com/office/drawing/2014/main" id="{967E5C66-203B-46AD-B209-700475D669E0}"/>
              </a:ext>
            </a:extLst>
          </p:cNvPr>
          <p:cNvSpPr>
            <a:spLocks noGrp="1"/>
          </p:cNvSpPr>
          <p:nvPr/>
        </p:nvSpPr>
        <p:spPr>
          <a:xfrm>
            <a:off x="6267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Review CloudFormation change sets; use automatic rollback and drift detection.</a:t>
            </a:r>
          </a:p>
        </p:txBody>
      </p:sp>
      <p:sp>
        <p:nvSpPr>
          <p:cNvPr id="31" name="decision-3-title">
            <a:extLst>
              <a:ext uri="{FF2B5EF4-FFF2-40B4-BE49-F238E27FC236}">
                <a16:creationId xmlns:a16="http://schemas.microsoft.com/office/drawing/2014/main" id="{4F9FE8DF-B13E-4FCD-94D9-60F27653C640}"/>
              </a:ext>
            </a:extLst>
          </p:cNvPr>
          <p:cNvSpPr>
            <a:spLocks noGrp="1"/>
          </p:cNvSpPr>
          <p:nvPr/>
        </p:nvSpPr>
        <p:spPr>
          <a:xfrm>
            <a:off x="9124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DR EVIDENCE</a:t>
            </a:r>
          </a:p>
        </p:txBody>
      </p:sp>
      <p:sp>
        <p:nvSpPr>
          <p:cNvPr id="32" name="decision-3-body">
            <a:extLst>
              <a:ext uri="{FF2B5EF4-FFF2-40B4-BE49-F238E27FC236}">
                <a16:creationId xmlns:a16="http://schemas.microsoft.com/office/drawing/2014/main" id="{9E89E12A-481E-43A1-8E44-680EBFAD0320}"/>
              </a:ext>
            </a:extLst>
          </p:cNvPr>
          <p:cNvSpPr>
            <a:spLocks noGrp="1"/>
          </p:cNvSpPr>
          <p:nvPr/>
        </p:nvSpPr>
        <p:spPr>
          <a:xfrm>
            <a:off x="9124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Recreate the secondary Region from code and prove restore procedures regularly.</a:t>
            </a:r>
          </a:p>
        </p:txBody>
      </p:sp>
      <p:sp>
        <p:nvSpPr>
          <p:cNvPr id="33" name="footer">
            <a:extLst>
              <a:ext uri="{FF2B5EF4-FFF2-40B4-BE49-F238E27FC236}">
                <a16:creationId xmlns:a16="http://schemas.microsoft.com/office/drawing/2014/main" id="{2AC3AFEA-033B-4954-879C-B8F023F6E8AD}"/>
              </a:ext>
            </a:extLst>
          </p:cNvPr>
          <p:cNvSpPr>
            <a:spLocks noGrp="1"/>
          </p:cNvSpPr>
          <p:nvPr/>
        </p:nvSpPr>
        <p:spPr>
          <a:xfrm>
            <a:off x="552450" y="5953125"/>
            <a:ext cx="11087100" cy="457200"/>
          </a:xfrm>
          <a:prstGeom prst="roundRect">
            <a:avLst>
              <a:gd name="adj" fmla="val 16667"/>
            </a:avLst>
          </a:prstGeom>
          <a:solidFill>
            <a:srgbClr val="F0FAF8"/>
          </a:solidFill>
          <a:ln w="9525">
            <a:solidFill>
              <a:srgbClr val="B7E2DC"/>
            </a:solidFill>
            <a:prstDash val="solid"/>
          </a:ln>
        </p:spPr>
        <p:txBody>
          <a:bodyPr/>
          <a:lstStyle/>
          <a:p>
            <a:endParaRPr/>
          </a:p>
        </p:txBody>
      </p:sp>
      <p:sp>
        <p:nvSpPr>
          <p:cNvPr id="34" name="footer-text">
            <a:extLst>
              <a:ext uri="{FF2B5EF4-FFF2-40B4-BE49-F238E27FC236}">
                <a16:creationId xmlns:a16="http://schemas.microsoft.com/office/drawing/2014/main" id="{2AEBD971-3F84-4911-B1A8-0E2B2E13C185}"/>
              </a:ext>
            </a:extLst>
          </p:cNvPr>
          <p:cNvSpPr>
            <a:spLocks noGrp="1"/>
          </p:cNvSpPr>
          <p:nvPr/>
        </p:nvSpPr>
        <p:spPr>
          <a:xfrm>
            <a:off x="781050" y="6086475"/>
            <a:ext cx="106299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Design principle: managed services first • explicit ownership • graceful degradation • measurable recovery</a:t>
            </a:r>
          </a:p>
        </p:txBody>
      </p:sp>
    </p:spTree>
    <p:extLst>
      <p:ext uri="{BB962C8B-B14F-4D97-AF65-F5344CB8AC3E}">
        <p14:creationId xmlns:p14="http://schemas.microsoft.com/office/powerpoint/2010/main" val="994584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eyebrow">
            <a:extLst>
              <a:ext uri="{FF2B5EF4-FFF2-40B4-BE49-F238E27FC236}">
                <a16:creationId xmlns:a16="http://schemas.microsoft.com/office/drawing/2014/main" id="{479F5BF4-0AEB-4EDC-98A6-CEE90A3E8E2C}"/>
              </a:ext>
            </a:extLst>
          </p:cNvPr>
          <p:cNvSpPr>
            <a:spLocks noGrp="1"/>
          </p:cNvSpPr>
          <p:nvPr/>
        </p:nvSpPr>
        <p:spPr>
          <a:xfrm>
            <a:off x="552450" y="266700"/>
            <a:ext cx="4000500" cy="190500"/>
          </a:xfrm>
          <a:prstGeom prst="rect">
            <a:avLst/>
          </a:prstGeom>
          <a:noFill/>
          <a:ln w="0">
            <a:noFill/>
            <a:prstDash val="solid"/>
          </a:ln>
        </p:spPr>
        <p:txBody>
          <a:bodyPr/>
          <a:lstStyle/>
          <a:p>
            <a:pPr>
              <a:buNone/>
              <a:defRPr sz="975" b="1">
                <a:solidFill>
                  <a:srgbClr val="198E84"/>
                </a:solidFill>
              </a:defRPr>
            </a:pPr>
            <a:r>
              <a:rPr sz="975" b="1" dirty="0">
                <a:solidFill>
                  <a:srgbClr val="198E84"/>
                </a:solidFill>
              </a:rPr>
              <a:t>DEPLOYMENT AUTOMATION &amp; QUALITY</a:t>
            </a:r>
          </a:p>
        </p:txBody>
      </p:sp>
      <p:sp>
        <p:nvSpPr>
          <p:cNvPr id="2" name="title">
            <a:extLst>
              <a:ext uri="{FF2B5EF4-FFF2-40B4-BE49-F238E27FC236}">
                <a16:creationId xmlns:a16="http://schemas.microsoft.com/office/drawing/2014/main" id="{E00DE3C4-E248-40A4-B7CF-059B47A47DB7}"/>
              </a:ext>
            </a:extLst>
          </p:cNvPr>
          <p:cNvSpPr>
            <a:spLocks noGrp="1"/>
          </p:cNvSpPr>
          <p:nvPr/>
        </p:nvSpPr>
        <p:spPr>
          <a:xfrm>
            <a:off x="552450" y="523875"/>
            <a:ext cx="11087100" cy="742950"/>
          </a:xfrm>
          <a:prstGeom prst="rect">
            <a:avLst/>
          </a:prstGeom>
          <a:noFill/>
          <a:ln w="0">
            <a:noFill/>
            <a:prstDash val="solid"/>
          </a:ln>
        </p:spPr>
        <p:txBody>
          <a:bodyPr/>
          <a:lstStyle/>
          <a:p>
            <a:pPr>
              <a:buNone/>
              <a:defRPr sz="2475" b="1">
                <a:solidFill>
                  <a:srgbClr val="111827"/>
                </a:solidFill>
              </a:defRPr>
            </a:pPr>
            <a:r>
              <a:rPr sz="2475" b="1">
                <a:solidFill>
                  <a:srgbClr val="111827"/>
                </a:solidFill>
              </a:rPr>
              <a:t>Automated quality and security gates make frequent releases safer</a:t>
            </a:r>
          </a:p>
        </p:txBody>
      </p:sp>
      <p:sp>
        <p:nvSpPr>
          <p:cNvPr id="3" name="subtitle">
            <a:extLst>
              <a:ext uri="{FF2B5EF4-FFF2-40B4-BE49-F238E27FC236}">
                <a16:creationId xmlns:a16="http://schemas.microsoft.com/office/drawing/2014/main" id="{5F400AC4-9DBC-4D44-AE90-E5B8D96F9873}"/>
              </a:ext>
            </a:extLst>
          </p:cNvPr>
          <p:cNvSpPr>
            <a:spLocks noGrp="1"/>
          </p:cNvSpPr>
          <p:nvPr/>
        </p:nvSpPr>
        <p:spPr>
          <a:xfrm>
            <a:off x="552450" y="1333500"/>
            <a:ext cx="11087100" cy="400050"/>
          </a:xfrm>
          <a:prstGeom prst="rect">
            <a:avLst/>
          </a:prstGeom>
          <a:noFill/>
          <a:ln w="0">
            <a:noFill/>
            <a:prstDash val="solid"/>
          </a:ln>
        </p:spPr>
        <p:txBody>
          <a:bodyPr/>
          <a:lstStyle/>
          <a:p>
            <a:pPr>
              <a:buNone/>
              <a:defRPr sz="1275">
                <a:solidFill>
                  <a:srgbClr val="5B6472"/>
                </a:solidFill>
              </a:defRPr>
            </a:pPr>
            <a:r>
              <a:rPr sz="1275">
                <a:solidFill>
                  <a:srgbClr val="5B6472"/>
                </a:solidFill>
              </a:rPr>
              <a:t>One immutable artifact moves through tests, scans, deployment checks and progressive production rollout.</a:t>
            </a:r>
          </a:p>
        </p:txBody>
      </p:sp>
      <p:sp>
        <p:nvSpPr>
          <p:cNvPr id="4" name="section-rule">
            <a:extLst>
              <a:ext uri="{FF2B5EF4-FFF2-40B4-BE49-F238E27FC236}">
                <a16:creationId xmlns:a16="http://schemas.microsoft.com/office/drawing/2014/main" id="{D35880F0-645B-4DAD-B488-E6D9C0DBF1F2}"/>
              </a:ext>
            </a:extLst>
          </p:cNvPr>
          <p:cNvSpPr>
            <a:spLocks noGrp="1"/>
          </p:cNvSpPr>
          <p:nvPr/>
        </p:nvSpPr>
        <p:spPr>
          <a:xfrm>
            <a:off x="552450" y="1876425"/>
            <a:ext cx="11087100" cy="0"/>
          </a:xfrm>
          <a:prstGeom prst="line">
            <a:avLst/>
          </a:prstGeom>
          <a:ln w="11430">
            <a:solidFill>
              <a:srgbClr val="D7DEE8"/>
            </a:solidFill>
            <a:prstDash val="solid"/>
          </a:ln>
        </p:spPr>
        <p:txBody>
          <a:bodyPr/>
          <a:lstStyle/>
          <a:p>
            <a:endParaRPr/>
          </a:p>
        </p:txBody>
      </p:sp>
      <p:sp>
        <p:nvSpPr>
          <p:cNvPr id="5" name="stage-Build and verify">
            <a:extLst>
              <a:ext uri="{FF2B5EF4-FFF2-40B4-BE49-F238E27FC236}">
                <a16:creationId xmlns:a16="http://schemas.microsoft.com/office/drawing/2014/main" id="{AF4FA8B5-1F25-423A-A83B-EB6F761BB731}"/>
              </a:ext>
            </a:extLst>
          </p:cNvPr>
          <p:cNvSpPr>
            <a:spLocks noGrp="1"/>
          </p:cNvSpPr>
          <p:nvPr/>
        </p:nvSpPr>
        <p:spPr>
          <a:xfrm>
            <a:off x="552450" y="2152650"/>
            <a:ext cx="3276600" cy="2076450"/>
          </a:xfrm>
          <a:prstGeom prst="roundRect">
            <a:avLst>
              <a:gd name="adj" fmla="val 5505"/>
            </a:avLst>
          </a:prstGeom>
          <a:solidFill>
            <a:srgbClr val="FFFF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pic>
        <p:nvPicPr>
          <p:cNvPr id="51" name="Picture 40"/>
          <p:cNvPicPr>
            <a:picLocks noChangeAspect="1"/>
          </p:cNvPicPr>
          <p:nvPr/>
        </p:nvPicPr>
        <p:blipFill>
          <a:blip r:embed="rId3"/>
          <a:stretch/>
        </p:blipFill>
        <p:spPr>
          <a:xfrm>
            <a:off x="838200" y="2390775"/>
            <a:ext cx="400050" cy="400050"/>
          </a:xfrm>
          <a:prstGeom prst="rect">
            <a:avLst/>
          </a:prstGeom>
        </p:spPr>
      </p:pic>
      <p:pic>
        <p:nvPicPr>
          <p:cNvPr id="52" name="Picture 41"/>
          <p:cNvPicPr>
            <a:picLocks noChangeAspect="1"/>
          </p:cNvPicPr>
          <p:nvPr/>
        </p:nvPicPr>
        <p:blipFill>
          <a:blip r:embed="rId4"/>
          <a:stretch/>
        </p:blipFill>
        <p:spPr>
          <a:xfrm>
            <a:off x="1352550" y="2390775"/>
            <a:ext cx="400050" cy="400050"/>
          </a:xfrm>
          <a:prstGeom prst="rect">
            <a:avLst/>
          </a:prstGeom>
        </p:spPr>
      </p:pic>
      <p:pic>
        <p:nvPicPr>
          <p:cNvPr id="53" name="Picture 42"/>
          <p:cNvPicPr>
            <a:picLocks noChangeAspect="1"/>
          </p:cNvPicPr>
          <p:nvPr/>
        </p:nvPicPr>
        <p:blipFill>
          <a:blip r:embed="rId5"/>
          <a:stretch/>
        </p:blipFill>
        <p:spPr>
          <a:xfrm>
            <a:off x="1866900" y="2390775"/>
            <a:ext cx="400050" cy="400050"/>
          </a:xfrm>
          <a:prstGeom prst="rect">
            <a:avLst/>
          </a:prstGeom>
        </p:spPr>
      </p:pic>
      <p:sp>
        <p:nvSpPr>
          <p:cNvPr id="9" name="Build and verify-title">
            <a:extLst>
              <a:ext uri="{FF2B5EF4-FFF2-40B4-BE49-F238E27FC236}">
                <a16:creationId xmlns:a16="http://schemas.microsoft.com/office/drawing/2014/main" id="{0F6E9029-985E-4753-A58F-20B5AA8329BC}"/>
              </a:ext>
            </a:extLst>
          </p:cNvPr>
          <p:cNvSpPr>
            <a:spLocks noGrp="1"/>
          </p:cNvSpPr>
          <p:nvPr/>
        </p:nvSpPr>
        <p:spPr>
          <a:xfrm>
            <a:off x="8191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Build and verify</a:t>
            </a:r>
          </a:p>
        </p:txBody>
      </p:sp>
      <p:sp>
        <p:nvSpPr>
          <p:cNvPr id="10" name="Build and verify-detail">
            <a:extLst>
              <a:ext uri="{FF2B5EF4-FFF2-40B4-BE49-F238E27FC236}">
                <a16:creationId xmlns:a16="http://schemas.microsoft.com/office/drawing/2014/main" id="{9445261A-2EBA-4793-B87D-E7DDF23C3202}"/>
              </a:ext>
            </a:extLst>
          </p:cNvPr>
          <p:cNvSpPr>
            <a:spLocks noGrp="1"/>
          </p:cNvSpPr>
          <p:nvPr/>
        </p:nvSpPr>
        <p:spPr>
          <a:xfrm>
            <a:off x="8191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unit + contract tests</a:t>
            </a:r>
          </a:p>
          <a:p>
            <a:pPr>
              <a:buNone/>
              <a:defRPr sz="1125">
                <a:solidFill>
                  <a:srgbClr val="4B5563"/>
                </a:solidFill>
              </a:defRPr>
            </a:pPr>
            <a:r>
              <a:rPr sz="1125">
                <a:solidFill>
                  <a:srgbClr val="4B5563"/>
                </a:solidFill>
              </a:rPr>
              <a:t>coverage and linting</a:t>
            </a:r>
          </a:p>
          <a:p>
            <a:pPr>
              <a:buNone/>
              <a:defRPr sz="1125">
                <a:solidFill>
                  <a:srgbClr val="4B5563"/>
                </a:solidFill>
              </a:defRPr>
            </a:pPr>
            <a:r>
              <a:rPr sz="1125">
                <a:solidFill>
                  <a:srgbClr val="4B5563"/>
                </a:solidFill>
              </a:rPr>
              <a:t>OpenAPI validation</a:t>
            </a:r>
          </a:p>
        </p:txBody>
      </p:sp>
      <p:sp>
        <p:nvSpPr>
          <p:cNvPr id="11" name="arrow-414">
            <a:extLst>
              <a:ext uri="{FF2B5EF4-FFF2-40B4-BE49-F238E27FC236}">
                <a16:creationId xmlns:a16="http://schemas.microsoft.com/office/drawing/2014/main" id="{FAEBF6DA-9555-48B7-96C4-29CB12BE4A00}"/>
              </a:ext>
            </a:extLst>
          </p:cNvPr>
          <p:cNvSpPr>
            <a:spLocks noGrp="1"/>
          </p:cNvSpPr>
          <p:nvPr/>
        </p:nvSpPr>
        <p:spPr>
          <a:xfrm>
            <a:off x="3943350" y="3009900"/>
            <a:ext cx="361950" cy="266700"/>
          </a:xfrm>
          <a:prstGeom prst="rightArrow">
            <a:avLst/>
          </a:prstGeom>
          <a:solidFill>
            <a:srgbClr val="08A89B"/>
          </a:solidFill>
          <a:ln w="0">
            <a:solidFill>
              <a:srgbClr val="08A89B"/>
            </a:solidFill>
            <a:prstDash val="solid"/>
          </a:ln>
        </p:spPr>
        <p:txBody>
          <a:bodyPr/>
          <a:lstStyle/>
          <a:p>
            <a:endParaRPr/>
          </a:p>
        </p:txBody>
      </p:sp>
      <p:sp>
        <p:nvSpPr>
          <p:cNvPr id="12" name="stage-Secure and package">
            <a:extLst>
              <a:ext uri="{FF2B5EF4-FFF2-40B4-BE49-F238E27FC236}">
                <a16:creationId xmlns:a16="http://schemas.microsoft.com/office/drawing/2014/main" id="{2BDFBE66-20DF-405B-A299-81BA4B587882}"/>
              </a:ext>
            </a:extLst>
          </p:cNvPr>
          <p:cNvSpPr>
            <a:spLocks noGrp="1"/>
          </p:cNvSpPr>
          <p:nvPr/>
        </p:nvSpPr>
        <p:spPr>
          <a:xfrm>
            <a:off x="4457700" y="2152650"/>
            <a:ext cx="3276600" cy="2076450"/>
          </a:xfrm>
          <a:prstGeom prst="roundRect">
            <a:avLst>
              <a:gd name="adj" fmla="val 5505"/>
            </a:avLst>
          </a:prstGeom>
          <a:solidFill>
            <a:srgbClr val="FFFF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pic>
        <p:nvPicPr>
          <p:cNvPr id="58" name="Picture 47"/>
          <p:cNvPicPr>
            <a:picLocks noChangeAspect="1"/>
          </p:cNvPicPr>
          <p:nvPr/>
        </p:nvPicPr>
        <p:blipFill>
          <a:blip r:embed="rId6"/>
          <a:stretch/>
        </p:blipFill>
        <p:spPr>
          <a:xfrm>
            <a:off x="4743450" y="2390775"/>
            <a:ext cx="400050" cy="400050"/>
          </a:xfrm>
          <a:prstGeom prst="rect">
            <a:avLst/>
          </a:prstGeom>
        </p:spPr>
      </p:pic>
      <p:pic>
        <p:nvPicPr>
          <p:cNvPr id="59" name="Picture 48"/>
          <p:cNvPicPr>
            <a:picLocks noChangeAspect="1"/>
          </p:cNvPicPr>
          <p:nvPr/>
        </p:nvPicPr>
        <p:blipFill>
          <a:blip r:embed="rId7"/>
          <a:stretch/>
        </p:blipFill>
        <p:spPr>
          <a:xfrm>
            <a:off x="5257800" y="2390775"/>
            <a:ext cx="400050" cy="400050"/>
          </a:xfrm>
          <a:prstGeom prst="rect">
            <a:avLst/>
          </a:prstGeom>
        </p:spPr>
      </p:pic>
      <p:pic>
        <p:nvPicPr>
          <p:cNvPr id="60" name="Picture 49"/>
          <p:cNvPicPr>
            <a:picLocks noChangeAspect="1"/>
          </p:cNvPicPr>
          <p:nvPr/>
        </p:nvPicPr>
        <p:blipFill>
          <a:blip r:embed="rId8"/>
          <a:stretch/>
        </p:blipFill>
        <p:spPr>
          <a:xfrm>
            <a:off x="5772150" y="2390775"/>
            <a:ext cx="400050" cy="400050"/>
          </a:xfrm>
          <a:prstGeom prst="rect">
            <a:avLst/>
          </a:prstGeom>
        </p:spPr>
      </p:pic>
      <p:sp>
        <p:nvSpPr>
          <p:cNvPr id="16" name="Secure and package-title">
            <a:extLst>
              <a:ext uri="{FF2B5EF4-FFF2-40B4-BE49-F238E27FC236}">
                <a16:creationId xmlns:a16="http://schemas.microsoft.com/office/drawing/2014/main" id="{012F1CF3-4E7B-4363-8CCD-4C2EB9AA3EB9}"/>
              </a:ext>
            </a:extLst>
          </p:cNvPr>
          <p:cNvSpPr>
            <a:spLocks noGrp="1"/>
          </p:cNvSpPr>
          <p:nvPr/>
        </p:nvSpPr>
        <p:spPr>
          <a:xfrm>
            <a:off x="472440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Secure and package</a:t>
            </a:r>
          </a:p>
        </p:txBody>
      </p:sp>
      <p:sp>
        <p:nvSpPr>
          <p:cNvPr id="17" name="Secure and package-detail">
            <a:extLst>
              <a:ext uri="{FF2B5EF4-FFF2-40B4-BE49-F238E27FC236}">
                <a16:creationId xmlns:a16="http://schemas.microsoft.com/office/drawing/2014/main" id="{E5BA0C7E-835D-4E1B-9338-CE67D3F8C40D}"/>
              </a:ext>
            </a:extLst>
          </p:cNvPr>
          <p:cNvSpPr>
            <a:spLocks noGrp="1"/>
          </p:cNvSpPr>
          <p:nvPr/>
        </p:nvSpPr>
        <p:spPr>
          <a:xfrm>
            <a:off x="472440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dependency/image scans</a:t>
            </a:r>
          </a:p>
          <a:p>
            <a:pPr>
              <a:buNone/>
              <a:defRPr sz="1125">
                <a:solidFill>
                  <a:srgbClr val="4B5563"/>
                </a:solidFill>
              </a:defRPr>
            </a:pPr>
            <a:r>
              <a:rPr sz="1125">
                <a:solidFill>
                  <a:srgbClr val="4B5563"/>
                </a:solidFill>
              </a:rPr>
              <a:t>signed artifacts</a:t>
            </a:r>
          </a:p>
          <a:p>
            <a:pPr>
              <a:buNone/>
              <a:defRPr sz="1125">
                <a:solidFill>
                  <a:srgbClr val="4B5563"/>
                </a:solidFill>
              </a:defRPr>
            </a:pPr>
            <a:r>
              <a:rPr sz="1125">
                <a:solidFill>
                  <a:srgbClr val="4B5563"/>
                </a:solidFill>
              </a:rPr>
              <a:t>central findings</a:t>
            </a:r>
          </a:p>
        </p:txBody>
      </p:sp>
      <p:sp>
        <p:nvSpPr>
          <p:cNvPr id="18" name="arrow-824">
            <a:extLst>
              <a:ext uri="{FF2B5EF4-FFF2-40B4-BE49-F238E27FC236}">
                <a16:creationId xmlns:a16="http://schemas.microsoft.com/office/drawing/2014/main" id="{CAABA4E0-782D-4097-BDD5-44F374882060}"/>
              </a:ext>
            </a:extLst>
          </p:cNvPr>
          <p:cNvSpPr>
            <a:spLocks noGrp="1"/>
          </p:cNvSpPr>
          <p:nvPr/>
        </p:nvSpPr>
        <p:spPr>
          <a:xfrm>
            <a:off x="7848600" y="3009900"/>
            <a:ext cx="361950" cy="266700"/>
          </a:xfrm>
          <a:prstGeom prst="rightArrow">
            <a:avLst/>
          </a:prstGeom>
          <a:solidFill>
            <a:srgbClr val="08A89B"/>
          </a:solidFill>
          <a:ln w="0">
            <a:solidFill>
              <a:srgbClr val="08A89B"/>
            </a:solidFill>
            <a:prstDash val="solid"/>
          </a:ln>
        </p:spPr>
        <p:txBody>
          <a:bodyPr/>
          <a:lstStyle/>
          <a:p>
            <a:endParaRPr/>
          </a:p>
        </p:txBody>
      </p:sp>
      <p:sp>
        <p:nvSpPr>
          <p:cNvPr id="19" name="stage-Release safely">
            <a:extLst>
              <a:ext uri="{FF2B5EF4-FFF2-40B4-BE49-F238E27FC236}">
                <a16:creationId xmlns:a16="http://schemas.microsoft.com/office/drawing/2014/main" id="{A51C430C-EA63-46CC-9A4F-739672F604EF}"/>
              </a:ext>
            </a:extLst>
          </p:cNvPr>
          <p:cNvSpPr>
            <a:spLocks noGrp="1"/>
          </p:cNvSpPr>
          <p:nvPr/>
        </p:nvSpPr>
        <p:spPr>
          <a:xfrm>
            <a:off x="8362950" y="2152650"/>
            <a:ext cx="3276600" cy="2076450"/>
          </a:xfrm>
          <a:prstGeom prst="roundRect">
            <a:avLst>
              <a:gd name="adj" fmla="val 5505"/>
            </a:avLst>
          </a:prstGeom>
          <a:solidFill>
            <a:srgbClr val="FFFFFF"/>
          </a:solidFill>
          <a:ln w="17145">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pic>
        <p:nvPicPr>
          <p:cNvPr id="65" name="Picture 54"/>
          <p:cNvPicPr>
            <a:picLocks noChangeAspect="1"/>
          </p:cNvPicPr>
          <p:nvPr/>
        </p:nvPicPr>
        <p:blipFill>
          <a:blip r:embed="rId9"/>
          <a:stretch/>
        </p:blipFill>
        <p:spPr>
          <a:xfrm>
            <a:off x="8648700" y="2390775"/>
            <a:ext cx="400050" cy="400050"/>
          </a:xfrm>
          <a:prstGeom prst="rect">
            <a:avLst/>
          </a:prstGeom>
        </p:spPr>
      </p:pic>
      <p:pic>
        <p:nvPicPr>
          <p:cNvPr id="66" name="Picture 55"/>
          <p:cNvPicPr>
            <a:picLocks noChangeAspect="1"/>
          </p:cNvPicPr>
          <p:nvPr/>
        </p:nvPicPr>
        <p:blipFill>
          <a:blip r:embed="rId10"/>
          <a:stretch/>
        </p:blipFill>
        <p:spPr>
          <a:xfrm>
            <a:off x="9163050" y="2390775"/>
            <a:ext cx="400050" cy="400050"/>
          </a:xfrm>
          <a:prstGeom prst="rect">
            <a:avLst/>
          </a:prstGeom>
        </p:spPr>
      </p:pic>
      <p:pic>
        <p:nvPicPr>
          <p:cNvPr id="67" name="Picture 56"/>
          <p:cNvPicPr>
            <a:picLocks noChangeAspect="1"/>
          </p:cNvPicPr>
          <p:nvPr/>
        </p:nvPicPr>
        <p:blipFill>
          <a:blip r:embed="rId11"/>
          <a:stretch/>
        </p:blipFill>
        <p:spPr>
          <a:xfrm>
            <a:off x="9677400" y="2390775"/>
            <a:ext cx="400050" cy="400050"/>
          </a:xfrm>
          <a:prstGeom prst="rect">
            <a:avLst/>
          </a:prstGeom>
        </p:spPr>
      </p:pic>
      <p:sp>
        <p:nvSpPr>
          <p:cNvPr id="23" name="Release safely-title">
            <a:extLst>
              <a:ext uri="{FF2B5EF4-FFF2-40B4-BE49-F238E27FC236}">
                <a16:creationId xmlns:a16="http://schemas.microsoft.com/office/drawing/2014/main" id="{1DCCFF21-C8B4-4703-9F35-5AADD2EDF19D}"/>
              </a:ext>
            </a:extLst>
          </p:cNvPr>
          <p:cNvSpPr>
            <a:spLocks noGrp="1"/>
          </p:cNvSpPr>
          <p:nvPr/>
        </p:nvSpPr>
        <p:spPr>
          <a:xfrm>
            <a:off x="8629650" y="2933700"/>
            <a:ext cx="2743200" cy="304800"/>
          </a:xfrm>
          <a:prstGeom prst="rect">
            <a:avLst/>
          </a:prstGeom>
          <a:noFill/>
          <a:ln w="0">
            <a:noFill/>
            <a:prstDash val="solid"/>
          </a:ln>
        </p:spPr>
        <p:txBody>
          <a:bodyPr/>
          <a:lstStyle/>
          <a:p>
            <a:pPr>
              <a:buNone/>
              <a:defRPr sz="1500" b="1">
                <a:solidFill>
                  <a:srgbClr val="172033"/>
                </a:solidFill>
              </a:defRPr>
            </a:pPr>
            <a:r>
              <a:rPr sz="1500" b="1">
                <a:solidFill>
                  <a:srgbClr val="172033"/>
                </a:solidFill>
              </a:rPr>
              <a:t>Release safely</a:t>
            </a:r>
          </a:p>
        </p:txBody>
      </p:sp>
      <p:sp>
        <p:nvSpPr>
          <p:cNvPr id="24" name="Release safely-detail">
            <a:extLst>
              <a:ext uri="{FF2B5EF4-FFF2-40B4-BE49-F238E27FC236}">
                <a16:creationId xmlns:a16="http://schemas.microsoft.com/office/drawing/2014/main" id="{AD096103-A894-400A-8946-A2F383079B87}"/>
              </a:ext>
            </a:extLst>
          </p:cNvPr>
          <p:cNvSpPr>
            <a:spLocks noGrp="1"/>
          </p:cNvSpPr>
          <p:nvPr/>
        </p:nvSpPr>
        <p:spPr>
          <a:xfrm>
            <a:off x="8629650" y="3333750"/>
            <a:ext cx="2743200" cy="723900"/>
          </a:xfrm>
          <a:prstGeom prst="rect">
            <a:avLst/>
          </a:prstGeom>
          <a:noFill/>
          <a:ln w="0">
            <a:noFill/>
            <a:prstDash val="solid"/>
          </a:ln>
        </p:spPr>
        <p:txBody>
          <a:bodyPr/>
          <a:lstStyle/>
          <a:p>
            <a:pPr>
              <a:buNone/>
              <a:defRPr sz="1125">
                <a:solidFill>
                  <a:srgbClr val="4B5563"/>
                </a:solidFill>
              </a:defRPr>
            </a:pPr>
            <a:r>
              <a:rPr sz="1125">
                <a:solidFill>
                  <a:srgbClr val="4B5563"/>
                </a:solidFill>
              </a:rPr>
              <a:t>integration tests</a:t>
            </a:r>
          </a:p>
          <a:p>
            <a:pPr>
              <a:buNone/>
              <a:defRPr sz="1125">
                <a:solidFill>
                  <a:srgbClr val="4B5563"/>
                </a:solidFill>
              </a:defRPr>
            </a:pPr>
            <a:r>
              <a:rPr sz="1125">
                <a:solidFill>
                  <a:srgbClr val="4B5563"/>
                </a:solidFill>
              </a:rPr>
              <a:t>canary or blue/green</a:t>
            </a:r>
          </a:p>
          <a:p>
            <a:pPr>
              <a:buNone/>
              <a:defRPr sz="1125">
                <a:solidFill>
                  <a:srgbClr val="4B5563"/>
                </a:solidFill>
              </a:defRPr>
            </a:pPr>
            <a:r>
              <a:rPr sz="1125">
                <a:solidFill>
                  <a:srgbClr val="4B5563"/>
                </a:solidFill>
              </a:rPr>
              <a:t>automatic rollback</a:t>
            </a:r>
          </a:p>
        </p:txBody>
      </p:sp>
      <p:sp>
        <p:nvSpPr>
          <p:cNvPr id="25" name="decisions-label">
            <a:extLst>
              <a:ext uri="{FF2B5EF4-FFF2-40B4-BE49-F238E27FC236}">
                <a16:creationId xmlns:a16="http://schemas.microsoft.com/office/drawing/2014/main" id="{CE80A155-59ED-416C-9C62-446714F23686}"/>
              </a:ext>
            </a:extLst>
          </p:cNvPr>
          <p:cNvSpPr>
            <a:spLocks noGrp="1"/>
          </p:cNvSpPr>
          <p:nvPr/>
        </p:nvSpPr>
        <p:spPr>
          <a:xfrm>
            <a:off x="552450" y="4438650"/>
            <a:ext cx="2381250" cy="190500"/>
          </a:xfrm>
          <a:prstGeom prst="rect">
            <a:avLst/>
          </a:prstGeom>
          <a:noFill/>
          <a:ln w="0">
            <a:noFill/>
            <a:prstDash val="solid"/>
          </a:ln>
        </p:spPr>
        <p:txBody>
          <a:bodyPr/>
          <a:lstStyle/>
          <a:p>
            <a:pPr>
              <a:buNone/>
              <a:defRPr sz="900" b="1">
                <a:solidFill>
                  <a:srgbClr val="5B6472"/>
                </a:solidFill>
              </a:defRPr>
            </a:pPr>
            <a:r>
              <a:rPr sz="900" b="1">
                <a:solidFill>
                  <a:srgbClr val="5B6472"/>
                </a:solidFill>
              </a:rPr>
              <a:t>ARCHITECTURE DECISIONS</a:t>
            </a:r>
          </a:p>
        </p:txBody>
      </p:sp>
      <p:sp>
        <p:nvSpPr>
          <p:cNvPr id="26" name="decision-0-title">
            <a:extLst>
              <a:ext uri="{FF2B5EF4-FFF2-40B4-BE49-F238E27FC236}">
                <a16:creationId xmlns:a16="http://schemas.microsoft.com/office/drawing/2014/main" id="{0F063367-76F9-4233-A53F-63A99D41089B}"/>
              </a:ext>
            </a:extLst>
          </p:cNvPr>
          <p:cNvSpPr>
            <a:spLocks noGrp="1"/>
          </p:cNvSpPr>
          <p:nvPr/>
        </p:nvSpPr>
        <p:spPr>
          <a:xfrm>
            <a:off x="552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QUALITY GATES</a:t>
            </a:r>
          </a:p>
        </p:txBody>
      </p:sp>
      <p:sp>
        <p:nvSpPr>
          <p:cNvPr id="27" name="decision-0-body">
            <a:extLst>
              <a:ext uri="{FF2B5EF4-FFF2-40B4-BE49-F238E27FC236}">
                <a16:creationId xmlns:a16="http://schemas.microsoft.com/office/drawing/2014/main" id="{45EBB268-4427-48C6-8EDB-C18BC43481B2}"/>
              </a:ext>
            </a:extLst>
          </p:cNvPr>
          <p:cNvSpPr>
            <a:spLocks noGrp="1"/>
          </p:cNvSpPr>
          <p:nvPr/>
        </p:nvSpPr>
        <p:spPr>
          <a:xfrm>
            <a:off x="552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Block merges on tests, coverage thresholds, static analysis and API compatibility.</a:t>
            </a:r>
          </a:p>
        </p:txBody>
      </p:sp>
      <p:sp>
        <p:nvSpPr>
          <p:cNvPr id="28" name="decision-1-title">
            <a:extLst>
              <a:ext uri="{FF2B5EF4-FFF2-40B4-BE49-F238E27FC236}">
                <a16:creationId xmlns:a16="http://schemas.microsoft.com/office/drawing/2014/main" id="{C0DBA02E-BA3A-4C32-B6FD-97AB4CF3A068}"/>
              </a:ext>
            </a:extLst>
          </p:cNvPr>
          <p:cNvSpPr>
            <a:spLocks noGrp="1"/>
          </p:cNvSpPr>
          <p:nvPr/>
        </p:nvSpPr>
        <p:spPr>
          <a:xfrm>
            <a:off x="3409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SECURITY GATES</a:t>
            </a:r>
          </a:p>
        </p:txBody>
      </p:sp>
      <p:sp>
        <p:nvSpPr>
          <p:cNvPr id="29" name="decision-1-body">
            <a:extLst>
              <a:ext uri="{FF2B5EF4-FFF2-40B4-BE49-F238E27FC236}">
                <a16:creationId xmlns:a16="http://schemas.microsoft.com/office/drawing/2014/main" id="{D9D6DA62-6472-49CC-8FC5-7705EEB9ABED}"/>
              </a:ext>
            </a:extLst>
          </p:cNvPr>
          <p:cNvSpPr>
            <a:spLocks noGrp="1"/>
          </p:cNvSpPr>
          <p:nvPr/>
        </p:nvSpPr>
        <p:spPr>
          <a:xfrm>
            <a:off x="3409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Scan source, dependencies, IaC and containers; track exceptions with expiry.</a:t>
            </a:r>
          </a:p>
        </p:txBody>
      </p:sp>
      <p:sp>
        <p:nvSpPr>
          <p:cNvPr id="30" name="decision-2-title">
            <a:extLst>
              <a:ext uri="{FF2B5EF4-FFF2-40B4-BE49-F238E27FC236}">
                <a16:creationId xmlns:a16="http://schemas.microsoft.com/office/drawing/2014/main" id="{21BDD8F8-EC71-4BFD-9ADF-D98B99E8BE4D}"/>
              </a:ext>
            </a:extLst>
          </p:cNvPr>
          <p:cNvSpPr>
            <a:spLocks noGrp="1"/>
          </p:cNvSpPr>
          <p:nvPr/>
        </p:nvSpPr>
        <p:spPr>
          <a:xfrm>
            <a:off x="62674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DEPLOYMENT</a:t>
            </a:r>
          </a:p>
        </p:txBody>
      </p:sp>
      <p:sp>
        <p:nvSpPr>
          <p:cNvPr id="31" name="decision-2-body">
            <a:extLst>
              <a:ext uri="{FF2B5EF4-FFF2-40B4-BE49-F238E27FC236}">
                <a16:creationId xmlns:a16="http://schemas.microsoft.com/office/drawing/2014/main" id="{817F2DCE-3562-440E-A315-283C88AD7619}"/>
              </a:ext>
            </a:extLst>
          </p:cNvPr>
          <p:cNvSpPr>
            <a:spLocks noGrp="1"/>
          </p:cNvSpPr>
          <p:nvPr/>
        </p:nvSpPr>
        <p:spPr>
          <a:xfrm>
            <a:off x="62674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Progressive rollout with synthetic checks and CloudWatch rollback alarms.</a:t>
            </a:r>
          </a:p>
        </p:txBody>
      </p:sp>
      <p:sp>
        <p:nvSpPr>
          <p:cNvPr id="32" name="decision-3-title">
            <a:extLst>
              <a:ext uri="{FF2B5EF4-FFF2-40B4-BE49-F238E27FC236}">
                <a16:creationId xmlns:a16="http://schemas.microsoft.com/office/drawing/2014/main" id="{8ED57120-6327-4F12-8EC4-D98F29B75F7E}"/>
              </a:ext>
            </a:extLst>
          </p:cNvPr>
          <p:cNvSpPr>
            <a:spLocks noGrp="1"/>
          </p:cNvSpPr>
          <p:nvPr/>
        </p:nvSpPr>
        <p:spPr>
          <a:xfrm>
            <a:off x="9124950" y="4762500"/>
            <a:ext cx="2571750" cy="190500"/>
          </a:xfrm>
          <a:prstGeom prst="rect">
            <a:avLst/>
          </a:prstGeom>
          <a:noFill/>
          <a:ln w="0">
            <a:noFill/>
            <a:prstDash val="solid"/>
          </a:ln>
        </p:spPr>
        <p:txBody>
          <a:bodyPr/>
          <a:lstStyle/>
          <a:p>
            <a:pPr>
              <a:buNone/>
              <a:defRPr sz="825" b="1">
                <a:solidFill>
                  <a:srgbClr val="087F75"/>
                </a:solidFill>
              </a:defRPr>
            </a:pPr>
            <a:r>
              <a:rPr sz="825" b="1">
                <a:solidFill>
                  <a:srgbClr val="087F75"/>
                </a:solidFill>
              </a:rPr>
              <a:t>TOOLING CHOICE</a:t>
            </a:r>
          </a:p>
        </p:txBody>
      </p:sp>
      <p:sp>
        <p:nvSpPr>
          <p:cNvPr id="33" name="decision-3-body">
            <a:extLst>
              <a:ext uri="{FF2B5EF4-FFF2-40B4-BE49-F238E27FC236}">
                <a16:creationId xmlns:a16="http://schemas.microsoft.com/office/drawing/2014/main" id="{B8EBA7E9-4D38-4D38-A930-44FCDF806E5F}"/>
              </a:ext>
            </a:extLst>
          </p:cNvPr>
          <p:cNvSpPr>
            <a:spLocks noGrp="1"/>
          </p:cNvSpPr>
          <p:nvPr/>
        </p:nvSpPr>
        <p:spPr>
          <a:xfrm>
            <a:off x="9124950" y="5000625"/>
            <a:ext cx="2571750" cy="685800"/>
          </a:xfrm>
          <a:prstGeom prst="rect">
            <a:avLst/>
          </a:prstGeom>
          <a:noFill/>
          <a:ln w="0">
            <a:noFill/>
            <a:prstDash val="solid"/>
          </a:ln>
        </p:spPr>
        <p:txBody>
          <a:bodyPr/>
          <a:lstStyle/>
          <a:p>
            <a:pPr>
              <a:buNone/>
              <a:defRPr sz="1050">
                <a:solidFill>
                  <a:srgbClr val="374151"/>
                </a:solidFill>
              </a:defRPr>
            </a:pPr>
            <a:r>
              <a:rPr sz="1050">
                <a:solidFill>
                  <a:srgbClr val="374151"/>
                </a:solidFill>
              </a:rPr>
              <a:t>AWS-native pipeline by default; integrate Jenkins/Nexus where enterprise standards require.</a:t>
            </a:r>
          </a:p>
        </p:txBody>
      </p:sp>
      <p:sp>
        <p:nvSpPr>
          <p:cNvPr id="34" name="footer">
            <a:extLst>
              <a:ext uri="{FF2B5EF4-FFF2-40B4-BE49-F238E27FC236}">
                <a16:creationId xmlns:a16="http://schemas.microsoft.com/office/drawing/2014/main" id="{EC97C330-39EF-46B6-B768-82493CCEBA1B}"/>
              </a:ext>
            </a:extLst>
          </p:cNvPr>
          <p:cNvSpPr>
            <a:spLocks noGrp="1"/>
          </p:cNvSpPr>
          <p:nvPr/>
        </p:nvSpPr>
        <p:spPr>
          <a:xfrm>
            <a:off x="552450" y="5953125"/>
            <a:ext cx="11087100" cy="457200"/>
          </a:xfrm>
          <a:prstGeom prst="roundRect">
            <a:avLst>
              <a:gd name="adj" fmla="val 16667"/>
            </a:avLst>
          </a:prstGeom>
          <a:solidFill>
            <a:srgbClr val="F0FAF8"/>
          </a:solidFill>
          <a:ln w="9525">
            <a:solidFill>
              <a:srgbClr val="B7E2DC"/>
            </a:solidFill>
            <a:prstDash val="solid"/>
          </a:ln>
        </p:spPr>
        <p:txBody>
          <a:bodyPr/>
          <a:lstStyle/>
          <a:p>
            <a:endParaRPr/>
          </a:p>
        </p:txBody>
      </p:sp>
      <p:sp>
        <p:nvSpPr>
          <p:cNvPr id="35" name="footer-text">
            <a:extLst>
              <a:ext uri="{FF2B5EF4-FFF2-40B4-BE49-F238E27FC236}">
                <a16:creationId xmlns:a16="http://schemas.microsoft.com/office/drawing/2014/main" id="{E59F9758-C695-480C-85E3-3B30D0A0E4C9}"/>
              </a:ext>
            </a:extLst>
          </p:cNvPr>
          <p:cNvSpPr>
            <a:spLocks noGrp="1"/>
          </p:cNvSpPr>
          <p:nvPr/>
        </p:nvSpPr>
        <p:spPr>
          <a:xfrm>
            <a:off x="781050" y="6086475"/>
            <a:ext cx="106299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Design principle: managed services first • explicit ownership • graceful degradation • measurable recovery</a:t>
            </a:r>
          </a:p>
        </p:txBody>
      </p:sp>
    </p:spTree>
    <p:extLst>
      <p:ext uri="{BB962C8B-B14F-4D97-AF65-F5344CB8AC3E}">
        <p14:creationId xmlns:p14="http://schemas.microsoft.com/office/powerpoint/2010/main" val="1077528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eyebrow">
            <a:extLst>
              <a:ext uri="{FF2B5EF4-FFF2-40B4-BE49-F238E27FC236}">
                <a16:creationId xmlns:a16="http://schemas.microsoft.com/office/drawing/2014/main" id="{D6955892-6BB3-4ABE-A2BB-8DBFA05553CD}"/>
              </a:ext>
            </a:extLst>
          </p:cNvPr>
          <p:cNvSpPr>
            <a:spLocks noGrp="1"/>
          </p:cNvSpPr>
          <p:nvPr/>
        </p:nvSpPr>
        <p:spPr>
          <a:xfrm>
            <a:off x="552450" y="238125"/>
            <a:ext cx="409575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BOOKING CONSISTENCY</a:t>
            </a:r>
          </a:p>
        </p:txBody>
      </p:sp>
      <p:sp>
        <p:nvSpPr>
          <p:cNvPr id="2" name="title">
            <a:extLst>
              <a:ext uri="{FF2B5EF4-FFF2-40B4-BE49-F238E27FC236}">
                <a16:creationId xmlns:a16="http://schemas.microsoft.com/office/drawing/2014/main" id="{9432A1D5-F5F1-440B-A6BE-A9A9557FDF51}"/>
              </a:ext>
            </a:extLst>
          </p:cNvPr>
          <p:cNvSpPr>
            <a:spLocks noGrp="1"/>
          </p:cNvSpPr>
          <p:nvPr/>
        </p:nvSpPr>
        <p:spPr>
          <a:xfrm>
            <a:off x="552450" y="495300"/>
            <a:ext cx="11087100" cy="495300"/>
          </a:xfrm>
          <a:prstGeom prst="rect">
            <a:avLst/>
          </a:prstGeom>
          <a:noFill/>
          <a:ln w="0">
            <a:noFill/>
            <a:prstDash val="solid"/>
          </a:ln>
        </p:spPr>
        <p:txBody>
          <a:bodyPr/>
          <a:lstStyle/>
          <a:p>
            <a:pPr>
              <a:buNone/>
              <a:defRPr sz="2550" b="1">
                <a:solidFill>
                  <a:srgbClr val="111827"/>
                </a:solidFill>
              </a:defRPr>
            </a:pPr>
            <a:r>
              <a:rPr sz="2550" b="1">
                <a:solidFill>
                  <a:srgbClr val="111827"/>
                </a:solidFill>
              </a:rPr>
              <a:t>A dealer-side hold and reconciliation prevent duplicate appointments</a:t>
            </a:r>
          </a:p>
        </p:txBody>
      </p:sp>
      <p:sp>
        <p:nvSpPr>
          <p:cNvPr id="3" name="subtitle">
            <a:extLst>
              <a:ext uri="{FF2B5EF4-FFF2-40B4-BE49-F238E27FC236}">
                <a16:creationId xmlns:a16="http://schemas.microsoft.com/office/drawing/2014/main" id="{C749868F-0BF9-4337-AE51-75163F96D609}"/>
              </a:ext>
            </a:extLst>
          </p:cNvPr>
          <p:cNvSpPr>
            <a:spLocks noGrp="1"/>
          </p:cNvSpPr>
          <p:nvPr/>
        </p:nvSpPr>
        <p:spPr>
          <a:xfrm>
            <a:off x="552450" y="1038225"/>
            <a:ext cx="11087100" cy="361950"/>
          </a:xfrm>
          <a:prstGeom prst="rect">
            <a:avLst/>
          </a:prstGeom>
          <a:noFill/>
          <a:ln w="0">
            <a:noFill/>
            <a:prstDash val="solid"/>
          </a:ln>
        </p:spPr>
        <p:txBody>
          <a:bodyPr/>
          <a:lstStyle/>
          <a:p>
            <a:pPr>
              <a:buNone/>
              <a:defRPr sz="1200">
                <a:solidFill>
                  <a:srgbClr val="5B6472"/>
                </a:solidFill>
              </a:defRPr>
            </a:pPr>
            <a:r>
              <a:rPr sz="1200">
                <a:solidFill>
                  <a:srgbClr val="5B6472"/>
                </a:solidFill>
              </a:rPr>
              <a:t>Cached availability accelerates browsing, but only the dealer system can hold and confirm appointment inventory.</a:t>
            </a:r>
          </a:p>
        </p:txBody>
      </p:sp>
      <p:sp>
        <p:nvSpPr>
          <p:cNvPr id="4" name="header-rule">
            <a:extLst>
              <a:ext uri="{FF2B5EF4-FFF2-40B4-BE49-F238E27FC236}">
                <a16:creationId xmlns:a16="http://schemas.microsoft.com/office/drawing/2014/main" id="{ED6C09EE-4114-46E7-AC9B-C9BA29A38DC4}"/>
              </a:ext>
            </a:extLst>
          </p:cNvPr>
          <p:cNvSpPr>
            <a:spLocks noGrp="1"/>
          </p:cNvSpPr>
          <p:nvPr/>
        </p:nvSpPr>
        <p:spPr>
          <a:xfrm>
            <a:off x="552450" y="1533525"/>
            <a:ext cx="11087100" cy="0"/>
          </a:xfrm>
          <a:prstGeom prst="line">
            <a:avLst/>
          </a:prstGeom>
          <a:ln w="11430">
            <a:solidFill>
              <a:srgbClr val="D7DEE8"/>
            </a:solidFill>
            <a:prstDash val="solid"/>
          </a:ln>
        </p:spPr>
        <p:txBody>
          <a:bodyPr/>
          <a:lstStyle/>
          <a:p>
            <a:endParaRPr/>
          </a:p>
        </p:txBody>
      </p:sp>
      <p:sp>
        <p:nvSpPr>
          <p:cNvPr id="5" name="Arrow: Right 4">
            <a:extLst>
              <a:ext uri="{FF2B5EF4-FFF2-40B4-BE49-F238E27FC236}">
                <a16:creationId xmlns:a16="http://schemas.microsoft.com/office/drawing/2014/main" id="{136D47B0-CB56-4108-953F-D2EFA9063F37}"/>
              </a:ext>
            </a:extLst>
          </p:cNvPr>
          <p:cNvSpPr>
            <a:spLocks noGrp="1"/>
          </p:cNvSpPr>
          <p:nvPr/>
        </p:nvSpPr>
        <p:spPr>
          <a:xfrm>
            <a:off x="2038350" y="2552700"/>
            <a:ext cx="285750" cy="228600"/>
          </a:xfrm>
          <a:prstGeom prst="rightArrow">
            <a:avLst/>
          </a:prstGeom>
          <a:solidFill>
            <a:srgbClr val="08A89B"/>
          </a:solidFill>
          <a:ln w="0">
            <a:solidFill>
              <a:srgbClr val="08A89B"/>
            </a:solidFill>
            <a:prstDash val="solid"/>
          </a:ln>
        </p:spPr>
        <p:txBody>
          <a:bodyPr/>
          <a:lstStyle/>
          <a:p>
            <a:endParaRPr/>
          </a:p>
        </p:txBody>
      </p:sp>
      <p:sp>
        <p:nvSpPr>
          <p:cNvPr id="6" name="Arrow: Right 5">
            <a:extLst>
              <a:ext uri="{FF2B5EF4-FFF2-40B4-BE49-F238E27FC236}">
                <a16:creationId xmlns:a16="http://schemas.microsoft.com/office/drawing/2014/main" id="{B257D92F-BF43-474E-BAAB-52F5F2D355CE}"/>
              </a:ext>
            </a:extLst>
          </p:cNvPr>
          <p:cNvSpPr>
            <a:spLocks noGrp="1"/>
          </p:cNvSpPr>
          <p:nvPr/>
        </p:nvSpPr>
        <p:spPr>
          <a:xfrm>
            <a:off x="3562350" y="2552700"/>
            <a:ext cx="285750" cy="228600"/>
          </a:xfrm>
          <a:prstGeom prst="rightArrow">
            <a:avLst/>
          </a:prstGeom>
          <a:solidFill>
            <a:srgbClr val="08A89B"/>
          </a:solidFill>
          <a:ln w="0">
            <a:solidFill>
              <a:srgbClr val="08A89B"/>
            </a:solidFill>
            <a:prstDash val="solid"/>
          </a:ln>
        </p:spPr>
        <p:txBody>
          <a:bodyPr/>
          <a:lstStyle/>
          <a:p>
            <a:endParaRPr/>
          </a:p>
        </p:txBody>
      </p:sp>
      <p:sp>
        <p:nvSpPr>
          <p:cNvPr id="7" name="Arrow: Right 6">
            <a:extLst>
              <a:ext uri="{FF2B5EF4-FFF2-40B4-BE49-F238E27FC236}">
                <a16:creationId xmlns:a16="http://schemas.microsoft.com/office/drawing/2014/main" id="{27172204-2B88-4B75-8DCE-C53B5FCB4552}"/>
              </a:ext>
            </a:extLst>
          </p:cNvPr>
          <p:cNvSpPr>
            <a:spLocks noGrp="1"/>
          </p:cNvSpPr>
          <p:nvPr/>
        </p:nvSpPr>
        <p:spPr>
          <a:xfrm>
            <a:off x="5086350" y="2552700"/>
            <a:ext cx="285750" cy="228600"/>
          </a:xfrm>
          <a:prstGeom prst="rightArrow">
            <a:avLst/>
          </a:prstGeom>
          <a:solidFill>
            <a:srgbClr val="08A89B"/>
          </a:solidFill>
          <a:ln w="0">
            <a:solidFill>
              <a:srgbClr val="08A89B"/>
            </a:solidFill>
            <a:prstDash val="solid"/>
          </a:ln>
        </p:spPr>
        <p:txBody>
          <a:bodyPr/>
          <a:lstStyle/>
          <a:p>
            <a:endParaRPr/>
          </a:p>
        </p:txBody>
      </p:sp>
      <p:sp>
        <p:nvSpPr>
          <p:cNvPr id="8" name="Arrow: Right 7">
            <a:extLst>
              <a:ext uri="{FF2B5EF4-FFF2-40B4-BE49-F238E27FC236}">
                <a16:creationId xmlns:a16="http://schemas.microsoft.com/office/drawing/2014/main" id="{8448E01D-BE77-4677-B99E-0068D65EA0E1}"/>
              </a:ext>
            </a:extLst>
          </p:cNvPr>
          <p:cNvSpPr>
            <a:spLocks noGrp="1"/>
          </p:cNvSpPr>
          <p:nvPr/>
        </p:nvSpPr>
        <p:spPr>
          <a:xfrm>
            <a:off x="6610350" y="2552700"/>
            <a:ext cx="285750" cy="228600"/>
          </a:xfrm>
          <a:prstGeom prst="rightArrow">
            <a:avLst/>
          </a:prstGeom>
          <a:solidFill>
            <a:srgbClr val="08A89B"/>
          </a:solidFill>
          <a:ln w="0">
            <a:solidFill>
              <a:srgbClr val="08A89B"/>
            </a:solidFill>
            <a:prstDash val="solid"/>
          </a:ln>
        </p:spPr>
        <p:txBody>
          <a:bodyPr/>
          <a:lstStyle/>
          <a:p>
            <a:endParaRPr/>
          </a:p>
        </p:txBody>
      </p:sp>
      <p:sp>
        <p:nvSpPr>
          <p:cNvPr id="9" name="Arrow: Right 8">
            <a:extLst>
              <a:ext uri="{FF2B5EF4-FFF2-40B4-BE49-F238E27FC236}">
                <a16:creationId xmlns:a16="http://schemas.microsoft.com/office/drawing/2014/main" id="{3342BDF7-D9C4-49C2-96E5-0309B35A00F8}"/>
              </a:ext>
            </a:extLst>
          </p:cNvPr>
          <p:cNvSpPr>
            <a:spLocks noGrp="1"/>
          </p:cNvSpPr>
          <p:nvPr/>
        </p:nvSpPr>
        <p:spPr>
          <a:xfrm>
            <a:off x="8134350" y="2552700"/>
            <a:ext cx="285750" cy="228600"/>
          </a:xfrm>
          <a:prstGeom prst="rightArrow">
            <a:avLst/>
          </a:prstGeom>
          <a:solidFill>
            <a:srgbClr val="08A89B"/>
          </a:solidFill>
          <a:ln w="0">
            <a:solidFill>
              <a:srgbClr val="08A89B"/>
            </a:solidFill>
            <a:prstDash val="solid"/>
          </a:ln>
        </p:spPr>
        <p:txBody>
          <a:bodyPr/>
          <a:lstStyle/>
          <a:p>
            <a:endParaRPr/>
          </a:p>
        </p:txBody>
      </p:sp>
      <p:sp>
        <p:nvSpPr>
          <p:cNvPr id="10" name="Arrow: Right 9">
            <a:extLst>
              <a:ext uri="{FF2B5EF4-FFF2-40B4-BE49-F238E27FC236}">
                <a16:creationId xmlns:a16="http://schemas.microsoft.com/office/drawing/2014/main" id="{32813B51-AA8B-4A73-AE70-A702FCED2514}"/>
              </a:ext>
            </a:extLst>
          </p:cNvPr>
          <p:cNvSpPr>
            <a:spLocks noGrp="1"/>
          </p:cNvSpPr>
          <p:nvPr/>
        </p:nvSpPr>
        <p:spPr>
          <a:xfrm>
            <a:off x="9658350" y="2552700"/>
            <a:ext cx="285750" cy="228600"/>
          </a:xfrm>
          <a:prstGeom prst="rightArrow">
            <a:avLst/>
          </a:prstGeom>
          <a:solidFill>
            <a:srgbClr val="08A89B"/>
          </a:solidFill>
          <a:ln w="0">
            <a:solidFill>
              <a:srgbClr val="08A89B"/>
            </a:solidFill>
            <a:prstDash val="solid"/>
          </a:ln>
        </p:spPr>
        <p:txBody>
          <a:bodyPr/>
          <a:lstStyle/>
          <a:p>
            <a:endParaRPr/>
          </a:p>
        </p:txBody>
      </p:sp>
      <p:sp>
        <p:nvSpPr>
          <p:cNvPr id="11" name="booking-step-1">
            <a:extLst>
              <a:ext uri="{FF2B5EF4-FFF2-40B4-BE49-F238E27FC236}">
                <a16:creationId xmlns:a16="http://schemas.microsoft.com/office/drawing/2014/main" id="{77B036D4-78E1-4CA7-9E0B-A07C33D92557}"/>
              </a:ext>
            </a:extLst>
          </p:cNvPr>
          <p:cNvSpPr>
            <a:spLocks noGrp="1"/>
          </p:cNvSpPr>
          <p:nvPr/>
        </p:nvSpPr>
        <p:spPr>
          <a:xfrm>
            <a:off x="552450" y="2009775"/>
            <a:ext cx="1295400" cy="1466850"/>
          </a:xfrm>
          <a:prstGeom prst="roundRect">
            <a:avLst>
              <a:gd name="adj" fmla="val 5882"/>
            </a:avLst>
          </a:prstGeom>
          <a:solidFill>
            <a:srgbClr val="FFFFFF"/>
          </a:solidFill>
          <a:ln w="14288">
            <a:solidFill>
              <a:srgbClr val="7892A9"/>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Oval 11">
            <a:extLst>
              <a:ext uri="{FF2B5EF4-FFF2-40B4-BE49-F238E27FC236}">
                <a16:creationId xmlns:a16="http://schemas.microsoft.com/office/drawing/2014/main" id="{9BCF265D-3F3A-4D74-9A0F-15483C40FC56}"/>
              </a:ext>
            </a:extLst>
          </p:cNvPr>
          <p:cNvSpPr>
            <a:spLocks noGrp="1"/>
          </p:cNvSpPr>
          <p:nvPr/>
        </p:nvSpPr>
        <p:spPr>
          <a:xfrm>
            <a:off x="628650" y="1895475"/>
            <a:ext cx="276225" cy="276225"/>
          </a:xfrm>
          <a:prstGeom prst="ellipse">
            <a:avLst/>
          </a:prstGeom>
          <a:solidFill>
            <a:srgbClr val="08A89B"/>
          </a:solidFill>
          <a:ln w="19050">
            <a:solidFill>
              <a:srgbClr val="FFFFFF"/>
            </a:solidFill>
            <a:prstDash val="solid"/>
          </a:ln>
        </p:spPr>
        <p:txBody>
          <a:bodyPr/>
          <a:lstStyle/>
          <a:p>
            <a:endParaRPr/>
          </a:p>
        </p:txBody>
      </p:sp>
      <p:sp>
        <p:nvSpPr>
          <p:cNvPr id="13" name="booking-number-1">
            <a:extLst>
              <a:ext uri="{FF2B5EF4-FFF2-40B4-BE49-F238E27FC236}">
                <a16:creationId xmlns:a16="http://schemas.microsoft.com/office/drawing/2014/main" id="{C38B9E7E-F451-40F2-9320-2F7FD8B202A3}"/>
              </a:ext>
            </a:extLst>
          </p:cNvPr>
          <p:cNvSpPr>
            <a:spLocks noGrp="1"/>
          </p:cNvSpPr>
          <p:nvPr/>
        </p:nvSpPr>
        <p:spPr>
          <a:xfrm>
            <a:off x="628650" y="1933575"/>
            <a:ext cx="276225" cy="180975"/>
          </a:xfrm>
          <a:prstGeom prst="rect">
            <a:avLst/>
          </a:prstGeom>
          <a:noFill/>
          <a:ln w="0">
            <a:noFill/>
            <a:prstDash val="solid"/>
          </a:ln>
        </p:spPr>
        <p:txBody>
          <a:bodyPr/>
          <a:lstStyle/>
          <a:p>
            <a:pPr algn="ctr">
              <a:buNone/>
              <a:defRPr sz="975" b="1">
                <a:solidFill>
                  <a:srgbClr val="FFFFFF"/>
                </a:solidFill>
              </a:defRPr>
            </a:pPr>
            <a:r>
              <a:rPr sz="975" b="1">
                <a:solidFill>
                  <a:srgbClr val="FFFFFF"/>
                </a:solidFill>
              </a:rPr>
              <a:t>1</a:t>
            </a:r>
          </a:p>
        </p:txBody>
      </p:sp>
      <p:pic>
        <p:nvPicPr>
          <p:cNvPr id="95" name="Picture 77"/>
          <p:cNvPicPr>
            <a:picLocks noChangeAspect="1"/>
          </p:cNvPicPr>
          <p:nvPr/>
        </p:nvPicPr>
        <p:blipFill>
          <a:blip r:embed="rId3"/>
          <a:stretch/>
        </p:blipFill>
        <p:spPr>
          <a:xfrm>
            <a:off x="1009650" y="2209800"/>
            <a:ext cx="361950" cy="361950"/>
          </a:xfrm>
          <a:prstGeom prst="rect">
            <a:avLst/>
          </a:prstGeom>
        </p:spPr>
      </p:pic>
      <p:sp>
        <p:nvSpPr>
          <p:cNvPr id="15" name="booking-title-1">
            <a:extLst>
              <a:ext uri="{FF2B5EF4-FFF2-40B4-BE49-F238E27FC236}">
                <a16:creationId xmlns:a16="http://schemas.microsoft.com/office/drawing/2014/main" id="{EB52E37A-CA19-442E-B48C-C7D86FE8F0D5}"/>
              </a:ext>
            </a:extLst>
          </p:cNvPr>
          <p:cNvSpPr>
            <a:spLocks noGrp="1"/>
          </p:cNvSpPr>
          <p:nvPr/>
        </p:nvSpPr>
        <p:spPr>
          <a:xfrm>
            <a:off x="666750" y="2686050"/>
            <a:ext cx="1066800" cy="3333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Search availability</a:t>
            </a:r>
          </a:p>
        </p:txBody>
      </p:sp>
      <p:sp>
        <p:nvSpPr>
          <p:cNvPr id="16" name="booking-detail-1">
            <a:extLst>
              <a:ext uri="{FF2B5EF4-FFF2-40B4-BE49-F238E27FC236}">
                <a16:creationId xmlns:a16="http://schemas.microsoft.com/office/drawing/2014/main" id="{98E16445-33B8-435E-900B-0C7FF769A347}"/>
              </a:ext>
            </a:extLst>
          </p:cNvPr>
          <p:cNvSpPr>
            <a:spLocks noGrp="1"/>
          </p:cNvSpPr>
          <p:nvPr/>
        </p:nvSpPr>
        <p:spPr>
          <a:xfrm>
            <a:off x="666750" y="3067050"/>
            <a:ext cx="1066800" cy="314325"/>
          </a:xfrm>
          <a:prstGeom prst="rect">
            <a:avLst/>
          </a:prstGeom>
          <a:noFill/>
          <a:ln w="0">
            <a:noFill/>
            <a:prstDash val="solid"/>
          </a:ln>
        </p:spPr>
        <p:txBody>
          <a:bodyPr/>
          <a:lstStyle/>
          <a:p>
            <a:pPr algn="ctr">
              <a:buNone/>
              <a:defRPr sz="750">
                <a:solidFill>
                  <a:srgbClr val="5B6472"/>
                </a:solidFill>
              </a:defRPr>
            </a:pPr>
            <a:r>
              <a:rPr sz="750">
                <a:solidFill>
                  <a:srgbClr val="5B6472"/>
                </a:solidFill>
              </a:rPr>
              <a:t>Read short-lived</a:t>
            </a:r>
          </a:p>
          <a:p>
            <a:pPr algn="ctr">
              <a:buNone/>
              <a:defRPr sz="750">
                <a:solidFill>
                  <a:srgbClr val="5B6472"/>
                </a:solidFill>
              </a:defRPr>
            </a:pPr>
            <a:r>
              <a:rPr sz="750">
                <a:solidFill>
                  <a:srgbClr val="5B6472"/>
                </a:solidFill>
              </a:rPr>
              <a:t>slot view</a:t>
            </a:r>
          </a:p>
        </p:txBody>
      </p:sp>
      <p:sp>
        <p:nvSpPr>
          <p:cNvPr id="17" name="booking-step-2">
            <a:extLst>
              <a:ext uri="{FF2B5EF4-FFF2-40B4-BE49-F238E27FC236}">
                <a16:creationId xmlns:a16="http://schemas.microsoft.com/office/drawing/2014/main" id="{698F5634-5D9A-4068-B822-AF7D5F9F7C8D}"/>
              </a:ext>
            </a:extLst>
          </p:cNvPr>
          <p:cNvSpPr>
            <a:spLocks noGrp="1"/>
          </p:cNvSpPr>
          <p:nvPr/>
        </p:nvSpPr>
        <p:spPr>
          <a:xfrm>
            <a:off x="2076450" y="2009775"/>
            <a:ext cx="1295400" cy="1466850"/>
          </a:xfrm>
          <a:prstGeom prst="roundRect">
            <a:avLst>
              <a:gd name="adj" fmla="val 5882"/>
            </a:avLst>
          </a:prstGeom>
          <a:solidFill>
            <a:srgbClr val="FFFFFF"/>
          </a:solidFill>
          <a:ln w="14288">
            <a:solidFill>
              <a:srgbClr val="7892A9"/>
            </a:solidFill>
            <a:prstDash val="solid"/>
          </a:ln>
        </p:spPr>
        <p:style>
          <a:lnRef idx="0">
            <a:scrgbClr r="0" g="0" b="0"/>
          </a:lnRef>
          <a:fillRef idx="0">
            <a:scrgbClr r="0" g="0" b="0"/>
          </a:fillRef>
          <a:effectRef idx="4">
            <a:scrgbClr r="0" g="0" b="0"/>
          </a:effectRef>
          <a:fontRef idx="major"/>
        </p:style>
        <p:txBody>
          <a:bodyPr/>
          <a:lstStyle/>
          <a:p>
            <a:endParaRPr/>
          </a:p>
        </p:txBody>
      </p:sp>
      <p:sp>
        <p:nvSpPr>
          <p:cNvPr id="18" name="Oval 17">
            <a:extLst>
              <a:ext uri="{FF2B5EF4-FFF2-40B4-BE49-F238E27FC236}">
                <a16:creationId xmlns:a16="http://schemas.microsoft.com/office/drawing/2014/main" id="{83A8A987-42E6-4B31-86A6-F40C017D0C10}"/>
              </a:ext>
            </a:extLst>
          </p:cNvPr>
          <p:cNvSpPr>
            <a:spLocks noGrp="1"/>
          </p:cNvSpPr>
          <p:nvPr/>
        </p:nvSpPr>
        <p:spPr>
          <a:xfrm>
            <a:off x="2152650" y="1895475"/>
            <a:ext cx="276225" cy="276225"/>
          </a:xfrm>
          <a:prstGeom prst="ellipse">
            <a:avLst/>
          </a:prstGeom>
          <a:solidFill>
            <a:srgbClr val="08A89B"/>
          </a:solidFill>
          <a:ln w="19050">
            <a:solidFill>
              <a:srgbClr val="FFFFFF"/>
            </a:solidFill>
            <a:prstDash val="solid"/>
          </a:ln>
        </p:spPr>
        <p:txBody>
          <a:bodyPr/>
          <a:lstStyle/>
          <a:p>
            <a:endParaRPr/>
          </a:p>
        </p:txBody>
      </p:sp>
      <p:sp>
        <p:nvSpPr>
          <p:cNvPr id="19" name="booking-number-2">
            <a:extLst>
              <a:ext uri="{FF2B5EF4-FFF2-40B4-BE49-F238E27FC236}">
                <a16:creationId xmlns:a16="http://schemas.microsoft.com/office/drawing/2014/main" id="{F7A501E0-411E-430D-9628-60AFEAD8DDC0}"/>
              </a:ext>
            </a:extLst>
          </p:cNvPr>
          <p:cNvSpPr>
            <a:spLocks noGrp="1"/>
          </p:cNvSpPr>
          <p:nvPr/>
        </p:nvSpPr>
        <p:spPr>
          <a:xfrm>
            <a:off x="2152650" y="1933575"/>
            <a:ext cx="276225" cy="180975"/>
          </a:xfrm>
          <a:prstGeom prst="rect">
            <a:avLst/>
          </a:prstGeom>
          <a:noFill/>
          <a:ln w="0">
            <a:noFill/>
            <a:prstDash val="solid"/>
          </a:ln>
        </p:spPr>
        <p:txBody>
          <a:bodyPr/>
          <a:lstStyle/>
          <a:p>
            <a:pPr algn="ctr">
              <a:buNone/>
              <a:defRPr sz="975" b="1">
                <a:solidFill>
                  <a:srgbClr val="FFFFFF"/>
                </a:solidFill>
              </a:defRPr>
            </a:pPr>
            <a:r>
              <a:rPr sz="975" b="1">
                <a:solidFill>
                  <a:srgbClr val="FFFFFF"/>
                </a:solidFill>
              </a:rPr>
              <a:t>2</a:t>
            </a:r>
          </a:p>
        </p:txBody>
      </p:sp>
      <p:pic>
        <p:nvPicPr>
          <p:cNvPr id="101" name="Picture 83"/>
          <p:cNvPicPr>
            <a:picLocks noChangeAspect="1"/>
          </p:cNvPicPr>
          <p:nvPr/>
        </p:nvPicPr>
        <p:blipFill>
          <a:blip r:embed="rId4"/>
          <a:stretch/>
        </p:blipFill>
        <p:spPr>
          <a:xfrm>
            <a:off x="2533650" y="2209800"/>
            <a:ext cx="361950" cy="361950"/>
          </a:xfrm>
          <a:prstGeom prst="rect">
            <a:avLst/>
          </a:prstGeom>
        </p:spPr>
      </p:pic>
      <p:sp>
        <p:nvSpPr>
          <p:cNvPr id="21" name="booking-title-2">
            <a:extLst>
              <a:ext uri="{FF2B5EF4-FFF2-40B4-BE49-F238E27FC236}">
                <a16:creationId xmlns:a16="http://schemas.microsoft.com/office/drawing/2014/main" id="{14A8837D-846B-446C-AAEC-7F9F8DE01900}"/>
              </a:ext>
            </a:extLst>
          </p:cNvPr>
          <p:cNvSpPr>
            <a:spLocks noGrp="1"/>
          </p:cNvSpPr>
          <p:nvPr/>
        </p:nvSpPr>
        <p:spPr>
          <a:xfrm>
            <a:off x="2190750" y="2686050"/>
            <a:ext cx="1066800" cy="3333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Create booking intent</a:t>
            </a:r>
          </a:p>
        </p:txBody>
      </p:sp>
      <p:sp>
        <p:nvSpPr>
          <p:cNvPr id="22" name="booking-detail-2">
            <a:extLst>
              <a:ext uri="{FF2B5EF4-FFF2-40B4-BE49-F238E27FC236}">
                <a16:creationId xmlns:a16="http://schemas.microsoft.com/office/drawing/2014/main" id="{5A6594E2-5AD4-40A7-8D49-AC08A004155F}"/>
              </a:ext>
            </a:extLst>
          </p:cNvPr>
          <p:cNvSpPr>
            <a:spLocks noGrp="1"/>
          </p:cNvSpPr>
          <p:nvPr/>
        </p:nvSpPr>
        <p:spPr>
          <a:xfrm>
            <a:off x="2190750" y="3067050"/>
            <a:ext cx="1066800" cy="314325"/>
          </a:xfrm>
          <a:prstGeom prst="rect">
            <a:avLst/>
          </a:prstGeom>
          <a:noFill/>
          <a:ln w="0">
            <a:noFill/>
            <a:prstDash val="solid"/>
          </a:ln>
        </p:spPr>
        <p:txBody>
          <a:bodyPr/>
          <a:lstStyle/>
          <a:p>
            <a:pPr algn="ctr">
              <a:buNone/>
              <a:defRPr sz="750">
                <a:solidFill>
                  <a:srgbClr val="5B6472"/>
                </a:solidFill>
              </a:defRPr>
            </a:pPr>
            <a:r>
              <a:rPr sz="750">
                <a:solidFill>
                  <a:srgbClr val="5B6472"/>
                </a:solidFill>
              </a:rPr>
              <a:t>Generate stable</a:t>
            </a:r>
          </a:p>
          <a:p>
            <a:pPr algn="ctr">
              <a:buNone/>
              <a:defRPr sz="750">
                <a:solidFill>
                  <a:srgbClr val="5B6472"/>
                </a:solidFill>
              </a:defRPr>
            </a:pPr>
            <a:r>
              <a:rPr sz="750">
                <a:solidFill>
                  <a:srgbClr val="5B6472"/>
                </a:solidFill>
              </a:rPr>
              <a:t>idempotency key</a:t>
            </a:r>
          </a:p>
        </p:txBody>
      </p:sp>
      <p:sp>
        <p:nvSpPr>
          <p:cNvPr id="23" name="booking-step-3">
            <a:extLst>
              <a:ext uri="{FF2B5EF4-FFF2-40B4-BE49-F238E27FC236}">
                <a16:creationId xmlns:a16="http://schemas.microsoft.com/office/drawing/2014/main" id="{0F595E4C-6FD2-4E1A-BEE6-9B2D0FAB2825}"/>
              </a:ext>
            </a:extLst>
          </p:cNvPr>
          <p:cNvSpPr>
            <a:spLocks noGrp="1"/>
          </p:cNvSpPr>
          <p:nvPr/>
        </p:nvSpPr>
        <p:spPr>
          <a:xfrm>
            <a:off x="3600450" y="2009775"/>
            <a:ext cx="1295400" cy="1466850"/>
          </a:xfrm>
          <a:prstGeom prst="roundRect">
            <a:avLst>
              <a:gd name="adj" fmla="val 5882"/>
            </a:avLst>
          </a:prstGeom>
          <a:solidFill>
            <a:srgbClr val="FFFFFF"/>
          </a:solidFill>
          <a:ln w="14288">
            <a:solidFill>
              <a:srgbClr val="7892A9"/>
            </a:solidFill>
            <a:prstDash val="solid"/>
          </a:ln>
        </p:spPr>
        <p:style>
          <a:lnRef idx="0">
            <a:scrgbClr r="0" g="0" b="0"/>
          </a:lnRef>
          <a:fillRef idx="0">
            <a:scrgbClr r="0" g="0" b="0"/>
          </a:fillRef>
          <a:effectRef idx="4">
            <a:scrgbClr r="0" g="0" b="0"/>
          </a:effectRef>
          <a:fontRef idx="major"/>
        </p:style>
        <p:txBody>
          <a:bodyPr/>
          <a:lstStyle/>
          <a:p>
            <a:endParaRPr/>
          </a:p>
        </p:txBody>
      </p:sp>
      <p:sp>
        <p:nvSpPr>
          <p:cNvPr id="24" name="Oval 23">
            <a:extLst>
              <a:ext uri="{FF2B5EF4-FFF2-40B4-BE49-F238E27FC236}">
                <a16:creationId xmlns:a16="http://schemas.microsoft.com/office/drawing/2014/main" id="{274AAB0D-FB53-4378-A5DA-3E83040E223D}"/>
              </a:ext>
            </a:extLst>
          </p:cNvPr>
          <p:cNvSpPr>
            <a:spLocks noGrp="1"/>
          </p:cNvSpPr>
          <p:nvPr/>
        </p:nvSpPr>
        <p:spPr>
          <a:xfrm>
            <a:off x="3676650" y="1895475"/>
            <a:ext cx="276225" cy="276225"/>
          </a:xfrm>
          <a:prstGeom prst="ellipse">
            <a:avLst/>
          </a:prstGeom>
          <a:solidFill>
            <a:srgbClr val="08A89B"/>
          </a:solidFill>
          <a:ln w="19050">
            <a:solidFill>
              <a:srgbClr val="FFFFFF"/>
            </a:solidFill>
            <a:prstDash val="solid"/>
          </a:ln>
        </p:spPr>
        <p:txBody>
          <a:bodyPr/>
          <a:lstStyle/>
          <a:p>
            <a:endParaRPr/>
          </a:p>
        </p:txBody>
      </p:sp>
      <p:sp>
        <p:nvSpPr>
          <p:cNvPr id="25" name="booking-number-3">
            <a:extLst>
              <a:ext uri="{FF2B5EF4-FFF2-40B4-BE49-F238E27FC236}">
                <a16:creationId xmlns:a16="http://schemas.microsoft.com/office/drawing/2014/main" id="{AD0EA216-E95C-41AE-8102-FB4FF46F8D5E}"/>
              </a:ext>
            </a:extLst>
          </p:cNvPr>
          <p:cNvSpPr>
            <a:spLocks noGrp="1"/>
          </p:cNvSpPr>
          <p:nvPr/>
        </p:nvSpPr>
        <p:spPr>
          <a:xfrm>
            <a:off x="3676650" y="1933575"/>
            <a:ext cx="276225" cy="180975"/>
          </a:xfrm>
          <a:prstGeom prst="rect">
            <a:avLst/>
          </a:prstGeom>
          <a:noFill/>
          <a:ln w="0">
            <a:noFill/>
            <a:prstDash val="solid"/>
          </a:ln>
        </p:spPr>
        <p:txBody>
          <a:bodyPr/>
          <a:lstStyle/>
          <a:p>
            <a:pPr algn="ctr">
              <a:buNone/>
              <a:defRPr sz="975" b="1">
                <a:solidFill>
                  <a:srgbClr val="FFFFFF"/>
                </a:solidFill>
              </a:defRPr>
            </a:pPr>
            <a:r>
              <a:rPr sz="975" b="1">
                <a:solidFill>
                  <a:srgbClr val="FFFFFF"/>
                </a:solidFill>
              </a:rPr>
              <a:t>3</a:t>
            </a:r>
          </a:p>
        </p:txBody>
      </p:sp>
      <p:pic>
        <p:nvPicPr>
          <p:cNvPr id="107" name="Picture 89"/>
          <p:cNvPicPr>
            <a:picLocks noChangeAspect="1"/>
          </p:cNvPicPr>
          <p:nvPr/>
        </p:nvPicPr>
        <p:blipFill>
          <a:blip r:embed="rId5"/>
          <a:stretch/>
        </p:blipFill>
        <p:spPr>
          <a:xfrm>
            <a:off x="4057650" y="2209800"/>
            <a:ext cx="361950" cy="361950"/>
          </a:xfrm>
          <a:prstGeom prst="rect">
            <a:avLst/>
          </a:prstGeom>
        </p:spPr>
      </p:pic>
      <p:sp>
        <p:nvSpPr>
          <p:cNvPr id="27" name="booking-title-3">
            <a:extLst>
              <a:ext uri="{FF2B5EF4-FFF2-40B4-BE49-F238E27FC236}">
                <a16:creationId xmlns:a16="http://schemas.microsoft.com/office/drawing/2014/main" id="{D2B008EC-0A1C-4647-9346-E63EA6F1F83D}"/>
              </a:ext>
            </a:extLst>
          </p:cNvPr>
          <p:cNvSpPr>
            <a:spLocks noGrp="1"/>
          </p:cNvSpPr>
          <p:nvPr/>
        </p:nvSpPr>
        <p:spPr>
          <a:xfrm>
            <a:off x="3714750" y="2686050"/>
            <a:ext cx="1066800" cy="3333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Persist intent</a:t>
            </a:r>
          </a:p>
        </p:txBody>
      </p:sp>
      <p:sp>
        <p:nvSpPr>
          <p:cNvPr id="28" name="booking-detail-3">
            <a:extLst>
              <a:ext uri="{FF2B5EF4-FFF2-40B4-BE49-F238E27FC236}">
                <a16:creationId xmlns:a16="http://schemas.microsoft.com/office/drawing/2014/main" id="{707BBC92-09A2-40F3-A2E7-C9E61CFCB3DB}"/>
              </a:ext>
            </a:extLst>
          </p:cNvPr>
          <p:cNvSpPr>
            <a:spLocks noGrp="1"/>
          </p:cNvSpPr>
          <p:nvPr/>
        </p:nvSpPr>
        <p:spPr>
          <a:xfrm>
            <a:off x="3714750" y="3067050"/>
            <a:ext cx="1066800" cy="314325"/>
          </a:xfrm>
          <a:prstGeom prst="rect">
            <a:avLst/>
          </a:prstGeom>
          <a:noFill/>
          <a:ln w="0">
            <a:noFill/>
            <a:prstDash val="solid"/>
          </a:ln>
        </p:spPr>
        <p:txBody>
          <a:bodyPr/>
          <a:lstStyle/>
          <a:p>
            <a:pPr algn="ctr">
              <a:buNone/>
              <a:defRPr sz="750">
                <a:solidFill>
                  <a:srgbClr val="5B6472"/>
                </a:solidFill>
              </a:defRPr>
            </a:pPr>
            <a:r>
              <a:rPr sz="750">
                <a:solidFill>
                  <a:srgbClr val="5B6472"/>
                </a:solidFill>
              </a:rPr>
              <a:t>Conditional write</a:t>
            </a:r>
          </a:p>
          <a:p>
            <a:pPr algn="ctr">
              <a:buNone/>
              <a:defRPr sz="750">
                <a:solidFill>
                  <a:srgbClr val="5B6472"/>
                </a:solidFill>
              </a:defRPr>
            </a:pPr>
            <a:r>
              <a:rPr sz="750">
                <a:solidFill>
                  <a:srgbClr val="5B6472"/>
                </a:solidFill>
              </a:rPr>
              <a:t>before dealer call</a:t>
            </a:r>
          </a:p>
        </p:txBody>
      </p:sp>
      <p:sp>
        <p:nvSpPr>
          <p:cNvPr id="29" name="booking-step-4">
            <a:extLst>
              <a:ext uri="{FF2B5EF4-FFF2-40B4-BE49-F238E27FC236}">
                <a16:creationId xmlns:a16="http://schemas.microsoft.com/office/drawing/2014/main" id="{1E39384D-0CFF-4A0E-94A6-267D67570B67}"/>
              </a:ext>
            </a:extLst>
          </p:cNvPr>
          <p:cNvSpPr>
            <a:spLocks noGrp="1"/>
          </p:cNvSpPr>
          <p:nvPr/>
        </p:nvSpPr>
        <p:spPr>
          <a:xfrm>
            <a:off x="5124450" y="2009775"/>
            <a:ext cx="1295400" cy="1466850"/>
          </a:xfrm>
          <a:prstGeom prst="roundRect">
            <a:avLst>
              <a:gd name="adj" fmla="val 5882"/>
            </a:avLst>
          </a:prstGeom>
          <a:solidFill>
            <a:srgbClr val="FFFFFF"/>
          </a:solidFill>
          <a:ln w="14288">
            <a:solidFill>
              <a:srgbClr val="7892A9"/>
            </a:solidFill>
            <a:prstDash val="solid"/>
          </a:ln>
        </p:spPr>
        <p:style>
          <a:lnRef idx="0">
            <a:scrgbClr r="0" g="0" b="0"/>
          </a:lnRef>
          <a:fillRef idx="0">
            <a:scrgbClr r="0" g="0" b="0"/>
          </a:fillRef>
          <a:effectRef idx="4">
            <a:scrgbClr r="0" g="0" b="0"/>
          </a:effectRef>
          <a:fontRef idx="major"/>
        </p:style>
        <p:txBody>
          <a:bodyPr/>
          <a:lstStyle/>
          <a:p>
            <a:endParaRPr/>
          </a:p>
        </p:txBody>
      </p:sp>
      <p:sp>
        <p:nvSpPr>
          <p:cNvPr id="30" name="Oval 29">
            <a:extLst>
              <a:ext uri="{FF2B5EF4-FFF2-40B4-BE49-F238E27FC236}">
                <a16:creationId xmlns:a16="http://schemas.microsoft.com/office/drawing/2014/main" id="{2F6C2AAA-E40E-4D57-BB88-B96AB9DFA838}"/>
              </a:ext>
            </a:extLst>
          </p:cNvPr>
          <p:cNvSpPr>
            <a:spLocks noGrp="1"/>
          </p:cNvSpPr>
          <p:nvPr/>
        </p:nvSpPr>
        <p:spPr>
          <a:xfrm>
            <a:off x="5200650" y="1895475"/>
            <a:ext cx="276225" cy="276225"/>
          </a:xfrm>
          <a:prstGeom prst="ellipse">
            <a:avLst/>
          </a:prstGeom>
          <a:solidFill>
            <a:srgbClr val="08A89B"/>
          </a:solidFill>
          <a:ln w="19050">
            <a:solidFill>
              <a:srgbClr val="FFFFFF"/>
            </a:solidFill>
            <a:prstDash val="solid"/>
          </a:ln>
        </p:spPr>
        <p:txBody>
          <a:bodyPr/>
          <a:lstStyle/>
          <a:p>
            <a:endParaRPr/>
          </a:p>
        </p:txBody>
      </p:sp>
      <p:sp>
        <p:nvSpPr>
          <p:cNvPr id="31" name="booking-number-4">
            <a:extLst>
              <a:ext uri="{FF2B5EF4-FFF2-40B4-BE49-F238E27FC236}">
                <a16:creationId xmlns:a16="http://schemas.microsoft.com/office/drawing/2014/main" id="{CC3039B2-F216-42EE-AFB0-DD3DFEB110F9}"/>
              </a:ext>
            </a:extLst>
          </p:cNvPr>
          <p:cNvSpPr>
            <a:spLocks noGrp="1"/>
          </p:cNvSpPr>
          <p:nvPr/>
        </p:nvSpPr>
        <p:spPr>
          <a:xfrm>
            <a:off x="5200650" y="1933575"/>
            <a:ext cx="276225" cy="180975"/>
          </a:xfrm>
          <a:prstGeom prst="rect">
            <a:avLst/>
          </a:prstGeom>
          <a:noFill/>
          <a:ln w="0">
            <a:noFill/>
            <a:prstDash val="solid"/>
          </a:ln>
        </p:spPr>
        <p:txBody>
          <a:bodyPr/>
          <a:lstStyle/>
          <a:p>
            <a:pPr algn="ctr">
              <a:buNone/>
              <a:defRPr sz="975" b="1">
                <a:solidFill>
                  <a:srgbClr val="FFFFFF"/>
                </a:solidFill>
              </a:defRPr>
            </a:pPr>
            <a:r>
              <a:rPr sz="975" b="1">
                <a:solidFill>
                  <a:srgbClr val="FFFFFF"/>
                </a:solidFill>
              </a:rPr>
              <a:t>4</a:t>
            </a:r>
          </a:p>
        </p:txBody>
      </p:sp>
      <p:pic>
        <p:nvPicPr>
          <p:cNvPr id="113" name="Picture 95"/>
          <p:cNvPicPr>
            <a:picLocks noChangeAspect="1"/>
          </p:cNvPicPr>
          <p:nvPr/>
        </p:nvPicPr>
        <p:blipFill>
          <a:blip r:embed="rId6"/>
          <a:stretch/>
        </p:blipFill>
        <p:spPr>
          <a:xfrm>
            <a:off x="5581650" y="2209800"/>
            <a:ext cx="361950" cy="361950"/>
          </a:xfrm>
          <a:prstGeom prst="rect">
            <a:avLst/>
          </a:prstGeom>
        </p:spPr>
      </p:pic>
      <p:sp>
        <p:nvSpPr>
          <p:cNvPr id="33" name="booking-title-4">
            <a:extLst>
              <a:ext uri="{FF2B5EF4-FFF2-40B4-BE49-F238E27FC236}">
                <a16:creationId xmlns:a16="http://schemas.microsoft.com/office/drawing/2014/main" id="{BEC5DCC8-2628-4A0D-91D3-CEB00BDE176C}"/>
              </a:ext>
            </a:extLst>
          </p:cNvPr>
          <p:cNvSpPr>
            <a:spLocks noGrp="1"/>
          </p:cNvSpPr>
          <p:nvPr/>
        </p:nvSpPr>
        <p:spPr>
          <a:xfrm>
            <a:off x="5238750" y="2686050"/>
            <a:ext cx="1066800" cy="3333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Request dealer hold</a:t>
            </a:r>
          </a:p>
        </p:txBody>
      </p:sp>
      <p:sp>
        <p:nvSpPr>
          <p:cNvPr id="34" name="booking-detail-4">
            <a:extLst>
              <a:ext uri="{FF2B5EF4-FFF2-40B4-BE49-F238E27FC236}">
                <a16:creationId xmlns:a16="http://schemas.microsoft.com/office/drawing/2014/main" id="{C158876B-4C9D-49E0-81A3-DA27B5BAB2DB}"/>
              </a:ext>
            </a:extLst>
          </p:cNvPr>
          <p:cNvSpPr>
            <a:spLocks noGrp="1"/>
          </p:cNvSpPr>
          <p:nvPr/>
        </p:nvSpPr>
        <p:spPr>
          <a:xfrm>
            <a:off x="5238750" y="3067050"/>
            <a:ext cx="1066800" cy="314325"/>
          </a:xfrm>
          <a:prstGeom prst="rect">
            <a:avLst/>
          </a:prstGeom>
          <a:noFill/>
          <a:ln w="0">
            <a:noFill/>
            <a:prstDash val="solid"/>
          </a:ln>
        </p:spPr>
        <p:txBody>
          <a:bodyPr/>
          <a:lstStyle/>
          <a:p>
            <a:pPr algn="ctr">
              <a:buNone/>
              <a:defRPr sz="750">
                <a:solidFill>
                  <a:srgbClr val="5B6472"/>
                </a:solidFill>
              </a:defRPr>
            </a:pPr>
            <a:r>
              <a:rPr sz="750">
                <a:solidFill>
                  <a:srgbClr val="5B6472"/>
                </a:solidFill>
              </a:rPr>
              <a:t>Send idempotency key</a:t>
            </a:r>
          </a:p>
          <a:p>
            <a:pPr algn="ctr">
              <a:buNone/>
              <a:defRPr sz="750">
                <a:solidFill>
                  <a:srgbClr val="5B6472"/>
                </a:solidFill>
              </a:defRPr>
            </a:pPr>
            <a:r>
              <a:rPr sz="750">
                <a:solidFill>
                  <a:srgbClr val="5B6472"/>
                </a:solidFill>
              </a:rPr>
              <a:t>+ slot request</a:t>
            </a:r>
          </a:p>
        </p:txBody>
      </p:sp>
      <p:sp>
        <p:nvSpPr>
          <p:cNvPr id="35" name="booking-step-5">
            <a:extLst>
              <a:ext uri="{FF2B5EF4-FFF2-40B4-BE49-F238E27FC236}">
                <a16:creationId xmlns:a16="http://schemas.microsoft.com/office/drawing/2014/main" id="{846C73DF-B624-4513-B8EA-451DCA9A52CD}"/>
              </a:ext>
            </a:extLst>
          </p:cNvPr>
          <p:cNvSpPr>
            <a:spLocks noGrp="1"/>
          </p:cNvSpPr>
          <p:nvPr/>
        </p:nvSpPr>
        <p:spPr>
          <a:xfrm>
            <a:off x="6648450" y="2009775"/>
            <a:ext cx="1295400" cy="1466850"/>
          </a:xfrm>
          <a:prstGeom prst="roundRect">
            <a:avLst>
              <a:gd name="adj" fmla="val 5882"/>
            </a:avLst>
          </a:prstGeom>
          <a:solidFill>
            <a:srgbClr val="FFF3E5"/>
          </a:solidFill>
          <a:ln w="14288">
            <a:solidFill>
              <a:srgbClr val="B86713"/>
            </a:solidFill>
            <a:prstDash val="solid"/>
          </a:ln>
        </p:spPr>
        <p:style>
          <a:lnRef idx="0">
            <a:scrgbClr r="0" g="0" b="0"/>
          </a:lnRef>
          <a:fillRef idx="0">
            <a:scrgbClr r="0" g="0" b="0"/>
          </a:fillRef>
          <a:effectRef idx="4">
            <a:scrgbClr r="0" g="0" b="0"/>
          </a:effectRef>
          <a:fontRef idx="major"/>
        </p:style>
        <p:txBody>
          <a:bodyPr/>
          <a:lstStyle/>
          <a:p>
            <a:endParaRPr/>
          </a:p>
        </p:txBody>
      </p:sp>
      <p:sp>
        <p:nvSpPr>
          <p:cNvPr id="36" name="Oval 35">
            <a:extLst>
              <a:ext uri="{FF2B5EF4-FFF2-40B4-BE49-F238E27FC236}">
                <a16:creationId xmlns:a16="http://schemas.microsoft.com/office/drawing/2014/main" id="{08AAF0EE-9030-4F91-AFCE-335F94383C3B}"/>
              </a:ext>
            </a:extLst>
          </p:cNvPr>
          <p:cNvSpPr>
            <a:spLocks noGrp="1"/>
          </p:cNvSpPr>
          <p:nvPr/>
        </p:nvSpPr>
        <p:spPr>
          <a:xfrm>
            <a:off x="6724650" y="1895475"/>
            <a:ext cx="276225" cy="276225"/>
          </a:xfrm>
          <a:prstGeom prst="ellipse">
            <a:avLst/>
          </a:prstGeom>
          <a:solidFill>
            <a:srgbClr val="08A89B"/>
          </a:solidFill>
          <a:ln w="19050">
            <a:solidFill>
              <a:srgbClr val="FFFFFF"/>
            </a:solidFill>
            <a:prstDash val="solid"/>
          </a:ln>
        </p:spPr>
        <p:txBody>
          <a:bodyPr/>
          <a:lstStyle/>
          <a:p>
            <a:endParaRPr/>
          </a:p>
        </p:txBody>
      </p:sp>
      <p:sp>
        <p:nvSpPr>
          <p:cNvPr id="37" name="booking-number-5">
            <a:extLst>
              <a:ext uri="{FF2B5EF4-FFF2-40B4-BE49-F238E27FC236}">
                <a16:creationId xmlns:a16="http://schemas.microsoft.com/office/drawing/2014/main" id="{5EF46951-21E2-42E3-9A09-63A7C16FAA18}"/>
              </a:ext>
            </a:extLst>
          </p:cNvPr>
          <p:cNvSpPr>
            <a:spLocks noGrp="1"/>
          </p:cNvSpPr>
          <p:nvPr/>
        </p:nvSpPr>
        <p:spPr>
          <a:xfrm>
            <a:off x="6724650" y="1933575"/>
            <a:ext cx="276225" cy="180975"/>
          </a:xfrm>
          <a:prstGeom prst="rect">
            <a:avLst/>
          </a:prstGeom>
          <a:noFill/>
          <a:ln w="0">
            <a:noFill/>
            <a:prstDash val="solid"/>
          </a:ln>
        </p:spPr>
        <p:txBody>
          <a:bodyPr/>
          <a:lstStyle/>
          <a:p>
            <a:pPr algn="ctr">
              <a:buNone/>
              <a:defRPr sz="975" b="1">
                <a:solidFill>
                  <a:srgbClr val="FFFFFF"/>
                </a:solidFill>
              </a:defRPr>
            </a:pPr>
            <a:r>
              <a:rPr sz="975" b="1">
                <a:solidFill>
                  <a:srgbClr val="FFFFFF"/>
                </a:solidFill>
              </a:rPr>
              <a:t>5</a:t>
            </a:r>
          </a:p>
        </p:txBody>
      </p:sp>
      <p:pic>
        <p:nvPicPr>
          <p:cNvPr id="119" name="Picture 101"/>
          <p:cNvPicPr>
            <a:picLocks noChangeAspect="1"/>
          </p:cNvPicPr>
          <p:nvPr/>
        </p:nvPicPr>
        <p:blipFill>
          <a:blip r:embed="rId7"/>
          <a:stretch/>
        </p:blipFill>
        <p:spPr>
          <a:xfrm>
            <a:off x="-952500" y="-952500"/>
            <a:ext cx="9525" cy="9525"/>
          </a:xfrm>
          <a:prstGeom prst="rect">
            <a:avLst/>
          </a:prstGeom>
        </p:spPr>
      </p:pic>
      <p:sp>
        <p:nvSpPr>
          <p:cNvPr id="39" name="booking-title-5">
            <a:extLst>
              <a:ext uri="{FF2B5EF4-FFF2-40B4-BE49-F238E27FC236}">
                <a16:creationId xmlns:a16="http://schemas.microsoft.com/office/drawing/2014/main" id="{8E6A830D-85B8-4FE6-869D-99C27B3AD901}"/>
              </a:ext>
            </a:extLst>
          </p:cNvPr>
          <p:cNvSpPr>
            <a:spLocks noGrp="1"/>
          </p:cNvSpPr>
          <p:nvPr/>
        </p:nvSpPr>
        <p:spPr>
          <a:xfrm>
            <a:off x="6762750" y="2686050"/>
            <a:ext cx="1066800" cy="3333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Dealer places hold</a:t>
            </a:r>
          </a:p>
        </p:txBody>
      </p:sp>
      <p:sp>
        <p:nvSpPr>
          <p:cNvPr id="40" name="booking-detail-5">
            <a:extLst>
              <a:ext uri="{FF2B5EF4-FFF2-40B4-BE49-F238E27FC236}">
                <a16:creationId xmlns:a16="http://schemas.microsoft.com/office/drawing/2014/main" id="{7257CFA4-51D1-4EB6-AB6C-1F4B624910E2}"/>
              </a:ext>
            </a:extLst>
          </p:cNvPr>
          <p:cNvSpPr>
            <a:spLocks noGrp="1"/>
          </p:cNvSpPr>
          <p:nvPr/>
        </p:nvSpPr>
        <p:spPr>
          <a:xfrm>
            <a:off x="6762750" y="3067050"/>
            <a:ext cx="1066800" cy="314325"/>
          </a:xfrm>
          <a:prstGeom prst="rect">
            <a:avLst/>
          </a:prstGeom>
          <a:noFill/>
          <a:ln w="0">
            <a:noFill/>
            <a:prstDash val="solid"/>
          </a:ln>
        </p:spPr>
        <p:txBody>
          <a:bodyPr/>
          <a:lstStyle/>
          <a:p>
            <a:pPr algn="ctr">
              <a:buNone/>
              <a:defRPr sz="750">
                <a:solidFill>
                  <a:srgbClr val="5B6472"/>
                </a:solidFill>
              </a:defRPr>
            </a:pPr>
            <a:r>
              <a:rPr sz="750">
                <a:solidFill>
                  <a:srgbClr val="5B6472"/>
                </a:solidFill>
              </a:rPr>
              <a:t>Authoritative token,</a:t>
            </a:r>
          </a:p>
          <a:p>
            <a:pPr algn="ctr">
              <a:buNone/>
              <a:defRPr sz="750">
                <a:solidFill>
                  <a:srgbClr val="5B6472"/>
                </a:solidFill>
              </a:defRPr>
            </a:pPr>
            <a:r>
              <a:rPr sz="750">
                <a:solidFill>
                  <a:srgbClr val="5B6472"/>
                </a:solidFill>
              </a:rPr>
              <a:t>slot, and expiry</a:t>
            </a:r>
          </a:p>
        </p:txBody>
      </p:sp>
      <p:sp>
        <p:nvSpPr>
          <p:cNvPr id="41" name="booking-step-6">
            <a:extLst>
              <a:ext uri="{FF2B5EF4-FFF2-40B4-BE49-F238E27FC236}">
                <a16:creationId xmlns:a16="http://schemas.microsoft.com/office/drawing/2014/main" id="{87662DCD-F521-4C90-BB5B-7078B93FE3A3}"/>
              </a:ext>
            </a:extLst>
          </p:cNvPr>
          <p:cNvSpPr>
            <a:spLocks noGrp="1"/>
          </p:cNvSpPr>
          <p:nvPr/>
        </p:nvSpPr>
        <p:spPr>
          <a:xfrm>
            <a:off x="8172450" y="2009775"/>
            <a:ext cx="1295400" cy="1466850"/>
          </a:xfrm>
          <a:prstGeom prst="roundRect">
            <a:avLst>
              <a:gd name="adj" fmla="val 5882"/>
            </a:avLst>
          </a:prstGeom>
          <a:solidFill>
            <a:srgbClr val="FFFFFF"/>
          </a:solidFill>
          <a:ln w="14288">
            <a:solidFill>
              <a:srgbClr val="7892A9"/>
            </a:solidFill>
            <a:prstDash val="solid"/>
          </a:ln>
        </p:spPr>
        <p:style>
          <a:lnRef idx="0">
            <a:scrgbClr r="0" g="0" b="0"/>
          </a:lnRef>
          <a:fillRef idx="0">
            <a:scrgbClr r="0" g="0" b="0"/>
          </a:fillRef>
          <a:effectRef idx="4">
            <a:scrgbClr r="0" g="0" b="0"/>
          </a:effectRef>
          <a:fontRef idx="major"/>
        </p:style>
        <p:txBody>
          <a:bodyPr/>
          <a:lstStyle/>
          <a:p>
            <a:endParaRPr/>
          </a:p>
        </p:txBody>
      </p:sp>
      <p:sp>
        <p:nvSpPr>
          <p:cNvPr id="42" name="Oval 41">
            <a:extLst>
              <a:ext uri="{FF2B5EF4-FFF2-40B4-BE49-F238E27FC236}">
                <a16:creationId xmlns:a16="http://schemas.microsoft.com/office/drawing/2014/main" id="{3CADAE7B-EBDF-43D2-9B2C-155F8499842E}"/>
              </a:ext>
            </a:extLst>
          </p:cNvPr>
          <p:cNvSpPr>
            <a:spLocks noGrp="1"/>
          </p:cNvSpPr>
          <p:nvPr/>
        </p:nvSpPr>
        <p:spPr>
          <a:xfrm>
            <a:off x="8248650" y="1895475"/>
            <a:ext cx="276225" cy="276225"/>
          </a:xfrm>
          <a:prstGeom prst="ellipse">
            <a:avLst/>
          </a:prstGeom>
          <a:solidFill>
            <a:srgbClr val="08A89B"/>
          </a:solidFill>
          <a:ln w="19050">
            <a:solidFill>
              <a:srgbClr val="FFFFFF"/>
            </a:solidFill>
            <a:prstDash val="solid"/>
          </a:ln>
        </p:spPr>
        <p:txBody>
          <a:bodyPr/>
          <a:lstStyle/>
          <a:p>
            <a:endParaRPr/>
          </a:p>
        </p:txBody>
      </p:sp>
      <p:sp>
        <p:nvSpPr>
          <p:cNvPr id="43" name="booking-number-6">
            <a:extLst>
              <a:ext uri="{FF2B5EF4-FFF2-40B4-BE49-F238E27FC236}">
                <a16:creationId xmlns:a16="http://schemas.microsoft.com/office/drawing/2014/main" id="{794FCFD3-B795-4DB6-9248-0EFF15296243}"/>
              </a:ext>
            </a:extLst>
          </p:cNvPr>
          <p:cNvSpPr>
            <a:spLocks noGrp="1"/>
          </p:cNvSpPr>
          <p:nvPr/>
        </p:nvSpPr>
        <p:spPr>
          <a:xfrm>
            <a:off x="8248650" y="1933575"/>
            <a:ext cx="276225" cy="180975"/>
          </a:xfrm>
          <a:prstGeom prst="rect">
            <a:avLst/>
          </a:prstGeom>
          <a:noFill/>
          <a:ln w="0">
            <a:noFill/>
            <a:prstDash val="solid"/>
          </a:ln>
        </p:spPr>
        <p:txBody>
          <a:bodyPr/>
          <a:lstStyle/>
          <a:p>
            <a:pPr algn="ctr">
              <a:buNone/>
              <a:defRPr sz="975" b="1">
                <a:solidFill>
                  <a:srgbClr val="FFFFFF"/>
                </a:solidFill>
              </a:defRPr>
            </a:pPr>
            <a:r>
              <a:rPr sz="975" b="1">
                <a:solidFill>
                  <a:srgbClr val="FFFFFF"/>
                </a:solidFill>
              </a:rPr>
              <a:t>6</a:t>
            </a:r>
          </a:p>
        </p:txBody>
      </p:sp>
      <p:pic>
        <p:nvPicPr>
          <p:cNvPr id="125" name="Picture 107"/>
          <p:cNvPicPr>
            <a:picLocks noChangeAspect="1"/>
          </p:cNvPicPr>
          <p:nvPr/>
        </p:nvPicPr>
        <p:blipFill>
          <a:blip r:embed="rId8"/>
          <a:stretch/>
        </p:blipFill>
        <p:spPr>
          <a:xfrm>
            <a:off x="8629650" y="2209800"/>
            <a:ext cx="361950" cy="361950"/>
          </a:xfrm>
          <a:prstGeom prst="rect">
            <a:avLst/>
          </a:prstGeom>
        </p:spPr>
      </p:pic>
      <p:sp>
        <p:nvSpPr>
          <p:cNvPr id="45" name="booking-title-6">
            <a:extLst>
              <a:ext uri="{FF2B5EF4-FFF2-40B4-BE49-F238E27FC236}">
                <a16:creationId xmlns:a16="http://schemas.microsoft.com/office/drawing/2014/main" id="{1E1A1A90-C560-4943-B466-F1093010D4F9}"/>
              </a:ext>
            </a:extLst>
          </p:cNvPr>
          <p:cNvSpPr>
            <a:spLocks noGrp="1"/>
          </p:cNvSpPr>
          <p:nvPr/>
        </p:nvSpPr>
        <p:spPr>
          <a:xfrm>
            <a:off x="8286750" y="2686050"/>
            <a:ext cx="1066800" cy="3333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Confirm or timeout</a:t>
            </a:r>
          </a:p>
        </p:txBody>
      </p:sp>
      <p:sp>
        <p:nvSpPr>
          <p:cNvPr id="46" name="booking-detail-6">
            <a:extLst>
              <a:ext uri="{FF2B5EF4-FFF2-40B4-BE49-F238E27FC236}">
                <a16:creationId xmlns:a16="http://schemas.microsoft.com/office/drawing/2014/main" id="{B8BCCF0D-9DCB-477E-A1BF-2C5503AF7CFC}"/>
              </a:ext>
            </a:extLst>
          </p:cNvPr>
          <p:cNvSpPr>
            <a:spLocks noGrp="1"/>
          </p:cNvSpPr>
          <p:nvPr/>
        </p:nvSpPr>
        <p:spPr>
          <a:xfrm>
            <a:off x="8286750" y="3067050"/>
            <a:ext cx="1066800" cy="314325"/>
          </a:xfrm>
          <a:prstGeom prst="rect">
            <a:avLst/>
          </a:prstGeom>
          <a:noFill/>
          <a:ln w="0">
            <a:noFill/>
            <a:prstDash val="solid"/>
          </a:ln>
        </p:spPr>
        <p:txBody>
          <a:bodyPr/>
          <a:lstStyle/>
          <a:p>
            <a:pPr algn="ctr">
              <a:buNone/>
              <a:defRPr sz="750">
                <a:solidFill>
                  <a:srgbClr val="5B6472"/>
                </a:solidFill>
              </a:defRPr>
            </a:pPr>
            <a:r>
              <a:rPr sz="750">
                <a:solidFill>
                  <a:srgbClr val="5B6472"/>
                </a:solidFill>
              </a:rPr>
              <a:t>Success → commit</a:t>
            </a:r>
          </a:p>
          <a:p>
            <a:pPr algn="ctr">
              <a:buNone/>
              <a:defRPr sz="750">
                <a:solidFill>
                  <a:srgbClr val="5B6472"/>
                </a:solidFill>
              </a:defRPr>
            </a:pPr>
            <a:r>
              <a:rPr sz="750">
                <a:solidFill>
                  <a:srgbClr val="5B6472"/>
                </a:solidFill>
              </a:rPr>
              <a:t>Timeout → unknown</a:t>
            </a:r>
          </a:p>
        </p:txBody>
      </p:sp>
      <p:sp>
        <p:nvSpPr>
          <p:cNvPr id="47" name="booking-step-7">
            <a:extLst>
              <a:ext uri="{FF2B5EF4-FFF2-40B4-BE49-F238E27FC236}">
                <a16:creationId xmlns:a16="http://schemas.microsoft.com/office/drawing/2014/main" id="{3B0BFC8C-B5FD-42BB-8548-AEDD5E485859}"/>
              </a:ext>
            </a:extLst>
          </p:cNvPr>
          <p:cNvSpPr>
            <a:spLocks noGrp="1"/>
          </p:cNvSpPr>
          <p:nvPr/>
        </p:nvSpPr>
        <p:spPr>
          <a:xfrm>
            <a:off x="9696450" y="2009775"/>
            <a:ext cx="1295400" cy="1466850"/>
          </a:xfrm>
          <a:prstGeom prst="roundRect">
            <a:avLst>
              <a:gd name="adj" fmla="val 5882"/>
            </a:avLst>
          </a:prstGeom>
          <a:solidFill>
            <a:srgbClr val="FFFFFF"/>
          </a:solidFill>
          <a:ln w="14288">
            <a:solidFill>
              <a:srgbClr val="7892A9"/>
            </a:solidFill>
            <a:prstDash val="solid"/>
          </a:ln>
        </p:spPr>
        <p:style>
          <a:lnRef idx="0">
            <a:scrgbClr r="0" g="0" b="0"/>
          </a:lnRef>
          <a:fillRef idx="0">
            <a:scrgbClr r="0" g="0" b="0"/>
          </a:fillRef>
          <a:effectRef idx="4">
            <a:scrgbClr r="0" g="0" b="0"/>
          </a:effectRef>
          <a:fontRef idx="major"/>
        </p:style>
        <p:txBody>
          <a:bodyPr/>
          <a:lstStyle/>
          <a:p>
            <a:endParaRPr/>
          </a:p>
        </p:txBody>
      </p:sp>
      <p:sp>
        <p:nvSpPr>
          <p:cNvPr id="48" name="Oval 47">
            <a:extLst>
              <a:ext uri="{FF2B5EF4-FFF2-40B4-BE49-F238E27FC236}">
                <a16:creationId xmlns:a16="http://schemas.microsoft.com/office/drawing/2014/main" id="{6C43F34E-640D-4376-8454-34370B19C161}"/>
              </a:ext>
            </a:extLst>
          </p:cNvPr>
          <p:cNvSpPr>
            <a:spLocks noGrp="1"/>
          </p:cNvSpPr>
          <p:nvPr/>
        </p:nvSpPr>
        <p:spPr>
          <a:xfrm>
            <a:off x="9772650" y="1895475"/>
            <a:ext cx="276225" cy="276225"/>
          </a:xfrm>
          <a:prstGeom prst="ellipse">
            <a:avLst/>
          </a:prstGeom>
          <a:solidFill>
            <a:srgbClr val="08A89B"/>
          </a:solidFill>
          <a:ln w="19050">
            <a:solidFill>
              <a:srgbClr val="FFFFFF"/>
            </a:solidFill>
            <a:prstDash val="solid"/>
          </a:ln>
        </p:spPr>
        <p:txBody>
          <a:bodyPr/>
          <a:lstStyle/>
          <a:p>
            <a:endParaRPr/>
          </a:p>
        </p:txBody>
      </p:sp>
      <p:sp>
        <p:nvSpPr>
          <p:cNvPr id="49" name="booking-number-7">
            <a:extLst>
              <a:ext uri="{FF2B5EF4-FFF2-40B4-BE49-F238E27FC236}">
                <a16:creationId xmlns:a16="http://schemas.microsoft.com/office/drawing/2014/main" id="{55E832DA-EE45-4E55-B94F-9F56FCADAF72}"/>
              </a:ext>
            </a:extLst>
          </p:cNvPr>
          <p:cNvSpPr>
            <a:spLocks noGrp="1"/>
          </p:cNvSpPr>
          <p:nvPr/>
        </p:nvSpPr>
        <p:spPr>
          <a:xfrm>
            <a:off x="9772650" y="1933575"/>
            <a:ext cx="276225" cy="180975"/>
          </a:xfrm>
          <a:prstGeom prst="rect">
            <a:avLst/>
          </a:prstGeom>
          <a:noFill/>
          <a:ln w="0">
            <a:noFill/>
            <a:prstDash val="solid"/>
          </a:ln>
        </p:spPr>
        <p:txBody>
          <a:bodyPr/>
          <a:lstStyle/>
          <a:p>
            <a:pPr algn="ctr">
              <a:buNone/>
              <a:defRPr sz="975" b="1">
                <a:solidFill>
                  <a:srgbClr val="FFFFFF"/>
                </a:solidFill>
              </a:defRPr>
            </a:pPr>
            <a:r>
              <a:rPr sz="975" b="1">
                <a:solidFill>
                  <a:srgbClr val="FFFFFF"/>
                </a:solidFill>
              </a:rPr>
              <a:t>7</a:t>
            </a:r>
          </a:p>
        </p:txBody>
      </p:sp>
      <p:pic>
        <p:nvPicPr>
          <p:cNvPr id="131" name="Picture 113"/>
          <p:cNvPicPr>
            <a:picLocks noChangeAspect="1"/>
          </p:cNvPicPr>
          <p:nvPr/>
        </p:nvPicPr>
        <p:blipFill>
          <a:blip r:embed="rId9"/>
          <a:stretch/>
        </p:blipFill>
        <p:spPr>
          <a:xfrm>
            <a:off x="10153650" y="2209800"/>
            <a:ext cx="361950" cy="361950"/>
          </a:xfrm>
          <a:prstGeom prst="rect">
            <a:avLst/>
          </a:prstGeom>
        </p:spPr>
      </p:pic>
      <p:sp>
        <p:nvSpPr>
          <p:cNvPr id="51" name="booking-title-7">
            <a:extLst>
              <a:ext uri="{FF2B5EF4-FFF2-40B4-BE49-F238E27FC236}">
                <a16:creationId xmlns:a16="http://schemas.microsoft.com/office/drawing/2014/main" id="{242BA704-27F8-49CC-AAB8-46998227AD45}"/>
              </a:ext>
            </a:extLst>
          </p:cNvPr>
          <p:cNvSpPr>
            <a:spLocks noGrp="1"/>
          </p:cNvSpPr>
          <p:nvPr/>
        </p:nvSpPr>
        <p:spPr>
          <a:xfrm>
            <a:off x="9810750" y="2686050"/>
            <a:ext cx="1066800" cy="333375"/>
          </a:xfrm>
          <a:prstGeom prst="rect">
            <a:avLst/>
          </a:prstGeom>
          <a:noFill/>
          <a:ln w="0">
            <a:noFill/>
            <a:prstDash val="solid"/>
          </a:ln>
        </p:spPr>
        <p:txBody>
          <a:bodyPr/>
          <a:lstStyle/>
          <a:p>
            <a:pPr algn="ctr">
              <a:buNone/>
              <a:defRPr sz="975" b="1">
                <a:solidFill>
                  <a:srgbClr val="172033"/>
                </a:solidFill>
              </a:defRPr>
            </a:pPr>
            <a:r>
              <a:rPr sz="975" b="1">
                <a:solidFill>
                  <a:srgbClr val="172033"/>
                </a:solidFill>
              </a:rPr>
              <a:t>Reconcile / release</a:t>
            </a:r>
          </a:p>
        </p:txBody>
      </p:sp>
      <p:sp>
        <p:nvSpPr>
          <p:cNvPr id="52" name="booking-detail-7">
            <a:extLst>
              <a:ext uri="{FF2B5EF4-FFF2-40B4-BE49-F238E27FC236}">
                <a16:creationId xmlns:a16="http://schemas.microsoft.com/office/drawing/2014/main" id="{EB299607-B761-4DF6-B971-7BD2FAB4DC50}"/>
              </a:ext>
            </a:extLst>
          </p:cNvPr>
          <p:cNvSpPr>
            <a:spLocks noGrp="1"/>
          </p:cNvSpPr>
          <p:nvPr/>
        </p:nvSpPr>
        <p:spPr>
          <a:xfrm>
            <a:off x="9810750" y="3067050"/>
            <a:ext cx="1066800" cy="314325"/>
          </a:xfrm>
          <a:prstGeom prst="rect">
            <a:avLst/>
          </a:prstGeom>
          <a:noFill/>
          <a:ln w="0">
            <a:noFill/>
            <a:prstDash val="solid"/>
          </a:ln>
        </p:spPr>
        <p:txBody>
          <a:bodyPr/>
          <a:lstStyle/>
          <a:p>
            <a:pPr algn="ctr">
              <a:buNone/>
              <a:defRPr sz="750">
                <a:solidFill>
                  <a:srgbClr val="5B6472"/>
                </a:solidFill>
              </a:defRPr>
            </a:pPr>
            <a:r>
              <a:rPr sz="750">
                <a:solidFill>
                  <a:srgbClr val="5B6472"/>
                </a:solidFill>
              </a:rPr>
              <a:t>Query dealer; confirm</a:t>
            </a:r>
          </a:p>
          <a:p>
            <a:pPr algn="ctr">
              <a:buNone/>
              <a:defRPr sz="750">
                <a:solidFill>
                  <a:srgbClr val="5B6472"/>
                </a:solidFill>
              </a:defRPr>
            </a:pPr>
            <a:r>
              <a:rPr sz="750">
                <a:solidFill>
                  <a:srgbClr val="5B6472"/>
                </a:solidFill>
              </a:rPr>
              <a:t>or release hold</a:t>
            </a:r>
          </a:p>
        </p:txBody>
      </p:sp>
      <p:sp>
        <p:nvSpPr>
          <p:cNvPr id="53" name="consistency-model">
            <a:extLst>
              <a:ext uri="{FF2B5EF4-FFF2-40B4-BE49-F238E27FC236}">
                <a16:creationId xmlns:a16="http://schemas.microsoft.com/office/drawing/2014/main" id="{15202EA2-4BC3-4A83-9777-CEFE5B972718}"/>
              </a:ext>
            </a:extLst>
          </p:cNvPr>
          <p:cNvSpPr>
            <a:spLocks noGrp="1"/>
          </p:cNvSpPr>
          <p:nvPr/>
        </p:nvSpPr>
        <p:spPr>
          <a:xfrm>
            <a:off x="1381125" y="3886200"/>
            <a:ext cx="7524750" cy="1657350"/>
          </a:xfrm>
          <a:prstGeom prst="roundRect">
            <a:avLst>
              <a:gd name="adj" fmla="val 6897"/>
            </a:avLst>
          </a:prstGeom>
          <a:solidFill>
            <a:srgbClr val="F8FAFC"/>
          </a:solidFill>
          <a:ln w="11430">
            <a:solidFill>
              <a:srgbClr val="C5CED9"/>
            </a:solidFill>
            <a:prstDash val="solid"/>
          </a:ln>
        </p:spPr>
        <p:txBody>
          <a:bodyPr/>
          <a:lstStyle/>
          <a:p>
            <a:endParaRPr/>
          </a:p>
        </p:txBody>
      </p:sp>
      <p:sp>
        <p:nvSpPr>
          <p:cNvPr id="54" name="consistency-title">
            <a:extLst>
              <a:ext uri="{FF2B5EF4-FFF2-40B4-BE49-F238E27FC236}">
                <a16:creationId xmlns:a16="http://schemas.microsoft.com/office/drawing/2014/main" id="{FC5892DB-36FA-457B-96F3-19221C3ADC95}"/>
              </a:ext>
            </a:extLst>
          </p:cNvPr>
          <p:cNvSpPr>
            <a:spLocks noGrp="1"/>
          </p:cNvSpPr>
          <p:nvPr/>
        </p:nvSpPr>
        <p:spPr>
          <a:xfrm>
            <a:off x="1609725" y="4067175"/>
            <a:ext cx="1905000" cy="190500"/>
          </a:xfrm>
          <a:prstGeom prst="rect">
            <a:avLst/>
          </a:prstGeom>
          <a:noFill/>
          <a:ln w="0">
            <a:noFill/>
            <a:prstDash val="solid"/>
          </a:ln>
        </p:spPr>
        <p:txBody>
          <a:bodyPr/>
          <a:lstStyle/>
          <a:p>
            <a:pPr>
              <a:buNone/>
              <a:defRPr sz="900" b="1">
                <a:solidFill>
                  <a:srgbClr val="5B6472"/>
                </a:solidFill>
              </a:defRPr>
            </a:pPr>
            <a:r>
              <a:rPr sz="900" b="1">
                <a:solidFill>
                  <a:srgbClr val="5B6472"/>
                </a:solidFill>
              </a:rPr>
              <a:t>CONSISTENCY MODEL</a:t>
            </a:r>
          </a:p>
        </p:txBody>
      </p:sp>
      <p:sp>
        <p:nvSpPr>
          <p:cNvPr id="55" name="model-0-title">
            <a:extLst>
              <a:ext uri="{FF2B5EF4-FFF2-40B4-BE49-F238E27FC236}">
                <a16:creationId xmlns:a16="http://schemas.microsoft.com/office/drawing/2014/main" id="{657B86CB-705B-4930-A028-2EADB89FD298}"/>
              </a:ext>
            </a:extLst>
          </p:cNvPr>
          <p:cNvSpPr>
            <a:spLocks noGrp="1"/>
          </p:cNvSpPr>
          <p:nvPr/>
        </p:nvSpPr>
        <p:spPr>
          <a:xfrm>
            <a:off x="1609725" y="4400550"/>
            <a:ext cx="1238250" cy="161925"/>
          </a:xfrm>
          <a:prstGeom prst="rect">
            <a:avLst/>
          </a:prstGeom>
          <a:noFill/>
          <a:ln w="0">
            <a:noFill/>
            <a:prstDash val="solid"/>
          </a:ln>
        </p:spPr>
        <p:txBody>
          <a:bodyPr/>
          <a:lstStyle/>
          <a:p>
            <a:pPr>
              <a:buNone/>
              <a:defRPr sz="750" b="1">
                <a:solidFill>
                  <a:srgbClr val="087F75"/>
                </a:solidFill>
              </a:defRPr>
            </a:pPr>
            <a:r>
              <a:rPr sz="750" b="1">
                <a:solidFill>
                  <a:srgbClr val="087F75"/>
                </a:solidFill>
              </a:rPr>
              <a:t>HOLD TOKEN</a:t>
            </a:r>
          </a:p>
        </p:txBody>
      </p:sp>
      <p:sp>
        <p:nvSpPr>
          <p:cNvPr id="56" name="model-0-body">
            <a:extLst>
              <a:ext uri="{FF2B5EF4-FFF2-40B4-BE49-F238E27FC236}">
                <a16:creationId xmlns:a16="http://schemas.microsoft.com/office/drawing/2014/main" id="{874ED1B9-E804-4A28-A32E-78CD9EA71465}"/>
              </a:ext>
            </a:extLst>
          </p:cNvPr>
          <p:cNvSpPr>
            <a:spLocks noGrp="1"/>
          </p:cNvSpPr>
          <p:nvPr/>
        </p:nvSpPr>
        <p:spPr>
          <a:xfrm>
            <a:off x="2600325" y="4391025"/>
            <a:ext cx="2343150" cy="400050"/>
          </a:xfrm>
          <a:prstGeom prst="rect">
            <a:avLst/>
          </a:prstGeom>
          <a:noFill/>
          <a:ln w="0">
            <a:noFill/>
            <a:prstDash val="solid"/>
          </a:ln>
        </p:spPr>
        <p:txBody>
          <a:bodyPr/>
          <a:lstStyle/>
          <a:p>
            <a:pPr>
              <a:buNone/>
              <a:defRPr sz="825">
                <a:solidFill>
                  <a:srgbClr val="374151"/>
                </a:solidFill>
              </a:defRPr>
            </a:pPr>
            <a:r>
              <a:rPr sz="825">
                <a:solidFill>
                  <a:srgbClr val="374151"/>
                </a:solidFill>
              </a:rPr>
              <a:t>Dealer returns a short-lived token tied to dealer, slot, services, idempotency key, and expiry.</a:t>
            </a:r>
          </a:p>
        </p:txBody>
      </p:sp>
      <p:sp>
        <p:nvSpPr>
          <p:cNvPr id="57" name="model-1-title">
            <a:extLst>
              <a:ext uri="{FF2B5EF4-FFF2-40B4-BE49-F238E27FC236}">
                <a16:creationId xmlns:a16="http://schemas.microsoft.com/office/drawing/2014/main" id="{583B79B5-F783-4C51-A8A5-421C19BFDB46}"/>
              </a:ext>
            </a:extLst>
          </p:cNvPr>
          <p:cNvSpPr>
            <a:spLocks noGrp="1"/>
          </p:cNvSpPr>
          <p:nvPr/>
        </p:nvSpPr>
        <p:spPr>
          <a:xfrm>
            <a:off x="5133975" y="4400550"/>
            <a:ext cx="1238250" cy="161925"/>
          </a:xfrm>
          <a:prstGeom prst="rect">
            <a:avLst/>
          </a:prstGeom>
          <a:noFill/>
          <a:ln w="0">
            <a:noFill/>
            <a:prstDash val="solid"/>
          </a:ln>
        </p:spPr>
        <p:txBody>
          <a:bodyPr/>
          <a:lstStyle/>
          <a:p>
            <a:pPr>
              <a:buNone/>
              <a:defRPr sz="750" b="1">
                <a:solidFill>
                  <a:srgbClr val="087F75"/>
                </a:solidFill>
              </a:defRPr>
            </a:pPr>
            <a:r>
              <a:rPr sz="750" b="1">
                <a:solidFill>
                  <a:srgbClr val="087F75"/>
                </a:solidFill>
              </a:rPr>
              <a:t>CONDITIONAL WRITE</a:t>
            </a:r>
          </a:p>
        </p:txBody>
      </p:sp>
      <p:sp>
        <p:nvSpPr>
          <p:cNvPr id="58" name="model-1-body">
            <a:extLst>
              <a:ext uri="{FF2B5EF4-FFF2-40B4-BE49-F238E27FC236}">
                <a16:creationId xmlns:a16="http://schemas.microsoft.com/office/drawing/2014/main" id="{12842241-FF92-48E8-B3BE-BA42FE1632C2}"/>
              </a:ext>
            </a:extLst>
          </p:cNvPr>
          <p:cNvSpPr>
            <a:spLocks noGrp="1"/>
          </p:cNvSpPr>
          <p:nvPr/>
        </p:nvSpPr>
        <p:spPr>
          <a:xfrm>
            <a:off x="6124575" y="4391025"/>
            <a:ext cx="2343150" cy="400050"/>
          </a:xfrm>
          <a:prstGeom prst="rect">
            <a:avLst/>
          </a:prstGeom>
          <a:noFill/>
          <a:ln w="0">
            <a:noFill/>
            <a:prstDash val="solid"/>
          </a:ln>
        </p:spPr>
        <p:txBody>
          <a:bodyPr/>
          <a:lstStyle/>
          <a:p>
            <a:pPr>
              <a:buNone/>
              <a:defRPr sz="825">
                <a:solidFill>
                  <a:srgbClr val="374151"/>
                </a:solidFill>
              </a:defRPr>
            </a:pPr>
            <a:r>
              <a:rPr sz="825">
                <a:solidFill>
                  <a:srgbClr val="374151"/>
                </a:solidFill>
              </a:rPr>
              <a:t>DynamoDB creates the booking intent before the dealer call and advances state conditionally.</a:t>
            </a:r>
          </a:p>
        </p:txBody>
      </p:sp>
      <p:sp>
        <p:nvSpPr>
          <p:cNvPr id="59" name="model-2-title">
            <a:extLst>
              <a:ext uri="{FF2B5EF4-FFF2-40B4-BE49-F238E27FC236}">
                <a16:creationId xmlns:a16="http://schemas.microsoft.com/office/drawing/2014/main" id="{450ECF16-B2F7-4D61-BE03-63A942746D73}"/>
              </a:ext>
            </a:extLst>
          </p:cNvPr>
          <p:cNvSpPr>
            <a:spLocks noGrp="1"/>
          </p:cNvSpPr>
          <p:nvPr/>
        </p:nvSpPr>
        <p:spPr>
          <a:xfrm>
            <a:off x="1609725" y="4953000"/>
            <a:ext cx="1238250" cy="161925"/>
          </a:xfrm>
          <a:prstGeom prst="rect">
            <a:avLst/>
          </a:prstGeom>
          <a:noFill/>
          <a:ln w="0">
            <a:noFill/>
            <a:prstDash val="solid"/>
          </a:ln>
        </p:spPr>
        <p:txBody>
          <a:bodyPr/>
          <a:lstStyle/>
          <a:p>
            <a:pPr>
              <a:buNone/>
              <a:defRPr sz="750" b="1">
                <a:solidFill>
                  <a:srgbClr val="087F75"/>
                </a:solidFill>
              </a:defRPr>
            </a:pPr>
            <a:r>
              <a:rPr sz="750" b="1">
                <a:solidFill>
                  <a:srgbClr val="087F75"/>
                </a:solidFill>
              </a:rPr>
              <a:t>UNKNOWN OUTCOME</a:t>
            </a:r>
          </a:p>
        </p:txBody>
      </p:sp>
      <p:sp>
        <p:nvSpPr>
          <p:cNvPr id="60" name="model-2-body">
            <a:extLst>
              <a:ext uri="{FF2B5EF4-FFF2-40B4-BE49-F238E27FC236}">
                <a16:creationId xmlns:a16="http://schemas.microsoft.com/office/drawing/2014/main" id="{59A5BAB9-D744-407C-842D-8EBEE87BAE04}"/>
              </a:ext>
            </a:extLst>
          </p:cNvPr>
          <p:cNvSpPr>
            <a:spLocks noGrp="1"/>
          </p:cNvSpPr>
          <p:nvPr/>
        </p:nvSpPr>
        <p:spPr>
          <a:xfrm>
            <a:off x="2600325" y="4943475"/>
            <a:ext cx="2343150" cy="400050"/>
          </a:xfrm>
          <a:prstGeom prst="rect">
            <a:avLst/>
          </a:prstGeom>
          <a:noFill/>
          <a:ln w="0">
            <a:noFill/>
            <a:prstDash val="solid"/>
          </a:ln>
        </p:spPr>
        <p:txBody>
          <a:bodyPr/>
          <a:lstStyle/>
          <a:p>
            <a:pPr>
              <a:buNone/>
              <a:defRPr sz="825">
                <a:solidFill>
                  <a:srgbClr val="374151"/>
                </a:solidFill>
              </a:defRPr>
            </a:pPr>
            <a:r>
              <a:rPr sz="825">
                <a:solidFill>
                  <a:srgbClr val="374151"/>
                </a:solidFill>
              </a:rPr>
              <a:t>A confirmation timeout branches to reconciliation; it never follows a known successful commit.</a:t>
            </a:r>
          </a:p>
        </p:txBody>
      </p:sp>
      <p:sp>
        <p:nvSpPr>
          <p:cNvPr id="61" name="model-3-title">
            <a:extLst>
              <a:ext uri="{FF2B5EF4-FFF2-40B4-BE49-F238E27FC236}">
                <a16:creationId xmlns:a16="http://schemas.microsoft.com/office/drawing/2014/main" id="{36FC0E63-9963-40CF-A3D8-B7BD2020C0E2}"/>
              </a:ext>
            </a:extLst>
          </p:cNvPr>
          <p:cNvSpPr>
            <a:spLocks noGrp="1"/>
          </p:cNvSpPr>
          <p:nvPr/>
        </p:nvSpPr>
        <p:spPr>
          <a:xfrm>
            <a:off x="5133975" y="4953000"/>
            <a:ext cx="1238250" cy="161925"/>
          </a:xfrm>
          <a:prstGeom prst="rect">
            <a:avLst/>
          </a:prstGeom>
          <a:noFill/>
          <a:ln w="0">
            <a:noFill/>
            <a:prstDash val="solid"/>
          </a:ln>
        </p:spPr>
        <p:txBody>
          <a:bodyPr/>
          <a:lstStyle/>
          <a:p>
            <a:pPr>
              <a:buNone/>
              <a:defRPr sz="750" b="1">
                <a:solidFill>
                  <a:srgbClr val="087F75"/>
                </a:solidFill>
              </a:defRPr>
            </a:pPr>
            <a:r>
              <a:rPr sz="750" b="1">
                <a:solidFill>
                  <a:srgbClr val="087F75"/>
                </a:solidFill>
              </a:rPr>
              <a:t>COMPENSATION</a:t>
            </a:r>
          </a:p>
        </p:txBody>
      </p:sp>
      <p:sp>
        <p:nvSpPr>
          <p:cNvPr id="62" name="model-3-body">
            <a:extLst>
              <a:ext uri="{FF2B5EF4-FFF2-40B4-BE49-F238E27FC236}">
                <a16:creationId xmlns:a16="http://schemas.microsoft.com/office/drawing/2014/main" id="{FE184D9A-7A73-42D0-9E1C-6152353B20AD}"/>
              </a:ext>
            </a:extLst>
          </p:cNvPr>
          <p:cNvSpPr>
            <a:spLocks noGrp="1"/>
          </p:cNvSpPr>
          <p:nvPr/>
        </p:nvSpPr>
        <p:spPr>
          <a:xfrm>
            <a:off x="6124575" y="4943475"/>
            <a:ext cx="2343150" cy="400050"/>
          </a:xfrm>
          <a:prstGeom prst="rect">
            <a:avLst/>
          </a:prstGeom>
          <a:noFill/>
          <a:ln w="0">
            <a:noFill/>
            <a:prstDash val="solid"/>
          </a:ln>
        </p:spPr>
        <p:txBody>
          <a:bodyPr/>
          <a:lstStyle/>
          <a:p>
            <a:pPr>
              <a:buNone/>
              <a:defRPr sz="825">
                <a:solidFill>
                  <a:srgbClr val="374151"/>
                </a:solidFill>
              </a:defRPr>
            </a:pPr>
            <a:r>
              <a:rPr sz="825">
                <a:solidFill>
                  <a:srgbClr val="374151"/>
                </a:solidFill>
              </a:rPr>
              <a:t>Explicit rejection or expiry releases the hold; unresolved mismatches enter the operational queue.</a:t>
            </a:r>
          </a:p>
        </p:txBody>
      </p:sp>
      <p:sp>
        <p:nvSpPr>
          <p:cNvPr id="63" name="principle-banner">
            <a:extLst>
              <a:ext uri="{FF2B5EF4-FFF2-40B4-BE49-F238E27FC236}">
                <a16:creationId xmlns:a16="http://schemas.microsoft.com/office/drawing/2014/main" id="{86F43F4C-0218-400B-98C6-82E6BB914F4F}"/>
              </a:ext>
            </a:extLst>
          </p:cNvPr>
          <p:cNvSpPr>
            <a:spLocks noGrp="1"/>
          </p:cNvSpPr>
          <p:nvPr/>
        </p:nvSpPr>
        <p:spPr>
          <a:xfrm>
            <a:off x="552450" y="6076950"/>
            <a:ext cx="11087100" cy="428625"/>
          </a:xfrm>
          <a:prstGeom prst="roundRect">
            <a:avLst>
              <a:gd name="adj" fmla="val 17778"/>
            </a:avLst>
          </a:prstGeom>
          <a:solidFill>
            <a:srgbClr val="F0FAF8"/>
          </a:solidFill>
          <a:ln w="9525">
            <a:solidFill>
              <a:srgbClr val="A5DDD6"/>
            </a:solidFill>
            <a:prstDash val="solid"/>
          </a:ln>
        </p:spPr>
        <p:txBody>
          <a:bodyPr/>
          <a:lstStyle/>
          <a:p>
            <a:endParaRPr/>
          </a:p>
        </p:txBody>
      </p:sp>
      <p:sp>
        <p:nvSpPr>
          <p:cNvPr id="64" name="principle-text">
            <a:extLst>
              <a:ext uri="{FF2B5EF4-FFF2-40B4-BE49-F238E27FC236}">
                <a16:creationId xmlns:a16="http://schemas.microsoft.com/office/drawing/2014/main" id="{61325AAE-5DD7-488D-A01F-DDCCD94D4E41}"/>
              </a:ext>
            </a:extLst>
          </p:cNvPr>
          <p:cNvSpPr>
            <a:spLocks noGrp="1"/>
          </p:cNvSpPr>
          <p:nvPr/>
        </p:nvSpPr>
        <p:spPr>
          <a:xfrm>
            <a:off x="742950" y="6191250"/>
            <a:ext cx="107061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The dealer system is authoritative; the cloud orchestrator never confirms a slot based only on cached availability.</a:t>
            </a:r>
          </a:p>
        </p:txBody>
      </p:sp>
      <p:sp>
        <p:nvSpPr>
          <p:cNvPr id="73" name="dealer-dms-badge">
            <a:extLst>
              <a:ext uri="{FF2B5EF4-FFF2-40B4-BE49-F238E27FC236}">
                <a16:creationId xmlns:a16="http://schemas.microsoft.com/office/drawing/2014/main" id="{D3409119-A142-4570-88FE-B85B932ED7A1}"/>
              </a:ext>
            </a:extLst>
          </p:cNvPr>
          <p:cNvSpPr>
            <a:spLocks noGrp="1"/>
          </p:cNvSpPr>
          <p:nvPr/>
        </p:nvSpPr>
        <p:spPr>
          <a:xfrm>
            <a:off x="6886575" y="2209800"/>
            <a:ext cx="457200" cy="400050"/>
          </a:xfrm>
          <a:prstGeom prst="roundRect">
            <a:avLst>
              <a:gd name="adj" fmla="val 19048"/>
            </a:avLst>
          </a:prstGeom>
          <a:solidFill>
            <a:srgbClr val="B86713"/>
          </a:solidFill>
          <a:ln w="0">
            <a:solidFill>
              <a:srgbClr val="B86713"/>
            </a:solidFill>
            <a:prstDash val="solid"/>
          </a:ln>
        </p:spPr>
        <p:txBody>
          <a:bodyPr/>
          <a:lstStyle/>
          <a:p>
            <a:endParaRPr lang="en-US"/>
          </a:p>
        </p:txBody>
      </p:sp>
      <p:sp>
        <p:nvSpPr>
          <p:cNvPr id="74" name="dealer-dms-text">
            <a:extLst>
              <a:ext uri="{FF2B5EF4-FFF2-40B4-BE49-F238E27FC236}">
                <a16:creationId xmlns:a16="http://schemas.microsoft.com/office/drawing/2014/main" id="{B9117F9D-9E96-4ACC-AC0E-787A7F7BE78B}"/>
              </a:ext>
            </a:extLst>
          </p:cNvPr>
          <p:cNvSpPr>
            <a:spLocks noGrp="1"/>
          </p:cNvSpPr>
          <p:nvPr/>
        </p:nvSpPr>
        <p:spPr>
          <a:xfrm>
            <a:off x="6886575" y="2324100"/>
            <a:ext cx="457200" cy="171450"/>
          </a:xfrm>
          <a:prstGeom prst="rect">
            <a:avLst/>
          </a:prstGeom>
          <a:noFill/>
          <a:ln w="0">
            <a:noFill/>
            <a:prstDash val="solid"/>
          </a:ln>
        </p:spPr>
        <p:txBody>
          <a:bodyPr/>
          <a:lstStyle/>
          <a:p>
            <a:pPr algn="ctr">
              <a:buNone/>
              <a:defRPr sz="750" b="1">
                <a:solidFill>
                  <a:srgbClr val="FFFFFF"/>
                </a:solidFill>
              </a:defRPr>
            </a:pPr>
            <a:r>
              <a:rPr sz="750" b="1">
                <a:solidFill>
                  <a:srgbClr val="FFFFFF"/>
                </a:solidFill>
              </a:rPr>
              <a:t>DMS</a:t>
            </a:r>
          </a:p>
        </p:txBody>
      </p:sp>
    </p:spTree>
    <p:extLst>
      <p:ext uri="{BB962C8B-B14F-4D97-AF65-F5344CB8AC3E}">
        <p14:creationId xmlns:p14="http://schemas.microsoft.com/office/powerpoint/2010/main" val="1486776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eyebrow">
            <a:extLst>
              <a:ext uri="{FF2B5EF4-FFF2-40B4-BE49-F238E27FC236}">
                <a16:creationId xmlns:a16="http://schemas.microsoft.com/office/drawing/2014/main" id="{FE488F73-1B91-43AA-8CCE-89B6D0AAA12B}"/>
              </a:ext>
            </a:extLst>
          </p:cNvPr>
          <p:cNvSpPr>
            <a:spLocks noGrp="1"/>
          </p:cNvSpPr>
          <p:nvPr/>
        </p:nvSpPr>
        <p:spPr>
          <a:xfrm>
            <a:off x="552450" y="238125"/>
            <a:ext cx="409575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MEASURABLE HA / DR</a:t>
            </a:r>
          </a:p>
        </p:txBody>
      </p:sp>
      <p:sp>
        <p:nvSpPr>
          <p:cNvPr id="2" name="title">
            <a:extLst>
              <a:ext uri="{FF2B5EF4-FFF2-40B4-BE49-F238E27FC236}">
                <a16:creationId xmlns:a16="http://schemas.microsoft.com/office/drawing/2014/main" id="{B8E3B3F0-6F3A-4B09-8265-EDD0A1650E0A}"/>
              </a:ext>
            </a:extLst>
          </p:cNvPr>
          <p:cNvSpPr>
            <a:spLocks noGrp="1"/>
          </p:cNvSpPr>
          <p:nvPr/>
        </p:nvSpPr>
        <p:spPr>
          <a:xfrm>
            <a:off x="552450" y="495300"/>
            <a:ext cx="11087100" cy="495300"/>
          </a:xfrm>
          <a:prstGeom prst="rect">
            <a:avLst/>
          </a:prstGeom>
          <a:noFill/>
          <a:ln w="0">
            <a:noFill/>
            <a:prstDash val="solid"/>
          </a:ln>
        </p:spPr>
        <p:txBody>
          <a:bodyPr/>
          <a:lstStyle/>
          <a:p>
            <a:pPr>
              <a:buNone/>
              <a:defRPr sz="2550" b="1">
                <a:solidFill>
                  <a:srgbClr val="111827"/>
                </a:solidFill>
              </a:defRPr>
            </a:pPr>
            <a:r>
              <a:rPr sz="2550" b="1">
                <a:solidFill>
                  <a:srgbClr val="111827"/>
                </a:solidFill>
              </a:rPr>
              <a:t>Warm standby balances recovery speed and cost</a:t>
            </a:r>
          </a:p>
        </p:txBody>
      </p:sp>
      <p:sp>
        <p:nvSpPr>
          <p:cNvPr id="3" name="subtitle">
            <a:extLst>
              <a:ext uri="{FF2B5EF4-FFF2-40B4-BE49-F238E27FC236}">
                <a16:creationId xmlns:a16="http://schemas.microsoft.com/office/drawing/2014/main" id="{ED29FC81-E3A7-4CF1-8EF0-502C8F3A582D}"/>
              </a:ext>
            </a:extLst>
          </p:cNvPr>
          <p:cNvSpPr>
            <a:spLocks noGrp="1"/>
          </p:cNvSpPr>
          <p:nvPr/>
        </p:nvSpPr>
        <p:spPr>
          <a:xfrm>
            <a:off x="552450" y="1038225"/>
            <a:ext cx="11087100" cy="361950"/>
          </a:xfrm>
          <a:prstGeom prst="rect">
            <a:avLst/>
          </a:prstGeom>
          <a:noFill/>
          <a:ln w="0">
            <a:noFill/>
            <a:prstDash val="solid"/>
          </a:ln>
        </p:spPr>
        <p:txBody>
          <a:bodyPr/>
          <a:lstStyle/>
          <a:p>
            <a:pPr>
              <a:buNone/>
              <a:defRPr sz="1200">
                <a:solidFill>
                  <a:srgbClr val="5B6472"/>
                </a:solidFill>
              </a:defRPr>
            </a:pPr>
            <a:r>
              <a:rPr sz="1200">
                <a:solidFill>
                  <a:srgbClr val="5B6472"/>
                </a:solidFill>
              </a:rPr>
              <a:t>Proposed targets separate platform availability from dealer dependencies and require single-writer regional failover.</a:t>
            </a:r>
          </a:p>
        </p:txBody>
      </p:sp>
      <p:sp>
        <p:nvSpPr>
          <p:cNvPr id="4" name="header-rule">
            <a:extLst>
              <a:ext uri="{FF2B5EF4-FFF2-40B4-BE49-F238E27FC236}">
                <a16:creationId xmlns:a16="http://schemas.microsoft.com/office/drawing/2014/main" id="{2142498C-82DF-48A3-9A7D-1F9FF1004B46}"/>
              </a:ext>
            </a:extLst>
          </p:cNvPr>
          <p:cNvSpPr>
            <a:spLocks noGrp="1"/>
          </p:cNvSpPr>
          <p:nvPr/>
        </p:nvSpPr>
        <p:spPr>
          <a:xfrm>
            <a:off x="552450" y="1533525"/>
            <a:ext cx="11087100" cy="0"/>
          </a:xfrm>
          <a:prstGeom prst="line">
            <a:avLst/>
          </a:prstGeom>
          <a:ln w="11430">
            <a:solidFill>
              <a:srgbClr val="D7DEE8"/>
            </a:solidFill>
            <a:prstDash val="solid"/>
          </a:ln>
        </p:spPr>
        <p:txBody>
          <a:bodyPr/>
          <a:lstStyle/>
          <a:p>
            <a:endParaRPr/>
          </a:p>
        </p:txBody>
      </p:sp>
      <p:sp>
        <p:nvSpPr>
          <p:cNvPr id="5" name="Arrow: Right 4">
            <a:extLst>
              <a:ext uri="{FF2B5EF4-FFF2-40B4-BE49-F238E27FC236}">
                <a16:creationId xmlns:a16="http://schemas.microsoft.com/office/drawing/2014/main" id="{F6C0B427-358F-46B6-B52E-1E8D76F7D339}"/>
              </a:ext>
            </a:extLst>
          </p:cNvPr>
          <p:cNvSpPr>
            <a:spLocks noGrp="1"/>
          </p:cNvSpPr>
          <p:nvPr/>
        </p:nvSpPr>
        <p:spPr>
          <a:xfrm>
            <a:off x="4914900" y="3038475"/>
            <a:ext cx="1809750" cy="228600"/>
          </a:xfrm>
          <a:prstGeom prst="rightArrow">
            <a:avLst/>
          </a:prstGeom>
          <a:solidFill>
            <a:srgbClr val="6D4FB3"/>
          </a:solidFill>
          <a:ln w="0">
            <a:solidFill>
              <a:srgbClr val="6D4FB3"/>
            </a:solidFill>
            <a:prstDash val="solid"/>
          </a:ln>
        </p:spPr>
        <p:txBody>
          <a:bodyPr/>
          <a:lstStyle/>
          <a:p>
            <a:endParaRPr/>
          </a:p>
        </p:txBody>
      </p:sp>
      <p:sp>
        <p:nvSpPr>
          <p:cNvPr id="6" name="Arrow: Right 5">
            <a:extLst>
              <a:ext uri="{FF2B5EF4-FFF2-40B4-BE49-F238E27FC236}">
                <a16:creationId xmlns:a16="http://schemas.microsoft.com/office/drawing/2014/main" id="{18D40AE5-E9D8-4924-824C-3991E0AAA529}"/>
              </a:ext>
            </a:extLst>
          </p:cNvPr>
          <p:cNvSpPr>
            <a:spLocks noGrp="1"/>
          </p:cNvSpPr>
          <p:nvPr/>
        </p:nvSpPr>
        <p:spPr>
          <a:xfrm rot="10800000">
            <a:off x="6743700" y="3495675"/>
            <a:ext cx="1809750" cy="228600"/>
          </a:xfrm>
          <a:prstGeom prst="rightArrow">
            <a:avLst/>
          </a:prstGeom>
          <a:solidFill>
            <a:srgbClr val="6D4FB3"/>
          </a:solidFill>
          <a:ln w="0">
            <a:solidFill>
              <a:srgbClr val="6D4FB3"/>
            </a:solidFill>
            <a:prstDash val="solid"/>
          </a:ln>
        </p:spPr>
        <p:txBody>
          <a:bodyPr/>
          <a:lstStyle/>
          <a:p>
            <a:endParaRPr/>
          </a:p>
        </p:txBody>
      </p:sp>
      <p:sp>
        <p:nvSpPr>
          <p:cNvPr id="7" name="Rectangle: Rounded Corners 6">
            <a:extLst>
              <a:ext uri="{FF2B5EF4-FFF2-40B4-BE49-F238E27FC236}">
                <a16:creationId xmlns:a16="http://schemas.microsoft.com/office/drawing/2014/main" id="{7C90E077-0C2F-4D0E-B3EA-1DE9E0E0D652}"/>
              </a:ext>
            </a:extLst>
          </p:cNvPr>
          <p:cNvSpPr>
            <a:spLocks noGrp="1"/>
          </p:cNvSpPr>
          <p:nvPr/>
        </p:nvSpPr>
        <p:spPr>
          <a:xfrm>
            <a:off x="552450" y="2038350"/>
            <a:ext cx="3695700" cy="2619375"/>
          </a:xfrm>
          <a:prstGeom prst="roundRect">
            <a:avLst>
              <a:gd name="adj" fmla="val 4364"/>
            </a:avLst>
          </a:prstGeom>
          <a:solidFill>
            <a:srgbClr val="EAF3FF"/>
          </a:solidFill>
          <a:ln w="17145">
            <a:solidFill>
              <a:srgbClr val="2767A8"/>
            </a:solidFill>
            <a:prstDash val="solid"/>
          </a:ln>
        </p:spPr>
        <p:style>
          <a:lnRef idx="0">
            <a:scrgbClr r="0" g="0" b="0"/>
          </a:lnRef>
          <a:fillRef idx="0">
            <a:scrgbClr r="0" g="0" b="0"/>
          </a:fillRef>
          <a:effectRef idx="4">
            <a:scrgbClr r="0" g="0" b="0"/>
          </a:effectRef>
          <a:fontRef idx="major"/>
        </p:style>
        <p:txBody>
          <a:bodyPr/>
          <a:lstStyle/>
          <a:p>
            <a:endParaRPr/>
          </a:p>
        </p:txBody>
      </p:sp>
      <p:sp>
        <p:nvSpPr>
          <p:cNvPr id="8" name="Primary AWS Region-title">
            <a:extLst>
              <a:ext uri="{FF2B5EF4-FFF2-40B4-BE49-F238E27FC236}">
                <a16:creationId xmlns:a16="http://schemas.microsoft.com/office/drawing/2014/main" id="{39D372A3-3CF4-414A-A780-7F18987234AC}"/>
              </a:ext>
            </a:extLst>
          </p:cNvPr>
          <p:cNvSpPr>
            <a:spLocks noGrp="1"/>
          </p:cNvSpPr>
          <p:nvPr/>
        </p:nvSpPr>
        <p:spPr>
          <a:xfrm>
            <a:off x="781050" y="2238375"/>
            <a:ext cx="3238500" cy="285750"/>
          </a:xfrm>
          <a:prstGeom prst="rect">
            <a:avLst/>
          </a:prstGeom>
          <a:noFill/>
          <a:ln w="0">
            <a:noFill/>
            <a:prstDash val="solid"/>
          </a:ln>
        </p:spPr>
        <p:txBody>
          <a:bodyPr/>
          <a:lstStyle/>
          <a:p>
            <a:pPr>
              <a:buNone/>
              <a:defRPr sz="1500" b="1">
                <a:solidFill>
                  <a:srgbClr val="172033"/>
                </a:solidFill>
              </a:defRPr>
            </a:pPr>
            <a:r>
              <a:rPr sz="1500" b="1">
                <a:solidFill>
                  <a:srgbClr val="172033"/>
                </a:solidFill>
              </a:rPr>
              <a:t>Primary AWS Region</a:t>
            </a:r>
          </a:p>
        </p:txBody>
      </p:sp>
      <p:sp>
        <p:nvSpPr>
          <p:cNvPr id="9" name="Primary AWS Region-status">
            <a:extLst>
              <a:ext uri="{FF2B5EF4-FFF2-40B4-BE49-F238E27FC236}">
                <a16:creationId xmlns:a16="http://schemas.microsoft.com/office/drawing/2014/main" id="{DA7DCE87-06C6-4B14-88C2-B7041B8A5BAB}"/>
              </a:ext>
            </a:extLst>
          </p:cNvPr>
          <p:cNvSpPr>
            <a:spLocks noGrp="1"/>
          </p:cNvSpPr>
          <p:nvPr/>
        </p:nvSpPr>
        <p:spPr>
          <a:xfrm>
            <a:off x="781050" y="2571750"/>
            <a:ext cx="3238500" cy="209550"/>
          </a:xfrm>
          <a:prstGeom prst="rect">
            <a:avLst/>
          </a:prstGeom>
          <a:noFill/>
          <a:ln w="0">
            <a:noFill/>
            <a:prstDash val="solid"/>
          </a:ln>
        </p:spPr>
        <p:txBody>
          <a:bodyPr/>
          <a:lstStyle/>
          <a:p>
            <a:pPr>
              <a:buNone/>
              <a:defRPr sz="900" b="1">
                <a:solidFill>
                  <a:srgbClr val="2767A8"/>
                </a:solidFill>
              </a:defRPr>
            </a:pPr>
            <a:r>
              <a:rPr sz="900" b="1">
                <a:solidFill>
                  <a:srgbClr val="2767A8"/>
                </a:solidFill>
              </a:rPr>
              <a:t>ACTIVE • MULTI-AZ</a:t>
            </a:r>
          </a:p>
        </p:txBody>
      </p:sp>
      <p:pic>
        <p:nvPicPr>
          <p:cNvPr id="69" name="Picture 58"/>
          <p:cNvPicPr>
            <a:picLocks noChangeAspect="1"/>
          </p:cNvPicPr>
          <p:nvPr/>
        </p:nvPicPr>
        <p:blipFill>
          <a:blip r:embed="rId3"/>
          <a:stretch/>
        </p:blipFill>
        <p:spPr>
          <a:xfrm>
            <a:off x="819150" y="2952750"/>
            <a:ext cx="257175" cy="257175"/>
          </a:xfrm>
          <a:prstGeom prst="rect">
            <a:avLst/>
          </a:prstGeom>
        </p:spPr>
      </p:pic>
      <p:sp>
        <p:nvSpPr>
          <p:cNvPr id="11" name="Primary AWS Region-0">
            <a:extLst>
              <a:ext uri="{FF2B5EF4-FFF2-40B4-BE49-F238E27FC236}">
                <a16:creationId xmlns:a16="http://schemas.microsoft.com/office/drawing/2014/main" id="{6D3BE82E-6D99-4978-9960-D53197B877E9}"/>
              </a:ext>
            </a:extLst>
          </p:cNvPr>
          <p:cNvSpPr>
            <a:spLocks noGrp="1"/>
          </p:cNvSpPr>
          <p:nvPr/>
        </p:nvSpPr>
        <p:spPr>
          <a:xfrm>
            <a:off x="1190625" y="2990850"/>
            <a:ext cx="2619375" cy="180975"/>
          </a:xfrm>
          <a:prstGeom prst="rect">
            <a:avLst/>
          </a:prstGeom>
          <a:noFill/>
          <a:ln w="0">
            <a:noFill/>
            <a:prstDash val="solid"/>
          </a:ln>
        </p:spPr>
        <p:txBody>
          <a:bodyPr/>
          <a:lstStyle/>
          <a:p>
            <a:pPr>
              <a:buNone/>
              <a:defRPr sz="975">
                <a:solidFill>
                  <a:srgbClr val="374151"/>
                </a:solidFill>
              </a:defRPr>
            </a:pPr>
            <a:r>
              <a:rPr sz="975">
                <a:solidFill>
                  <a:srgbClr val="374151"/>
                </a:solidFill>
              </a:rPr>
              <a:t>Booking + profile state</a:t>
            </a:r>
          </a:p>
        </p:txBody>
      </p:sp>
      <p:pic>
        <p:nvPicPr>
          <p:cNvPr id="71" name="Picture 60"/>
          <p:cNvPicPr>
            <a:picLocks noChangeAspect="1"/>
          </p:cNvPicPr>
          <p:nvPr/>
        </p:nvPicPr>
        <p:blipFill>
          <a:blip r:embed="rId4"/>
          <a:stretch/>
        </p:blipFill>
        <p:spPr>
          <a:xfrm>
            <a:off x="819150" y="3324225"/>
            <a:ext cx="257175" cy="257175"/>
          </a:xfrm>
          <a:prstGeom prst="rect">
            <a:avLst/>
          </a:prstGeom>
        </p:spPr>
      </p:pic>
      <p:sp>
        <p:nvSpPr>
          <p:cNvPr id="13" name="Primary AWS Region-1">
            <a:extLst>
              <a:ext uri="{FF2B5EF4-FFF2-40B4-BE49-F238E27FC236}">
                <a16:creationId xmlns:a16="http://schemas.microsoft.com/office/drawing/2014/main" id="{30DFAC25-79AD-4F7F-AF08-F8D83B2D8390}"/>
              </a:ext>
            </a:extLst>
          </p:cNvPr>
          <p:cNvSpPr>
            <a:spLocks noGrp="1"/>
          </p:cNvSpPr>
          <p:nvPr/>
        </p:nvSpPr>
        <p:spPr>
          <a:xfrm>
            <a:off x="1190625" y="3362325"/>
            <a:ext cx="2619375" cy="180975"/>
          </a:xfrm>
          <a:prstGeom prst="rect">
            <a:avLst/>
          </a:prstGeom>
          <a:noFill/>
          <a:ln w="0">
            <a:noFill/>
            <a:prstDash val="solid"/>
          </a:ln>
        </p:spPr>
        <p:txBody>
          <a:bodyPr/>
          <a:lstStyle/>
          <a:p>
            <a:pPr>
              <a:buNone/>
              <a:defRPr sz="975">
                <a:solidFill>
                  <a:srgbClr val="374151"/>
                </a:solidFill>
              </a:defRPr>
            </a:pPr>
            <a:r>
              <a:rPr sz="975">
                <a:solidFill>
                  <a:srgbClr val="374151"/>
                </a:solidFill>
              </a:rPr>
              <a:t>Assets and controlled exports</a:t>
            </a:r>
          </a:p>
        </p:txBody>
      </p:sp>
      <p:pic>
        <p:nvPicPr>
          <p:cNvPr id="73" name="Picture 62"/>
          <p:cNvPicPr>
            <a:picLocks noChangeAspect="1"/>
          </p:cNvPicPr>
          <p:nvPr/>
        </p:nvPicPr>
        <p:blipFill>
          <a:blip r:embed="rId5"/>
          <a:stretch/>
        </p:blipFill>
        <p:spPr>
          <a:xfrm>
            <a:off x="819150" y="3695700"/>
            <a:ext cx="257175" cy="257175"/>
          </a:xfrm>
          <a:prstGeom prst="rect">
            <a:avLst/>
          </a:prstGeom>
        </p:spPr>
      </p:pic>
      <p:sp>
        <p:nvSpPr>
          <p:cNvPr id="15" name="Primary AWS Region-2">
            <a:extLst>
              <a:ext uri="{FF2B5EF4-FFF2-40B4-BE49-F238E27FC236}">
                <a16:creationId xmlns:a16="http://schemas.microsoft.com/office/drawing/2014/main" id="{B06D64BB-6357-439A-818F-824B04604005}"/>
              </a:ext>
            </a:extLst>
          </p:cNvPr>
          <p:cNvSpPr>
            <a:spLocks noGrp="1"/>
          </p:cNvSpPr>
          <p:nvPr/>
        </p:nvSpPr>
        <p:spPr>
          <a:xfrm>
            <a:off x="1190625" y="3733800"/>
            <a:ext cx="2619375" cy="180975"/>
          </a:xfrm>
          <a:prstGeom prst="rect">
            <a:avLst/>
          </a:prstGeom>
          <a:noFill/>
          <a:ln w="0">
            <a:noFill/>
            <a:prstDash val="solid"/>
          </a:ln>
        </p:spPr>
        <p:txBody>
          <a:bodyPr/>
          <a:lstStyle/>
          <a:p>
            <a:pPr>
              <a:buNone/>
              <a:defRPr sz="975">
                <a:solidFill>
                  <a:srgbClr val="374151"/>
                </a:solidFill>
              </a:defRPr>
            </a:pPr>
            <a:r>
              <a:rPr sz="975">
                <a:solidFill>
                  <a:srgbClr val="374151"/>
                </a:solidFill>
              </a:rPr>
              <a:t>Regional secrets + configuration</a:t>
            </a:r>
          </a:p>
        </p:txBody>
      </p:sp>
      <p:pic>
        <p:nvPicPr>
          <p:cNvPr id="75" name="Picture 64"/>
          <p:cNvPicPr>
            <a:picLocks noChangeAspect="1"/>
          </p:cNvPicPr>
          <p:nvPr/>
        </p:nvPicPr>
        <p:blipFill>
          <a:blip r:embed="rId6"/>
          <a:stretch/>
        </p:blipFill>
        <p:spPr>
          <a:xfrm>
            <a:off x="819150" y="4067175"/>
            <a:ext cx="257175" cy="257175"/>
          </a:xfrm>
          <a:prstGeom prst="rect">
            <a:avLst/>
          </a:prstGeom>
        </p:spPr>
      </p:pic>
      <p:sp>
        <p:nvSpPr>
          <p:cNvPr id="17" name="Primary AWS Region-3">
            <a:extLst>
              <a:ext uri="{FF2B5EF4-FFF2-40B4-BE49-F238E27FC236}">
                <a16:creationId xmlns:a16="http://schemas.microsoft.com/office/drawing/2014/main" id="{399220F2-12E8-4749-A020-3B7C3A0F5D07}"/>
              </a:ext>
            </a:extLst>
          </p:cNvPr>
          <p:cNvSpPr>
            <a:spLocks noGrp="1"/>
          </p:cNvSpPr>
          <p:nvPr/>
        </p:nvSpPr>
        <p:spPr>
          <a:xfrm>
            <a:off x="1190625" y="4105275"/>
            <a:ext cx="2619375" cy="180975"/>
          </a:xfrm>
          <a:prstGeom prst="rect">
            <a:avLst/>
          </a:prstGeom>
          <a:noFill/>
          <a:ln w="0">
            <a:noFill/>
            <a:prstDash val="solid"/>
          </a:ln>
        </p:spPr>
        <p:txBody>
          <a:bodyPr/>
          <a:lstStyle/>
          <a:p>
            <a:pPr>
              <a:buNone/>
              <a:defRPr sz="975">
                <a:solidFill>
                  <a:srgbClr val="374151"/>
                </a:solidFill>
              </a:defRPr>
            </a:pPr>
            <a:r>
              <a:rPr sz="975">
                <a:solidFill>
                  <a:srgbClr val="374151"/>
                </a:solidFill>
              </a:rPr>
              <a:t>Infrastructure from code</a:t>
            </a:r>
          </a:p>
        </p:txBody>
      </p:sp>
      <p:sp>
        <p:nvSpPr>
          <p:cNvPr id="18" name="Rectangle: Rounded Corners 17">
            <a:extLst>
              <a:ext uri="{FF2B5EF4-FFF2-40B4-BE49-F238E27FC236}">
                <a16:creationId xmlns:a16="http://schemas.microsoft.com/office/drawing/2014/main" id="{745B131A-BD01-47BD-A315-2572656A8D69}"/>
              </a:ext>
            </a:extLst>
          </p:cNvPr>
          <p:cNvSpPr>
            <a:spLocks noGrp="1"/>
          </p:cNvSpPr>
          <p:nvPr/>
        </p:nvSpPr>
        <p:spPr>
          <a:xfrm>
            <a:off x="7943850" y="2038350"/>
            <a:ext cx="3695700" cy="2619375"/>
          </a:xfrm>
          <a:prstGeom prst="roundRect">
            <a:avLst>
              <a:gd name="adj" fmla="val 4364"/>
            </a:avLst>
          </a:prstGeom>
          <a:solidFill>
            <a:srgbClr val="F2ECFF"/>
          </a:solidFill>
          <a:ln w="17145">
            <a:solidFill>
              <a:srgbClr val="6D4FB3"/>
            </a:solidFill>
            <a:prstDash val="solid"/>
          </a:ln>
        </p:spPr>
        <p:style>
          <a:lnRef idx="0">
            <a:scrgbClr r="0" g="0" b="0"/>
          </a:lnRef>
          <a:fillRef idx="0">
            <a:scrgbClr r="0" g="0" b="0"/>
          </a:fillRef>
          <a:effectRef idx="4">
            <a:scrgbClr r="0" g="0" b="0"/>
          </a:effectRef>
          <a:fontRef idx="major"/>
        </p:style>
        <p:txBody>
          <a:bodyPr/>
          <a:lstStyle/>
          <a:p>
            <a:endParaRPr/>
          </a:p>
        </p:txBody>
      </p:sp>
      <p:sp>
        <p:nvSpPr>
          <p:cNvPr id="19" name="Secondary AWS Region-title">
            <a:extLst>
              <a:ext uri="{FF2B5EF4-FFF2-40B4-BE49-F238E27FC236}">
                <a16:creationId xmlns:a16="http://schemas.microsoft.com/office/drawing/2014/main" id="{B89EEF55-C361-4881-AB28-38A6D2E3D60B}"/>
              </a:ext>
            </a:extLst>
          </p:cNvPr>
          <p:cNvSpPr>
            <a:spLocks noGrp="1"/>
          </p:cNvSpPr>
          <p:nvPr/>
        </p:nvSpPr>
        <p:spPr>
          <a:xfrm>
            <a:off x="8172450" y="2238375"/>
            <a:ext cx="3238500" cy="285750"/>
          </a:xfrm>
          <a:prstGeom prst="rect">
            <a:avLst/>
          </a:prstGeom>
          <a:noFill/>
          <a:ln w="0">
            <a:noFill/>
            <a:prstDash val="solid"/>
          </a:ln>
        </p:spPr>
        <p:txBody>
          <a:bodyPr/>
          <a:lstStyle/>
          <a:p>
            <a:pPr>
              <a:buNone/>
              <a:defRPr sz="1500" b="1">
                <a:solidFill>
                  <a:srgbClr val="172033"/>
                </a:solidFill>
              </a:defRPr>
            </a:pPr>
            <a:r>
              <a:rPr sz="1500" b="1">
                <a:solidFill>
                  <a:srgbClr val="172033"/>
                </a:solidFill>
              </a:rPr>
              <a:t>Secondary AWS Region</a:t>
            </a:r>
          </a:p>
        </p:txBody>
      </p:sp>
      <p:sp>
        <p:nvSpPr>
          <p:cNvPr id="20" name="Secondary AWS Region-status">
            <a:extLst>
              <a:ext uri="{FF2B5EF4-FFF2-40B4-BE49-F238E27FC236}">
                <a16:creationId xmlns:a16="http://schemas.microsoft.com/office/drawing/2014/main" id="{5527C8B4-5130-4301-A93C-7750A5884BEB}"/>
              </a:ext>
            </a:extLst>
          </p:cNvPr>
          <p:cNvSpPr>
            <a:spLocks noGrp="1"/>
          </p:cNvSpPr>
          <p:nvPr/>
        </p:nvSpPr>
        <p:spPr>
          <a:xfrm>
            <a:off x="8172450" y="2571750"/>
            <a:ext cx="3238500" cy="209550"/>
          </a:xfrm>
          <a:prstGeom prst="rect">
            <a:avLst/>
          </a:prstGeom>
          <a:noFill/>
          <a:ln w="0">
            <a:noFill/>
            <a:prstDash val="solid"/>
          </a:ln>
        </p:spPr>
        <p:txBody>
          <a:bodyPr/>
          <a:lstStyle/>
          <a:p>
            <a:pPr>
              <a:buNone/>
              <a:defRPr sz="900" b="1">
                <a:solidFill>
                  <a:srgbClr val="6D4FB3"/>
                </a:solidFill>
              </a:defRPr>
            </a:pPr>
            <a:r>
              <a:rPr sz="900" b="1">
                <a:solidFill>
                  <a:srgbClr val="6D4FB3"/>
                </a:solidFill>
              </a:rPr>
              <a:t>WARM STANDBY • MINIMUM CAPACITY</a:t>
            </a:r>
          </a:p>
        </p:txBody>
      </p:sp>
      <p:pic>
        <p:nvPicPr>
          <p:cNvPr id="80" name="Picture 69"/>
          <p:cNvPicPr>
            <a:picLocks noChangeAspect="1"/>
          </p:cNvPicPr>
          <p:nvPr/>
        </p:nvPicPr>
        <p:blipFill>
          <a:blip r:embed="rId3"/>
          <a:stretch/>
        </p:blipFill>
        <p:spPr>
          <a:xfrm>
            <a:off x="8210550" y="2952750"/>
            <a:ext cx="257175" cy="257175"/>
          </a:xfrm>
          <a:prstGeom prst="rect">
            <a:avLst/>
          </a:prstGeom>
        </p:spPr>
      </p:pic>
      <p:sp>
        <p:nvSpPr>
          <p:cNvPr id="22" name="Secondary AWS Region-0">
            <a:extLst>
              <a:ext uri="{FF2B5EF4-FFF2-40B4-BE49-F238E27FC236}">
                <a16:creationId xmlns:a16="http://schemas.microsoft.com/office/drawing/2014/main" id="{FD55041D-50BE-4AB9-B799-0403ACD61366}"/>
              </a:ext>
            </a:extLst>
          </p:cNvPr>
          <p:cNvSpPr>
            <a:spLocks noGrp="1"/>
          </p:cNvSpPr>
          <p:nvPr/>
        </p:nvSpPr>
        <p:spPr>
          <a:xfrm>
            <a:off x="8582025" y="2990850"/>
            <a:ext cx="2619375" cy="180975"/>
          </a:xfrm>
          <a:prstGeom prst="rect">
            <a:avLst/>
          </a:prstGeom>
          <a:noFill/>
          <a:ln w="0">
            <a:noFill/>
            <a:prstDash val="solid"/>
          </a:ln>
        </p:spPr>
        <p:txBody>
          <a:bodyPr/>
          <a:lstStyle/>
          <a:p>
            <a:pPr>
              <a:buNone/>
              <a:defRPr sz="975">
                <a:solidFill>
                  <a:srgbClr val="374151"/>
                </a:solidFill>
              </a:defRPr>
            </a:pPr>
            <a:r>
              <a:rPr sz="975">
                <a:solidFill>
                  <a:srgbClr val="374151"/>
                </a:solidFill>
              </a:rPr>
              <a:t>Booking + profile state</a:t>
            </a:r>
          </a:p>
        </p:txBody>
      </p:sp>
      <p:pic>
        <p:nvPicPr>
          <p:cNvPr id="82" name="Picture 71"/>
          <p:cNvPicPr>
            <a:picLocks noChangeAspect="1"/>
          </p:cNvPicPr>
          <p:nvPr/>
        </p:nvPicPr>
        <p:blipFill>
          <a:blip r:embed="rId4"/>
          <a:stretch/>
        </p:blipFill>
        <p:spPr>
          <a:xfrm>
            <a:off x="8210550" y="3324225"/>
            <a:ext cx="257175" cy="257175"/>
          </a:xfrm>
          <a:prstGeom prst="rect">
            <a:avLst/>
          </a:prstGeom>
        </p:spPr>
      </p:pic>
      <p:sp>
        <p:nvSpPr>
          <p:cNvPr id="24" name="Secondary AWS Region-1">
            <a:extLst>
              <a:ext uri="{FF2B5EF4-FFF2-40B4-BE49-F238E27FC236}">
                <a16:creationId xmlns:a16="http://schemas.microsoft.com/office/drawing/2014/main" id="{67B27403-DA25-4091-BB58-DECCBF334F05}"/>
              </a:ext>
            </a:extLst>
          </p:cNvPr>
          <p:cNvSpPr>
            <a:spLocks noGrp="1"/>
          </p:cNvSpPr>
          <p:nvPr/>
        </p:nvSpPr>
        <p:spPr>
          <a:xfrm>
            <a:off x="8582025" y="3362325"/>
            <a:ext cx="2619375" cy="180975"/>
          </a:xfrm>
          <a:prstGeom prst="rect">
            <a:avLst/>
          </a:prstGeom>
          <a:noFill/>
          <a:ln w="0">
            <a:noFill/>
            <a:prstDash val="solid"/>
          </a:ln>
        </p:spPr>
        <p:txBody>
          <a:bodyPr/>
          <a:lstStyle/>
          <a:p>
            <a:pPr>
              <a:buNone/>
              <a:defRPr sz="975">
                <a:solidFill>
                  <a:srgbClr val="374151"/>
                </a:solidFill>
              </a:defRPr>
            </a:pPr>
            <a:r>
              <a:rPr sz="975">
                <a:solidFill>
                  <a:srgbClr val="374151"/>
                </a:solidFill>
              </a:rPr>
              <a:t>Assets and controlled exports</a:t>
            </a:r>
          </a:p>
        </p:txBody>
      </p:sp>
      <p:pic>
        <p:nvPicPr>
          <p:cNvPr id="84" name="Picture 73"/>
          <p:cNvPicPr>
            <a:picLocks noChangeAspect="1"/>
          </p:cNvPicPr>
          <p:nvPr/>
        </p:nvPicPr>
        <p:blipFill>
          <a:blip r:embed="rId5"/>
          <a:stretch/>
        </p:blipFill>
        <p:spPr>
          <a:xfrm>
            <a:off x="8210550" y="3695700"/>
            <a:ext cx="257175" cy="257175"/>
          </a:xfrm>
          <a:prstGeom prst="rect">
            <a:avLst/>
          </a:prstGeom>
        </p:spPr>
      </p:pic>
      <p:sp>
        <p:nvSpPr>
          <p:cNvPr id="26" name="Secondary AWS Region-2">
            <a:extLst>
              <a:ext uri="{FF2B5EF4-FFF2-40B4-BE49-F238E27FC236}">
                <a16:creationId xmlns:a16="http://schemas.microsoft.com/office/drawing/2014/main" id="{1C2C94E8-575D-478C-A110-2A8BC0184ED7}"/>
              </a:ext>
            </a:extLst>
          </p:cNvPr>
          <p:cNvSpPr>
            <a:spLocks noGrp="1"/>
          </p:cNvSpPr>
          <p:nvPr/>
        </p:nvSpPr>
        <p:spPr>
          <a:xfrm>
            <a:off x="8582025" y="3733800"/>
            <a:ext cx="2619375" cy="180975"/>
          </a:xfrm>
          <a:prstGeom prst="rect">
            <a:avLst/>
          </a:prstGeom>
          <a:noFill/>
          <a:ln w="0">
            <a:noFill/>
            <a:prstDash val="solid"/>
          </a:ln>
        </p:spPr>
        <p:txBody>
          <a:bodyPr/>
          <a:lstStyle/>
          <a:p>
            <a:pPr>
              <a:buNone/>
              <a:defRPr sz="975">
                <a:solidFill>
                  <a:srgbClr val="374151"/>
                </a:solidFill>
              </a:defRPr>
            </a:pPr>
            <a:r>
              <a:rPr sz="975">
                <a:solidFill>
                  <a:srgbClr val="374151"/>
                </a:solidFill>
              </a:rPr>
              <a:t>Regional secrets + configuration</a:t>
            </a:r>
          </a:p>
        </p:txBody>
      </p:sp>
      <p:pic>
        <p:nvPicPr>
          <p:cNvPr id="86" name="Picture 75"/>
          <p:cNvPicPr>
            <a:picLocks noChangeAspect="1"/>
          </p:cNvPicPr>
          <p:nvPr/>
        </p:nvPicPr>
        <p:blipFill>
          <a:blip r:embed="rId6"/>
          <a:stretch/>
        </p:blipFill>
        <p:spPr>
          <a:xfrm>
            <a:off x="8210550" y="4067175"/>
            <a:ext cx="257175" cy="257175"/>
          </a:xfrm>
          <a:prstGeom prst="rect">
            <a:avLst/>
          </a:prstGeom>
        </p:spPr>
      </p:pic>
      <p:sp>
        <p:nvSpPr>
          <p:cNvPr id="28" name="Secondary AWS Region-3">
            <a:extLst>
              <a:ext uri="{FF2B5EF4-FFF2-40B4-BE49-F238E27FC236}">
                <a16:creationId xmlns:a16="http://schemas.microsoft.com/office/drawing/2014/main" id="{43526C4C-4F28-46AC-BCF9-A1321BD1B833}"/>
              </a:ext>
            </a:extLst>
          </p:cNvPr>
          <p:cNvSpPr>
            <a:spLocks noGrp="1"/>
          </p:cNvSpPr>
          <p:nvPr/>
        </p:nvSpPr>
        <p:spPr>
          <a:xfrm>
            <a:off x="8582025" y="4105275"/>
            <a:ext cx="2619375" cy="180975"/>
          </a:xfrm>
          <a:prstGeom prst="rect">
            <a:avLst/>
          </a:prstGeom>
          <a:noFill/>
          <a:ln w="0">
            <a:noFill/>
            <a:prstDash val="solid"/>
          </a:ln>
        </p:spPr>
        <p:txBody>
          <a:bodyPr/>
          <a:lstStyle/>
          <a:p>
            <a:pPr>
              <a:buNone/>
              <a:defRPr sz="975">
                <a:solidFill>
                  <a:srgbClr val="374151"/>
                </a:solidFill>
              </a:defRPr>
            </a:pPr>
            <a:r>
              <a:rPr sz="975">
                <a:solidFill>
                  <a:srgbClr val="374151"/>
                </a:solidFill>
              </a:rPr>
              <a:t>Infrastructure from code</a:t>
            </a:r>
          </a:p>
        </p:txBody>
      </p:sp>
      <p:sp>
        <p:nvSpPr>
          <p:cNvPr id="29" name="Rectangle: Rounded Corners 28">
            <a:extLst>
              <a:ext uri="{FF2B5EF4-FFF2-40B4-BE49-F238E27FC236}">
                <a16:creationId xmlns:a16="http://schemas.microsoft.com/office/drawing/2014/main" id="{E2DD00D5-EF4B-4ED2-8FDC-B0D84E44E486}"/>
              </a:ext>
            </a:extLst>
          </p:cNvPr>
          <p:cNvSpPr>
            <a:spLocks noGrp="1"/>
          </p:cNvSpPr>
          <p:nvPr/>
        </p:nvSpPr>
        <p:spPr>
          <a:xfrm>
            <a:off x="4810125" y="2038350"/>
            <a:ext cx="2590800" cy="2619375"/>
          </a:xfrm>
          <a:prstGeom prst="roundRect">
            <a:avLst>
              <a:gd name="adj" fmla="val 4412"/>
            </a:avLst>
          </a:prstGeom>
          <a:solidFill>
            <a:srgbClr val="FFFFFF"/>
          </a:solidFill>
          <a:ln w="12383">
            <a:solidFill>
              <a:srgbClr val="A5B0BF"/>
            </a:solidFill>
            <a:prstDash val="solid"/>
          </a:ln>
        </p:spPr>
        <p:txBody>
          <a:bodyPr/>
          <a:lstStyle/>
          <a:p>
            <a:endParaRPr/>
          </a:p>
        </p:txBody>
      </p:sp>
      <p:pic>
        <p:nvPicPr>
          <p:cNvPr id="89" name="Picture 78"/>
          <p:cNvPicPr>
            <a:picLocks noChangeAspect="1"/>
          </p:cNvPicPr>
          <p:nvPr/>
        </p:nvPicPr>
        <p:blipFill>
          <a:blip r:embed="rId7"/>
          <a:stretch/>
        </p:blipFill>
        <p:spPr>
          <a:xfrm>
            <a:off x="5010150" y="2266950"/>
            <a:ext cx="333375" cy="333375"/>
          </a:xfrm>
          <a:prstGeom prst="rect">
            <a:avLst/>
          </a:prstGeom>
        </p:spPr>
      </p:pic>
      <p:sp>
        <p:nvSpPr>
          <p:cNvPr id="31" name="failover-title">
            <a:extLst>
              <a:ext uri="{FF2B5EF4-FFF2-40B4-BE49-F238E27FC236}">
                <a16:creationId xmlns:a16="http://schemas.microsoft.com/office/drawing/2014/main" id="{76F74A33-FA97-43A4-A960-245A56ABBCD5}"/>
              </a:ext>
            </a:extLst>
          </p:cNvPr>
          <p:cNvSpPr>
            <a:spLocks noGrp="1"/>
          </p:cNvSpPr>
          <p:nvPr/>
        </p:nvSpPr>
        <p:spPr>
          <a:xfrm>
            <a:off x="5448300" y="2305050"/>
            <a:ext cx="1695450" cy="209550"/>
          </a:xfrm>
          <a:prstGeom prst="rect">
            <a:avLst/>
          </a:prstGeom>
          <a:noFill/>
          <a:ln w="0">
            <a:noFill/>
            <a:prstDash val="solid"/>
          </a:ln>
        </p:spPr>
        <p:txBody>
          <a:bodyPr/>
          <a:lstStyle/>
          <a:p>
            <a:pPr>
              <a:buNone/>
              <a:defRPr sz="1050" b="1">
                <a:solidFill>
                  <a:srgbClr val="172033"/>
                </a:solidFill>
              </a:defRPr>
            </a:pPr>
            <a:r>
              <a:rPr sz="1050" b="1">
                <a:solidFill>
                  <a:srgbClr val="172033"/>
                </a:solidFill>
              </a:rPr>
              <a:t>FAILOVER CONTROL</a:t>
            </a:r>
          </a:p>
        </p:txBody>
      </p:sp>
      <p:sp>
        <p:nvSpPr>
          <p:cNvPr id="32" name="control-0-title">
            <a:extLst>
              <a:ext uri="{FF2B5EF4-FFF2-40B4-BE49-F238E27FC236}">
                <a16:creationId xmlns:a16="http://schemas.microsoft.com/office/drawing/2014/main" id="{CB1014DC-6BDE-4C7A-9C72-8A40B27D1CE8}"/>
              </a:ext>
            </a:extLst>
          </p:cNvPr>
          <p:cNvSpPr>
            <a:spLocks noGrp="1"/>
          </p:cNvSpPr>
          <p:nvPr/>
        </p:nvSpPr>
        <p:spPr>
          <a:xfrm>
            <a:off x="5010150" y="2724150"/>
            <a:ext cx="638175" cy="161925"/>
          </a:xfrm>
          <a:prstGeom prst="rect">
            <a:avLst/>
          </a:prstGeom>
          <a:noFill/>
          <a:ln w="0">
            <a:noFill/>
            <a:prstDash val="solid"/>
          </a:ln>
        </p:spPr>
        <p:txBody>
          <a:bodyPr/>
          <a:lstStyle/>
          <a:p>
            <a:pPr>
              <a:buNone/>
              <a:defRPr sz="750" b="1">
                <a:solidFill>
                  <a:srgbClr val="087F75"/>
                </a:solidFill>
              </a:defRPr>
            </a:pPr>
            <a:r>
              <a:rPr sz="750" b="1">
                <a:solidFill>
                  <a:srgbClr val="087F75"/>
                </a:solidFill>
              </a:rPr>
              <a:t>TRIGGER</a:t>
            </a:r>
          </a:p>
        </p:txBody>
      </p:sp>
      <p:sp>
        <p:nvSpPr>
          <p:cNvPr id="33" name="control-0-body">
            <a:extLst>
              <a:ext uri="{FF2B5EF4-FFF2-40B4-BE49-F238E27FC236}">
                <a16:creationId xmlns:a16="http://schemas.microsoft.com/office/drawing/2014/main" id="{9C58D992-9A84-451E-B74A-7247E8F13DC7}"/>
              </a:ext>
            </a:extLst>
          </p:cNvPr>
          <p:cNvSpPr>
            <a:spLocks noGrp="1"/>
          </p:cNvSpPr>
          <p:nvPr/>
        </p:nvSpPr>
        <p:spPr>
          <a:xfrm>
            <a:off x="5657850" y="2714625"/>
            <a:ext cx="1524000" cy="361950"/>
          </a:xfrm>
          <a:prstGeom prst="rect">
            <a:avLst/>
          </a:prstGeom>
          <a:noFill/>
          <a:ln w="0">
            <a:noFill/>
            <a:prstDash val="solid"/>
          </a:ln>
        </p:spPr>
        <p:txBody>
          <a:bodyPr/>
          <a:lstStyle/>
          <a:p>
            <a:pPr>
              <a:buNone/>
              <a:defRPr sz="750">
                <a:solidFill>
                  <a:srgbClr val="374151"/>
                </a:solidFill>
              </a:defRPr>
            </a:pPr>
            <a:r>
              <a:rPr sz="750">
                <a:solidFill>
                  <a:srgbClr val="374151"/>
                </a:solidFill>
              </a:rPr>
              <a:t>Regional impairment &gt;15 min or declared service event</a:t>
            </a:r>
          </a:p>
        </p:txBody>
      </p:sp>
      <p:sp>
        <p:nvSpPr>
          <p:cNvPr id="34" name="control-1-title">
            <a:extLst>
              <a:ext uri="{FF2B5EF4-FFF2-40B4-BE49-F238E27FC236}">
                <a16:creationId xmlns:a16="http://schemas.microsoft.com/office/drawing/2014/main" id="{E38F32A0-37CB-4BB2-A3CA-2DF8C4F9DD74}"/>
              </a:ext>
            </a:extLst>
          </p:cNvPr>
          <p:cNvSpPr>
            <a:spLocks noGrp="1"/>
          </p:cNvSpPr>
          <p:nvPr/>
        </p:nvSpPr>
        <p:spPr>
          <a:xfrm>
            <a:off x="5010150" y="3171825"/>
            <a:ext cx="638175" cy="161925"/>
          </a:xfrm>
          <a:prstGeom prst="rect">
            <a:avLst/>
          </a:prstGeom>
          <a:noFill/>
          <a:ln w="0">
            <a:noFill/>
            <a:prstDash val="solid"/>
          </a:ln>
        </p:spPr>
        <p:txBody>
          <a:bodyPr/>
          <a:lstStyle/>
          <a:p>
            <a:pPr>
              <a:buNone/>
              <a:defRPr sz="750" b="1">
                <a:solidFill>
                  <a:srgbClr val="087F75"/>
                </a:solidFill>
              </a:defRPr>
            </a:pPr>
            <a:r>
              <a:rPr sz="750" b="1">
                <a:solidFill>
                  <a:srgbClr val="087F75"/>
                </a:solidFill>
              </a:rPr>
              <a:t>DECISION</a:t>
            </a:r>
          </a:p>
        </p:txBody>
      </p:sp>
      <p:sp>
        <p:nvSpPr>
          <p:cNvPr id="35" name="control-1-body">
            <a:extLst>
              <a:ext uri="{FF2B5EF4-FFF2-40B4-BE49-F238E27FC236}">
                <a16:creationId xmlns:a16="http://schemas.microsoft.com/office/drawing/2014/main" id="{F8CFBFDC-0F3D-4000-8849-EB864EE5053A}"/>
              </a:ext>
            </a:extLst>
          </p:cNvPr>
          <p:cNvSpPr>
            <a:spLocks noGrp="1"/>
          </p:cNvSpPr>
          <p:nvPr/>
        </p:nvSpPr>
        <p:spPr>
          <a:xfrm>
            <a:off x="5657850" y="3162300"/>
            <a:ext cx="1524000" cy="361950"/>
          </a:xfrm>
          <a:prstGeom prst="rect">
            <a:avLst/>
          </a:prstGeom>
          <a:noFill/>
          <a:ln w="0">
            <a:noFill/>
            <a:prstDash val="solid"/>
          </a:ln>
        </p:spPr>
        <p:txBody>
          <a:bodyPr/>
          <a:lstStyle/>
          <a:p>
            <a:pPr>
              <a:buNone/>
              <a:defRPr sz="750">
                <a:solidFill>
                  <a:srgbClr val="374151"/>
                </a:solidFill>
              </a:defRPr>
            </a:pPr>
            <a:r>
              <a:rPr sz="750">
                <a:solidFill>
                  <a:srgbClr val="374151"/>
                </a:solidFill>
              </a:rPr>
              <a:t>Incident Commander + Business Owner</a:t>
            </a:r>
          </a:p>
        </p:txBody>
      </p:sp>
      <p:sp>
        <p:nvSpPr>
          <p:cNvPr id="36" name="control-2-title">
            <a:extLst>
              <a:ext uri="{FF2B5EF4-FFF2-40B4-BE49-F238E27FC236}">
                <a16:creationId xmlns:a16="http://schemas.microsoft.com/office/drawing/2014/main" id="{FA893747-7861-4C1C-9355-2B104987EE32}"/>
              </a:ext>
            </a:extLst>
          </p:cNvPr>
          <p:cNvSpPr>
            <a:spLocks noGrp="1"/>
          </p:cNvSpPr>
          <p:nvPr/>
        </p:nvSpPr>
        <p:spPr>
          <a:xfrm>
            <a:off x="5010150" y="3619500"/>
            <a:ext cx="638175" cy="161925"/>
          </a:xfrm>
          <a:prstGeom prst="rect">
            <a:avLst/>
          </a:prstGeom>
          <a:noFill/>
          <a:ln w="0">
            <a:noFill/>
            <a:prstDash val="solid"/>
          </a:ln>
        </p:spPr>
        <p:txBody>
          <a:bodyPr/>
          <a:lstStyle/>
          <a:p>
            <a:pPr>
              <a:buNone/>
              <a:defRPr sz="750" b="1">
                <a:solidFill>
                  <a:srgbClr val="087F75"/>
                </a:solidFill>
              </a:defRPr>
            </a:pPr>
            <a:r>
              <a:rPr sz="750" b="1">
                <a:solidFill>
                  <a:srgbClr val="087F75"/>
                </a:solidFill>
              </a:rPr>
              <a:t>CONFLICT</a:t>
            </a:r>
          </a:p>
        </p:txBody>
      </p:sp>
      <p:sp>
        <p:nvSpPr>
          <p:cNvPr id="37" name="control-2-body">
            <a:extLst>
              <a:ext uri="{FF2B5EF4-FFF2-40B4-BE49-F238E27FC236}">
                <a16:creationId xmlns:a16="http://schemas.microsoft.com/office/drawing/2014/main" id="{E59BD949-8217-4A96-AF7C-80EF09D76F84}"/>
              </a:ext>
            </a:extLst>
          </p:cNvPr>
          <p:cNvSpPr>
            <a:spLocks noGrp="1"/>
          </p:cNvSpPr>
          <p:nvPr/>
        </p:nvSpPr>
        <p:spPr>
          <a:xfrm>
            <a:off x="5657850" y="3609975"/>
            <a:ext cx="1524000" cy="361950"/>
          </a:xfrm>
          <a:prstGeom prst="rect">
            <a:avLst/>
          </a:prstGeom>
          <a:noFill/>
          <a:ln w="0">
            <a:noFill/>
            <a:prstDash val="solid"/>
          </a:ln>
        </p:spPr>
        <p:txBody>
          <a:bodyPr/>
          <a:lstStyle/>
          <a:p>
            <a:pPr>
              <a:buNone/>
              <a:defRPr sz="750">
                <a:solidFill>
                  <a:srgbClr val="374151"/>
                </a:solidFill>
              </a:defRPr>
            </a:pPr>
            <a:r>
              <a:rPr sz="750">
                <a:solidFill>
                  <a:srgbClr val="374151"/>
                </a:solidFill>
              </a:rPr>
              <a:t>Single-writer lease + ownership epoch + conditional writes</a:t>
            </a:r>
          </a:p>
        </p:txBody>
      </p:sp>
      <p:sp>
        <p:nvSpPr>
          <p:cNvPr id="38" name="control-3-title">
            <a:extLst>
              <a:ext uri="{FF2B5EF4-FFF2-40B4-BE49-F238E27FC236}">
                <a16:creationId xmlns:a16="http://schemas.microsoft.com/office/drawing/2014/main" id="{176BC21E-DFB7-4174-BBC5-0EB5E8B2D820}"/>
              </a:ext>
            </a:extLst>
          </p:cNvPr>
          <p:cNvSpPr>
            <a:spLocks noGrp="1"/>
          </p:cNvSpPr>
          <p:nvPr/>
        </p:nvSpPr>
        <p:spPr>
          <a:xfrm>
            <a:off x="5010150" y="4067175"/>
            <a:ext cx="638175" cy="161925"/>
          </a:xfrm>
          <a:prstGeom prst="rect">
            <a:avLst/>
          </a:prstGeom>
          <a:noFill/>
          <a:ln w="0">
            <a:noFill/>
            <a:prstDash val="solid"/>
          </a:ln>
        </p:spPr>
        <p:txBody>
          <a:bodyPr/>
          <a:lstStyle/>
          <a:p>
            <a:pPr>
              <a:buNone/>
              <a:defRPr sz="750" b="1">
                <a:solidFill>
                  <a:srgbClr val="087F75"/>
                </a:solidFill>
              </a:defRPr>
            </a:pPr>
            <a:r>
              <a:rPr sz="750" b="1">
                <a:solidFill>
                  <a:srgbClr val="087F75"/>
                </a:solidFill>
              </a:rPr>
              <a:t>DEALERS</a:t>
            </a:r>
          </a:p>
        </p:txBody>
      </p:sp>
      <p:sp>
        <p:nvSpPr>
          <p:cNvPr id="39" name="control-3-body">
            <a:extLst>
              <a:ext uri="{FF2B5EF4-FFF2-40B4-BE49-F238E27FC236}">
                <a16:creationId xmlns:a16="http://schemas.microsoft.com/office/drawing/2014/main" id="{0A66FCC4-9E58-413F-84BD-2883542B6FD4}"/>
              </a:ext>
            </a:extLst>
          </p:cNvPr>
          <p:cNvSpPr>
            <a:spLocks noGrp="1"/>
          </p:cNvSpPr>
          <p:nvPr/>
        </p:nvSpPr>
        <p:spPr>
          <a:xfrm>
            <a:off x="5657850" y="4057650"/>
            <a:ext cx="1524000" cy="361950"/>
          </a:xfrm>
          <a:prstGeom prst="rect">
            <a:avLst/>
          </a:prstGeom>
          <a:noFill/>
          <a:ln w="0">
            <a:noFill/>
            <a:prstDash val="solid"/>
          </a:ln>
        </p:spPr>
        <p:txBody>
          <a:bodyPr/>
          <a:lstStyle/>
          <a:p>
            <a:pPr>
              <a:buNone/>
              <a:defRPr sz="750">
                <a:solidFill>
                  <a:srgbClr val="374151"/>
                </a:solidFill>
              </a:defRPr>
            </a:pPr>
            <a:r>
              <a:rPr sz="750">
                <a:solidFill>
                  <a:srgbClr val="374151"/>
                </a:solidFill>
              </a:rPr>
              <a:t>Preserve intent; never confirm while the authoritative dealer is unreachable</a:t>
            </a:r>
          </a:p>
        </p:txBody>
      </p:sp>
      <p:sp>
        <p:nvSpPr>
          <p:cNvPr id="40" name="target-0-value">
            <a:extLst>
              <a:ext uri="{FF2B5EF4-FFF2-40B4-BE49-F238E27FC236}">
                <a16:creationId xmlns:a16="http://schemas.microsoft.com/office/drawing/2014/main" id="{EB121C25-726C-45C1-A97C-21C56F204DCD}"/>
              </a:ext>
            </a:extLst>
          </p:cNvPr>
          <p:cNvSpPr>
            <a:spLocks noGrp="1"/>
          </p:cNvSpPr>
          <p:nvPr/>
        </p:nvSpPr>
        <p:spPr>
          <a:xfrm>
            <a:off x="552450" y="5010150"/>
            <a:ext cx="2286000" cy="361950"/>
          </a:xfrm>
          <a:prstGeom prst="rect">
            <a:avLst/>
          </a:prstGeom>
          <a:noFill/>
          <a:ln w="0">
            <a:noFill/>
            <a:prstDash val="solid"/>
          </a:ln>
        </p:spPr>
        <p:txBody>
          <a:bodyPr/>
          <a:lstStyle/>
          <a:p>
            <a:pPr algn="ctr">
              <a:buNone/>
              <a:defRPr sz="2025" b="1">
                <a:solidFill>
                  <a:srgbClr val="087F75"/>
                </a:solidFill>
              </a:defRPr>
            </a:pPr>
            <a:r>
              <a:rPr sz="2025" b="1">
                <a:solidFill>
                  <a:srgbClr val="087F75"/>
                </a:solidFill>
              </a:rPr>
              <a:t>99.95%</a:t>
            </a:r>
          </a:p>
        </p:txBody>
      </p:sp>
      <p:sp>
        <p:nvSpPr>
          <p:cNvPr id="41" name="target-0-label">
            <a:extLst>
              <a:ext uri="{FF2B5EF4-FFF2-40B4-BE49-F238E27FC236}">
                <a16:creationId xmlns:a16="http://schemas.microsoft.com/office/drawing/2014/main" id="{834EF6E3-B271-4106-9A7B-B6730111F0D1}"/>
              </a:ext>
            </a:extLst>
          </p:cNvPr>
          <p:cNvSpPr>
            <a:spLocks noGrp="1"/>
          </p:cNvSpPr>
          <p:nvPr/>
        </p:nvSpPr>
        <p:spPr>
          <a:xfrm>
            <a:off x="552450" y="5410200"/>
            <a:ext cx="2286000" cy="381000"/>
          </a:xfrm>
          <a:prstGeom prst="rect">
            <a:avLst/>
          </a:prstGeom>
          <a:noFill/>
          <a:ln w="0">
            <a:noFill/>
            <a:prstDash val="solid"/>
          </a:ln>
        </p:spPr>
        <p:txBody>
          <a:bodyPr/>
          <a:lstStyle/>
          <a:p>
            <a:pPr algn="ctr">
              <a:buNone/>
              <a:defRPr sz="900">
                <a:solidFill>
                  <a:srgbClr val="4B5563"/>
                </a:solidFill>
              </a:defRPr>
            </a:pPr>
            <a:r>
              <a:rPr sz="900">
                <a:solidFill>
                  <a:srgbClr val="4B5563"/>
                </a:solidFill>
              </a:rPr>
              <a:t>Platform-only SLO; dealer availability measured separately</a:t>
            </a:r>
          </a:p>
        </p:txBody>
      </p:sp>
      <p:sp>
        <p:nvSpPr>
          <p:cNvPr id="42" name="target-1-value">
            <a:extLst>
              <a:ext uri="{FF2B5EF4-FFF2-40B4-BE49-F238E27FC236}">
                <a16:creationId xmlns:a16="http://schemas.microsoft.com/office/drawing/2014/main" id="{D08D7C8F-04AB-4C7F-A66A-05620F45C511}"/>
              </a:ext>
            </a:extLst>
          </p:cNvPr>
          <p:cNvSpPr>
            <a:spLocks noGrp="1"/>
          </p:cNvSpPr>
          <p:nvPr/>
        </p:nvSpPr>
        <p:spPr>
          <a:xfrm>
            <a:off x="3362325" y="5010150"/>
            <a:ext cx="2286000" cy="361950"/>
          </a:xfrm>
          <a:prstGeom prst="rect">
            <a:avLst/>
          </a:prstGeom>
          <a:noFill/>
          <a:ln w="0">
            <a:noFill/>
            <a:prstDash val="solid"/>
          </a:ln>
        </p:spPr>
        <p:txBody>
          <a:bodyPr/>
          <a:lstStyle/>
          <a:p>
            <a:pPr algn="ctr">
              <a:buNone/>
              <a:defRPr sz="2025" b="1">
                <a:solidFill>
                  <a:srgbClr val="087F75"/>
                </a:solidFill>
              </a:defRPr>
            </a:pPr>
            <a:r>
              <a:rPr sz="2025" b="1">
                <a:solidFill>
                  <a:srgbClr val="087F75"/>
                </a:solidFill>
              </a:rPr>
              <a:t>≤60 min</a:t>
            </a:r>
          </a:p>
        </p:txBody>
      </p:sp>
      <p:sp>
        <p:nvSpPr>
          <p:cNvPr id="43" name="target-1-label">
            <a:extLst>
              <a:ext uri="{FF2B5EF4-FFF2-40B4-BE49-F238E27FC236}">
                <a16:creationId xmlns:a16="http://schemas.microsoft.com/office/drawing/2014/main" id="{6E475476-F6AB-4E8A-AB87-E215536593D4}"/>
              </a:ext>
            </a:extLst>
          </p:cNvPr>
          <p:cNvSpPr>
            <a:spLocks noGrp="1"/>
          </p:cNvSpPr>
          <p:nvPr/>
        </p:nvSpPr>
        <p:spPr>
          <a:xfrm>
            <a:off x="3362325" y="5410200"/>
            <a:ext cx="2286000" cy="381000"/>
          </a:xfrm>
          <a:prstGeom prst="rect">
            <a:avLst/>
          </a:prstGeom>
          <a:noFill/>
          <a:ln w="0">
            <a:noFill/>
            <a:prstDash val="solid"/>
          </a:ln>
        </p:spPr>
        <p:txBody>
          <a:bodyPr/>
          <a:lstStyle/>
          <a:p>
            <a:pPr algn="ctr">
              <a:buNone/>
              <a:defRPr sz="900">
                <a:solidFill>
                  <a:srgbClr val="4B5563"/>
                </a:solidFill>
              </a:defRPr>
            </a:pPr>
            <a:r>
              <a:rPr sz="900">
                <a:solidFill>
                  <a:srgbClr val="4B5563"/>
                </a:solidFill>
              </a:rPr>
              <a:t>Regional recovery time objective</a:t>
            </a:r>
          </a:p>
        </p:txBody>
      </p:sp>
      <p:sp>
        <p:nvSpPr>
          <p:cNvPr id="44" name="target-2-value">
            <a:extLst>
              <a:ext uri="{FF2B5EF4-FFF2-40B4-BE49-F238E27FC236}">
                <a16:creationId xmlns:a16="http://schemas.microsoft.com/office/drawing/2014/main" id="{BCAE7BEE-0F25-4A11-A07B-736533034453}"/>
              </a:ext>
            </a:extLst>
          </p:cNvPr>
          <p:cNvSpPr>
            <a:spLocks noGrp="1"/>
          </p:cNvSpPr>
          <p:nvPr/>
        </p:nvSpPr>
        <p:spPr>
          <a:xfrm>
            <a:off x="6172200" y="5010150"/>
            <a:ext cx="2286000" cy="361950"/>
          </a:xfrm>
          <a:prstGeom prst="rect">
            <a:avLst/>
          </a:prstGeom>
          <a:noFill/>
          <a:ln w="0">
            <a:noFill/>
            <a:prstDash val="solid"/>
          </a:ln>
        </p:spPr>
        <p:txBody>
          <a:bodyPr/>
          <a:lstStyle/>
          <a:p>
            <a:pPr algn="ctr">
              <a:buNone/>
              <a:defRPr sz="2025" b="1">
                <a:solidFill>
                  <a:srgbClr val="087F75"/>
                </a:solidFill>
              </a:defRPr>
            </a:pPr>
            <a:r>
              <a:rPr sz="2025" b="1">
                <a:solidFill>
                  <a:srgbClr val="087F75"/>
                </a:solidFill>
              </a:rPr>
              <a:t>≤5 min</a:t>
            </a:r>
          </a:p>
        </p:txBody>
      </p:sp>
      <p:sp>
        <p:nvSpPr>
          <p:cNvPr id="45" name="target-2-label">
            <a:extLst>
              <a:ext uri="{FF2B5EF4-FFF2-40B4-BE49-F238E27FC236}">
                <a16:creationId xmlns:a16="http://schemas.microsoft.com/office/drawing/2014/main" id="{BF427706-30FE-4A7C-9EFC-BA1BEDE21893}"/>
              </a:ext>
            </a:extLst>
          </p:cNvPr>
          <p:cNvSpPr>
            <a:spLocks noGrp="1"/>
          </p:cNvSpPr>
          <p:nvPr/>
        </p:nvSpPr>
        <p:spPr>
          <a:xfrm>
            <a:off x="6172200" y="5410200"/>
            <a:ext cx="2286000" cy="381000"/>
          </a:xfrm>
          <a:prstGeom prst="rect">
            <a:avLst/>
          </a:prstGeom>
          <a:noFill/>
          <a:ln w="0">
            <a:noFill/>
            <a:prstDash val="solid"/>
          </a:ln>
        </p:spPr>
        <p:txBody>
          <a:bodyPr/>
          <a:lstStyle/>
          <a:p>
            <a:pPr algn="ctr">
              <a:buNone/>
              <a:defRPr sz="900">
                <a:solidFill>
                  <a:srgbClr val="4B5563"/>
                </a:solidFill>
              </a:defRPr>
            </a:pPr>
            <a:r>
              <a:rPr sz="900">
                <a:solidFill>
                  <a:srgbClr val="4B5563"/>
                </a:solidFill>
              </a:rPr>
              <a:t>Booking/profile recovery point objective</a:t>
            </a:r>
          </a:p>
        </p:txBody>
      </p:sp>
      <p:sp>
        <p:nvSpPr>
          <p:cNvPr id="46" name="target-3-value">
            <a:extLst>
              <a:ext uri="{FF2B5EF4-FFF2-40B4-BE49-F238E27FC236}">
                <a16:creationId xmlns:a16="http://schemas.microsoft.com/office/drawing/2014/main" id="{2246CA7B-ED1C-4D62-8084-DFF8A3782210}"/>
              </a:ext>
            </a:extLst>
          </p:cNvPr>
          <p:cNvSpPr>
            <a:spLocks noGrp="1"/>
          </p:cNvSpPr>
          <p:nvPr/>
        </p:nvSpPr>
        <p:spPr>
          <a:xfrm>
            <a:off x="8982075" y="5010150"/>
            <a:ext cx="2286000" cy="361950"/>
          </a:xfrm>
          <a:prstGeom prst="rect">
            <a:avLst/>
          </a:prstGeom>
          <a:noFill/>
          <a:ln w="0">
            <a:noFill/>
            <a:prstDash val="solid"/>
          </a:ln>
        </p:spPr>
        <p:txBody>
          <a:bodyPr/>
          <a:lstStyle/>
          <a:p>
            <a:pPr algn="ctr">
              <a:buNone/>
              <a:defRPr sz="2025" b="1">
                <a:solidFill>
                  <a:srgbClr val="087F75"/>
                </a:solidFill>
              </a:defRPr>
            </a:pPr>
            <a:r>
              <a:rPr sz="2025" b="1">
                <a:solidFill>
                  <a:srgbClr val="087F75"/>
                </a:solidFill>
              </a:rPr>
              <a:t>Quarterly</a:t>
            </a:r>
          </a:p>
        </p:txBody>
      </p:sp>
      <p:sp>
        <p:nvSpPr>
          <p:cNvPr id="47" name="target-3-label">
            <a:extLst>
              <a:ext uri="{FF2B5EF4-FFF2-40B4-BE49-F238E27FC236}">
                <a16:creationId xmlns:a16="http://schemas.microsoft.com/office/drawing/2014/main" id="{C089E6FA-E475-4688-B071-00E8461050E5}"/>
              </a:ext>
            </a:extLst>
          </p:cNvPr>
          <p:cNvSpPr>
            <a:spLocks noGrp="1"/>
          </p:cNvSpPr>
          <p:nvPr/>
        </p:nvSpPr>
        <p:spPr>
          <a:xfrm>
            <a:off x="8982075" y="5410200"/>
            <a:ext cx="2286000" cy="381000"/>
          </a:xfrm>
          <a:prstGeom prst="rect">
            <a:avLst/>
          </a:prstGeom>
          <a:noFill/>
          <a:ln w="0">
            <a:noFill/>
            <a:prstDash val="solid"/>
          </a:ln>
        </p:spPr>
        <p:txBody>
          <a:bodyPr/>
          <a:lstStyle/>
          <a:p>
            <a:pPr algn="ctr">
              <a:buNone/>
              <a:defRPr sz="900">
                <a:solidFill>
                  <a:srgbClr val="4B5563"/>
                </a:solidFill>
              </a:defRPr>
            </a:pPr>
            <a:r>
              <a:rPr sz="900">
                <a:solidFill>
                  <a:srgbClr val="4B5563"/>
                </a:solidFill>
              </a:rPr>
              <a:t>Game day; annual full regional failover</a:t>
            </a:r>
          </a:p>
        </p:txBody>
      </p:sp>
      <p:sp>
        <p:nvSpPr>
          <p:cNvPr id="48" name="principle-banner">
            <a:extLst>
              <a:ext uri="{FF2B5EF4-FFF2-40B4-BE49-F238E27FC236}">
                <a16:creationId xmlns:a16="http://schemas.microsoft.com/office/drawing/2014/main" id="{6C480E63-E6C1-4C8E-B6BF-297A3FD99863}"/>
              </a:ext>
            </a:extLst>
          </p:cNvPr>
          <p:cNvSpPr>
            <a:spLocks noGrp="1"/>
          </p:cNvSpPr>
          <p:nvPr/>
        </p:nvSpPr>
        <p:spPr>
          <a:xfrm>
            <a:off x="552450" y="6076950"/>
            <a:ext cx="11087100" cy="428625"/>
          </a:xfrm>
          <a:prstGeom prst="roundRect">
            <a:avLst>
              <a:gd name="adj" fmla="val 17778"/>
            </a:avLst>
          </a:prstGeom>
          <a:solidFill>
            <a:srgbClr val="F0FAF8"/>
          </a:solidFill>
          <a:ln w="9525">
            <a:solidFill>
              <a:srgbClr val="A5DDD6"/>
            </a:solidFill>
            <a:prstDash val="solid"/>
          </a:ln>
        </p:spPr>
        <p:txBody>
          <a:bodyPr/>
          <a:lstStyle/>
          <a:p>
            <a:endParaRPr/>
          </a:p>
        </p:txBody>
      </p:sp>
      <p:sp>
        <p:nvSpPr>
          <p:cNvPr id="49" name="principle-text">
            <a:extLst>
              <a:ext uri="{FF2B5EF4-FFF2-40B4-BE49-F238E27FC236}">
                <a16:creationId xmlns:a16="http://schemas.microsoft.com/office/drawing/2014/main" id="{31B06CC7-8277-4982-BB16-8891E086E5D3}"/>
              </a:ext>
            </a:extLst>
          </p:cNvPr>
          <p:cNvSpPr>
            <a:spLocks noGrp="1"/>
          </p:cNvSpPr>
          <p:nvPr/>
        </p:nvSpPr>
        <p:spPr>
          <a:xfrm>
            <a:off x="742950" y="6191250"/>
            <a:ext cx="107061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Recovery is complete only after platform health, data integrity, and dealer-integration readiness are verified.</a:t>
            </a:r>
          </a:p>
        </p:txBody>
      </p:sp>
    </p:spTree>
    <p:extLst>
      <p:ext uri="{BB962C8B-B14F-4D97-AF65-F5344CB8AC3E}">
        <p14:creationId xmlns:p14="http://schemas.microsoft.com/office/powerpoint/2010/main" val="870504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eyebrow">
            <a:extLst>
              <a:ext uri="{FF2B5EF4-FFF2-40B4-BE49-F238E27FC236}">
                <a16:creationId xmlns:a16="http://schemas.microsoft.com/office/drawing/2014/main" id="{AD57E57C-E434-446A-B809-A77BF918054C}"/>
              </a:ext>
            </a:extLst>
          </p:cNvPr>
          <p:cNvSpPr>
            <a:spLocks noGrp="1"/>
          </p:cNvSpPr>
          <p:nvPr/>
        </p:nvSpPr>
        <p:spPr>
          <a:xfrm>
            <a:off x="552450" y="238125"/>
            <a:ext cx="409575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COST &amp; ARCHITECTURE OPTIONS</a:t>
            </a:r>
          </a:p>
        </p:txBody>
      </p:sp>
      <p:sp>
        <p:nvSpPr>
          <p:cNvPr id="2" name="title">
            <a:extLst>
              <a:ext uri="{FF2B5EF4-FFF2-40B4-BE49-F238E27FC236}">
                <a16:creationId xmlns:a16="http://schemas.microsoft.com/office/drawing/2014/main" id="{BFD00A44-3268-4C55-A49C-C6FE97819679}"/>
              </a:ext>
            </a:extLst>
          </p:cNvPr>
          <p:cNvSpPr>
            <a:spLocks noGrp="1"/>
          </p:cNvSpPr>
          <p:nvPr/>
        </p:nvSpPr>
        <p:spPr>
          <a:xfrm>
            <a:off x="552450" y="495300"/>
            <a:ext cx="11087100" cy="495300"/>
          </a:xfrm>
          <a:prstGeom prst="rect">
            <a:avLst/>
          </a:prstGeom>
          <a:noFill/>
          <a:ln w="0">
            <a:noFill/>
            <a:prstDash val="solid"/>
          </a:ln>
        </p:spPr>
        <p:txBody>
          <a:bodyPr/>
          <a:lstStyle/>
          <a:p>
            <a:pPr>
              <a:buNone/>
              <a:defRPr sz="2550" b="1">
                <a:solidFill>
                  <a:srgbClr val="111827"/>
                </a:solidFill>
              </a:defRPr>
            </a:pPr>
            <a:r>
              <a:rPr sz="2550" b="1">
                <a:solidFill>
                  <a:srgbClr val="111827"/>
                </a:solidFill>
              </a:rPr>
              <a:t>Hybrid compute with warm standby provides the best cost–resilience balance</a:t>
            </a:r>
          </a:p>
        </p:txBody>
      </p:sp>
      <p:sp>
        <p:nvSpPr>
          <p:cNvPr id="3" name="subtitle">
            <a:extLst>
              <a:ext uri="{FF2B5EF4-FFF2-40B4-BE49-F238E27FC236}">
                <a16:creationId xmlns:a16="http://schemas.microsoft.com/office/drawing/2014/main" id="{CD25FEA5-4599-4F00-BE1C-96CC47712479}"/>
              </a:ext>
            </a:extLst>
          </p:cNvPr>
          <p:cNvSpPr>
            <a:spLocks noGrp="1"/>
          </p:cNvSpPr>
          <p:nvPr/>
        </p:nvSpPr>
        <p:spPr>
          <a:xfrm>
            <a:off x="483624" y="1272356"/>
            <a:ext cx="11087100" cy="361950"/>
          </a:xfrm>
          <a:prstGeom prst="rect">
            <a:avLst/>
          </a:prstGeom>
          <a:noFill/>
          <a:ln w="0">
            <a:noFill/>
            <a:prstDash val="solid"/>
          </a:ln>
        </p:spPr>
        <p:txBody>
          <a:bodyPr/>
          <a:lstStyle/>
          <a:p>
            <a:pPr>
              <a:buNone/>
              <a:defRPr sz="1200">
                <a:solidFill>
                  <a:srgbClr val="5B6472"/>
                </a:solidFill>
              </a:defRPr>
            </a:pPr>
            <a:r>
              <a:rPr sz="1200" dirty="0">
                <a:solidFill>
                  <a:srgbClr val="5B6472"/>
                </a:solidFill>
              </a:rPr>
              <a:t>Directional run-rate comparison of complete platform combinations; indices are planning assumptions, not an AWS invoice.</a:t>
            </a:r>
          </a:p>
        </p:txBody>
      </p:sp>
      <p:sp>
        <p:nvSpPr>
          <p:cNvPr id="4" name="header-rule">
            <a:extLst>
              <a:ext uri="{FF2B5EF4-FFF2-40B4-BE49-F238E27FC236}">
                <a16:creationId xmlns:a16="http://schemas.microsoft.com/office/drawing/2014/main" id="{6CEB8B5C-78AC-4154-8E1F-78B84613FAA7}"/>
              </a:ext>
            </a:extLst>
          </p:cNvPr>
          <p:cNvSpPr>
            <a:spLocks noGrp="1"/>
          </p:cNvSpPr>
          <p:nvPr/>
        </p:nvSpPr>
        <p:spPr>
          <a:xfrm>
            <a:off x="552450" y="1533525"/>
            <a:ext cx="11087100" cy="0"/>
          </a:xfrm>
          <a:prstGeom prst="line">
            <a:avLst/>
          </a:prstGeom>
          <a:ln w="11430">
            <a:solidFill>
              <a:srgbClr val="D7DEE8"/>
            </a:solidFill>
            <a:prstDash val="solid"/>
          </a:ln>
        </p:spPr>
        <p:txBody>
          <a:bodyPr/>
          <a:lstStyle/>
          <a:p>
            <a:endParaRPr/>
          </a:p>
        </p:txBody>
      </p:sp>
      <p:sp>
        <p:nvSpPr>
          <p:cNvPr id="5" name="Rectangle: Rounded Corners 4">
            <a:extLst>
              <a:ext uri="{FF2B5EF4-FFF2-40B4-BE49-F238E27FC236}">
                <a16:creationId xmlns:a16="http://schemas.microsoft.com/office/drawing/2014/main" id="{731A64D9-B8C9-4386-92A1-831F51C0160F}"/>
              </a:ext>
            </a:extLst>
          </p:cNvPr>
          <p:cNvSpPr>
            <a:spLocks noGrp="1"/>
          </p:cNvSpPr>
          <p:nvPr/>
        </p:nvSpPr>
        <p:spPr>
          <a:xfrm>
            <a:off x="552450" y="1876425"/>
            <a:ext cx="7239000" cy="666750"/>
          </a:xfrm>
          <a:prstGeom prst="roundRect">
            <a:avLst>
              <a:gd name="adj" fmla="val 11429"/>
            </a:avLst>
          </a:prstGeom>
          <a:solidFill>
            <a:srgbClr val="FFFFFF"/>
          </a:solidFill>
          <a:ln w="9525">
            <a:solidFill>
              <a:srgbClr val="C5CED9"/>
            </a:solidFill>
            <a:prstDash val="solid"/>
          </a:ln>
        </p:spPr>
        <p:txBody>
          <a:bodyPr/>
          <a:lstStyle/>
          <a:p>
            <a:endParaRPr/>
          </a:p>
        </p:txBody>
      </p:sp>
      <p:pic>
        <p:nvPicPr>
          <p:cNvPr id="49" name="Picture 43"/>
          <p:cNvPicPr>
            <a:picLocks noChangeAspect="1"/>
          </p:cNvPicPr>
          <p:nvPr/>
        </p:nvPicPr>
        <p:blipFill>
          <a:blip r:embed="rId3"/>
          <a:stretch/>
        </p:blipFill>
        <p:spPr>
          <a:xfrm>
            <a:off x="723900" y="2038350"/>
            <a:ext cx="333375" cy="333375"/>
          </a:xfrm>
          <a:prstGeom prst="rect">
            <a:avLst/>
          </a:prstGeom>
        </p:spPr>
      </p:pic>
      <p:sp>
        <p:nvSpPr>
          <p:cNvPr id="7" name="cost-name-0">
            <a:extLst>
              <a:ext uri="{FF2B5EF4-FFF2-40B4-BE49-F238E27FC236}">
                <a16:creationId xmlns:a16="http://schemas.microsoft.com/office/drawing/2014/main" id="{2384DF8E-6A0F-4EE7-B80A-4DBC7E7D06C0}"/>
              </a:ext>
            </a:extLst>
          </p:cNvPr>
          <p:cNvSpPr>
            <a:spLocks noGrp="1"/>
          </p:cNvSpPr>
          <p:nvPr/>
        </p:nvSpPr>
        <p:spPr>
          <a:xfrm>
            <a:off x="1181100" y="1990725"/>
            <a:ext cx="1666875" cy="219075"/>
          </a:xfrm>
          <a:prstGeom prst="rect">
            <a:avLst/>
          </a:prstGeom>
          <a:noFill/>
          <a:ln w="0">
            <a:noFill/>
            <a:prstDash val="solid"/>
          </a:ln>
        </p:spPr>
        <p:txBody>
          <a:bodyPr/>
          <a:lstStyle/>
          <a:p>
            <a:pPr>
              <a:buNone/>
              <a:defRPr sz="1200" b="1">
                <a:solidFill>
                  <a:srgbClr val="172033"/>
                </a:solidFill>
              </a:defRPr>
            </a:pPr>
            <a:r>
              <a:rPr sz="1200" b="1">
                <a:solidFill>
                  <a:srgbClr val="172033"/>
                </a:solidFill>
              </a:rPr>
              <a:t>Lambda-only / single Region</a:t>
            </a:r>
          </a:p>
        </p:txBody>
      </p:sp>
      <p:sp>
        <p:nvSpPr>
          <p:cNvPr id="8" name="cost-strength-0">
            <a:extLst>
              <a:ext uri="{FF2B5EF4-FFF2-40B4-BE49-F238E27FC236}">
                <a16:creationId xmlns:a16="http://schemas.microsoft.com/office/drawing/2014/main" id="{75788DC0-5E33-46D5-8F26-C523C33C7219}"/>
              </a:ext>
            </a:extLst>
          </p:cNvPr>
          <p:cNvSpPr>
            <a:spLocks noGrp="1"/>
          </p:cNvSpPr>
          <p:nvPr/>
        </p:nvSpPr>
        <p:spPr>
          <a:xfrm>
            <a:off x="3000375" y="1981200"/>
            <a:ext cx="2571750" cy="409575"/>
          </a:xfrm>
          <a:prstGeom prst="rect">
            <a:avLst/>
          </a:prstGeom>
          <a:noFill/>
          <a:ln w="0">
            <a:noFill/>
            <a:prstDash val="solid"/>
          </a:ln>
        </p:spPr>
        <p:txBody>
          <a:bodyPr/>
          <a:lstStyle/>
          <a:p>
            <a:pPr>
              <a:buNone/>
              <a:defRPr sz="900">
                <a:solidFill>
                  <a:srgbClr val="374151"/>
                </a:solidFill>
              </a:defRPr>
            </a:pPr>
            <a:r>
              <a:rPr sz="900">
                <a:solidFill>
                  <a:srgbClr val="374151"/>
                </a:solidFill>
              </a:rPr>
              <a:t>Lowest idle cost for short, bursty workloads</a:t>
            </a:r>
          </a:p>
        </p:txBody>
      </p:sp>
      <p:sp>
        <p:nvSpPr>
          <p:cNvPr id="9" name="cost-characteristic-0">
            <a:extLst>
              <a:ext uri="{FF2B5EF4-FFF2-40B4-BE49-F238E27FC236}">
                <a16:creationId xmlns:a16="http://schemas.microsoft.com/office/drawing/2014/main" id="{80EF8543-7817-45B4-B7CF-51136DD80773}"/>
              </a:ext>
            </a:extLst>
          </p:cNvPr>
          <p:cNvSpPr>
            <a:spLocks noGrp="1"/>
          </p:cNvSpPr>
          <p:nvPr/>
        </p:nvSpPr>
        <p:spPr>
          <a:xfrm>
            <a:off x="5762625" y="1981200"/>
            <a:ext cx="1809750" cy="409575"/>
          </a:xfrm>
          <a:prstGeom prst="rect">
            <a:avLst/>
          </a:prstGeom>
          <a:noFill/>
          <a:ln w="0">
            <a:noFill/>
            <a:prstDash val="solid"/>
          </a:ln>
        </p:spPr>
        <p:txBody>
          <a:bodyPr/>
          <a:lstStyle/>
          <a:p>
            <a:pPr>
              <a:buNone/>
              <a:defRPr sz="900">
                <a:solidFill>
                  <a:srgbClr val="5B6472"/>
                </a:solidFill>
              </a:defRPr>
            </a:pPr>
            <a:r>
              <a:rPr sz="900">
                <a:solidFill>
                  <a:srgbClr val="5B6472"/>
                </a:solidFill>
              </a:rPr>
              <a:t>Limited fit for persistent adapters</a:t>
            </a:r>
          </a:p>
        </p:txBody>
      </p:sp>
      <p:sp>
        <p:nvSpPr>
          <p:cNvPr id="10" name="cost-index-label-0">
            <a:extLst>
              <a:ext uri="{FF2B5EF4-FFF2-40B4-BE49-F238E27FC236}">
                <a16:creationId xmlns:a16="http://schemas.microsoft.com/office/drawing/2014/main" id="{AC65E879-ADB4-40D5-BFE7-FA7BD6D56E19}"/>
              </a:ext>
            </a:extLst>
          </p:cNvPr>
          <p:cNvSpPr>
            <a:spLocks noGrp="1"/>
          </p:cNvSpPr>
          <p:nvPr/>
        </p:nvSpPr>
        <p:spPr>
          <a:xfrm>
            <a:off x="8077200" y="2000250"/>
            <a:ext cx="523875" cy="228600"/>
          </a:xfrm>
          <a:prstGeom prst="rect">
            <a:avLst/>
          </a:prstGeom>
          <a:noFill/>
          <a:ln w="0">
            <a:noFill/>
            <a:prstDash val="solid"/>
          </a:ln>
        </p:spPr>
        <p:txBody>
          <a:bodyPr/>
          <a:lstStyle/>
          <a:p>
            <a:pPr>
              <a:buNone/>
              <a:defRPr sz="1200" b="1">
                <a:solidFill>
                  <a:srgbClr val="5B6472"/>
                </a:solidFill>
              </a:defRPr>
            </a:pPr>
            <a:r>
              <a:rPr sz="1200" b="1">
                <a:solidFill>
                  <a:srgbClr val="5B6472"/>
                </a:solidFill>
              </a:rPr>
              <a:t>1.0×</a:t>
            </a:r>
          </a:p>
        </p:txBody>
      </p:sp>
      <p:sp>
        <p:nvSpPr>
          <p:cNvPr id="11" name="Rectangle 10">
            <a:extLst>
              <a:ext uri="{FF2B5EF4-FFF2-40B4-BE49-F238E27FC236}">
                <a16:creationId xmlns:a16="http://schemas.microsoft.com/office/drawing/2014/main" id="{6A2B8507-2487-4A8A-B18C-C18E61E89E22}"/>
              </a:ext>
            </a:extLst>
          </p:cNvPr>
          <p:cNvSpPr>
            <a:spLocks noGrp="1"/>
          </p:cNvSpPr>
          <p:nvPr/>
        </p:nvSpPr>
        <p:spPr>
          <a:xfrm>
            <a:off x="8696325" y="2038350"/>
            <a:ext cx="876300" cy="219075"/>
          </a:xfrm>
          <a:prstGeom prst="rect">
            <a:avLst/>
          </a:prstGeom>
          <a:solidFill>
            <a:srgbClr val="9AA4B2"/>
          </a:solidFill>
          <a:ln w="0">
            <a:noFill/>
            <a:prstDash val="solid"/>
          </a:ln>
        </p:spPr>
        <p:txBody>
          <a:bodyPr/>
          <a:lstStyle/>
          <a:p>
            <a:endParaRPr/>
          </a:p>
        </p:txBody>
      </p:sp>
      <p:sp>
        <p:nvSpPr>
          <p:cNvPr id="12" name="Rectangle: Rounded Corners 11">
            <a:extLst>
              <a:ext uri="{FF2B5EF4-FFF2-40B4-BE49-F238E27FC236}">
                <a16:creationId xmlns:a16="http://schemas.microsoft.com/office/drawing/2014/main" id="{3F3469ED-4651-4FD2-BC4C-214447C5BF37}"/>
              </a:ext>
            </a:extLst>
          </p:cNvPr>
          <p:cNvSpPr>
            <a:spLocks noGrp="1"/>
          </p:cNvSpPr>
          <p:nvPr/>
        </p:nvSpPr>
        <p:spPr>
          <a:xfrm>
            <a:off x="552450" y="2714625"/>
            <a:ext cx="7239000" cy="666750"/>
          </a:xfrm>
          <a:prstGeom prst="roundRect">
            <a:avLst>
              <a:gd name="adj" fmla="val 11429"/>
            </a:avLst>
          </a:prstGeom>
          <a:solidFill>
            <a:srgbClr val="F0FAF8"/>
          </a:solidFill>
          <a:ln w="17145">
            <a:solidFill>
              <a:srgbClr val="08A89B"/>
            </a:solidFill>
            <a:prstDash val="solid"/>
          </a:ln>
        </p:spPr>
        <p:txBody>
          <a:bodyPr/>
          <a:lstStyle/>
          <a:p>
            <a:endParaRPr/>
          </a:p>
        </p:txBody>
      </p:sp>
      <p:pic>
        <p:nvPicPr>
          <p:cNvPr id="56" name="Picture 50"/>
          <p:cNvPicPr>
            <a:picLocks noChangeAspect="1"/>
          </p:cNvPicPr>
          <p:nvPr/>
        </p:nvPicPr>
        <p:blipFill>
          <a:blip r:embed="rId4"/>
          <a:stretch/>
        </p:blipFill>
        <p:spPr>
          <a:xfrm>
            <a:off x="723900" y="2876550"/>
            <a:ext cx="333375" cy="333375"/>
          </a:xfrm>
          <a:prstGeom prst="rect">
            <a:avLst/>
          </a:prstGeom>
        </p:spPr>
      </p:pic>
      <p:sp>
        <p:nvSpPr>
          <p:cNvPr id="14" name="cost-name-1">
            <a:extLst>
              <a:ext uri="{FF2B5EF4-FFF2-40B4-BE49-F238E27FC236}">
                <a16:creationId xmlns:a16="http://schemas.microsoft.com/office/drawing/2014/main" id="{96E338D1-7FEE-4095-ADCB-14ED752EB659}"/>
              </a:ext>
            </a:extLst>
          </p:cNvPr>
          <p:cNvSpPr>
            <a:spLocks noGrp="1"/>
          </p:cNvSpPr>
          <p:nvPr/>
        </p:nvSpPr>
        <p:spPr>
          <a:xfrm>
            <a:off x="1181100" y="2828925"/>
            <a:ext cx="1666875" cy="219075"/>
          </a:xfrm>
          <a:prstGeom prst="rect">
            <a:avLst/>
          </a:prstGeom>
          <a:noFill/>
          <a:ln w="0">
            <a:noFill/>
            <a:prstDash val="solid"/>
          </a:ln>
        </p:spPr>
        <p:txBody>
          <a:bodyPr/>
          <a:lstStyle/>
          <a:p>
            <a:pPr>
              <a:buNone/>
              <a:defRPr sz="1200" b="1">
                <a:solidFill>
                  <a:srgbClr val="172033"/>
                </a:solidFill>
              </a:defRPr>
            </a:pPr>
            <a:r>
              <a:rPr sz="1200" b="1">
                <a:solidFill>
                  <a:srgbClr val="172033"/>
                </a:solidFill>
              </a:rPr>
              <a:t>Hybrid / single Region</a:t>
            </a:r>
          </a:p>
        </p:txBody>
      </p:sp>
      <p:sp>
        <p:nvSpPr>
          <p:cNvPr id="15" name="cost-strength-1">
            <a:extLst>
              <a:ext uri="{FF2B5EF4-FFF2-40B4-BE49-F238E27FC236}">
                <a16:creationId xmlns:a16="http://schemas.microsoft.com/office/drawing/2014/main" id="{752B6971-C102-4337-B5AE-B50801D1DF8C}"/>
              </a:ext>
            </a:extLst>
          </p:cNvPr>
          <p:cNvSpPr>
            <a:spLocks noGrp="1"/>
          </p:cNvSpPr>
          <p:nvPr/>
        </p:nvSpPr>
        <p:spPr>
          <a:xfrm>
            <a:off x="3000375" y="2819400"/>
            <a:ext cx="2571750" cy="409575"/>
          </a:xfrm>
          <a:prstGeom prst="rect">
            <a:avLst/>
          </a:prstGeom>
          <a:noFill/>
          <a:ln w="0">
            <a:noFill/>
            <a:prstDash val="solid"/>
          </a:ln>
        </p:spPr>
        <p:txBody>
          <a:bodyPr/>
          <a:lstStyle/>
          <a:p>
            <a:pPr>
              <a:buNone/>
              <a:defRPr sz="900">
                <a:solidFill>
                  <a:srgbClr val="374151"/>
                </a:solidFill>
              </a:defRPr>
            </a:pPr>
            <a:r>
              <a:rPr sz="900">
                <a:solidFill>
                  <a:srgbClr val="374151"/>
                </a:solidFill>
              </a:rPr>
              <a:t>Lambda APIs plus Fargate integration adapters</a:t>
            </a:r>
          </a:p>
        </p:txBody>
      </p:sp>
      <p:sp>
        <p:nvSpPr>
          <p:cNvPr id="16" name="cost-characteristic-1">
            <a:extLst>
              <a:ext uri="{FF2B5EF4-FFF2-40B4-BE49-F238E27FC236}">
                <a16:creationId xmlns:a16="http://schemas.microsoft.com/office/drawing/2014/main" id="{7F55E508-FCD3-4DDD-8C2F-F01A61C9574B}"/>
              </a:ext>
            </a:extLst>
          </p:cNvPr>
          <p:cNvSpPr>
            <a:spLocks noGrp="1"/>
          </p:cNvSpPr>
          <p:nvPr/>
        </p:nvSpPr>
        <p:spPr>
          <a:xfrm>
            <a:off x="5762625" y="2819400"/>
            <a:ext cx="1809750" cy="409575"/>
          </a:xfrm>
          <a:prstGeom prst="rect">
            <a:avLst/>
          </a:prstGeom>
          <a:noFill/>
          <a:ln w="0">
            <a:noFill/>
            <a:prstDash val="solid"/>
          </a:ln>
        </p:spPr>
        <p:txBody>
          <a:bodyPr/>
          <a:lstStyle/>
          <a:p>
            <a:pPr>
              <a:buNone/>
              <a:defRPr sz="900">
                <a:solidFill>
                  <a:srgbClr val="5B6472"/>
                </a:solidFill>
              </a:defRPr>
            </a:pPr>
            <a:r>
              <a:rPr sz="900">
                <a:solidFill>
                  <a:srgbClr val="5B6472"/>
                </a:solidFill>
              </a:rPr>
              <a:t>Baseline container capacity</a:t>
            </a:r>
          </a:p>
        </p:txBody>
      </p:sp>
      <p:sp>
        <p:nvSpPr>
          <p:cNvPr id="17" name="cost-index-label-1">
            <a:extLst>
              <a:ext uri="{FF2B5EF4-FFF2-40B4-BE49-F238E27FC236}">
                <a16:creationId xmlns:a16="http://schemas.microsoft.com/office/drawing/2014/main" id="{6F529BB9-EB27-45E5-8476-E44EAC13669C}"/>
              </a:ext>
            </a:extLst>
          </p:cNvPr>
          <p:cNvSpPr>
            <a:spLocks noGrp="1"/>
          </p:cNvSpPr>
          <p:nvPr/>
        </p:nvSpPr>
        <p:spPr>
          <a:xfrm>
            <a:off x="8077200" y="2838450"/>
            <a:ext cx="523875" cy="228600"/>
          </a:xfrm>
          <a:prstGeom prst="rect">
            <a:avLst/>
          </a:prstGeom>
          <a:noFill/>
          <a:ln w="0">
            <a:noFill/>
            <a:prstDash val="solid"/>
          </a:ln>
        </p:spPr>
        <p:txBody>
          <a:bodyPr/>
          <a:lstStyle/>
          <a:p>
            <a:pPr>
              <a:buNone/>
              <a:defRPr sz="1200" b="1">
                <a:solidFill>
                  <a:srgbClr val="087F75"/>
                </a:solidFill>
              </a:defRPr>
            </a:pPr>
            <a:r>
              <a:rPr sz="1200" b="1">
                <a:solidFill>
                  <a:srgbClr val="087F75"/>
                </a:solidFill>
              </a:rPr>
              <a:t>1.4×</a:t>
            </a:r>
          </a:p>
        </p:txBody>
      </p:sp>
      <p:sp>
        <p:nvSpPr>
          <p:cNvPr id="18" name="Rectangle 17">
            <a:extLst>
              <a:ext uri="{FF2B5EF4-FFF2-40B4-BE49-F238E27FC236}">
                <a16:creationId xmlns:a16="http://schemas.microsoft.com/office/drawing/2014/main" id="{6CEADDB1-950B-47A3-94D8-F6B10707F983}"/>
              </a:ext>
            </a:extLst>
          </p:cNvPr>
          <p:cNvSpPr>
            <a:spLocks noGrp="1"/>
          </p:cNvSpPr>
          <p:nvPr/>
        </p:nvSpPr>
        <p:spPr>
          <a:xfrm>
            <a:off x="8696325" y="2876550"/>
            <a:ext cx="1226820" cy="219075"/>
          </a:xfrm>
          <a:prstGeom prst="rect">
            <a:avLst/>
          </a:prstGeom>
          <a:solidFill>
            <a:srgbClr val="08A89B"/>
          </a:solidFill>
          <a:ln w="0">
            <a:noFill/>
            <a:prstDash val="solid"/>
          </a:ln>
        </p:spPr>
        <p:txBody>
          <a:bodyPr/>
          <a:lstStyle/>
          <a:p>
            <a:endParaRPr/>
          </a:p>
        </p:txBody>
      </p:sp>
      <p:sp>
        <p:nvSpPr>
          <p:cNvPr id="19" name="Rectangle: Rounded Corners 18">
            <a:extLst>
              <a:ext uri="{FF2B5EF4-FFF2-40B4-BE49-F238E27FC236}">
                <a16:creationId xmlns:a16="http://schemas.microsoft.com/office/drawing/2014/main" id="{47B00871-E7AB-4A03-9834-5EB47A29363B}"/>
              </a:ext>
            </a:extLst>
          </p:cNvPr>
          <p:cNvSpPr>
            <a:spLocks noGrp="1"/>
          </p:cNvSpPr>
          <p:nvPr/>
        </p:nvSpPr>
        <p:spPr>
          <a:xfrm>
            <a:off x="552450" y="3552825"/>
            <a:ext cx="7239000" cy="666750"/>
          </a:xfrm>
          <a:prstGeom prst="roundRect">
            <a:avLst>
              <a:gd name="adj" fmla="val 11429"/>
            </a:avLst>
          </a:prstGeom>
          <a:solidFill>
            <a:srgbClr val="F0FAF8"/>
          </a:solidFill>
          <a:ln w="17145">
            <a:solidFill>
              <a:srgbClr val="08A89B"/>
            </a:solidFill>
            <a:prstDash val="solid"/>
          </a:ln>
        </p:spPr>
        <p:txBody>
          <a:bodyPr/>
          <a:lstStyle/>
          <a:p>
            <a:endParaRPr/>
          </a:p>
        </p:txBody>
      </p:sp>
      <p:pic>
        <p:nvPicPr>
          <p:cNvPr id="63" name="Picture 57"/>
          <p:cNvPicPr>
            <a:picLocks noChangeAspect="1"/>
          </p:cNvPicPr>
          <p:nvPr/>
        </p:nvPicPr>
        <p:blipFill>
          <a:blip r:embed="rId5"/>
          <a:stretch/>
        </p:blipFill>
        <p:spPr>
          <a:xfrm>
            <a:off x="723900" y="3714750"/>
            <a:ext cx="333375" cy="333375"/>
          </a:xfrm>
          <a:prstGeom prst="rect">
            <a:avLst/>
          </a:prstGeom>
        </p:spPr>
      </p:pic>
      <p:sp>
        <p:nvSpPr>
          <p:cNvPr id="21" name="cost-name-2">
            <a:extLst>
              <a:ext uri="{FF2B5EF4-FFF2-40B4-BE49-F238E27FC236}">
                <a16:creationId xmlns:a16="http://schemas.microsoft.com/office/drawing/2014/main" id="{B372F35E-D37F-42C5-8475-F4CFEF286D1F}"/>
              </a:ext>
            </a:extLst>
          </p:cNvPr>
          <p:cNvSpPr>
            <a:spLocks noGrp="1"/>
          </p:cNvSpPr>
          <p:nvPr/>
        </p:nvSpPr>
        <p:spPr>
          <a:xfrm>
            <a:off x="1181100" y="3667125"/>
            <a:ext cx="1666875" cy="219075"/>
          </a:xfrm>
          <a:prstGeom prst="rect">
            <a:avLst/>
          </a:prstGeom>
          <a:noFill/>
          <a:ln w="0">
            <a:noFill/>
            <a:prstDash val="solid"/>
          </a:ln>
        </p:spPr>
        <p:txBody>
          <a:bodyPr/>
          <a:lstStyle/>
          <a:p>
            <a:pPr>
              <a:buNone/>
              <a:defRPr sz="1200" b="1">
                <a:solidFill>
                  <a:srgbClr val="172033"/>
                </a:solidFill>
              </a:defRPr>
            </a:pPr>
            <a:r>
              <a:rPr sz="1200" b="1">
                <a:solidFill>
                  <a:srgbClr val="172033"/>
                </a:solidFill>
              </a:rPr>
              <a:t>Hybrid + warm standby</a:t>
            </a:r>
          </a:p>
        </p:txBody>
      </p:sp>
      <p:sp>
        <p:nvSpPr>
          <p:cNvPr id="22" name="cost-strength-2">
            <a:extLst>
              <a:ext uri="{FF2B5EF4-FFF2-40B4-BE49-F238E27FC236}">
                <a16:creationId xmlns:a16="http://schemas.microsoft.com/office/drawing/2014/main" id="{9CA0DBCF-D999-466D-808E-03BB1BD6B7BF}"/>
              </a:ext>
            </a:extLst>
          </p:cNvPr>
          <p:cNvSpPr>
            <a:spLocks noGrp="1"/>
          </p:cNvSpPr>
          <p:nvPr/>
        </p:nvSpPr>
        <p:spPr>
          <a:xfrm>
            <a:off x="3000375" y="3657600"/>
            <a:ext cx="2571750" cy="409575"/>
          </a:xfrm>
          <a:prstGeom prst="rect">
            <a:avLst/>
          </a:prstGeom>
          <a:noFill/>
          <a:ln w="0">
            <a:noFill/>
            <a:prstDash val="solid"/>
          </a:ln>
        </p:spPr>
        <p:txBody>
          <a:bodyPr/>
          <a:lstStyle/>
          <a:p>
            <a:pPr>
              <a:buNone/>
              <a:defRPr sz="900">
                <a:solidFill>
                  <a:srgbClr val="374151"/>
                </a:solidFill>
              </a:defRPr>
            </a:pPr>
            <a:r>
              <a:rPr sz="900">
                <a:solidFill>
                  <a:srgbClr val="374151"/>
                </a:solidFill>
              </a:rPr>
              <a:t>Recommended compute and regional recovery model</a:t>
            </a:r>
          </a:p>
        </p:txBody>
      </p:sp>
      <p:sp>
        <p:nvSpPr>
          <p:cNvPr id="23" name="cost-characteristic-2">
            <a:extLst>
              <a:ext uri="{FF2B5EF4-FFF2-40B4-BE49-F238E27FC236}">
                <a16:creationId xmlns:a16="http://schemas.microsoft.com/office/drawing/2014/main" id="{603940C4-56A6-41E3-AB8F-4680C51ED394}"/>
              </a:ext>
            </a:extLst>
          </p:cNvPr>
          <p:cNvSpPr>
            <a:spLocks noGrp="1"/>
          </p:cNvSpPr>
          <p:nvPr/>
        </p:nvSpPr>
        <p:spPr>
          <a:xfrm>
            <a:off x="5762625" y="3657600"/>
            <a:ext cx="1809750" cy="409575"/>
          </a:xfrm>
          <a:prstGeom prst="rect">
            <a:avLst/>
          </a:prstGeom>
          <a:noFill/>
          <a:ln w="0">
            <a:noFill/>
            <a:prstDash val="solid"/>
          </a:ln>
        </p:spPr>
        <p:txBody>
          <a:bodyPr/>
          <a:lstStyle/>
          <a:p>
            <a:pPr>
              <a:buNone/>
              <a:defRPr sz="900">
                <a:solidFill>
                  <a:srgbClr val="5B6472"/>
                </a:solidFill>
              </a:defRPr>
            </a:pPr>
            <a:r>
              <a:rPr sz="900">
                <a:solidFill>
                  <a:srgbClr val="5B6472"/>
                </a:solidFill>
              </a:rPr>
              <a:t>Reduced secondary capacity</a:t>
            </a:r>
          </a:p>
        </p:txBody>
      </p:sp>
      <p:sp>
        <p:nvSpPr>
          <p:cNvPr id="24" name="cost-index-label-2">
            <a:extLst>
              <a:ext uri="{FF2B5EF4-FFF2-40B4-BE49-F238E27FC236}">
                <a16:creationId xmlns:a16="http://schemas.microsoft.com/office/drawing/2014/main" id="{D924E5BB-B827-4627-AE05-2F880F245119}"/>
              </a:ext>
            </a:extLst>
          </p:cNvPr>
          <p:cNvSpPr>
            <a:spLocks noGrp="1"/>
          </p:cNvSpPr>
          <p:nvPr/>
        </p:nvSpPr>
        <p:spPr>
          <a:xfrm>
            <a:off x="8077200" y="3676650"/>
            <a:ext cx="523875" cy="228600"/>
          </a:xfrm>
          <a:prstGeom prst="rect">
            <a:avLst/>
          </a:prstGeom>
          <a:noFill/>
          <a:ln w="0">
            <a:noFill/>
            <a:prstDash val="solid"/>
          </a:ln>
        </p:spPr>
        <p:txBody>
          <a:bodyPr/>
          <a:lstStyle/>
          <a:p>
            <a:pPr>
              <a:buNone/>
              <a:defRPr sz="1200" b="1">
                <a:solidFill>
                  <a:srgbClr val="087F75"/>
                </a:solidFill>
              </a:defRPr>
            </a:pPr>
            <a:r>
              <a:rPr sz="1200" b="1">
                <a:solidFill>
                  <a:srgbClr val="087F75"/>
                </a:solidFill>
              </a:rPr>
              <a:t>1.8×</a:t>
            </a:r>
          </a:p>
        </p:txBody>
      </p:sp>
      <p:sp>
        <p:nvSpPr>
          <p:cNvPr id="25" name="Rectangle 24">
            <a:extLst>
              <a:ext uri="{FF2B5EF4-FFF2-40B4-BE49-F238E27FC236}">
                <a16:creationId xmlns:a16="http://schemas.microsoft.com/office/drawing/2014/main" id="{6CD9F2E1-0EC9-4AA0-A86F-FDFFAFC3D0DD}"/>
              </a:ext>
            </a:extLst>
          </p:cNvPr>
          <p:cNvSpPr>
            <a:spLocks noGrp="1"/>
          </p:cNvSpPr>
          <p:nvPr/>
        </p:nvSpPr>
        <p:spPr>
          <a:xfrm>
            <a:off x="8696325" y="3714750"/>
            <a:ext cx="1577340" cy="219075"/>
          </a:xfrm>
          <a:prstGeom prst="rect">
            <a:avLst/>
          </a:prstGeom>
          <a:solidFill>
            <a:srgbClr val="08A89B"/>
          </a:solidFill>
          <a:ln w="0">
            <a:noFill/>
            <a:prstDash val="solid"/>
          </a:ln>
        </p:spPr>
        <p:txBody>
          <a:bodyPr/>
          <a:lstStyle/>
          <a:p>
            <a:endParaRPr/>
          </a:p>
        </p:txBody>
      </p:sp>
      <p:sp>
        <p:nvSpPr>
          <p:cNvPr id="26" name="Rectangle: Rounded Corners 25">
            <a:extLst>
              <a:ext uri="{FF2B5EF4-FFF2-40B4-BE49-F238E27FC236}">
                <a16:creationId xmlns:a16="http://schemas.microsoft.com/office/drawing/2014/main" id="{1E0114D6-C9EE-480D-9F6F-9CD4BB4FE10B}"/>
              </a:ext>
            </a:extLst>
          </p:cNvPr>
          <p:cNvSpPr>
            <a:spLocks noGrp="1"/>
          </p:cNvSpPr>
          <p:nvPr/>
        </p:nvSpPr>
        <p:spPr>
          <a:xfrm>
            <a:off x="552450" y="4391025"/>
            <a:ext cx="7239000" cy="666750"/>
          </a:xfrm>
          <a:prstGeom prst="roundRect">
            <a:avLst>
              <a:gd name="adj" fmla="val 11429"/>
            </a:avLst>
          </a:prstGeom>
          <a:solidFill>
            <a:srgbClr val="FFFFFF"/>
          </a:solidFill>
          <a:ln w="9525">
            <a:solidFill>
              <a:srgbClr val="C5CED9"/>
            </a:solidFill>
            <a:prstDash val="solid"/>
          </a:ln>
        </p:spPr>
        <p:txBody>
          <a:bodyPr/>
          <a:lstStyle/>
          <a:p>
            <a:endParaRPr/>
          </a:p>
        </p:txBody>
      </p:sp>
      <p:pic>
        <p:nvPicPr>
          <p:cNvPr id="70" name="Picture 64"/>
          <p:cNvPicPr>
            <a:picLocks noChangeAspect="1"/>
          </p:cNvPicPr>
          <p:nvPr/>
        </p:nvPicPr>
        <p:blipFill>
          <a:blip r:embed="rId6"/>
          <a:stretch/>
        </p:blipFill>
        <p:spPr>
          <a:xfrm>
            <a:off x="723900" y="4552950"/>
            <a:ext cx="333375" cy="333375"/>
          </a:xfrm>
          <a:prstGeom prst="rect">
            <a:avLst/>
          </a:prstGeom>
        </p:spPr>
      </p:pic>
      <p:sp>
        <p:nvSpPr>
          <p:cNvPr id="28" name="cost-name-3">
            <a:extLst>
              <a:ext uri="{FF2B5EF4-FFF2-40B4-BE49-F238E27FC236}">
                <a16:creationId xmlns:a16="http://schemas.microsoft.com/office/drawing/2014/main" id="{FF1973D6-BC78-4107-926B-991DCF9B8385}"/>
              </a:ext>
            </a:extLst>
          </p:cNvPr>
          <p:cNvSpPr>
            <a:spLocks noGrp="1"/>
          </p:cNvSpPr>
          <p:nvPr/>
        </p:nvSpPr>
        <p:spPr>
          <a:xfrm>
            <a:off x="1181100" y="4505325"/>
            <a:ext cx="1666875" cy="219075"/>
          </a:xfrm>
          <a:prstGeom prst="rect">
            <a:avLst/>
          </a:prstGeom>
          <a:noFill/>
          <a:ln w="0">
            <a:noFill/>
            <a:prstDash val="solid"/>
          </a:ln>
        </p:spPr>
        <p:txBody>
          <a:bodyPr/>
          <a:lstStyle/>
          <a:p>
            <a:pPr>
              <a:buNone/>
              <a:defRPr sz="1200" b="1">
                <a:solidFill>
                  <a:srgbClr val="172033"/>
                </a:solidFill>
              </a:defRPr>
            </a:pPr>
            <a:r>
              <a:rPr sz="1200" b="1">
                <a:solidFill>
                  <a:srgbClr val="172033"/>
                </a:solidFill>
              </a:rPr>
              <a:t>Hybrid active / active</a:t>
            </a:r>
          </a:p>
        </p:txBody>
      </p:sp>
      <p:sp>
        <p:nvSpPr>
          <p:cNvPr id="29" name="cost-strength-3">
            <a:extLst>
              <a:ext uri="{FF2B5EF4-FFF2-40B4-BE49-F238E27FC236}">
                <a16:creationId xmlns:a16="http://schemas.microsoft.com/office/drawing/2014/main" id="{E1B1C2C5-EF43-4DD6-8D4B-B2EC8CA5128B}"/>
              </a:ext>
            </a:extLst>
          </p:cNvPr>
          <p:cNvSpPr>
            <a:spLocks noGrp="1"/>
          </p:cNvSpPr>
          <p:nvPr/>
        </p:nvSpPr>
        <p:spPr>
          <a:xfrm>
            <a:off x="3000375" y="4495800"/>
            <a:ext cx="2571750" cy="409575"/>
          </a:xfrm>
          <a:prstGeom prst="rect">
            <a:avLst/>
          </a:prstGeom>
          <a:noFill/>
          <a:ln w="0">
            <a:noFill/>
            <a:prstDash val="solid"/>
          </a:ln>
        </p:spPr>
        <p:txBody>
          <a:bodyPr/>
          <a:lstStyle/>
          <a:p>
            <a:pPr>
              <a:buNone/>
              <a:defRPr sz="900">
                <a:solidFill>
                  <a:srgbClr val="374151"/>
                </a:solidFill>
              </a:defRPr>
            </a:pPr>
            <a:r>
              <a:rPr sz="900">
                <a:solidFill>
                  <a:srgbClr val="374151"/>
                </a:solidFill>
              </a:rPr>
              <a:t>Lowest regional recovery time</a:t>
            </a:r>
          </a:p>
        </p:txBody>
      </p:sp>
      <p:sp>
        <p:nvSpPr>
          <p:cNvPr id="30" name="cost-characteristic-3">
            <a:extLst>
              <a:ext uri="{FF2B5EF4-FFF2-40B4-BE49-F238E27FC236}">
                <a16:creationId xmlns:a16="http://schemas.microsoft.com/office/drawing/2014/main" id="{8B28DAF2-84A3-416C-990E-A79FB82000AC}"/>
              </a:ext>
            </a:extLst>
          </p:cNvPr>
          <p:cNvSpPr>
            <a:spLocks noGrp="1"/>
          </p:cNvSpPr>
          <p:nvPr/>
        </p:nvSpPr>
        <p:spPr>
          <a:xfrm>
            <a:off x="5762625" y="4495800"/>
            <a:ext cx="1809750" cy="409575"/>
          </a:xfrm>
          <a:prstGeom prst="rect">
            <a:avLst/>
          </a:prstGeom>
          <a:noFill/>
          <a:ln w="0">
            <a:noFill/>
            <a:prstDash val="solid"/>
          </a:ln>
        </p:spPr>
        <p:txBody>
          <a:bodyPr/>
          <a:lstStyle/>
          <a:p>
            <a:pPr>
              <a:buNone/>
              <a:defRPr sz="900">
                <a:solidFill>
                  <a:srgbClr val="5B6472"/>
                </a:solidFill>
              </a:defRPr>
            </a:pPr>
            <a:r>
              <a:rPr sz="900">
                <a:solidFill>
                  <a:srgbClr val="5B6472"/>
                </a:solidFill>
              </a:rPr>
              <a:t>Highest cost and conflict complexity</a:t>
            </a:r>
          </a:p>
        </p:txBody>
      </p:sp>
      <p:sp>
        <p:nvSpPr>
          <p:cNvPr id="31" name="cost-index-label-3">
            <a:extLst>
              <a:ext uri="{FF2B5EF4-FFF2-40B4-BE49-F238E27FC236}">
                <a16:creationId xmlns:a16="http://schemas.microsoft.com/office/drawing/2014/main" id="{EC7E8162-7ACA-4B60-BC0B-6663BC500E0F}"/>
              </a:ext>
            </a:extLst>
          </p:cNvPr>
          <p:cNvSpPr>
            <a:spLocks noGrp="1"/>
          </p:cNvSpPr>
          <p:nvPr/>
        </p:nvSpPr>
        <p:spPr>
          <a:xfrm>
            <a:off x="8077200" y="4514850"/>
            <a:ext cx="523875" cy="228600"/>
          </a:xfrm>
          <a:prstGeom prst="rect">
            <a:avLst/>
          </a:prstGeom>
          <a:noFill/>
          <a:ln w="0">
            <a:noFill/>
            <a:prstDash val="solid"/>
          </a:ln>
        </p:spPr>
        <p:txBody>
          <a:bodyPr/>
          <a:lstStyle/>
          <a:p>
            <a:pPr>
              <a:buNone/>
              <a:defRPr sz="1200" b="1">
                <a:solidFill>
                  <a:srgbClr val="5B6472"/>
                </a:solidFill>
              </a:defRPr>
            </a:pPr>
            <a:r>
              <a:rPr sz="1200" b="1">
                <a:solidFill>
                  <a:srgbClr val="5B6472"/>
                </a:solidFill>
              </a:rPr>
              <a:t>2.8×</a:t>
            </a:r>
          </a:p>
        </p:txBody>
      </p:sp>
      <p:sp>
        <p:nvSpPr>
          <p:cNvPr id="32" name="Rectangle 31">
            <a:extLst>
              <a:ext uri="{FF2B5EF4-FFF2-40B4-BE49-F238E27FC236}">
                <a16:creationId xmlns:a16="http://schemas.microsoft.com/office/drawing/2014/main" id="{0D45FA39-5C5B-4132-A11F-7D2D95F7AFF1}"/>
              </a:ext>
            </a:extLst>
          </p:cNvPr>
          <p:cNvSpPr>
            <a:spLocks noGrp="1"/>
          </p:cNvSpPr>
          <p:nvPr/>
        </p:nvSpPr>
        <p:spPr>
          <a:xfrm>
            <a:off x="8696325" y="4552950"/>
            <a:ext cx="2453640" cy="219075"/>
          </a:xfrm>
          <a:prstGeom prst="rect">
            <a:avLst/>
          </a:prstGeom>
          <a:solidFill>
            <a:srgbClr val="9AA4B2"/>
          </a:solidFill>
          <a:ln w="0">
            <a:noFill/>
            <a:prstDash val="solid"/>
          </a:ln>
        </p:spPr>
        <p:txBody>
          <a:bodyPr/>
          <a:lstStyle/>
          <a:p>
            <a:endParaRPr/>
          </a:p>
        </p:txBody>
      </p:sp>
      <p:sp>
        <p:nvSpPr>
          <p:cNvPr id="33" name="relative-label">
            <a:extLst>
              <a:ext uri="{FF2B5EF4-FFF2-40B4-BE49-F238E27FC236}">
                <a16:creationId xmlns:a16="http://schemas.microsoft.com/office/drawing/2014/main" id="{2AD3A50D-0C5C-4118-AF2C-1769A604BD23}"/>
              </a:ext>
            </a:extLst>
          </p:cNvPr>
          <p:cNvSpPr>
            <a:spLocks noGrp="1"/>
          </p:cNvSpPr>
          <p:nvPr/>
        </p:nvSpPr>
        <p:spPr>
          <a:xfrm>
            <a:off x="8020050" y="1628775"/>
            <a:ext cx="3143250" cy="171450"/>
          </a:xfrm>
          <a:prstGeom prst="rect">
            <a:avLst/>
          </a:prstGeom>
          <a:noFill/>
          <a:ln w="0">
            <a:noFill/>
            <a:prstDash val="solid"/>
          </a:ln>
        </p:spPr>
        <p:txBody>
          <a:bodyPr/>
          <a:lstStyle/>
          <a:p>
            <a:pPr>
              <a:buNone/>
              <a:defRPr sz="825" b="1">
                <a:solidFill>
                  <a:srgbClr val="5B6472"/>
                </a:solidFill>
              </a:defRPr>
            </a:pPr>
            <a:r>
              <a:rPr sz="825" b="1" dirty="0">
                <a:solidFill>
                  <a:srgbClr val="5B6472"/>
                </a:solidFill>
              </a:rPr>
              <a:t>RELATIVE RUN-RATE INDEX</a:t>
            </a:r>
          </a:p>
        </p:txBody>
      </p:sp>
      <p:sp>
        <p:nvSpPr>
          <p:cNvPr id="34" name="Rectangle: Rounded Corners 33">
            <a:extLst>
              <a:ext uri="{FF2B5EF4-FFF2-40B4-BE49-F238E27FC236}">
                <a16:creationId xmlns:a16="http://schemas.microsoft.com/office/drawing/2014/main" id="{2619208B-149D-496E-878B-E4B585965BD2}"/>
              </a:ext>
            </a:extLst>
          </p:cNvPr>
          <p:cNvSpPr>
            <a:spLocks noGrp="1"/>
          </p:cNvSpPr>
          <p:nvPr/>
        </p:nvSpPr>
        <p:spPr>
          <a:xfrm>
            <a:off x="552450" y="5334000"/>
            <a:ext cx="11087100" cy="628650"/>
          </a:xfrm>
          <a:prstGeom prst="roundRect">
            <a:avLst>
              <a:gd name="adj" fmla="val 12121"/>
            </a:avLst>
          </a:prstGeom>
          <a:solidFill>
            <a:srgbClr val="FFF8EC"/>
          </a:solidFill>
          <a:ln w="9525">
            <a:solidFill>
              <a:srgbClr val="E7BD7F"/>
            </a:solidFill>
            <a:prstDash val="solid"/>
          </a:ln>
        </p:spPr>
        <p:txBody>
          <a:bodyPr/>
          <a:lstStyle/>
          <a:p>
            <a:endParaRPr/>
          </a:p>
        </p:txBody>
      </p:sp>
      <p:sp>
        <p:nvSpPr>
          <p:cNvPr id="35" name="drivers-title">
            <a:extLst>
              <a:ext uri="{FF2B5EF4-FFF2-40B4-BE49-F238E27FC236}">
                <a16:creationId xmlns:a16="http://schemas.microsoft.com/office/drawing/2014/main" id="{2126F347-158D-4796-A5E3-90E06DCB3E86}"/>
              </a:ext>
            </a:extLst>
          </p:cNvPr>
          <p:cNvSpPr>
            <a:spLocks noGrp="1"/>
          </p:cNvSpPr>
          <p:nvPr/>
        </p:nvSpPr>
        <p:spPr>
          <a:xfrm>
            <a:off x="742950" y="5486400"/>
            <a:ext cx="1524000" cy="171450"/>
          </a:xfrm>
          <a:prstGeom prst="rect">
            <a:avLst/>
          </a:prstGeom>
          <a:noFill/>
          <a:ln w="0">
            <a:noFill/>
            <a:prstDash val="solid"/>
          </a:ln>
        </p:spPr>
        <p:txBody>
          <a:bodyPr/>
          <a:lstStyle/>
          <a:p>
            <a:pPr>
              <a:buNone/>
              <a:defRPr sz="825" b="1">
                <a:solidFill>
                  <a:srgbClr val="9A560B"/>
                </a:solidFill>
              </a:defRPr>
            </a:pPr>
            <a:r>
              <a:rPr sz="825" b="1">
                <a:solidFill>
                  <a:srgbClr val="9A560B"/>
                </a:solidFill>
              </a:rPr>
              <a:t>MAJOR COST DRIVERS</a:t>
            </a:r>
          </a:p>
        </p:txBody>
      </p:sp>
      <p:sp>
        <p:nvSpPr>
          <p:cNvPr id="36" name="drivers-body">
            <a:extLst>
              <a:ext uri="{FF2B5EF4-FFF2-40B4-BE49-F238E27FC236}">
                <a16:creationId xmlns:a16="http://schemas.microsoft.com/office/drawing/2014/main" id="{D5A9B8B8-6C27-4D15-A5A1-AB0B99896494}"/>
              </a:ext>
            </a:extLst>
          </p:cNvPr>
          <p:cNvSpPr>
            <a:spLocks noGrp="1"/>
          </p:cNvSpPr>
          <p:nvPr/>
        </p:nvSpPr>
        <p:spPr>
          <a:xfrm>
            <a:off x="2305050" y="5467350"/>
            <a:ext cx="9048750" cy="361950"/>
          </a:xfrm>
          <a:prstGeom prst="rect">
            <a:avLst/>
          </a:prstGeom>
          <a:noFill/>
          <a:ln w="0">
            <a:noFill/>
            <a:prstDash val="solid"/>
          </a:ln>
        </p:spPr>
        <p:txBody>
          <a:bodyPr/>
          <a:lstStyle/>
          <a:p>
            <a:pPr>
              <a:buNone/>
              <a:defRPr sz="900">
                <a:solidFill>
                  <a:srgbClr val="5B4A35"/>
                </a:solidFill>
              </a:defRPr>
            </a:pPr>
            <a:r>
              <a:rPr sz="900">
                <a:solidFill>
                  <a:srgbClr val="5B4A35"/>
                </a:solidFill>
              </a:rPr>
              <a:t>API requests and Lambda duration • minimum Fargate tasks • DynamoDB read/write volume • SMS messages • logs and trace retention • cross-Region replication • private connectivity</a:t>
            </a:r>
          </a:p>
        </p:txBody>
      </p:sp>
      <p:sp>
        <p:nvSpPr>
          <p:cNvPr id="37" name="principle-banner">
            <a:extLst>
              <a:ext uri="{FF2B5EF4-FFF2-40B4-BE49-F238E27FC236}">
                <a16:creationId xmlns:a16="http://schemas.microsoft.com/office/drawing/2014/main" id="{61A0BD9E-DC61-4CAC-97C2-B8E87E66D522}"/>
              </a:ext>
            </a:extLst>
          </p:cNvPr>
          <p:cNvSpPr>
            <a:spLocks noGrp="1"/>
          </p:cNvSpPr>
          <p:nvPr/>
        </p:nvSpPr>
        <p:spPr>
          <a:xfrm>
            <a:off x="552450" y="6115050"/>
            <a:ext cx="11087100" cy="428625"/>
          </a:xfrm>
          <a:prstGeom prst="roundRect">
            <a:avLst>
              <a:gd name="adj" fmla="val 17778"/>
            </a:avLst>
          </a:prstGeom>
          <a:solidFill>
            <a:srgbClr val="F0FAF8"/>
          </a:solidFill>
          <a:ln w="9525">
            <a:solidFill>
              <a:srgbClr val="A5DDD6"/>
            </a:solidFill>
            <a:prstDash val="solid"/>
          </a:ln>
        </p:spPr>
        <p:txBody>
          <a:bodyPr/>
          <a:lstStyle/>
          <a:p>
            <a:endParaRPr/>
          </a:p>
        </p:txBody>
      </p:sp>
      <p:sp>
        <p:nvSpPr>
          <p:cNvPr id="38" name="principle-text">
            <a:extLst>
              <a:ext uri="{FF2B5EF4-FFF2-40B4-BE49-F238E27FC236}">
                <a16:creationId xmlns:a16="http://schemas.microsoft.com/office/drawing/2014/main" id="{E071FDBD-5BBF-48B2-B000-E9BA4E887671}"/>
              </a:ext>
            </a:extLst>
          </p:cNvPr>
          <p:cNvSpPr>
            <a:spLocks noGrp="1"/>
          </p:cNvSpPr>
          <p:nvPr/>
        </p:nvSpPr>
        <p:spPr>
          <a:xfrm>
            <a:off x="742950" y="6229350"/>
            <a:ext cx="107061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Recommendation: hybrid Lambda + Fargate compute with warm standby—not full active/active.</a:t>
            </a:r>
          </a:p>
        </p:txBody>
      </p:sp>
    </p:spTree>
    <p:extLst>
      <p:ext uri="{BB962C8B-B14F-4D97-AF65-F5344CB8AC3E}">
        <p14:creationId xmlns:p14="http://schemas.microsoft.com/office/powerpoint/2010/main" val="19975209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eyebrow">
            <a:extLst>
              <a:ext uri="{FF2B5EF4-FFF2-40B4-BE49-F238E27FC236}">
                <a16:creationId xmlns:a16="http://schemas.microsoft.com/office/drawing/2014/main" id="{9D655F7E-3DE9-4E7E-96F5-AB710D5473B6}"/>
              </a:ext>
            </a:extLst>
          </p:cNvPr>
          <p:cNvSpPr>
            <a:spLocks noGrp="1"/>
          </p:cNvSpPr>
          <p:nvPr/>
        </p:nvSpPr>
        <p:spPr>
          <a:xfrm>
            <a:off x="552450" y="238125"/>
            <a:ext cx="4095750" cy="190500"/>
          </a:xfrm>
          <a:prstGeom prst="rect">
            <a:avLst/>
          </a:prstGeom>
          <a:noFill/>
          <a:ln w="0">
            <a:noFill/>
            <a:prstDash val="solid"/>
          </a:ln>
        </p:spPr>
        <p:txBody>
          <a:bodyPr/>
          <a:lstStyle/>
          <a:p>
            <a:pPr>
              <a:buNone/>
              <a:defRPr sz="975" b="1">
                <a:solidFill>
                  <a:srgbClr val="198E84"/>
                </a:solidFill>
              </a:defRPr>
            </a:pPr>
            <a:r>
              <a:rPr sz="975" b="1">
                <a:solidFill>
                  <a:srgbClr val="198E84"/>
                </a:solidFill>
              </a:rPr>
              <a:t>INCREMENTAL DELIVERY ROADMAP</a:t>
            </a:r>
          </a:p>
        </p:txBody>
      </p:sp>
      <p:sp>
        <p:nvSpPr>
          <p:cNvPr id="2" name="title">
            <a:extLst>
              <a:ext uri="{FF2B5EF4-FFF2-40B4-BE49-F238E27FC236}">
                <a16:creationId xmlns:a16="http://schemas.microsoft.com/office/drawing/2014/main" id="{C4D76E0A-9392-48EE-AE2E-BB1BA4B56CB3}"/>
              </a:ext>
            </a:extLst>
          </p:cNvPr>
          <p:cNvSpPr>
            <a:spLocks noGrp="1"/>
          </p:cNvSpPr>
          <p:nvPr/>
        </p:nvSpPr>
        <p:spPr>
          <a:xfrm>
            <a:off x="552450" y="495300"/>
            <a:ext cx="11087100" cy="495300"/>
          </a:xfrm>
          <a:prstGeom prst="rect">
            <a:avLst/>
          </a:prstGeom>
          <a:noFill/>
          <a:ln w="0">
            <a:noFill/>
            <a:prstDash val="solid"/>
          </a:ln>
        </p:spPr>
        <p:txBody>
          <a:bodyPr/>
          <a:lstStyle/>
          <a:p>
            <a:pPr>
              <a:buNone/>
              <a:defRPr sz="2550" b="1">
                <a:solidFill>
                  <a:srgbClr val="111827"/>
                </a:solidFill>
              </a:defRPr>
            </a:pPr>
            <a:r>
              <a:rPr sz="2550" b="1">
                <a:solidFill>
                  <a:srgbClr val="111827"/>
                </a:solidFill>
              </a:rPr>
              <a:t>A 34-week foundation proves integration before national rollout</a:t>
            </a:r>
          </a:p>
        </p:txBody>
      </p:sp>
      <p:sp>
        <p:nvSpPr>
          <p:cNvPr id="3" name="subtitle">
            <a:extLst>
              <a:ext uri="{FF2B5EF4-FFF2-40B4-BE49-F238E27FC236}">
                <a16:creationId xmlns:a16="http://schemas.microsoft.com/office/drawing/2014/main" id="{186226B3-A9A4-4066-8BEE-8845B2AD4DE4}"/>
              </a:ext>
            </a:extLst>
          </p:cNvPr>
          <p:cNvSpPr>
            <a:spLocks noGrp="1"/>
          </p:cNvSpPr>
          <p:nvPr/>
        </p:nvSpPr>
        <p:spPr>
          <a:xfrm>
            <a:off x="552450" y="1038225"/>
            <a:ext cx="11087100" cy="361950"/>
          </a:xfrm>
          <a:prstGeom prst="rect">
            <a:avLst/>
          </a:prstGeom>
          <a:noFill/>
          <a:ln w="0">
            <a:noFill/>
            <a:prstDash val="solid"/>
          </a:ln>
        </p:spPr>
        <p:txBody>
          <a:bodyPr/>
          <a:lstStyle/>
          <a:p>
            <a:pPr>
              <a:buNone/>
              <a:defRPr sz="1200">
                <a:solidFill>
                  <a:srgbClr val="5B6472"/>
                </a:solidFill>
              </a:defRPr>
            </a:pPr>
            <a:r>
              <a:rPr sz="1200">
                <a:solidFill>
                  <a:srgbClr val="5B6472"/>
                </a:solidFill>
              </a:rPr>
              <a:t>Two product squads plus a shared platform team deliver vertical slices; national expansion proceeds by certified DMS cohort.</a:t>
            </a:r>
          </a:p>
        </p:txBody>
      </p:sp>
      <p:sp>
        <p:nvSpPr>
          <p:cNvPr id="4" name="header-rule">
            <a:extLst>
              <a:ext uri="{FF2B5EF4-FFF2-40B4-BE49-F238E27FC236}">
                <a16:creationId xmlns:a16="http://schemas.microsoft.com/office/drawing/2014/main" id="{587F1F38-8457-40BA-BB7C-C369A30B8255}"/>
              </a:ext>
            </a:extLst>
          </p:cNvPr>
          <p:cNvSpPr>
            <a:spLocks noGrp="1"/>
          </p:cNvSpPr>
          <p:nvPr/>
        </p:nvSpPr>
        <p:spPr>
          <a:xfrm>
            <a:off x="552450" y="1533525"/>
            <a:ext cx="11087100" cy="0"/>
          </a:xfrm>
          <a:prstGeom prst="line">
            <a:avLst/>
          </a:prstGeom>
          <a:ln w="11430">
            <a:solidFill>
              <a:srgbClr val="D7DEE8"/>
            </a:solidFill>
            <a:prstDash val="solid"/>
          </a:ln>
        </p:spPr>
        <p:txBody>
          <a:bodyPr/>
          <a:lstStyle/>
          <a:p>
            <a:endParaRPr/>
          </a:p>
        </p:txBody>
      </p:sp>
      <p:sp>
        <p:nvSpPr>
          <p:cNvPr id="5" name="Arrow: Right 4">
            <a:extLst>
              <a:ext uri="{FF2B5EF4-FFF2-40B4-BE49-F238E27FC236}">
                <a16:creationId xmlns:a16="http://schemas.microsoft.com/office/drawing/2014/main" id="{3860A04C-D01B-44BC-A623-B91DA6C62D4D}"/>
              </a:ext>
            </a:extLst>
          </p:cNvPr>
          <p:cNvSpPr>
            <a:spLocks noGrp="1"/>
          </p:cNvSpPr>
          <p:nvPr/>
        </p:nvSpPr>
        <p:spPr>
          <a:xfrm>
            <a:off x="2647950" y="2638425"/>
            <a:ext cx="333375" cy="228600"/>
          </a:xfrm>
          <a:prstGeom prst="rightArrow">
            <a:avLst/>
          </a:prstGeom>
          <a:solidFill>
            <a:srgbClr val="08A89B"/>
          </a:solidFill>
          <a:ln w="0">
            <a:solidFill>
              <a:srgbClr val="08A89B"/>
            </a:solidFill>
            <a:prstDash val="solid"/>
          </a:ln>
        </p:spPr>
        <p:txBody>
          <a:bodyPr/>
          <a:lstStyle/>
          <a:p>
            <a:endParaRPr/>
          </a:p>
        </p:txBody>
      </p:sp>
      <p:sp>
        <p:nvSpPr>
          <p:cNvPr id="6" name="Arrow: Right 5">
            <a:extLst>
              <a:ext uri="{FF2B5EF4-FFF2-40B4-BE49-F238E27FC236}">
                <a16:creationId xmlns:a16="http://schemas.microsoft.com/office/drawing/2014/main" id="{DE7BDB54-B99D-4559-B15B-0EFB2D2C65F1}"/>
              </a:ext>
            </a:extLst>
          </p:cNvPr>
          <p:cNvSpPr>
            <a:spLocks noGrp="1"/>
          </p:cNvSpPr>
          <p:nvPr/>
        </p:nvSpPr>
        <p:spPr>
          <a:xfrm>
            <a:off x="4857750" y="2638425"/>
            <a:ext cx="333375" cy="228600"/>
          </a:xfrm>
          <a:prstGeom prst="rightArrow">
            <a:avLst/>
          </a:prstGeom>
          <a:solidFill>
            <a:srgbClr val="08A89B"/>
          </a:solidFill>
          <a:ln w="0">
            <a:solidFill>
              <a:srgbClr val="08A89B"/>
            </a:solidFill>
            <a:prstDash val="solid"/>
          </a:ln>
        </p:spPr>
        <p:txBody>
          <a:bodyPr/>
          <a:lstStyle/>
          <a:p>
            <a:endParaRPr/>
          </a:p>
        </p:txBody>
      </p:sp>
      <p:sp>
        <p:nvSpPr>
          <p:cNvPr id="7" name="Arrow: Right 6">
            <a:extLst>
              <a:ext uri="{FF2B5EF4-FFF2-40B4-BE49-F238E27FC236}">
                <a16:creationId xmlns:a16="http://schemas.microsoft.com/office/drawing/2014/main" id="{E5701294-C16A-4163-9FAA-E938375A5C76}"/>
              </a:ext>
            </a:extLst>
          </p:cNvPr>
          <p:cNvSpPr>
            <a:spLocks noGrp="1"/>
          </p:cNvSpPr>
          <p:nvPr/>
        </p:nvSpPr>
        <p:spPr>
          <a:xfrm>
            <a:off x="7067550" y="2638425"/>
            <a:ext cx="333375" cy="228600"/>
          </a:xfrm>
          <a:prstGeom prst="rightArrow">
            <a:avLst/>
          </a:prstGeom>
          <a:solidFill>
            <a:srgbClr val="08A89B"/>
          </a:solidFill>
          <a:ln w="0">
            <a:solidFill>
              <a:srgbClr val="08A89B"/>
            </a:solidFill>
            <a:prstDash val="solid"/>
          </a:ln>
        </p:spPr>
        <p:txBody>
          <a:bodyPr/>
          <a:lstStyle/>
          <a:p>
            <a:endParaRPr/>
          </a:p>
        </p:txBody>
      </p:sp>
      <p:sp>
        <p:nvSpPr>
          <p:cNvPr id="8" name="Arrow: Right 7">
            <a:extLst>
              <a:ext uri="{FF2B5EF4-FFF2-40B4-BE49-F238E27FC236}">
                <a16:creationId xmlns:a16="http://schemas.microsoft.com/office/drawing/2014/main" id="{4872F487-07C9-49E1-8FEA-DD976C25D22B}"/>
              </a:ext>
            </a:extLst>
          </p:cNvPr>
          <p:cNvSpPr>
            <a:spLocks noGrp="1"/>
          </p:cNvSpPr>
          <p:nvPr/>
        </p:nvSpPr>
        <p:spPr>
          <a:xfrm>
            <a:off x="9277350" y="2638425"/>
            <a:ext cx="333375" cy="228600"/>
          </a:xfrm>
          <a:prstGeom prst="rightArrow">
            <a:avLst/>
          </a:prstGeom>
          <a:solidFill>
            <a:srgbClr val="08A89B"/>
          </a:solidFill>
          <a:ln w="0">
            <a:solidFill>
              <a:srgbClr val="08A89B"/>
            </a:solidFill>
            <a:prstDash val="solid"/>
          </a:ln>
        </p:spPr>
        <p:txBody>
          <a:bodyPr/>
          <a:lstStyle/>
          <a:p>
            <a:endParaRPr/>
          </a:p>
        </p:txBody>
      </p:sp>
      <p:sp>
        <p:nvSpPr>
          <p:cNvPr id="9" name="Rectangle: Rounded Corners 8">
            <a:extLst>
              <a:ext uri="{FF2B5EF4-FFF2-40B4-BE49-F238E27FC236}">
                <a16:creationId xmlns:a16="http://schemas.microsoft.com/office/drawing/2014/main" id="{D2B4F6AD-26BC-47B4-B5AC-BDE1A5E8BDE2}"/>
              </a:ext>
            </a:extLst>
          </p:cNvPr>
          <p:cNvSpPr>
            <a:spLocks noGrp="1"/>
          </p:cNvSpPr>
          <p:nvPr/>
        </p:nvSpPr>
        <p:spPr>
          <a:xfrm>
            <a:off x="552450" y="1971675"/>
            <a:ext cx="2000250" cy="2266950"/>
          </a:xfrm>
          <a:prstGeom prst="roundRect">
            <a:avLst>
              <a:gd name="adj" fmla="val 5714"/>
            </a:avLst>
          </a:prstGeom>
          <a:solidFill>
            <a:srgbClr val="F0FAF8"/>
          </a:solidFill>
          <a:ln w="17145">
            <a:solidFill>
              <a:srgbClr val="08A89B"/>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Oval 9">
            <a:extLst>
              <a:ext uri="{FF2B5EF4-FFF2-40B4-BE49-F238E27FC236}">
                <a16:creationId xmlns:a16="http://schemas.microsoft.com/office/drawing/2014/main" id="{F6A64C8B-A0F8-4E51-8700-4D86226CDCC2}"/>
              </a:ext>
            </a:extLst>
          </p:cNvPr>
          <p:cNvSpPr>
            <a:spLocks noGrp="1"/>
          </p:cNvSpPr>
          <p:nvPr/>
        </p:nvSpPr>
        <p:spPr>
          <a:xfrm>
            <a:off x="704850" y="1828800"/>
            <a:ext cx="333375" cy="333375"/>
          </a:xfrm>
          <a:prstGeom prst="ellipse">
            <a:avLst/>
          </a:prstGeom>
          <a:solidFill>
            <a:srgbClr val="08A89B"/>
          </a:solidFill>
          <a:ln w="19050">
            <a:solidFill>
              <a:srgbClr val="FFFFFF"/>
            </a:solidFill>
            <a:prstDash val="solid"/>
          </a:ln>
        </p:spPr>
        <p:txBody>
          <a:bodyPr/>
          <a:lstStyle/>
          <a:p>
            <a:endParaRPr/>
          </a:p>
        </p:txBody>
      </p:sp>
      <p:sp>
        <p:nvSpPr>
          <p:cNvPr id="11" name="phase-number-0">
            <a:extLst>
              <a:ext uri="{FF2B5EF4-FFF2-40B4-BE49-F238E27FC236}">
                <a16:creationId xmlns:a16="http://schemas.microsoft.com/office/drawing/2014/main" id="{99A309C4-0FB9-4954-80B1-48AC591DE9A6}"/>
              </a:ext>
            </a:extLst>
          </p:cNvPr>
          <p:cNvSpPr>
            <a:spLocks noGrp="1"/>
          </p:cNvSpPr>
          <p:nvPr/>
        </p:nvSpPr>
        <p:spPr>
          <a:xfrm>
            <a:off x="704850" y="1885950"/>
            <a:ext cx="333375" cy="209550"/>
          </a:xfrm>
          <a:prstGeom prst="rect">
            <a:avLst/>
          </a:prstGeom>
          <a:noFill/>
          <a:ln w="0">
            <a:noFill/>
            <a:prstDash val="solid"/>
          </a:ln>
        </p:spPr>
        <p:txBody>
          <a:bodyPr/>
          <a:lstStyle/>
          <a:p>
            <a:pPr algn="ctr">
              <a:buNone/>
              <a:defRPr sz="1125" b="1">
                <a:solidFill>
                  <a:srgbClr val="FFFFFF"/>
                </a:solidFill>
              </a:defRPr>
            </a:pPr>
            <a:r>
              <a:rPr sz="1125" b="1">
                <a:solidFill>
                  <a:srgbClr val="FFFFFF"/>
                </a:solidFill>
              </a:rPr>
              <a:t>1</a:t>
            </a:r>
          </a:p>
        </p:txBody>
      </p:sp>
      <p:sp>
        <p:nvSpPr>
          <p:cNvPr id="12" name="phase-title-0">
            <a:extLst>
              <a:ext uri="{FF2B5EF4-FFF2-40B4-BE49-F238E27FC236}">
                <a16:creationId xmlns:a16="http://schemas.microsoft.com/office/drawing/2014/main" id="{9BABCA7E-5FB7-44B6-9FB7-7CD0DAC39204}"/>
              </a:ext>
            </a:extLst>
          </p:cNvPr>
          <p:cNvSpPr>
            <a:spLocks noGrp="1"/>
          </p:cNvSpPr>
          <p:nvPr/>
        </p:nvSpPr>
        <p:spPr>
          <a:xfrm>
            <a:off x="723900" y="2238375"/>
            <a:ext cx="1657350" cy="457200"/>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Foundation +</a:t>
            </a:r>
          </a:p>
          <a:p>
            <a:pPr algn="ctr">
              <a:buNone/>
              <a:defRPr sz="1200" b="1">
                <a:solidFill>
                  <a:srgbClr val="172033"/>
                </a:solidFill>
              </a:defRPr>
            </a:pPr>
            <a:r>
              <a:rPr sz="1200" b="1">
                <a:solidFill>
                  <a:srgbClr val="172033"/>
                </a:solidFill>
              </a:rPr>
              <a:t>dealer discovery</a:t>
            </a:r>
          </a:p>
        </p:txBody>
      </p:sp>
      <p:sp>
        <p:nvSpPr>
          <p:cNvPr id="13" name="phase-duration-0">
            <a:extLst>
              <a:ext uri="{FF2B5EF4-FFF2-40B4-BE49-F238E27FC236}">
                <a16:creationId xmlns:a16="http://schemas.microsoft.com/office/drawing/2014/main" id="{3CB9F8CB-CB6D-4FFC-989C-08C9C4232A98}"/>
              </a:ext>
            </a:extLst>
          </p:cNvPr>
          <p:cNvSpPr>
            <a:spLocks noGrp="1"/>
          </p:cNvSpPr>
          <p:nvPr/>
        </p:nvSpPr>
        <p:spPr>
          <a:xfrm>
            <a:off x="723900" y="2771775"/>
            <a:ext cx="1657350" cy="200025"/>
          </a:xfrm>
          <a:prstGeom prst="rect">
            <a:avLst/>
          </a:prstGeom>
          <a:noFill/>
          <a:ln w="0">
            <a:noFill/>
            <a:prstDash val="solid"/>
          </a:ln>
        </p:spPr>
        <p:txBody>
          <a:bodyPr/>
          <a:lstStyle/>
          <a:p>
            <a:pPr algn="ctr">
              <a:buNone/>
              <a:defRPr sz="975" b="1">
                <a:solidFill>
                  <a:srgbClr val="087F75"/>
                </a:solidFill>
              </a:defRPr>
            </a:pPr>
            <a:r>
              <a:rPr sz="975" b="1">
                <a:solidFill>
                  <a:srgbClr val="087F75"/>
                </a:solidFill>
              </a:rPr>
              <a:t>6 weeks</a:t>
            </a:r>
          </a:p>
        </p:txBody>
      </p:sp>
      <p:sp>
        <p:nvSpPr>
          <p:cNvPr id="14" name="phase-0-0-label">
            <a:extLst>
              <a:ext uri="{FF2B5EF4-FFF2-40B4-BE49-F238E27FC236}">
                <a16:creationId xmlns:a16="http://schemas.microsoft.com/office/drawing/2014/main" id="{8890A18D-2C08-49EC-926D-EB78A02EDD16}"/>
              </a:ext>
            </a:extLst>
          </p:cNvPr>
          <p:cNvSpPr>
            <a:spLocks noGrp="1"/>
          </p:cNvSpPr>
          <p:nvPr/>
        </p:nvSpPr>
        <p:spPr>
          <a:xfrm>
            <a:off x="704850" y="311467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TEAM</a:t>
            </a:r>
          </a:p>
        </p:txBody>
      </p:sp>
      <p:sp>
        <p:nvSpPr>
          <p:cNvPr id="15" name="phase-0-0-body">
            <a:extLst>
              <a:ext uri="{FF2B5EF4-FFF2-40B4-BE49-F238E27FC236}">
                <a16:creationId xmlns:a16="http://schemas.microsoft.com/office/drawing/2014/main" id="{AFCF5A2B-C7CF-4CD4-8D46-2C7EB43E1C68}"/>
              </a:ext>
            </a:extLst>
          </p:cNvPr>
          <p:cNvSpPr>
            <a:spLocks noGrp="1"/>
          </p:cNvSpPr>
          <p:nvPr/>
        </p:nvSpPr>
        <p:spPr>
          <a:xfrm>
            <a:off x="1209675" y="310515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Platform + UX</a:t>
            </a:r>
          </a:p>
        </p:txBody>
      </p:sp>
      <p:sp>
        <p:nvSpPr>
          <p:cNvPr id="16" name="phase-0-1-label">
            <a:extLst>
              <a:ext uri="{FF2B5EF4-FFF2-40B4-BE49-F238E27FC236}">
                <a16:creationId xmlns:a16="http://schemas.microsoft.com/office/drawing/2014/main" id="{00A12CE5-1415-41ED-9936-7C96F367394F}"/>
              </a:ext>
            </a:extLst>
          </p:cNvPr>
          <p:cNvSpPr>
            <a:spLocks noGrp="1"/>
          </p:cNvSpPr>
          <p:nvPr/>
        </p:nvSpPr>
        <p:spPr>
          <a:xfrm>
            <a:off x="704850" y="3467100"/>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SCALE</a:t>
            </a:r>
          </a:p>
        </p:txBody>
      </p:sp>
      <p:sp>
        <p:nvSpPr>
          <p:cNvPr id="17" name="phase-0-1-body">
            <a:extLst>
              <a:ext uri="{FF2B5EF4-FFF2-40B4-BE49-F238E27FC236}">
                <a16:creationId xmlns:a16="http://schemas.microsoft.com/office/drawing/2014/main" id="{968F89E1-72C9-41EF-8211-477D7C22C514}"/>
              </a:ext>
            </a:extLst>
          </p:cNvPr>
          <p:cNvSpPr>
            <a:spLocks noGrp="1"/>
          </p:cNvSpPr>
          <p:nvPr/>
        </p:nvSpPr>
        <p:spPr>
          <a:xfrm>
            <a:off x="1209675" y="3457575"/>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10 pilot dealers</a:t>
            </a:r>
          </a:p>
        </p:txBody>
      </p:sp>
      <p:sp>
        <p:nvSpPr>
          <p:cNvPr id="18" name="phase-0-2-label">
            <a:extLst>
              <a:ext uri="{FF2B5EF4-FFF2-40B4-BE49-F238E27FC236}">
                <a16:creationId xmlns:a16="http://schemas.microsoft.com/office/drawing/2014/main" id="{A503857B-5F0E-47E7-A7AB-B5C9EAF72C51}"/>
              </a:ext>
            </a:extLst>
          </p:cNvPr>
          <p:cNvSpPr>
            <a:spLocks noGrp="1"/>
          </p:cNvSpPr>
          <p:nvPr/>
        </p:nvSpPr>
        <p:spPr>
          <a:xfrm>
            <a:off x="704850" y="381952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EXIT</a:t>
            </a:r>
          </a:p>
        </p:txBody>
      </p:sp>
      <p:sp>
        <p:nvSpPr>
          <p:cNvPr id="19" name="phase-0-2-body">
            <a:extLst>
              <a:ext uri="{FF2B5EF4-FFF2-40B4-BE49-F238E27FC236}">
                <a16:creationId xmlns:a16="http://schemas.microsoft.com/office/drawing/2014/main" id="{FD3B52B2-FA30-46ED-B2FD-062AA052D87A}"/>
              </a:ext>
            </a:extLst>
          </p:cNvPr>
          <p:cNvSpPr>
            <a:spLocks noGrp="1"/>
          </p:cNvSpPr>
          <p:nvPr/>
        </p:nvSpPr>
        <p:spPr>
          <a:xfrm>
            <a:off x="1209675" y="381000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Secure landing zone; search SLO met</a:t>
            </a:r>
          </a:p>
        </p:txBody>
      </p:sp>
      <p:sp>
        <p:nvSpPr>
          <p:cNvPr id="20" name="Rectangle: Rounded Corners 19">
            <a:extLst>
              <a:ext uri="{FF2B5EF4-FFF2-40B4-BE49-F238E27FC236}">
                <a16:creationId xmlns:a16="http://schemas.microsoft.com/office/drawing/2014/main" id="{32D3FF1B-B00D-41EC-82A2-CDE0E1E701DF}"/>
              </a:ext>
            </a:extLst>
          </p:cNvPr>
          <p:cNvSpPr>
            <a:spLocks noGrp="1"/>
          </p:cNvSpPr>
          <p:nvPr/>
        </p:nvSpPr>
        <p:spPr>
          <a:xfrm>
            <a:off x="2762250" y="1971675"/>
            <a:ext cx="2000250" cy="2266950"/>
          </a:xfrm>
          <a:prstGeom prst="roundRect">
            <a:avLst>
              <a:gd name="adj" fmla="val 5714"/>
            </a:avLst>
          </a:prstGeom>
          <a:solidFill>
            <a:srgbClr val="FFFFFF"/>
          </a:solidFill>
          <a:ln w="11430">
            <a:solidFill>
              <a:srgbClr val="A5B0BF"/>
            </a:solidFill>
            <a:prstDash val="solid"/>
          </a:ln>
        </p:spPr>
        <p:style>
          <a:lnRef idx="0">
            <a:scrgbClr r="0" g="0" b="0"/>
          </a:lnRef>
          <a:fillRef idx="0">
            <a:scrgbClr r="0" g="0" b="0"/>
          </a:fillRef>
          <a:effectRef idx="4">
            <a:scrgbClr r="0" g="0" b="0"/>
          </a:effectRef>
          <a:fontRef idx="major"/>
        </p:style>
        <p:txBody>
          <a:bodyPr/>
          <a:lstStyle/>
          <a:p>
            <a:endParaRPr/>
          </a:p>
        </p:txBody>
      </p:sp>
      <p:sp>
        <p:nvSpPr>
          <p:cNvPr id="21" name="Oval 20">
            <a:extLst>
              <a:ext uri="{FF2B5EF4-FFF2-40B4-BE49-F238E27FC236}">
                <a16:creationId xmlns:a16="http://schemas.microsoft.com/office/drawing/2014/main" id="{81CC2D83-2940-4369-8E8B-F11CD99E33AB}"/>
              </a:ext>
            </a:extLst>
          </p:cNvPr>
          <p:cNvSpPr>
            <a:spLocks noGrp="1"/>
          </p:cNvSpPr>
          <p:nvPr/>
        </p:nvSpPr>
        <p:spPr>
          <a:xfrm>
            <a:off x="2914650" y="1828800"/>
            <a:ext cx="333375" cy="333375"/>
          </a:xfrm>
          <a:prstGeom prst="ellipse">
            <a:avLst/>
          </a:prstGeom>
          <a:solidFill>
            <a:srgbClr val="08A89B"/>
          </a:solidFill>
          <a:ln w="19050">
            <a:solidFill>
              <a:srgbClr val="FFFFFF"/>
            </a:solidFill>
            <a:prstDash val="solid"/>
          </a:ln>
        </p:spPr>
        <p:txBody>
          <a:bodyPr/>
          <a:lstStyle/>
          <a:p>
            <a:endParaRPr/>
          </a:p>
        </p:txBody>
      </p:sp>
      <p:sp>
        <p:nvSpPr>
          <p:cNvPr id="22" name="phase-number-1">
            <a:extLst>
              <a:ext uri="{FF2B5EF4-FFF2-40B4-BE49-F238E27FC236}">
                <a16:creationId xmlns:a16="http://schemas.microsoft.com/office/drawing/2014/main" id="{4AFC3CA0-8625-4D0A-9750-67964C23B806}"/>
              </a:ext>
            </a:extLst>
          </p:cNvPr>
          <p:cNvSpPr>
            <a:spLocks noGrp="1"/>
          </p:cNvSpPr>
          <p:nvPr/>
        </p:nvSpPr>
        <p:spPr>
          <a:xfrm>
            <a:off x="2914650" y="1885950"/>
            <a:ext cx="333375" cy="209550"/>
          </a:xfrm>
          <a:prstGeom prst="rect">
            <a:avLst/>
          </a:prstGeom>
          <a:noFill/>
          <a:ln w="0">
            <a:noFill/>
            <a:prstDash val="solid"/>
          </a:ln>
        </p:spPr>
        <p:txBody>
          <a:bodyPr/>
          <a:lstStyle/>
          <a:p>
            <a:pPr algn="ctr">
              <a:buNone/>
              <a:defRPr sz="1125" b="1">
                <a:solidFill>
                  <a:srgbClr val="FFFFFF"/>
                </a:solidFill>
              </a:defRPr>
            </a:pPr>
            <a:r>
              <a:rPr sz="1125" b="1">
                <a:solidFill>
                  <a:srgbClr val="FFFFFF"/>
                </a:solidFill>
              </a:rPr>
              <a:t>2</a:t>
            </a:r>
          </a:p>
        </p:txBody>
      </p:sp>
      <p:sp>
        <p:nvSpPr>
          <p:cNvPr id="23" name="phase-title-1">
            <a:extLst>
              <a:ext uri="{FF2B5EF4-FFF2-40B4-BE49-F238E27FC236}">
                <a16:creationId xmlns:a16="http://schemas.microsoft.com/office/drawing/2014/main" id="{C5AC3B72-B1A8-4F3A-921E-5DCFCA53C6ED}"/>
              </a:ext>
            </a:extLst>
          </p:cNvPr>
          <p:cNvSpPr>
            <a:spLocks noGrp="1"/>
          </p:cNvSpPr>
          <p:nvPr/>
        </p:nvSpPr>
        <p:spPr>
          <a:xfrm>
            <a:off x="2933700" y="2238375"/>
            <a:ext cx="1657350" cy="457200"/>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VIN + service</a:t>
            </a:r>
          </a:p>
          <a:p>
            <a:pPr algn="ctr">
              <a:buNone/>
              <a:defRPr sz="1200" b="1">
                <a:solidFill>
                  <a:srgbClr val="172033"/>
                </a:solidFill>
              </a:defRPr>
            </a:pPr>
            <a:r>
              <a:rPr sz="1200" b="1">
                <a:solidFill>
                  <a:srgbClr val="172033"/>
                </a:solidFill>
              </a:rPr>
              <a:t>selection</a:t>
            </a:r>
          </a:p>
        </p:txBody>
      </p:sp>
      <p:sp>
        <p:nvSpPr>
          <p:cNvPr id="24" name="phase-duration-1">
            <a:extLst>
              <a:ext uri="{FF2B5EF4-FFF2-40B4-BE49-F238E27FC236}">
                <a16:creationId xmlns:a16="http://schemas.microsoft.com/office/drawing/2014/main" id="{1450E730-93C9-48BB-98E0-DCB255FB722B}"/>
              </a:ext>
            </a:extLst>
          </p:cNvPr>
          <p:cNvSpPr>
            <a:spLocks noGrp="1"/>
          </p:cNvSpPr>
          <p:nvPr/>
        </p:nvSpPr>
        <p:spPr>
          <a:xfrm>
            <a:off x="2933700" y="2771775"/>
            <a:ext cx="1657350" cy="200025"/>
          </a:xfrm>
          <a:prstGeom prst="rect">
            <a:avLst/>
          </a:prstGeom>
          <a:noFill/>
          <a:ln w="0">
            <a:noFill/>
            <a:prstDash val="solid"/>
          </a:ln>
        </p:spPr>
        <p:txBody>
          <a:bodyPr/>
          <a:lstStyle/>
          <a:p>
            <a:pPr algn="ctr">
              <a:buNone/>
              <a:defRPr sz="975" b="1">
                <a:solidFill>
                  <a:srgbClr val="087F75"/>
                </a:solidFill>
              </a:defRPr>
            </a:pPr>
            <a:r>
              <a:rPr sz="975" b="1">
                <a:solidFill>
                  <a:srgbClr val="087F75"/>
                </a:solidFill>
              </a:rPr>
              <a:t>6 weeks</a:t>
            </a:r>
          </a:p>
        </p:txBody>
      </p:sp>
      <p:sp>
        <p:nvSpPr>
          <p:cNvPr id="25" name="phase-1-0-label">
            <a:extLst>
              <a:ext uri="{FF2B5EF4-FFF2-40B4-BE49-F238E27FC236}">
                <a16:creationId xmlns:a16="http://schemas.microsoft.com/office/drawing/2014/main" id="{F8B213D4-A54A-49A2-BBF4-E2A3583E1E5C}"/>
              </a:ext>
            </a:extLst>
          </p:cNvPr>
          <p:cNvSpPr>
            <a:spLocks noGrp="1"/>
          </p:cNvSpPr>
          <p:nvPr/>
        </p:nvSpPr>
        <p:spPr>
          <a:xfrm>
            <a:off x="2914650" y="311467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TEAM</a:t>
            </a:r>
          </a:p>
        </p:txBody>
      </p:sp>
      <p:sp>
        <p:nvSpPr>
          <p:cNvPr id="26" name="phase-1-0-body">
            <a:extLst>
              <a:ext uri="{FF2B5EF4-FFF2-40B4-BE49-F238E27FC236}">
                <a16:creationId xmlns:a16="http://schemas.microsoft.com/office/drawing/2014/main" id="{787864C2-516F-4DF2-A0A1-56C86DF2621A}"/>
              </a:ext>
            </a:extLst>
          </p:cNvPr>
          <p:cNvSpPr>
            <a:spLocks noGrp="1"/>
          </p:cNvSpPr>
          <p:nvPr/>
        </p:nvSpPr>
        <p:spPr>
          <a:xfrm>
            <a:off x="3419475" y="310515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Journey squad</a:t>
            </a:r>
          </a:p>
        </p:txBody>
      </p:sp>
      <p:sp>
        <p:nvSpPr>
          <p:cNvPr id="27" name="phase-1-1-label">
            <a:extLst>
              <a:ext uri="{FF2B5EF4-FFF2-40B4-BE49-F238E27FC236}">
                <a16:creationId xmlns:a16="http://schemas.microsoft.com/office/drawing/2014/main" id="{8B3C1496-FDC7-44FA-88ED-BD318F2134AC}"/>
              </a:ext>
            </a:extLst>
          </p:cNvPr>
          <p:cNvSpPr>
            <a:spLocks noGrp="1"/>
          </p:cNvSpPr>
          <p:nvPr/>
        </p:nvSpPr>
        <p:spPr>
          <a:xfrm>
            <a:off x="2914650" y="3467100"/>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SCALE</a:t>
            </a:r>
          </a:p>
        </p:txBody>
      </p:sp>
      <p:sp>
        <p:nvSpPr>
          <p:cNvPr id="28" name="phase-1-1-body">
            <a:extLst>
              <a:ext uri="{FF2B5EF4-FFF2-40B4-BE49-F238E27FC236}">
                <a16:creationId xmlns:a16="http://schemas.microsoft.com/office/drawing/2014/main" id="{5C5B26FE-E4E9-4F42-83A2-AFE4EB2D1DC5}"/>
              </a:ext>
            </a:extLst>
          </p:cNvPr>
          <p:cNvSpPr>
            <a:spLocks noGrp="1"/>
          </p:cNvSpPr>
          <p:nvPr/>
        </p:nvSpPr>
        <p:spPr>
          <a:xfrm>
            <a:off x="3419475" y="3457575"/>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10 pilot dealers</a:t>
            </a:r>
          </a:p>
        </p:txBody>
      </p:sp>
      <p:sp>
        <p:nvSpPr>
          <p:cNvPr id="29" name="phase-1-2-label">
            <a:extLst>
              <a:ext uri="{FF2B5EF4-FFF2-40B4-BE49-F238E27FC236}">
                <a16:creationId xmlns:a16="http://schemas.microsoft.com/office/drawing/2014/main" id="{0B976F20-3E06-4BDD-A5E0-ACA17AF04527}"/>
              </a:ext>
            </a:extLst>
          </p:cNvPr>
          <p:cNvSpPr>
            <a:spLocks noGrp="1"/>
          </p:cNvSpPr>
          <p:nvPr/>
        </p:nvSpPr>
        <p:spPr>
          <a:xfrm>
            <a:off x="2914650" y="381952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EXIT</a:t>
            </a:r>
          </a:p>
        </p:txBody>
      </p:sp>
      <p:sp>
        <p:nvSpPr>
          <p:cNvPr id="30" name="phase-1-2-body">
            <a:extLst>
              <a:ext uri="{FF2B5EF4-FFF2-40B4-BE49-F238E27FC236}">
                <a16:creationId xmlns:a16="http://schemas.microsoft.com/office/drawing/2014/main" id="{D76F37DF-A723-4DEC-98AB-BC15C32E1E2B}"/>
              </a:ext>
            </a:extLst>
          </p:cNvPr>
          <p:cNvSpPr>
            <a:spLocks noGrp="1"/>
          </p:cNvSpPr>
          <p:nvPr/>
        </p:nvSpPr>
        <p:spPr>
          <a:xfrm>
            <a:off x="3419475" y="381000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VIN timeout fallback; service rules approved</a:t>
            </a:r>
          </a:p>
        </p:txBody>
      </p:sp>
      <p:sp>
        <p:nvSpPr>
          <p:cNvPr id="31" name="Rectangle: Rounded Corners 30">
            <a:extLst>
              <a:ext uri="{FF2B5EF4-FFF2-40B4-BE49-F238E27FC236}">
                <a16:creationId xmlns:a16="http://schemas.microsoft.com/office/drawing/2014/main" id="{C4EA1410-F583-4AC4-9409-E0CA1881EAF9}"/>
              </a:ext>
            </a:extLst>
          </p:cNvPr>
          <p:cNvSpPr>
            <a:spLocks noGrp="1"/>
          </p:cNvSpPr>
          <p:nvPr/>
        </p:nvSpPr>
        <p:spPr>
          <a:xfrm>
            <a:off x="4972050" y="1971675"/>
            <a:ext cx="2000250" cy="2266950"/>
          </a:xfrm>
          <a:prstGeom prst="roundRect">
            <a:avLst>
              <a:gd name="adj" fmla="val 5714"/>
            </a:avLst>
          </a:prstGeom>
          <a:solidFill>
            <a:srgbClr val="FFFFFF"/>
          </a:solidFill>
          <a:ln w="11430">
            <a:solidFill>
              <a:srgbClr val="A5B0BF"/>
            </a:solidFill>
            <a:prstDash val="solid"/>
          </a:ln>
        </p:spPr>
        <p:style>
          <a:lnRef idx="0">
            <a:scrgbClr r="0" g="0" b="0"/>
          </a:lnRef>
          <a:fillRef idx="0">
            <a:scrgbClr r="0" g="0" b="0"/>
          </a:fillRef>
          <a:effectRef idx="4">
            <a:scrgbClr r="0" g="0" b="0"/>
          </a:effectRef>
          <a:fontRef idx="major"/>
        </p:style>
        <p:txBody>
          <a:bodyPr/>
          <a:lstStyle/>
          <a:p>
            <a:endParaRPr/>
          </a:p>
        </p:txBody>
      </p:sp>
      <p:sp>
        <p:nvSpPr>
          <p:cNvPr id="32" name="Oval 31">
            <a:extLst>
              <a:ext uri="{FF2B5EF4-FFF2-40B4-BE49-F238E27FC236}">
                <a16:creationId xmlns:a16="http://schemas.microsoft.com/office/drawing/2014/main" id="{A4FB476B-8DFA-4C1E-9BE9-0F9C213DCB4F}"/>
              </a:ext>
            </a:extLst>
          </p:cNvPr>
          <p:cNvSpPr>
            <a:spLocks noGrp="1"/>
          </p:cNvSpPr>
          <p:nvPr/>
        </p:nvSpPr>
        <p:spPr>
          <a:xfrm>
            <a:off x="5124450" y="1828800"/>
            <a:ext cx="333375" cy="333375"/>
          </a:xfrm>
          <a:prstGeom prst="ellipse">
            <a:avLst/>
          </a:prstGeom>
          <a:solidFill>
            <a:srgbClr val="08A89B"/>
          </a:solidFill>
          <a:ln w="19050">
            <a:solidFill>
              <a:srgbClr val="FFFFFF"/>
            </a:solidFill>
            <a:prstDash val="solid"/>
          </a:ln>
        </p:spPr>
        <p:txBody>
          <a:bodyPr/>
          <a:lstStyle/>
          <a:p>
            <a:endParaRPr/>
          </a:p>
        </p:txBody>
      </p:sp>
      <p:sp>
        <p:nvSpPr>
          <p:cNvPr id="33" name="phase-number-2">
            <a:extLst>
              <a:ext uri="{FF2B5EF4-FFF2-40B4-BE49-F238E27FC236}">
                <a16:creationId xmlns:a16="http://schemas.microsoft.com/office/drawing/2014/main" id="{5FC5053D-1819-4654-A466-EE78FCDDFAA5}"/>
              </a:ext>
            </a:extLst>
          </p:cNvPr>
          <p:cNvSpPr>
            <a:spLocks noGrp="1"/>
          </p:cNvSpPr>
          <p:nvPr/>
        </p:nvSpPr>
        <p:spPr>
          <a:xfrm>
            <a:off x="5124450" y="1885950"/>
            <a:ext cx="333375" cy="209550"/>
          </a:xfrm>
          <a:prstGeom prst="rect">
            <a:avLst/>
          </a:prstGeom>
          <a:noFill/>
          <a:ln w="0">
            <a:noFill/>
            <a:prstDash val="solid"/>
          </a:ln>
        </p:spPr>
        <p:txBody>
          <a:bodyPr/>
          <a:lstStyle/>
          <a:p>
            <a:pPr algn="ctr">
              <a:buNone/>
              <a:defRPr sz="1125" b="1">
                <a:solidFill>
                  <a:srgbClr val="FFFFFF"/>
                </a:solidFill>
              </a:defRPr>
            </a:pPr>
            <a:r>
              <a:rPr sz="1125" b="1">
                <a:solidFill>
                  <a:srgbClr val="FFFFFF"/>
                </a:solidFill>
              </a:rPr>
              <a:t>3</a:t>
            </a:r>
          </a:p>
        </p:txBody>
      </p:sp>
      <p:sp>
        <p:nvSpPr>
          <p:cNvPr id="34" name="phase-title-2">
            <a:extLst>
              <a:ext uri="{FF2B5EF4-FFF2-40B4-BE49-F238E27FC236}">
                <a16:creationId xmlns:a16="http://schemas.microsoft.com/office/drawing/2014/main" id="{8BB1AD5B-F3C7-4910-8A95-AB332D5345A3}"/>
              </a:ext>
            </a:extLst>
          </p:cNvPr>
          <p:cNvSpPr>
            <a:spLocks noGrp="1"/>
          </p:cNvSpPr>
          <p:nvPr/>
        </p:nvSpPr>
        <p:spPr>
          <a:xfrm>
            <a:off x="5143500" y="2238375"/>
            <a:ext cx="1657350" cy="457200"/>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Availability</a:t>
            </a:r>
          </a:p>
          <a:p>
            <a:pPr algn="ctr">
              <a:buNone/>
              <a:defRPr sz="1200" b="1">
                <a:solidFill>
                  <a:srgbClr val="172033"/>
                </a:solidFill>
              </a:defRPr>
            </a:pPr>
            <a:r>
              <a:rPr sz="1200" b="1">
                <a:solidFill>
                  <a:srgbClr val="172033"/>
                </a:solidFill>
              </a:rPr>
              <a:t>adapter pilot</a:t>
            </a:r>
          </a:p>
        </p:txBody>
      </p:sp>
      <p:sp>
        <p:nvSpPr>
          <p:cNvPr id="35" name="phase-duration-2">
            <a:extLst>
              <a:ext uri="{FF2B5EF4-FFF2-40B4-BE49-F238E27FC236}">
                <a16:creationId xmlns:a16="http://schemas.microsoft.com/office/drawing/2014/main" id="{37D2779A-C377-466C-B78B-1B070B4E050C}"/>
              </a:ext>
            </a:extLst>
          </p:cNvPr>
          <p:cNvSpPr>
            <a:spLocks noGrp="1"/>
          </p:cNvSpPr>
          <p:nvPr/>
        </p:nvSpPr>
        <p:spPr>
          <a:xfrm>
            <a:off x="5143500" y="2771775"/>
            <a:ext cx="1657350" cy="200025"/>
          </a:xfrm>
          <a:prstGeom prst="rect">
            <a:avLst/>
          </a:prstGeom>
          <a:noFill/>
          <a:ln w="0">
            <a:noFill/>
            <a:prstDash val="solid"/>
          </a:ln>
        </p:spPr>
        <p:txBody>
          <a:bodyPr/>
          <a:lstStyle/>
          <a:p>
            <a:pPr algn="ctr">
              <a:buNone/>
              <a:defRPr sz="975" b="1">
                <a:solidFill>
                  <a:srgbClr val="087F75"/>
                </a:solidFill>
              </a:defRPr>
            </a:pPr>
            <a:r>
              <a:rPr sz="975" b="1">
                <a:solidFill>
                  <a:srgbClr val="087F75"/>
                </a:solidFill>
              </a:rPr>
              <a:t>8 weeks</a:t>
            </a:r>
          </a:p>
        </p:txBody>
      </p:sp>
      <p:sp>
        <p:nvSpPr>
          <p:cNvPr id="36" name="phase-2-0-label">
            <a:extLst>
              <a:ext uri="{FF2B5EF4-FFF2-40B4-BE49-F238E27FC236}">
                <a16:creationId xmlns:a16="http://schemas.microsoft.com/office/drawing/2014/main" id="{64E63C99-7B20-4C01-AF9D-F7D8CA88B846}"/>
              </a:ext>
            </a:extLst>
          </p:cNvPr>
          <p:cNvSpPr>
            <a:spLocks noGrp="1"/>
          </p:cNvSpPr>
          <p:nvPr/>
        </p:nvSpPr>
        <p:spPr>
          <a:xfrm>
            <a:off x="5124450" y="311467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TEAM</a:t>
            </a:r>
          </a:p>
        </p:txBody>
      </p:sp>
      <p:sp>
        <p:nvSpPr>
          <p:cNvPr id="37" name="phase-2-0-body">
            <a:extLst>
              <a:ext uri="{FF2B5EF4-FFF2-40B4-BE49-F238E27FC236}">
                <a16:creationId xmlns:a16="http://schemas.microsoft.com/office/drawing/2014/main" id="{D59D442F-F8CC-4DFC-AE72-0AA227BE95A6}"/>
              </a:ext>
            </a:extLst>
          </p:cNvPr>
          <p:cNvSpPr>
            <a:spLocks noGrp="1"/>
          </p:cNvSpPr>
          <p:nvPr/>
        </p:nvSpPr>
        <p:spPr>
          <a:xfrm>
            <a:off x="5629275" y="310515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Integration squad</a:t>
            </a:r>
          </a:p>
        </p:txBody>
      </p:sp>
      <p:sp>
        <p:nvSpPr>
          <p:cNvPr id="38" name="phase-2-1-label">
            <a:extLst>
              <a:ext uri="{FF2B5EF4-FFF2-40B4-BE49-F238E27FC236}">
                <a16:creationId xmlns:a16="http://schemas.microsoft.com/office/drawing/2014/main" id="{E059DEC7-BCB5-42A0-9C66-38DB64691F30}"/>
              </a:ext>
            </a:extLst>
          </p:cNvPr>
          <p:cNvSpPr>
            <a:spLocks noGrp="1"/>
          </p:cNvSpPr>
          <p:nvPr/>
        </p:nvSpPr>
        <p:spPr>
          <a:xfrm>
            <a:off x="5124450" y="3467100"/>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SCALE</a:t>
            </a:r>
          </a:p>
        </p:txBody>
      </p:sp>
      <p:sp>
        <p:nvSpPr>
          <p:cNvPr id="39" name="phase-2-1-body">
            <a:extLst>
              <a:ext uri="{FF2B5EF4-FFF2-40B4-BE49-F238E27FC236}">
                <a16:creationId xmlns:a16="http://schemas.microsoft.com/office/drawing/2014/main" id="{1D79D602-03E0-4D26-94CE-10A2EF2B6F72}"/>
              </a:ext>
            </a:extLst>
          </p:cNvPr>
          <p:cNvSpPr>
            <a:spLocks noGrp="1"/>
          </p:cNvSpPr>
          <p:nvPr/>
        </p:nvSpPr>
        <p:spPr>
          <a:xfrm>
            <a:off x="5629275" y="3457575"/>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25 dealers / 3 DMS types</a:t>
            </a:r>
          </a:p>
        </p:txBody>
      </p:sp>
      <p:sp>
        <p:nvSpPr>
          <p:cNvPr id="40" name="phase-2-2-label">
            <a:extLst>
              <a:ext uri="{FF2B5EF4-FFF2-40B4-BE49-F238E27FC236}">
                <a16:creationId xmlns:a16="http://schemas.microsoft.com/office/drawing/2014/main" id="{8F1BF3A6-7F82-47DC-8453-5CFE1FAC06C6}"/>
              </a:ext>
            </a:extLst>
          </p:cNvPr>
          <p:cNvSpPr>
            <a:spLocks noGrp="1"/>
          </p:cNvSpPr>
          <p:nvPr/>
        </p:nvSpPr>
        <p:spPr>
          <a:xfrm>
            <a:off x="5124450" y="381952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EXIT</a:t>
            </a:r>
          </a:p>
        </p:txBody>
      </p:sp>
      <p:sp>
        <p:nvSpPr>
          <p:cNvPr id="41" name="phase-2-2-body">
            <a:extLst>
              <a:ext uri="{FF2B5EF4-FFF2-40B4-BE49-F238E27FC236}">
                <a16:creationId xmlns:a16="http://schemas.microsoft.com/office/drawing/2014/main" id="{72A98D73-D730-4D25-A27C-B003BBB8569E}"/>
              </a:ext>
            </a:extLst>
          </p:cNvPr>
          <p:cNvSpPr>
            <a:spLocks noGrp="1"/>
          </p:cNvSpPr>
          <p:nvPr/>
        </p:nvSpPr>
        <p:spPr>
          <a:xfrm>
            <a:off x="5629275" y="381000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Normalized search + hold contract proven</a:t>
            </a:r>
          </a:p>
        </p:txBody>
      </p:sp>
      <p:sp>
        <p:nvSpPr>
          <p:cNvPr id="42" name="Rectangle: Rounded Corners 41">
            <a:extLst>
              <a:ext uri="{FF2B5EF4-FFF2-40B4-BE49-F238E27FC236}">
                <a16:creationId xmlns:a16="http://schemas.microsoft.com/office/drawing/2014/main" id="{9F39E7F9-BD90-4DB1-A857-64D72E8CC25B}"/>
              </a:ext>
            </a:extLst>
          </p:cNvPr>
          <p:cNvSpPr>
            <a:spLocks noGrp="1"/>
          </p:cNvSpPr>
          <p:nvPr/>
        </p:nvSpPr>
        <p:spPr>
          <a:xfrm>
            <a:off x="7181850" y="1971675"/>
            <a:ext cx="2000250" cy="2266950"/>
          </a:xfrm>
          <a:prstGeom prst="roundRect">
            <a:avLst>
              <a:gd name="adj" fmla="val 5714"/>
            </a:avLst>
          </a:prstGeom>
          <a:solidFill>
            <a:srgbClr val="FFFFFF"/>
          </a:solidFill>
          <a:ln w="11430">
            <a:solidFill>
              <a:srgbClr val="A5B0BF"/>
            </a:solidFill>
            <a:prstDash val="solid"/>
          </a:ln>
        </p:spPr>
        <p:style>
          <a:lnRef idx="0">
            <a:scrgbClr r="0" g="0" b="0"/>
          </a:lnRef>
          <a:fillRef idx="0">
            <a:scrgbClr r="0" g="0" b="0"/>
          </a:fillRef>
          <a:effectRef idx="4">
            <a:scrgbClr r="0" g="0" b="0"/>
          </a:effectRef>
          <a:fontRef idx="major"/>
        </p:style>
        <p:txBody>
          <a:bodyPr/>
          <a:lstStyle/>
          <a:p>
            <a:endParaRPr/>
          </a:p>
        </p:txBody>
      </p:sp>
      <p:sp>
        <p:nvSpPr>
          <p:cNvPr id="43" name="Oval 42">
            <a:extLst>
              <a:ext uri="{FF2B5EF4-FFF2-40B4-BE49-F238E27FC236}">
                <a16:creationId xmlns:a16="http://schemas.microsoft.com/office/drawing/2014/main" id="{35290F8F-AD88-4455-899C-B7DDEBF4D2B3}"/>
              </a:ext>
            </a:extLst>
          </p:cNvPr>
          <p:cNvSpPr>
            <a:spLocks noGrp="1"/>
          </p:cNvSpPr>
          <p:nvPr/>
        </p:nvSpPr>
        <p:spPr>
          <a:xfrm>
            <a:off x="7334250" y="1828800"/>
            <a:ext cx="333375" cy="333375"/>
          </a:xfrm>
          <a:prstGeom prst="ellipse">
            <a:avLst/>
          </a:prstGeom>
          <a:solidFill>
            <a:srgbClr val="08A89B"/>
          </a:solidFill>
          <a:ln w="19050">
            <a:solidFill>
              <a:srgbClr val="FFFFFF"/>
            </a:solidFill>
            <a:prstDash val="solid"/>
          </a:ln>
        </p:spPr>
        <p:txBody>
          <a:bodyPr/>
          <a:lstStyle/>
          <a:p>
            <a:endParaRPr/>
          </a:p>
        </p:txBody>
      </p:sp>
      <p:sp>
        <p:nvSpPr>
          <p:cNvPr id="44" name="phase-number-3">
            <a:extLst>
              <a:ext uri="{FF2B5EF4-FFF2-40B4-BE49-F238E27FC236}">
                <a16:creationId xmlns:a16="http://schemas.microsoft.com/office/drawing/2014/main" id="{6F02CA54-DC76-45E6-ABB7-392ED080BA5F}"/>
              </a:ext>
            </a:extLst>
          </p:cNvPr>
          <p:cNvSpPr>
            <a:spLocks noGrp="1"/>
          </p:cNvSpPr>
          <p:nvPr/>
        </p:nvSpPr>
        <p:spPr>
          <a:xfrm>
            <a:off x="7334250" y="1885950"/>
            <a:ext cx="333375" cy="209550"/>
          </a:xfrm>
          <a:prstGeom prst="rect">
            <a:avLst/>
          </a:prstGeom>
          <a:noFill/>
          <a:ln w="0">
            <a:noFill/>
            <a:prstDash val="solid"/>
          </a:ln>
        </p:spPr>
        <p:txBody>
          <a:bodyPr/>
          <a:lstStyle/>
          <a:p>
            <a:pPr algn="ctr">
              <a:buNone/>
              <a:defRPr sz="1125" b="1">
                <a:solidFill>
                  <a:srgbClr val="FFFFFF"/>
                </a:solidFill>
              </a:defRPr>
            </a:pPr>
            <a:r>
              <a:rPr sz="1125" b="1">
                <a:solidFill>
                  <a:srgbClr val="FFFFFF"/>
                </a:solidFill>
              </a:rPr>
              <a:t>4</a:t>
            </a:r>
          </a:p>
        </p:txBody>
      </p:sp>
      <p:sp>
        <p:nvSpPr>
          <p:cNvPr id="45" name="phase-title-3">
            <a:extLst>
              <a:ext uri="{FF2B5EF4-FFF2-40B4-BE49-F238E27FC236}">
                <a16:creationId xmlns:a16="http://schemas.microsoft.com/office/drawing/2014/main" id="{EDA85BA9-0D0E-4DED-9CA3-FC49D421EF34}"/>
              </a:ext>
            </a:extLst>
          </p:cNvPr>
          <p:cNvSpPr>
            <a:spLocks noGrp="1"/>
          </p:cNvSpPr>
          <p:nvPr/>
        </p:nvSpPr>
        <p:spPr>
          <a:xfrm>
            <a:off x="7353300" y="2238375"/>
            <a:ext cx="1657350" cy="457200"/>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Booking +</a:t>
            </a:r>
          </a:p>
          <a:p>
            <a:pPr algn="ctr">
              <a:buNone/>
              <a:defRPr sz="1200" b="1">
                <a:solidFill>
                  <a:srgbClr val="172033"/>
                </a:solidFill>
              </a:defRPr>
            </a:pPr>
            <a:r>
              <a:rPr sz="1200" b="1">
                <a:solidFill>
                  <a:srgbClr val="172033"/>
                </a:solidFill>
              </a:rPr>
              <a:t>notifications</a:t>
            </a:r>
          </a:p>
        </p:txBody>
      </p:sp>
      <p:sp>
        <p:nvSpPr>
          <p:cNvPr id="46" name="phase-duration-3">
            <a:extLst>
              <a:ext uri="{FF2B5EF4-FFF2-40B4-BE49-F238E27FC236}">
                <a16:creationId xmlns:a16="http://schemas.microsoft.com/office/drawing/2014/main" id="{1AF183E1-90E1-473A-B198-136D35C031D1}"/>
              </a:ext>
            </a:extLst>
          </p:cNvPr>
          <p:cNvSpPr>
            <a:spLocks noGrp="1"/>
          </p:cNvSpPr>
          <p:nvPr/>
        </p:nvSpPr>
        <p:spPr>
          <a:xfrm>
            <a:off x="7353300" y="2771775"/>
            <a:ext cx="1657350" cy="200025"/>
          </a:xfrm>
          <a:prstGeom prst="rect">
            <a:avLst/>
          </a:prstGeom>
          <a:noFill/>
          <a:ln w="0">
            <a:noFill/>
            <a:prstDash val="solid"/>
          </a:ln>
        </p:spPr>
        <p:txBody>
          <a:bodyPr/>
          <a:lstStyle/>
          <a:p>
            <a:pPr algn="ctr">
              <a:buNone/>
              <a:defRPr sz="975" b="1">
                <a:solidFill>
                  <a:srgbClr val="087F75"/>
                </a:solidFill>
              </a:defRPr>
            </a:pPr>
            <a:r>
              <a:rPr sz="975" b="1">
                <a:solidFill>
                  <a:srgbClr val="087F75"/>
                </a:solidFill>
              </a:rPr>
              <a:t>8 weeks</a:t>
            </a:r>
          </a:p>
        </p:txBody>
      </p:sp>
      <p:sp>
        <p:nvSpPr>
          <p:cNvPr id="47" name="phase-3-0-label">
            <a:extLst>
              <a:ext uri="{FF2B5EF4-FFF2-40B4-BE49-F238E27FC236}">
                <a16:creationId xmlns:a16="http://schemas.microsoft.com/office/drawing/2014/main" id="{CFB9EBC9-A250-42BE-84D1-C5C444E96A42}"/>
              </a:ext>
            </a:extLst>
          </p:cNvPr>
          <p:cNvSpPr>
            <a:spLocks noGrp="1"/>
          </p:cNvSpPr>
          <p:nvPr/>
        </p:nvSpPr>
        <p:spPr>
          <a:xfrm>
            <a:off x="7334250" y="311467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TEAM</a:t>
            </a:r>
          </a:p>
        </p:txBody>
      </p:sp>
      <p:sp>
        <p:nvSpPr>
          <p:cNvPr id="48" name="phase-3-0-body">
            <a:extLst>
              <a:ext uri="{FF2B5EF4-FFF2-40B4-BE49-F238E27FC236}">
                <a16:creationId xmlns:a16="http://schemas.microsoft.com/office/drawing/2014/main" id="{0CC4CEF0-DE7A-4D2D-8BE7-71C119B19085}"/>
              </a:ext>
            </a:extLst>
          </p:cNvPr>
          <p:cNvSpPr>
            <a:spLocks noGrp="1"/>
          </p:cNvSpPr>
          <p:nvPr/>
        </p:nvSpPr>
        <p:spPr>
          <a:xfrm>
            <a:off x="7839075" y="310515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Both squads</a:t>
            </a:r>
          </a:p>
        </p:txBody>
      </p:sp>
      <p:sp>
        <p:nvSpPr>
          <p:cNvPr id="49" name="phase-3-1-label">
            <a:extLst>
              <a:ext uri="{FF2B5EF4-FFF2-40B4-BE49-F238E27FC236}">
                <a16:creationId xmlns:a16="http://schemas.microsoft.com/office/drawing/2014/main" id="{ED21B420-092C-4026-8AD0-02400FE32232}"/>
              </a:ext>
            </a:extLst>
          </p:cNvPr>
          <p:cNvSpPr>
            <a:spLocks noGrp="1"/>
          </p:cNvSpPr>
          <p:nvPr/>
        </p:nvSpPr>
        <p:spPr>
          <a:xfrm>
            <a:off x="7334250" y="3467100"/>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SCALE</a:t>
            </a:r>
          </a:p>
        </p:txBody>
      </p:sp>
      <p:sp>
        <p:nvSpPr>
          <p:cNvPr id="50" name="phase-3-1-body">
            <a:extLst>
              <a:ext uri="{FF2B5EF4-FFF2-40B4-BE49-F238E27FC236}">
                <a16:creationId xmlns:a16="http://schemas.microsoft.com/office/drawing/2014/main" id="{2F2518DA-93F5-43FB-A632-EDDC7F9B8D81}"/>
              </a:ext>
            </a:extLst>
          </p:cNvPr>
          <p:cNvSpPr>
            <a:spLocks noGrp="1"/>
          </p:cNvSpPr>
          <p:nvPr/>
        </p:nvSpPr>
        <p:spPr>
          <a:xfrm>
            <a:off x="7839075" y="3457575"/>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100 dealers</a:t>
            </a:r>
          </a:p>
        </p:txBody>
      </p:sp>
      <p:sp>
        <p:nvSpPr>
          <p:cNvPr id="51" name="phase-3-2-label">
            <a:extLst>
              <a:ext uri="{FF2B5EF4-FFF2-40B4-BE49-F238E27FC236}">
                <a16:creationId xmlns:a16="http://schemas.microsoft.com/office/drawing/2014/main" id="{9E1993E9-6FFC-49B9-97D2-A9B420E3BC30}"/>
              </a:ext>
            </a:extLst>
          </p:cNvPr>
          <p:cNvSpPr>
            <a:spLocks noGrp="1"/>
          </p:cNvSpPr>
          <p:nvPr/>
        </p:nvSpPr>
        <p:spPr>
          <a:xfrm>
            <a:off x="7334250" y="381952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EXIT</a:t>
            </a:r>
          </a:p>
        </p:txBody>
      </p:sp>
      <p:sp>
        <p:nvSpPr>
          <p:cNvPr id="52" name="phase-3-2-body">
            <a:extLst>
              <a:ext uri="{FF2B5EF4-FFF2-40B4-BE49-F238E27FC236}">
                <a16:creationId xmlns:a16="http://schemas.microsoft.com/office/drawing/2014/main" id="{178B0BAD-CFD8-4F64-A585-88208459C32D}"/>
              </a:ext>
            </a:extLst>
          </p:cNvPr>
          <p:cNvSpPr>
            <a:spLocks noGrp="1"/>
          </p:cNvSpPr>
          <p:nvPr/>
        </p:nvSpPr>
        <p:spPr>
          <a:xfrm>
            <a:off x="7839075" y="381000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No duplicate booking in failure tests</a:t>
            </a:r>
          </a:p>
        </p:txBody>
      </p:sp>
      <p:sp>
        <p:nvSpPr>
          <p:cNvPr id="53" name="Rectangle: Rounded Corners 52">
            <a:extLst>
              <a:ext uri="{FF2B5EF4-FFF2-40B4-BE49-F238E27FC236}">
                <a16:creationId xmlns:a16="http://schemas.microsoft.com/office/drawing/2014/main" id="{929B199F-0150-4CEF-AE26-8E8F30F2CF3C}"/>
              </a:ext>
            </a:extLst>
          </p:cNvPr>
          <p:cNvSpPr>
            <a:spLocks noGrp="1"/>
          </p:cNvSpPr>
          <p:nvPr/>
        </p:nvSpPr>
        <p:spPr>
          <a:xfrm>
            <a:off x="9391650" y="1971675"/>
            <a:ext cx="2000250" cy="2266950"/>
          </a:xfrm>
          <a:prstGeom prst="roundRect">
            <a:avLst>
              <a:gd name="adj" fmla="val 5714"/>
            </a:avLst>
          </a:prstGeom>
          <a:solidFill>
            <a:srgbClr val="FFFFFF"/>
          </a:solidFill>
          <a:ln w="11430">
            <a:solidFill>
              <a:srgbClr val="A5B0BF"/>
            </a:solidFill>
            <a:prstDash val="solid"/>
          </a:ln>
        </p:spPr>
        <p:style>
          <a:lnRef idx="0">
            <a:scrgbClr r="0" g="0" b="0"/>
          </a:lnRef>
          <a:fillRef idx="0">
            <a:scrgbClr r="0" g="0" b="0"/>
          </a:fillRef>
          <a:effectRef idx="4">
            <a:scrgbClr r="0" g="0" b="0"/>
          </a:effectRef>
          <a:fontRef idx="major"/>
        </p:style>
        <p:txBody>
          <a:bodyPr/>
          <a:lstStyle/>
          <a:p>
            <a:endParaRPr/>
          </a:p>
        </p:txBody>
      </p:sp>
      <p:sp>
        <p:nvSpPr>
          <p:cNvPr id="54" name="Oval 53">
            <a:extLst>
              <a:ext uri="{FF2B5EF4-FFF2-40B4-BE49-F238E27FC236}">
                <a16:creationId xmlns:a16="http://schemas.microsoft.com/office/drawing/2014/main" id="{791D8340-F126-4ED7-9481-995E5A0C21F7}"/>
              </a:ext>
            </a:extLst>
          </p:cNvPr>
          <p:cNvSpPr>
            <a:spLocks noGrp="1"/>
          </p:cNvSpPr>
          <p:nvPr/>
        </p:nvSpPr>
        <p:spPr>
          <a:xfrm>
            <a:off x="9544050" y="1828800"/>
            <a:ext cx="333375" cy="333375"/>
          </a:xfrm>
          <a:prstGeom prst="ellipse">
            <a:avLst/>
          </a:prstGeom>
          <a:solidFill>
            <a:srgbClr val="08A89B"/>
          </a:solidFill>
          <a:ln w="19050">
            <a:solidFill>
              <a:srgbClr val="FFFFFF"/>
            </a:solidFill>
            <a:prstDash val="solid"/>
          </a:ln>
        </p:spPr>
        <p:txBody>
          <a:bodyPr/>
          <a:lstStyle/>
          <a:p>
            <a:endParaRPr/>
          </a:p>
        </p:txBody>
      </p:sp>
      <p:sp>
        <p:nvSpPr>
          <p:cNvPr id="55" name="phase-number-4">
            <a:extLst>
              <a:ext uri="{FF2B5EF4-FFF2-40B4-BE49-F238E27FC236}">
                <a16:creationId xmlns:a16="http://schemas.microsoft.com/office/drawing/2014/main" id="{2DBE2FF6-5604-456C-BEFF-A550E298AE77}"/>
              </a:ext>
            </a:extLst>
          </p:cNvPr>
          <p:cNvSpPr>
            <a:spLocks noGrp="1"/>
          </p:cNvSpPr>
          <p:nvPr/>
        </p:nvSpPr>
        <p:spPr>
          <a:xfrm>
            <a:off x="9544050" y="1885950"/>
            <a:ext cx="333375" cy="209550"/>
          </a:xfrm>
          <a:prstGeom prst="rect">
            <a:avLst/>
          </a:prstGeom>
          <a:noFill/>
          <a:ln w="0">
            <a:noFill/>
            <a:prstDash val="solid"/>
          </a:ln>
        </p:spPr>
        <p:txBody>
          <a:bodyPr/>
          <a:lstStyle/>
          <a:p>
            <a:pPr algn="ctr">
              <a:buNone/>
              <a:defRPr sz="1125" b="1">
                <a:solidFill>
                  <a:srgbClr val="FFFFFF"/>
                </a:solidFill>
              </a:defRPr>
            </a:pPr>
            <a:r>
              <a:rPr sz="1125" b="1">
                <a:solidFill>
                  <a:srgbClr val="FFFFFF"/>
                </a:solidFill>
              </a:rPr>
              <a:t>5</a:t>
            </a:r>
          </a:p>
        </p:txBody>
      </p:sp>
      <p:sp>
        <p:nvSpPr>
          <p:cNvPr id="56" name="phase-title-4">
            <a:extLst>
              <a:ext uri="{FF2B5EF4-FFF2-40B4-BE49-F238E27FC236}">
                <a16:creationId xmlns:a16="http://schemas.microsoft.com/office/drawing/2014/main" id="{3062A3DF-600F-46DD-B563-0EDF91C21C19}"/>
              </a:ext>
            </a:extLst>
          </p:cNvPr>
          <p:cNvSpPr>
            <a:spLocks noGrp="1"/>
          </p:cNvSpPr>
          <p:nvPr/>
        </p:nvSpPr>
        <p:spPr>
          <a:xfrm>
            <a:off x="9563100" y="2238375"/>
            <a:ext cx="1657350" cy="457200"/>
          </a:xfrm>
          <a:prstGeom prst="rect">
            <a:avLst/>
          </a:prstGeom>
          <a:noFill/>
          <a:ln w="0">
            <a:noFill/>
            <a:prstDash val="solid"/>
          </a:ln>
        </p:spPr>
        <p:txBody>
          <a:bodyPr/>
          <a:lstStyle/>
          <a:p>
            <a:pPr algn="ctr">
              <a:buNone/>
              <a:defRPr sz="1200" b="1">
                <a:solidFill>
                  <a:srgbClr val="172033"/>
                </a:solidFill>
              </a:defRPr>
            </a:pPr>
            <a:r>
              <a:rPr sz="1200" b="1">
                <a:solidFill>
                  <a:srgbClr val="172033"/>
                </a:solidFill>
              </a:rPr>
              <a:t>DR validation +</a:t>
            </a:r>
          </a:p>
          <a:p>
            <a:pPr algn="ctr">
              <a:buNone/>
              <a:defRPr sz="1200" b="1">
                <a:solidFill>
                  <a:srgbClr val="172033"/>
                </a:solidFill>
              </a:defRPr>
            </a:pPr>
            <a:r>
              <a:rPr sz="1200" b="1">
                <a:solidFill>
                  <a:srgbClr val="172033"/>
                </a:solidFill>
              </a:rPr>
              <a:t>first rollout wave</a:t>
            </a:r>
          </a:p>
        </p:txBody>
      </p:sp>
      <p:sp>
        <p:nvSpPr>
          <p:cNvPr id="57" name="phase-duration-4">
            <a:extLst>
              <a:ext uri="{FF2B5EF4-FFF2-40B4-BE49-F238E27FC236}">
                <a16:creationId xmlns:a16="http://schemas.microsoft.com/office/drawing/2014/main" id="{A974E5FE-23C3-41F7-9F5F-D88DA1A3659A}"/>
              </a:ext>
            </a:extLst>
          </p:cNvPr>
          <p:cNvSpPr>
            <a:spLocks noGrp="1"/>
          </p:cNvSpPr>
          <p:nvPr/>
        </p:nvSpPr>
        <p:spPr>
          <a:xfrm>
            <a:off x="9563100" y="2771775"/>
            <a:ext cx="1657350" cy="200025"/>
          </a:xfrm>
          <a:prstGeom prst="rect">
            <a:avLst/>
          </a:prstGeom>
          <a:noFill/>
          <a:ln w="0">
            <a:noFill/>
            <a:prstDash val="solid"/>
          </a:ln>
        </p:spPr>
        <p:txBody>
          <a:bodyPr/>
          <a:lstStyle/>
          <a:p>
            <a:pPr algn="ctr">
              <a:buNone/>
              <a:defRPr sz="975" b="1">
                <a:solidFill>
                  <a:srgbClr val="087F75"/>
                </a:solidFill>
              </a:defRPr>
            </a:pPr>
            <a:r>
              <a:rPr sz="975" b="1">
                <a:solidFill>
                  <a:srgbClr val="087F75"/>
                </a:solidFill>
              </a:rPr>
              <a:t>6 weeks</a:t>
            </a:r>
          </a:p>
        </p:txBody>
      </p:sp>
      <p:sp>
        <p:nvSpPr>
          <p:cNvPr id="58" name="phase-4-0-label">
            <a:extLst>
              <a:ext uri="{FF2B5EF4-FFF2-40B4-BE49-F238E27FC236}">
                <a16:creationId xmlns:a16="http://schemas.microsoft.com/office/drawing/2014/main" id="{93E47434-A346-4805-83BD-D2F25A8FEF97}"/>
              </a:ext>
            </a:extLst>
          </p:cNvPr>
          <p:cNvSpPr>
            <a:spLocks noGrp="1"/>
          </p:cNvSpPr>
          <p:nvPr/>
        </p:nvSpPr>
        <p:spPr>
          <a:xfrm>
            <a:off x="9544050" y="311467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TEAM</a:t>
            </a:r>
          </a:p>
        </p:txBody>
      </p:sp>
      <p:sp>
        <p:nvSpPr>
          <p:cNvPr id="59" name="phase-4-0-body">
            <a:extLst>
              <a:ext uri="{FF2B5EF4-FFF2-40B4-BE49-F238E27FC236}">
                <a16:creationId xmlns:a16="http://schemas.microsoft.com/office/drawing/2014/main" id="{DA6ECC20-B6E4-432D-BCF2-8098D37BD923}"/>
              </a:ext>
            </a:extLst>
          </p:cNvPr>
          <p:cNvSpPr>
            <a:spLocks noGrp="1"/>
          </p:cNvSpPr>
          <p:nvPr/>
        </p:nvSpPr>
        <p:spPr>
          <a:xfrm>
            <a:off x="10048875" y="310515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Platform + operations</a:t>
            </a:r>
          </a:p>
        </p:txBody>
      </p:sp>
      <p:sp>
        <p:nvSpPr>
          <p:cNvPr id="60" name="phase-4-1-label">
            <a:extLst>
              <a:ext uri="{FF2B5EF4-FFF2-40B4-BE49-F238E27FC236}">
                <a16:creationId xmlns:a16="http://schemas.microsoft.com/office/drawing/2014/main" id="{56DF3316-976C-4F8F-A3A8-8420CF4E9136}"/>
              </a:ext>
            </a:extLst>
          </p:cNvPr>
          <p:cNvSpPr>
            <a:spLocks noGrp="1"/>
          </p:cNvSpPr>
          <p:nvPr/>
        </p:nvSpPr>
        <p:spPr>
          <a:xfrm>
            <a:off x="9544050" y="3467100"/>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SCALE</a:t>
            </a:r>
          </a:p>
        </p:txBody>
      </p:sp>
      <p:sp>
        <p:nvSpPr>
          <p:cNvPr id="61" name="phase-4-1-body">
            <a:extLst>
              <a:ext uri="{FF2B5EF4-FFF2-40B4-BE49-F238E27FC236}">
                <a16:creationId xmlns:a16="http://schemas.microsoft.com/office/drawing/2014/main" id="{8F152EAB-ED34-44DE-AB46-934D57F574CE}"/>
              </a:ext>
            </a:extLst>
          </p:cNvPr>
          <p:cNvSpPr>
            <a:spLocks noGrp="1"/>
          </p:cNvSpPr>
          <p:nvPr/>
        </p:nvSpPr>
        <p:spPr>
          <a:xfrm>
            <a:off x="10048875" y="3457575"/>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500-dealer wave;</a:t>
            </a:r>
          </a:p>
          <a:p>
            <a:pPr>
              <a:buNone/>
              <a:defRPr sz="675">
                <a:solidFill>
                  <a:srgbClr val="374151"/>
                </a:solidFill>
              </a:defRPr>
            </a:pPr>
            <a:r>
              <a:rPr sz="675">
                <a:solidFill>
                  <a:srgbClr val="374151"/>
                </a:solidFill>
              </a:rPr>
              <a:t>then 2,500+ by cohort</a:t>
            </a:r>
          </a:p>
        </p:txBody>
      </p:sp>
      <p:sp>
        <p:nvSpPr>
          <p:cNvPr id="62" name="phase-4-2-label">
            <a:extLst>
              <a:ext uri="{FF2B5EF4-FFF2-40B4-BE49-F238E27FC236}">
                <a16:creationId xmlns:a16="http://schemas.microsoft.com/office/drawing/2014/main" id="{2116535A-EE88-4A9A-B35F-F0ADA2584173}"/>
              </a:ext>
            </a:extLst>
          </p:cNvPr>
          <p:cNvSpPr>
            <a:spLocks noGrp="1"/>
          </p:cNvSpPr>
          <p:nvPr/>
        </p:nvSpPr>
        <p:spPr>
          <a:xfrm>
            <a:off x="9544050" y="3819525"/>
            <a:ext cx="523875" cy="142875"/>
          </a:xfrm>
          <a:prstGeom prst="rect">
            <a:avLst/>
          </a:prstGeom>
          <a:noFill/>
          <a:ln w="0">
            <a:noFill/>
            <a:prstDash val="solid"/>
          </a:ln>
        </p:spPr>
        <p:txBody>
          <a:bodyPr/>
          <a:lstStyle/>
          <a:p>
            <a:pPr>
              <a:buNone/>
              <a:defRPr sz="675" b="1">
                <a:solidFill>
                  <a:srgbClr val="5B6472"/>
                </a:solidFill>
              </a:defRPr>
            </a:pPr>
            <a:r>
              <a:rPr sz="675" b="1">
                <a:solidFill>
                  <a:srgbClr val="5B6472"/>
                </a:solidFill>
              </a:rPr>
              <a:t>EXIT</a:t>
            </a:r>
          </a:p>
        </p:txBody>
      </p:sp>
      <p:sp>
        <p:nvSpPr>
          <p:cNvPr id="63" name="phase-4-2-body">
            <a:extLst>
              <a:ext uri="{FF2B5EF4-FFF2-40B4-BE49-F238E27FC236}">
                <a16:creationId xmlns:a16="http://schemas.microsoft.com/office/drawing/2014/main" id="{2F259D66-A039-4CCE-89CA-62DEC2F5D231}"/>
              </a:ext>
            </a:extLst>
          </p:cNvPr>
          <p:cNvSpPr>
            <a:spLocks noGrp="1"/>
          </p:cNvSpPr>
          <p:nvPr/>
        </p:nvSpPr>
        <p:spPr>
          <a:xfrm>
            <a:off x="10048875" y="3810000"/>
            <a:ext cx="1152525" cy="295275"/>
          </a:xfrm>
          <a:prstGeom prst="rect">
            <a:avLst/>
          </a:prstGeom>
          <a:noFill/>
          <a:ln w="0">
            <a:noFill/>
            <a:prstDash val="solid"/>
          </a:ln>
        </p:spPr>
        <p:txBody>
          <a:bodyPr/>
          <a:lstStyle/>
          <a:p>
            <a:pPr>
              <a:buNone/>
              <a:defRPr sz="675">
                <a:solidFill>
                  <a:srgbClr val="374151"/>
                </a:solidFill>
              </a:defRPr>
            </a:pPr>
            <a:r>
              <a:rPr sz="675">
                <a:solidFill>
                  <a:srgbClr val="374151"/>
                </a:solidFill>
              </a:rPr>
              <a:t>RTO/RPO exercise;</a:t>
            </a:r>
          </a:p>
          <a:p>
            <a:pPr>
              <a:buNone/>
              <a:defRPr sz="675">
                <a:solidFill>
                  <a:srgbClr val="374151"/>
                </a:solidFill>
              </a:defRPr>
            </a:pPr>
            <a:r>
              <a:rPr sz="675">
                <a:solidFill>
                  <a:srgbClr val="374151"/>
                </a:solidFill>
              </a:rPr>
              <a:t>cohort gates passed</a:t>
            </a:r>
          </a:p>
        </p:txBody>
      </p:sp>
      <p:sp>
        <p:nvSpPr>
          <p:cNvPr id="64" name="Rectangle: Rounded Corners 63">
            <a:extLst>
              <a:ext uri="{FF2B5EF4-FFF2-40B4-BE49-F238E27FC236}">
                <a16:creationId xmlns:a16="http://schemas.microsoft.com/office/drawing/2014/main" id="{9A1B227B-D894-4026-8723-73CE62CF7D5E}"/>
              </a:ext>
            </a:extLst>
          </p:cNvPr>
          <p:cNvSpPr>
            <a:spLocks noGrp="1"/>
          </p:cNvSpPr>
          <p:nvPr/>
        </p:nvSpPr>
        <p:spPr>
          <a:xfrm>
            <a:off x="552450" y="4562475"/>
            <a:ext cx="11087100" cy="1323975"/>
          </a:xfrm>
          <a:prstGeom prst="roundRect">
            <a:avLst>
              <a:gd name="adj" fmla="val 8633"/>
            </a:avLst>
          </a:prstGeom>
          <a:solidFill>
            <a:srgbClr val="F7F8FA"/>
          </a:solidFill>
          <a:ln w="10478">
            <a:solidFill>
              <a:srgbClr val="C5CED9"/>
            </a:solidFill>
            <a:prstDash val="solid"/>
          </a:ln>
        </p:spPr>
        <p:txBody>
          <a:bodyPr/>
          <a:lstStyle/>
          <a:p>
            <a:endParaRPr/>
          </a:p>
        </p:txBody>
      </p:sp>
      <p:pic>
        <p:nvPicPr>
          <p:cNvPr id="143" name="Picture 139"/>
          <p:cNvPicPr>
            <a:picLocks noChangeAspect="1"/>
          </p:cNvPicPr>
          <p:nvPr/>
        </p:nvPicPr>
        <p:blipFill>
          <a:blip r:embed="rId3"/>
          <a:stretch/>
        </p:blipFill>
        <p:spPr>
          <a:xfrm>
            <a:off x="790575" y="4810125"/>
            <a:ext cx="361950" cy="361950"/>
          </a:xfrm>
          <a:prstGeom prst="rect">
            <a:avLst/>
          </a:prstGeom>
        </p:spPr>
      </p:pic>
      <p:pic>
        <p:nvPicPr>
          <p:cNvPr id="144" name="Picture 140"/>
          <p:cNvPicPr>
            <a:picLocks noChangeAspect="1"/>
          </p:cNvPicPr>
          <p:nvPr/>
        </p:nvPicPr>
        <p:blipFill>
          <a:blip r:embed="rId4"/>
          <a:stretch/>
        </p:blipFill>
        <p:spPr>
          <a:xfrm>
            <a:off x="1228725" y="4810125"/>
            <a:ext cx="361950" cy="361950"/>
          </a:xfrm>
          <a:prstGeom prst="rect">
            <a:avLst/>
          </a:prstGeom>
        </p:spPr>
      </p:pic>
      <p:sp>
        <p:nvSpPr>
          <p:cNvPr id="67" name="auth-title">
            <a:extLst>
              <a:ext uri="{FF2B5EF4-FFF2-40B4-BE49-F238E27FC236}">
                <a16:creationId xmlns:a16="http://schemas.microsoft.com/office/drawing/2014/main" id="{1F014C3D-3DE3-45FE-A051-4320E592E970}"/>
              </a:ext>
            </a:extLst>
          </p:cNvPr>
          <p:cNvSpPr>
            <a:spLocks noGrp="1"/>
          </p:cNvSpPr>
          <p:nvPr/>
        </p:nvSpPr>
        <p:spPr>
          <a:xfrm>
            <a:off x="1733550" y="4762500"/>
            <a:ext cx="2857500" cy="209550"/>
          </a:xfrm>
          <a:prstGeom prst="rect">
            <a:avLst/>
          </a:prstGeom>
          <a:noFill/>
          <a:ln w="0">
            <a:noFill/>
            <a:prstDash val="solid"/>
          </a:ln>
        </p:spPr>
        <p:txBody>
          <a:bodyPr/>
          <a:lstStyle/>
          <a:p>
            <a:pPr>
              <a:buNone/>
              <a:defRPr sz="1050" b="1">
                <a:solidFill>
                  <a:srgbClr val="172033"/>
                </a:solidFill>
              </a:defRPr>
            </a:pPr>
            <a:r>
              <a:rPr sz="1050" b="1">
                <a:solidFill>
                  <a:srgbClr val="172033"/>
                </a:solidFill>
              </a:rPr>
              <a:t>PHASE 1 AUTHORIZATION DECISION</a:t>
            </a:r>
          </a:p>
        </p:txBody>
      </p:sp>
      <p:sp>
        <p:nvSpPr>
          <p:cNvPr id="68" name="auth-native-title">
            <a:extLst>
              <a:ext uri="{FF2B5EF4-FFF2-40B4-BE49-F238E27FC236}">
                <a16:creationId xmlns:a16="http://schemas.microsoft.com/office/drawing/2014/main" id="{F4B1071C-0E5F-42A8-9915-81200074CA36}"/>
              </a:ext>
            </a:extLst>
          </p:cNvPr>
          <p:cNvSpPr>
            <a:spLocks noGrp="1"/>
          </p:cNvSpPr>
          <p:nvPr/>
        </p:nvSpPr>
        <p:spPr>
          <a:xfrm>
            <a:off x="1733550" y="5095875"/>
            <a:ext cx="2333625" cy="190500"/>
          </a:xfrm>
          <a:prstGeom prst="rect">
            <a:avLst/>
          </a:prstGeom>
          <a:noFill/>
          <a:ln w="0">
            <a:noFill/>
            <a:prstDash val="solid"/>
          </a:ln>
        </p:spPr>
        <p:txBody>
          <a:bodyPr/>
          <a:lstStyle/>
          <a:p>
            <a:pPr>
              <a:buNone/>
              <a:defRPr sz="900" b="1">
                <a:solidFill>
                  <a:srgbClr val="087F75"/>
                </a:solidFill>
              </a:defRPr>
            </a:pPr>
            <a:r>
              <a:rPr sz="900" b="1">
                <a:solidFill>
                  <a:srgbClr val="087F75"/>
                </a:solidFill>
              </a:rPr>
              <a:t>Native Cognito / JWT authorizer</a:t>
            </a:r>
          </a:p>
        </p:txBody>
      </p:sp>
      <p:sp>
        <p:nvSpPr>
          <p:cNvPr id="69" name="auth-native-body">
            <a:extLst>
              <a:ext uri="{FF2B5EF4-FFF2-40B4-BE49-F238E27FC236}">
                <a16:creationId xmlns:a16="http://schemas.microsoft.com/office/drawing/2014/main" id="{26A8E1A6-CA74-4302-9B62-28A1AB1A45C2}"/>
              </a:ext>
            </a:extLst>
          </p:cNvPr>
          <p:cNvSpPr>
            <a:spLocks noGrp="1"/>
          </p:cNvSpPr>
          <p:nvPr/>
        </p:nvSpPr>
        <p:spPr>
          <a:xfrm>
            <a:off x="1733550" y="5334000"/>
            <a:ext cx="2571750" cy="361950"/>
          </a:xfrm>
          <a:prstGeom prst="rect">
            <a:avLst/>
          </a:prstGeom>
          <a:noFill/>
          <a:ln w="0">
            <a:noFill/>
            <a:prstDash val="solid"/>
          </a:ln>
        </p:spPr>
        <p:txBody>
          <a:bodyPr/>
          <a:lstStyle/>
          <a:p>
            <a:pPr>
              <a:buNone/>
              <a:defRPr sz="825">
                <a:solidFill>
                  <a:srgbClr val="374151"/>
                </a:solidFill>
              </a:defRPr>
            </a:pPr>
            <a:r>
              <a:rPr sz="825">
                <a:solidFill>
                  <a:srgbClr val="374151"/>
                </a:solidFill>
              </a:rPr>
              <a:t>Default for ordinary customer APIs and straightforward scopes.</a:t>
            </a:r>
          </a:p>
        </p:txBody>
      </p:sp>
      <p:sp>
        <p:nvSpPr>
          <p:cNvPr id="70" name="auth-lambda-title">
            <a:extLst>
              <a:ext uri="{FF2B5EF4-FFF2-40B4-BE49-F238E27FC236}">
                <a16:creationId xmlns:a16="http://schemas.microsoft.com/office/drawing/2014/main" id="{8CB66A39-A9B7-4642-8077-2677E7C8DEBD}"/>
              </a:ext>
            </a:extLst>
          </p:cNvPr>
          <p:cNvSpPr>
            <a:spLocks noGrp="1"/>
          </p:cNvSpPr>
          <p:nvPr/>
        </p:nvSpPr>
        <p:spPr>
          <a:xfrm>
            <a:off x="4695825" y="5095875"/>
            <a:ext cx="2000250" cy="190500"/>
          </a:xfrm>
          <a:prstGeom prst="rect">
            <a:avLst/>
          </a:prstGeom>
          <a:noFill/>
          <a:ln w="0">
            <a:noFill/>
            <a:prstDash val="solid"/>
          </a:ln>
        </p:spPr>
        <p:txBody>
          <a:bodyPr/>
          <a:lstStyle/>
          <a:p>
            <a:pPr>
              <a:buNone/>
              <a:defRPr sz="900" b="1">
                <a:solidFill>
                  <a:srgbClr val="B86713"/>
                </a:solidFill>
              </a:defRPr>
            </a:pPr>
            <a:r>
              <a:rPr sz="900" b="1">
                <a:solidFill>
                  <a:srgbClr val="B86713"/>
                </a:solidFill>
              </a:rPr>
              <a:t>Lambda authorizer</a:t>
            </a:r>
          </a:p>
        </p:txBody>
      </p:sp>
      <p:sp>
        <p:nvSpPr>
          <p:cNvPr id="71" name="auth-lambda-body">
            <a:extLst>
              <a:ext uri="{FF2B5EF4-FFF2-40B4-BE49-F238E27FC236}">
                <a16:creationId xmlns:a16="http://schemas.microsoft.com/office/drawing/2014/main" id="{2B286065-125A-471C-AF61-73FCB9E119AD}"/>
              </a:ext>
            </a:extLst>
          </p:cNvPr>
          <p:cNvSpPr>
            <a:spLocks noGrp="1"/>
          </p:cNvSpPr>
          <p:nvPr/>
        </p:nvSpPr>
        <p:spPr>
          <a:xfrm>
            <a:off x="4695825" y="5334000"/>
            <a:ext cx="3143250" cy="400050"/>
          </a:xfrm>
          <a:prstGeom prst="rect">
            <a:avLst/>
          </a:prstGeom>
          <a:noFill/>
          <a:ln w="0">
            <a:noFill/>
            <a:prstDash val="solid"/>
          </a:ln>
        </p:spPr>
        <p:txBody>
          <a:bodyPr/>
          <a:lstStyle/>
          <a:p>
            <a:pPr>
              <a:buNone/>
              <a:defRPr sz="825">
                <a:solidFill>
                  <a:srgbClr val="374151"/>
                </a:solidFill>
              </a:defRPr>
            </a:pPr>
            <a:r>
              <a:rPr sz="825">
                <a:solidFill>
                  <a:srgbClr val="374151"/>
                </a:solidFill>
              </a:rPr>
              <a:t>Use for dealer isolation, legacy tokens, enterprise IdP mapping, route entitlements, or custom tenant rules.</a:t>
            </a:r>
          </a:p>
        </p:txBody>
      </p:sp>
      <p:sp>
        <p:nvSpPr>
          <p:cNvPr id="72" name="auth-defense-title">
            <a:extLst>
              <a:ext uri="{FF2B5EF4-FFF2-40B4-BE49-F238E27FC236}">
                <a16:creationId xmlns:a16="http://schemas.microsoft.com/office/drawing/2014/main" id="{42EEA5C4-F4B0-4D2F-ACD4-2D1702160FF5}"/>
              </a:ext>
            </a:extLst>
          </p:cNvPr>
          <p:cNvSpPr>
            <a:spLocks noGrp="1"/>
          </p:cNvSpPr>
          <p:nvPr/>
        </p:nvSpPr>
        <p:spPr>
          <a:xfrm>
            <a:off x="8191500" y="5095875"/>
            <a:ext cx="1809750" cy="190500"/>
          </a:xfrm>
          <a:prstGeom prst="rect">
            <a:avLst/>
          </a:prstGeom>
          <a:noFill/>
          <a:ln w="0">
            <a:noFill/>
            <a:prstDash val="solid"/>
          </a:ln>
        </p:spPr>
        <p:txBody>
          <a:bodyPr/>
          <a:lstStyle/>
          <a:p>
            <a:pPr>
              <a:buNone/>
              <a:defRPr sz="900" b="1">
                <a:solidFill>
                  <a:srgbClr val="2767A8"/>
                </a:solidFill>
              </a:defRPr>
            </a:pPr>
            <a:r>
              <a:rPr sz="900" b="1">
                <a:solidFill>
                  <a:srgbClr val="2767A8"/>
                </a:solidFill>
              </a:rPr>
              <a:t>Defense in depth</a:t>
            </a:r>
          </a:p>
        </p:txBody>
      </p:sp>
      <p:sp>
        <p:nvSpPr>
          <p:cNvPr id="73" name="auth-defense-body">
            <a:extLst>
              <a:ext uri="{FF2B5EF4-FFF2-40B4-BE49-F238E27FC236}">
                <a16:creationId xmlns:a16="http://schemas.microsoft.com/office/drawing/2014/main" id="{69111DAF-184F-4C57-BD5D-5E08FF07D170}"/>
              </a:ext>
            </a:extLst>
          </p:cNvPr>
          <p:cNvSpPr>
            <a:spLocks noGrp="1"/>
          </p:cNvSpPr>
          <p:nvPr/>
        </p:nvSpPr>
        <p:spPr>
          <a:xfrm>
            <a:off x="8191500" y="5334000"/>
            <a:ext cx="2857500" cy="400050"/>
          </a:xfrm>
          <a:prstGeom prst="rect">
            <a:avLst/>
          </a:prstGeom>
          <a:noFill/>
          <a:ln w="0">
            <a:noFill/>
            <a:prstDash val="solid"/>
          </a:ln>
        </p:spPr>
        <p:txBody>
          <a:bodyPr/>
          <a:lstStyle/>
          <a:p>
            <a:pPr>
              <a:buNone/>
              <a:defRPr sz="825">
                <a:solidFill>
                  <a:srgbClr val="374151"/>
                </a:solidFill>
              </a:defRPr>
            </a:pPr>
            <a:r>
              <a:rPr sz="825">
                <a:solidFill>
                  <a:srgbClr val="374151"/>
                </a:solidFill>
              </a:rPr>
              <a:t>Services enforce resource-level authorization and dealer scope even after gateway approval.</a:t>
            </a:r>
          </a:p>
        </p:txBody>
      </p:sp>
      <p:sp>
        <p:nvSpPr>
          <p:cNvPr id="74" name="principle-banner">
            <a:extLst>
              <a:ext uri="{FF2B5EF4-FFF2-40B4-BE49-F238E27FC236}">
                <a16:creationId xmlns:a16="http://schemas.microsoft.com/office/drawing/2014/main" id="{B4C95805-550F-473B-9DE0-B84A00949A7A}"/>
              </a:ext>
            </a:extLst>
          </p:cNvPr>
          <p:cNvSpPr>
            <a:spLocks noGrp="1"/>
          </p:cNvSpPr>
          <p:nvPr/>
        </p:nvSpPr>
        <p:spPr>
          <a:xfrm>
            <a:off x="552450" y="6115050"/>
            <a:ext cx="11087100" cy="428625"/>
          </a:xfrm>
          <a:prstGeom prst="roundRect">
            <a:avLst>
              <a:gd name="adj" fmla="val 17778"/>
            </a:avLst>
          </a:prstGeom>
          <a:solidFill>
            <a:srgbClr val="F0FAF8"/>
          </a:solidFill>
          <a:ln w="9525">
            <a:solidFill>
              <a:srgbClr val="A5DDD6"/>
            </a:solidFill>
            <a:prstDash val="solid"/>
          </a:ln>
        </p:spPr>
        <p:txBody>
          <a:bodyPr/>
          <a:lstStyle/>
          <a:p>
            <a:endParaRPr/>
          </a:p>
        </p:txBody>
      </p:sp>
      <p:sp>
        <p:nvSpPr>
          <p:cNvPr id="75" name="principle-text">
            <a:extLst>
              <a:ext uri="{FF2B5EF4-FFF2-40B4-BE49-F238E27FC236}">
                <a16:creationId xmlns:a16="http://schemas.microsoft.com/office/drawing/2014/main" id="{992CF041-F844-4809-BD2B-02EC24D81A16}"/>
              </a:ext>
            </a:extLst>
          </p:cNvPr>
          <p:cNvSpPr>
            <a:spLocks noGrp="1"/>
          </p:cNvSpPr>
          <p:nvPr/>
        </p:nvSpPr>
        <p:spPr>
          <a:xfrm>
            <a:off x="742950" y="6229350"/>
            <a:ext cx="10706100" cy="190500"/>
          </a:xfrm>
          <a:prstGeom prst="rect">
            <a:avLst/>
          </a:prstGeom>
          <a:noFill/>
          <a:ln w="0">
            <a:noFill/>
            <a:prstDash val="solid"/>
          </a:ln>
        </p:spPr>
        <p:txBody>
          <a:bodyPr/>
          <a:lstStyle/>
          <a:p>
            <a:pPr algn="ctr">
              <a:buNone/>
              <a:defRPr sz="1050" b="1">
                <a:solidFill>
                  <a:srgbClr val="087F75"/>
                </a:solidFill>
              </a:defRPr>
            </a:pPr>
            <a:r>
              <a:rPr sz="1050" b="1">
                <a:solidFill>
                  <a:srgbClr val="087F75"/>
                </a:solidFill>
              </a:rPr>
              <a:t>Governance: sprint architecture runway • automated quality gates • certified DMS cohorts • dealer-partner readiness</a:t>
            </a:r>
          </a:p>
        </p:txBody>
      </p:sp>
    </p:spTree>
    <p:extLst>
      <p:ext uri="{BB962C8B-B14F-4D97-AF65-F5344CB8AC3E}">
        <p14:creationId xmlns:p14="http://schemas.microsoft.com/office/powerpoint/2010/main" val="38322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88790E-69A3-7260-7163-8FD0AA99CE3B}"/>
              </a:ext>
            </a:extLst>
          </p:cNvPr>
          <p:cNvSpPr txBox="1"/>
          <p:nvPr/>
        </p:nvSpPr>
        <p:spPr>
          <a:xfrm>
            <a:off x="4532671" y="2890685"/>
            <a:ext cx="3126657" cy="923330"/>
          </a:xfrm>
          <a:prstGeom prst="rect">
            <a:avLst/>
          </a:prstGeom>
          <a:noFill/>
        </p:spPr>
        <p:txBody>
          <a:bodyPr wrap="square" rtlCol="0">
            <a:spAutoFit/>
          </a:bodyPr>
          <a:lstStyle/>
          <a:p>
            <a:pPr algn="ctr"/>
            <a:r>
              <a:rPr lang="en-US" sz="5400" dirty="0"/>
              <a:t>Appendix</a:t>
            </a:r>
          </a:p>
        </p:txBody>
      </p:sp>
    </p:spTree>
    <p:extLst>
      <p:ext uri="{BB962C8B-B14F-4D97-AF65-F5344CB8AC3E}">
        <p14:creationId xmlns:p14="http://schemas.microsoft.com/office/powerpoint/2010/main" val="2555578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eyebrow">
            <a:extLst>
              <a:ext uri="{FF2B5EF4-FFF2-40B4-BE49-F238E27FC236}">
                <a16:creationId xmlns:a16="http://schemas.microsoft.com/office/drawing/2014/main" id="{2112B88B-D50C-40CD-8224-13B7CCC3330F}"/>
              </a:ext>
            </a:extLst>
          </p:cNvPr>
          <p:cNvSpPr>
            <a:spLocks noGrp="1"/>
          </p:cNvSpPr>
          <p:nvPr/>
        </p:nvSpPr>
        <p:spPr>
          <a:xfrm>
            <a:off x="571500" y="333375"/>
            <a:ext cx="3333750" cy="171450"/>
          </a:xfrm>
          <a:prstGeom prst="rect">
            <a:avLst/>
          </a:prstGeom>
          <a:noFill/>
          <a:ln w="0">
            <a:noFill/>
            <a:prstDash val="solid"/>
          </a:ln>
        </p:spPr>
        <p:txBody>
          <a:bodyPr/>
          <a:lstStyle/>
          <a:p>
            <a:pPr>
              <a:defRPr sz="825" b="1">
                <a:solidFill>
                  <a:srgbClr val="008296"/>
                </a:solidFill>
              </a:defRPr>
            </a:pPr>
            <a:r>
              <a:rPr sz="825" b="1">
                <a:solidFill>
                  <a:srgbClr val="008296"/>
                </a:solidFill>
              </a:rPr>
              <a:t>APPENDIX • DEALER WITHOUT A NATIVE HOLD</a:t>
            </a:r>
          </a:p>
        </p:txBody>
      </p:sp>
      <p:sp>
        <p:nvSpPr>
          <p:cNvPr id="2" name="title">
            <a:extLst>
              <a:ext uri="{FF2B5EF4-FFF2-40B4-BE49-F238E27FC236}">
                <a16:creationId xmlns:a16="http://schemas.microsoft.com/office/drawing/2014/main" id="{A492216F-FBDB-45EE-888D-0FAF2CBA209B}"/>
              </a:ext>
            </a:extLst>
          </p:cNvPr>
          <p:cNvSpPr>
            <a:spLocks noGrp="1"/>
          </p:cNvSpPr>
          <p:nvPr/>
        </p:nvSpPr>
        <p:spPr>
          <a:xfrm>
            <a:off x="571500" y="561975"/>
            <a:ext cx="11049000" cy="409575"/>
          </a:xfrm>
          <a:prstGeom prst="rect">
            <a:avLst/>
          </a:prstGeom>
          <a:noFill/>
          <a:ln w="0">
            <a:noFill/>
            <a:prstDash val="solid"/>
          </a:ln>
        </p:spPr>
        <p:txBody>
          <a:bodyPr/>
          <a:lstStyle/>
          <a:p>
            <a:pPr>
              <a:defRPr sz="2175" b="1">
                <a:solidFill>
                  <a:srgbClr val="183B56"/>
                </a:solidFill>
              </a:defRPr>
            </a:pPr>
            <a:r>
              <a:rPr sz="2175" b="1">
                <a:solidFill>
                  <a:srgbClr val="183B56"/>
                </a:solidFill>
              </a:rPr>
              <a:t>Without a hold API, confirmation still waits for the dealer’s atomic create response</a:t>
            </a:r>
          </a:p>
        </p:txBody>
      </p:sp>
      <p:sp>
        <p:nvSpPr>
          <p:cNvPr id="3" name="subtitle">
            <a:extLst>
              <a:ext uri="{FF2B5EF4-FFF2-40B4-BE49-F238E27FC236}">
                <a16:creationId xmlns:a16="http://schemas.microsoft.com/office/drawing/2014/main" id="{544F7FAC-6E8F-4E4D-AEC8-2536C8AF20D4}"/>
              </a:ext>
            </a:extLst>
          </p:cNvPr>
          <p:cNvSpPr>
            <a:spLocks noGrp="1"/>
          </p:cNvSpPr>
          <p:nvPr/>
        </p:nvSpPr>
        <p:spPr>
          <a:xfrm>
            <a:off x="571500" y="1009650"/>
            <a:ext cx="11049000" cy="228600"/>
          </a:xfrm>
          <a:prstGeom prst="rect">
            <a:avLst/>
          </a:prstGeom>
          <a:noFill/>
          <a:ln w="0">
            <a:noFill/>
            <a:prstDash val="solid"/>
          </a:ln>
        </p:spPr>
        <p:txBody>
          <a:bodyPr/>
          <a:lstStyle/>
          <a:p>
            <a:pPr>
              <a:defRPr sz="1050">
                <a:solidFill>
                  <a:srgbClr val="557086"/>
                </a:solidFill>
              </a:defRPr>
            </a:pPr>
            <a:r>
              <a:rPr sz="1050">
                <a:solidFill>
                  <a:srgbClr val="557086"/>
                </a:solidFill>
              </a:rPr>
              <a:t>The cloud may serialize its own requests, but it cannot claim dealer inventory on the dealer’s behalf.</a:t>
            </a:r>
          </a:p>
        </p:txBody>
      </p:sp>
      <p:sp>
        <p:nvSpPr>
          <p:cNvPr id="4" name="header-rule">
            <a:extLst>
              <a:ext uri="{FF2B5EF4-FFF2-40B4-BE49-F238E27FC236}">
                <a16:creationId xmlns:a16="http://schemas.microsoft.com/office/drawing/2014/main" id="{79F01E38-D48F-4EC9-86A1-675DC5220827}"/>
              </a:ext>
            </a:extLst>
          </p:cNvPr>
          <p:cNvSpPr>
            <a:spLocks noGrp="1"/>
          </p:cNvSpPr>
          <p:nvPr/>
        </p:nvSpPr>
        <p:spPr>
          <a:xfrm>
            <a:off x="571500" y="1314450"/>
            <a:ext cx="11049000" cy="19050"/>
          </a:xfrm>
          <a:prstGeom prst="rect">
            <a:avLst/>
          </a:prstGeom>
          <a:solidFill>
            <a:srgbClr val="00A8C6"/>
          </a:solidFill>
          <a:ln w="9525">
            <a:solidFill>
              <a:srgbClr val="00A8C6"/>
            </a:solidFill>
            <a:prstDash val="solid"/>
          </a:ln>
        </p:spPr>
        <p:txBody>
          <a:bodyPr/>
          <a:lstStyle/>
          <a:p>
            <a:endParaRPr lang="en-US"/>
          </a:p>
        </p:txBody>
      </p:sp>
      <p:sp>
        <p:nvSpPr>
          <p:cNvPr id="5" name="footer">
            <a:extLst>
              <a:ext uri="{FF2B5EF4-FFF2-40B4-BE49-F238E27FC236}">
                <a16:creationId xmlns:a16="http://schemas.microsoft.com/office/drawing/2014/main" id="{E906CBDB-F2F1-4D22-834F-F5CA934397E7}"/>
              </a:ext>
            </a:extLst>
          </p:cNvPr>
          <p:cNvSpPr>
            <a:spLocks noGrp="1"/>
          </p:cNvSpPr>
          <p:nvPr/>
        </p:nvSpPr>
        <p:spPr>
          <a:xfrm>
            <a:off x="571500" y="6591300"/>
            <a:ext cx="5715000" cy="133350"/>
          </a:xfrm>
          <a:prstGeom prst="rect">
            <a:avLst/>
          </a:prstGeom>
          <a:noFill/>
          <a:ln w="0">
            <a:noFill/>
            <a:prstDash val="solid"/>
          </a:ln>
        </p:spPr>
        <p:txBody>
          <a:bodyPr/>
          <a:lstStyle/>
          <a:p>
            <a:pPr>
              <a:defRPr sz="638">
                <a:solidFill>
                  <a:srgbClr val="6D8899"/>
                </a:solidFill>
              </a:defRPr>
            </a:pPr>
            <a:r>
              <a:rPr sz="638">
                <a:solidFill>
                  <a:srgbClr val="6D8899"/>
                </a:solidFill>
              </a:rPr>
              <a:t>CLOUD PLATFORM ARCHITECTURE  •  BOOKING CONSISTENCY APPENDIX</a:t>
            </a:r>
          </a:p>
        </p:txBody>
      </p:sp>
      <p:sp>
        <p:nvSpPr>
          <p:cNvPr id="6" name="page">
            <a:extLst>
              <a:ext uri="{FF2B5EF4-FFF2-40B4-BE49-F238E27FC236}">
                <a16:creationId xmlns:a16="http://schemas.microsoft.com/office/drawing/2014/main" id="{93344600-23B5-4A57-9660-9C0EE5AD692D}"/>
              </a:ext>
            </a:extLst>
          </p:cNvPr>
          <p:cNvSpPr>
            <a:spLocks noGrp="1"/>
          </p:cNvSpPr>
          <p:nvPr/>
        </p:nvSpPr>
        <p:spPr>
          <a:xfrm>
            <a:off x="11239500" y="6572250"/>
            <a:ext cx="381000" cy="152400"/>
          </a:xfrm>
          <a:prstGeom prst="rect">
            <a:avLst/>
          </a:prstGeom>
          <a:noFill/>
          <a:ln w="0">
            <a:noFill/>
            <a:prstDash val="solid"/>
          </a:ln>
        </p:spPr>
        <p:txBody>
          <a:bodyPr/>
          <a:lstStyle/>
          <a:p>
            <a:pPr algn="r">
              <a:defRPr sz="675" b="1">
                <a:solidFill>
                  <a:srgbClr val="6D8899"/>
                </a:solidFill>
              </a:defRPr>
            </a:pPr>
            <a:r>
              <a:rPr sz="675" b="1">
                <a:solidFill>
                  <a:srgbClr val="6D8899"/>
                </a:solidFill>
              </a:rPr>
              <a:t>A1</a:t>
            </a:r>
          </a:p>
        </p:txBody>
      </p:sp>
      <p:sp>
        <p:nvSpPr>
          <p:cNvPr id="7" name="a1">
            <a:extLst>
              <a:ext uri="{FF2B5EF4-FFF2-40B4-BE49-F238E27FC236}">
                <a16:creationId xmlns:a16="http://schemas.microsoft.com/office/drawing/2014/main" id="{C676C2F1-AEB1-4EDF-8356-38BCA34EFB42}"/>
              </a:ext>
            </a:extLst>
          </p:cNvPr>
          <p:cNvSpPr>
            <a:spLocks noGrp="1"/>
          </p:cNvSpPr>
          <p:nvPr/>
        </p:nvSpPr>
        <p:spPr>
          <a:xfrm>
            <a:off x="2724150" y="2276475"/>
            <a:ext cx="361950" cy="238125"/>
          </a:xfrm>
          <a:prstGeom prst="chevron">
            <a:avLst/>
          </a:prstGeom>
          <a:solidFill>
            <a:srgbClr val="00A8C6"/>
          </a:solidFill>
          <a:ln w="9525">
            <a:solidFill>
              <a:srgbClr val="00A8C6"/>
            </a:solidFill>
            <a:prstDash val="solid"/>
          </a:ln>
        </p:spPr>
        <p:txBody>
          <a:bodyPr/>
          <a:lstStyle/>
          <a:p>
            <a:endParaRPr lang="en-US"/>
          </a:p>
        </p:txBody>
      </p:sp>
      <p:sp>
        <p:nvSpPr>
          <p:cNvPr id="8" name="a2">
            <a:extLst>
              <a:ext uri="{FF2B5EF4-FFF2-40B4-BE49-F238E27FC236}">
                <a16:creationId xmlns:a16="http://schemas.microsoft.com/office/drawing/2014/main" id="{C0D68040-527A-4E2C-99C1-DF0FEB76DCCC}"/>
              </a:ext>
            </a:extLst>
          </p:cNvPr>
          <p:cNvSpPr>
            <a:spLocks noGrp="1"/>
          </p:cNvSpPr>
          <p:nvPr/>
        </p:nvSpPr>
        <p:spPr>
          <a:xfrm>
            <a:off x="5562600" y="2276475"/>
            <a:ext cx="361950" cy="238125"/>
          </a:xfrm>
          <a:prstGeom prst="chevron">
            <a:avLst/>
          </a:prstGeom>
          <a:solidFill>
            <a:srgbClr val="00A8C6"/>
          </a:solidFill>
          <a:ln w="9525">
            <a:solidFill>
              <a:srgbClr val="00A8C6"/>
            </a:solidFill>
            <a:prstDash val="solid"/>
          </a:ln>
        </p:spPr>
        <p:txBody>
          <a:bodyPr/>
          <a:lstStyle/>
          <a:p>
            <a:endParaRPr lang="en-US"/>
          </a:p>
        </p:txBody>
      </p:sp>
      <p:sp>
        <p:nvSpPr>
          <p:cNvPr id="9" name="a3">
            <a:extLst>
              <a:ext uri="{FF2B5EF4-FFF2-40B4-BE49-F238E27FC236}">
                <a16:creationId xmlns:a16="http://schemas.microsoft.com/office/drawing/2014/main" id="{6C42CBD3-E920-4A33-9289-84840F373046}"/>
              </a:ext>
            </a:extLst>
          </p:cNvPr>
          <p:cNvSpPr>
            <a:spLocks noGrp="1"/>
          </p:cNvSpPr>
          <p:nvPr/>
        </p:nvSpPr>
        <p:spPr>
          <a:xfrm>
            <a:off x="8401050" y="2276475"/>
            <a:ext cx="361950" cy="238125"/>
          </a:xfrm>
          <a:prstGeom prst="chevron">
            <a:avLst/>
          </a:prstGeom>
          <a:solidFill>
            <a:srgbClr val="00A8C6"/>
          </a:solidFill>
          <a:ln w="9525">
            <a:solidFill>
              <a:srgbClr val="00A8C6"/>
            </a:solidFill>
            <a:prstDash val="solid"/>
          </a:ln>
        </p:spPr>
        <p:txBody>
          <a:bodyPr/>
          <a:lstStyle/>
          <a:p>
            <a:endParaRPr lang="en-US"/>
          </a:p>
        </p:txBody>
      </p:sp>
      <p:sp>
        <p:nvSpPr>
          <p:cNvPr id="10" name="intent-shape">
            <a:extLst>
              <a:ext uri="{FF2B5EF4-FFF2-40B4-BE49-F238E27FC236}">
                <a16:creationId xmlns:a16="http://schemas.microsoft.com/office/drawing/2014/main" id="{74F10F7F-A65C-43B6-87AD-0A09207CB7FB}"/>
              </a:ext>
            </a:extLst>
          </p:cNvPr>
          <p:cNvSpPr>
            <a:spLocks noGrp="1"/>
          </p:cNvSpPr>
          <p:nvPr/>
        </p:nvSpPr>
        <p:spPr>
          <a:xfrm>
            <a:off x="571500" y="1809750"/>
            <a:ext cx="2152650" cy="1190625"/>
          </a:xfrm>
          <a:prstGeom prst="roundRect">
            <a:avLst>
              <a:gd name="adj" fmla="val 6400"/>
            </a:avLst>
          </a:prstGeom>
          <a:solidFill>
            <a:srgbClr val="FFFFFF"/>
          </a:solidFill>
          <a:ln w="9525">
            <a:solidFill>
              <a:srgbClr val="B8CEDA"/>
            </a:solidFill>
            <a:prstDash val="solid"/>
          </a:ln>
        </p:spPr>
        <p:txBody>
          <a:bodyPr/>
          <a:lstStyle/>
          <a:p>
            <a:endParaRPr lang="en-US"/>
          </a:p>
        </p:txBody>
      </p:sp>
      <p:sp>
        <p:nvSpPr>
          <p:cNvPr id="11" name="intent-accent">
            <a:extLst>
              <a:ext uri="{FF2B5EF4-FFF2-40B4-BE49-F238E27FC236}">
                <a16:creationId xmlns:a16="http://schemas.microsoft.com/office/drawing/2014/main" id="{75E39275-CF95-4341-AB90-9E005373321B}"/>
              </a:ext>
            </a:extLst>
          </p:cNvPr>
          <p:cNvSpPr>
            <a:spLocks noGrp="1"/>
          </p:cNvSpPr>
          <p:nvPr/>
        </p:nvSpPr>
        <p:spPr>
          <a:xfrm>
            <a:off x="571500" y="1809750"/>
            <a:ext cx="57150" cy="1190625"/>
          </a:xfrm>
          <a:prstGeom prst="rect">
            <a:avLst/>
          </a:prstGeom>
          <a:solidFill>
            <a:srgbClr val="00A8C6"/>
          </a:solidFill>
          <a:ln w="9525">
            <a:solidFill>
              <a:srgbClr val="00A8C6"/>
            </a:solidFill>
            <a:prstDash val="solid"/>
          </a:ln>
        </p:spPr>
        <p:txBody>
          <a:bodyPr/>
          <a:lstStyle/>
          <a:p>
            <a:endParaRPr lang="en-US"/>
          </a:p>
        </p:txBody>
      </p:sp>
      <p:sp>
        <p:nvSpPr>
          <p:cNvPr id="12" name="intent-title">
            <a:extLst>
              <a:ext uri="{FF2B5EF4-FFF2-40B4-BE49-F238E27FC236}">
                <a16:creationId xmlns:a16="http://schemas.microsoft.com/office/drawing/2014/main" id="{4A689C34-1F6E-4C5A-89C6-A5F3FA1FDE49}"/>
              </a:ext>
            </a:extLst>
          </p:cNvPr>
          <p:cNvSpPr>
            <a:spLocks noGrp="1"/>
          </p:cNvSpPr>
          <p:nvPr/>
        </p:nvSpPr>
        <p:spPr>
          <a:xfrm>
            <a:off x="742950" y="1952625"/>
            <a:ext cx="1847850" cy="228600"/>
          </a:xfrm>
          <a:prstGeom prst="rect">
            <a:avLst/>
          </a:prstGeom>
          <a:noFill/>
          <a:ln w="0">
            <a:noFill/>
            <a:prstDash val="solid"/>
          </a:ln>
        </p:spPr>
        <p:txBody>
          <a:bodyPr/>
          <a:lstStyle/>
          <a:p>
            <a:pPr>
              <a:defRPr sz="1125" b="1">
                <a:solidFill>
                  <a:srgbClr val="183B56"/>
                </a:solidFill>
              </a:defRPr>
            </a:pPr>
            <a:r>
              <a:rPr sz="1125" b="1">
                <a:solidFill>
                  <a:srgbClr val="183B56"/>
                </a:solidFill>
              </a:rPr>
              <a:t>1  Persist booking intent</a:t>
            </a:r>
          </a:p>
        </p:txBody>
      </p:sp>
      <p:sp>
        <p:nvSpPr>
          <p:cNvPr id="13" name="intent-detail">
            <a:extLst>
              <a:ext uri="{FF2B5EF4-FFF2-40B4-BE49-F238E27FC236}">
                <a16:creationId xmlns:a16="http://schemas.microsoft.com/office/drawing/2014/main" id="{1DA9D2FE-BCFA-4010-8909-CAD5B4DA99E4}"/>
              </a:ext>
            </a:extLst>
          </p:cNvPr>
          <p:cNvSpPr>
            <a:spLocks noGrp="1"/>
          </p:cNvSpPr>
          <p:nvPr/>
        </p:nvSpPr>
        <p:spPr>
          <a:xfrm>
            <a:off x="742950" y="2219325"/>
            <a:ext cx="1847850" cy="685800"/>
          </a:xfrm>
          <a:prstGeom prst="rect">
            <a:avLst/>
          </a:prstGeom>
          <a:noFill/>
          <a:ln w="0">
            <a:noFill/>
            <a:prstDash val="solid"/>
          </a:ln>
        </p:spPr>
        <p:txBody>
          <a:bodyPr/>
          <a:lstStyle/>
          <a:p>
            <a:pPr>
              <a:defRPr sz="938">
                <a:solidFill>
                  <a:srgbClr val="46657A"/>
                </a:solidFill>
              </a:defRPr>
            </a:pPr>
            <a:r>
              <a:rPr sz="938">
                <a:solidFill>
                  <a:srgbClr val="46657A"/>
                </a:solidFill>
              </a:rPr>
              <a:t>Store customer request and stable idempotency key before contacting the dealer.</a:t>
            </a:r>
          </a:p>
        </p:txBody>
      </p:sp>
      <p:sp>
        <p:nvSpPr>
          <p:cNvPr id="14" name="guard-shape">
            <a:extLst>
              <a:ext uri="{FF2B5EF4-FFF2-40B4-BE49-F238E27FC236}">
                <a16:creationId xmlns:a16="http://schemas.microsoft.com/office/drawing/2014/main" id="{1C35FCA9-9CA9-4E14-A356-36597F6F7581}"/>
              </a:ext>
            </a:extLst>
          </p:cNvPr>
          <p:cNvSpPr>
            <a:spLocks noGrp="1"/>
          </p:cNvSpPr>
          <p:nvPr/>
        </p:nvSpPr>
        <p:spPr>
          <a:xfrm>
            <a:off x="3086100" y="1809750"/>
            <a:ext cx="2476500" cy="1190625"/>
          </a:xfrm>
          <a:prstGeom prst="roundRect">
            <a:avLst>
              <a:gd name="adj" fmla="val 6400"/>
            </a:avLst>
          </a:prstGeom>
          <a:solidFill>
            <a:srgbClr val="FFFFFF"/>
          </a:solidFill>
          <a:ln w="9525">
            <a:solidFill>
              <a:srgbClr val="B8CEDA"/>
            </a:solidFill>
            <a:prstDash val="solid"/>
          </a:ln>
        </p:spPr>
        <p:txBody>
          <a:bodyPr/>
          <a:lstStyle/>
          <a:p>
            <a:endParaRPr lang="en-US"/>
          </a:p>
        </p:txBody>
      </p:sp>
      <p:sp>
        <p:nvSpPr>
          <p:cNvPr id="15" name="guard-accent">
            <a:extLst>
              <a:ext uri="{FF2B5EF4-FFF2-40B4-BE49-F238E27FC236}">
                <a16:creationId xmlns:a16="http://schemas.microsoft.com/office/drawing/2014/main" id="{B9B0AAB6-F56B-4052-9B74-85A826768F7D}"/>
              </a:ext>
            </a:extLst>
          </p:cNvPr>
          <p:cNvSpPr>
            <a:spLocks noGrp="1"/>
          </p:cNvSpPr>
          <p:nvPr/>
        </p:nvSpPr>
        <p:spPr>
          <a:xfrm>
            <a:off x="3086100" y="1809750"/>
            <a:ext cx="57150" cy="1190625"/>
          </a:xfrm>
          <a:prstGeom prst="rect">
            <a:avLst/>
          </a:prstGeom>
          <a:solidFill>
            <a:srgbClr val="00A8C6"/>
          </a:solidFill>
          <a:ln w="9525">
            <a:solidFill>
              <a:srgbClr val="00A8C6"/>
            </a:solidFill>
            <a:prstDash val="solid"/>
          </a:ln>
        </p:spPr>
        <p:txBody>
          <a:bodyPr/>
          <a:lstStyle/>
          <a:p>
            <a:endParaRPr lang="en-US"/>
          </a:p>
        </p:txBody>
      </p:sp>
      <p:sp>
        <p:nvSpPr>
          <p:cNvPr id="16" name="guard-title">
            <a:extLst>
              <a:ext uri="{FF2B5EF4-FFF2-40B4-BE49-F238E27FC236}">
                <a16:creationId xmlns:a16="http://schemas.microsoft.com/office/drawing/2014/main" id="{ABBB02D8-71B7-4435-92A3-623DA1C7377A}"/>
              </a:ext>
            </a:extLst>
          </p:cNvPr>
          <p:cNvSpPr>
            <a:spLocks noGrp="1"/>
          </p:cNvSpPr>
          <p:nvPr/>
        </p:nvSpPr>
        <p:spPr>
          <a:xfrm>
            <a:off x="3257550" y="1952625"/>
            <a:ext cx="2171700" cy="228600"/>
          </a:xfrm>
          <a:prstGeom prst="rect">
            <a:avLst/>
          </a:prstGeom>
          <a:noFill/>
          <a:ln w="0">
            <a:noFill/>
            <a:prstDash val="solid"/>
          </a:ln>
        </p:spPr>
        <p:txBody>
          <a:bodyPr/>
          <a:lstStyle/>
          <a:p>
            <a:pPr>
              <a:defRPr sz="1125" b="1">
                <a:solidFill>
                  <a:srgbClr val="183B56"/>
                </a:solidFill>
              </a:defRPr>
            </a:pPr>
            <a:r>
              <a:rPr sz="1125" b="1">
                <a:solidFill>
                  <a:srgbClr val="183B56"/>
                </a:solidFill>
              </a:rPr>
              <a:t>2  Acquire platform guard</a:t>
            </a:r>
          </a:p>
        </p:txBody>
      </p:sp>
      <p:sp>
        <p:nvSpPr>
          <p:cNvPr id="17" name="guard-detail">
            <a:extLst>
              <a:ext uri="{FF2B5EF4-FFF2-40B4-BE49-F238E27FC236}">
                <a16:creationId xmlns:a16="http://schemas.microsoft.com/office/drawing/2014/main" id="{C23AE09B-3EDC-495C-8437-7D3CA9792CC0}"/>
              </a:ext>
            </a:extLst>
          </p:cNvPr>
          <p:cNvSpPr>
            <a:spLocks noGrp="1"/>
          </p:cNvSpPr>
          <p:nvPr/>
        </p:nvSpPr>
        <p:spPr>
          <a:xfrm>
            <a:off x="3257550" y="2219325"/>
            <a:ext cx="2171700" cy="685800"/>
          </a:xfrm>
          <a:prstGeom prst="rect">
            <a:avLst/>
          </a:prstGeom>
          <a:noFill/>
          <a:ln w="0">
            <a:noFill/>
            <a:prstDash val="solid"/>
          </a:ln>
        </p:spPr>
        <p:txBody>
          <a:bodyPr/>
          <a:lstStyle/>
          <a:p>
            <a:pPr>
              <a:defRPr sz="938">
                <a:solidFill>
                  <a:srgbClr val="46657A"/>
                </a:solidFill>
              </a:defRPr>
            </a:pPr>
            <a:r>
              <a:rPr sz="938">
                <a:solidFill>
                  <a:srgbClr val="46657A"/>
                </a:solidFill>
              </a:rPr>
              <a:t>Conditional slot claim serializes requests coming through this cloud platform.</a:t>
            </a:r>
          </a:p>
        </p:txBody>
      </p:sp>
      <p:sp>
        <p:nvSpPr>
          <p:cNvPr id="18" name="dealer-shape">
            <a:extLst>
              <a:ext uri="{FF2B5EF4-FFF2-40B4-BE49-F238E27FC236}">
                <a16:creationId xmlns:a16="http://schemas.microsoft.com/office/drawing/2014/main" id="{1EC119EE-AA03-4703-A06E-CD6A0C266DBA}"/>
              </a:ext>
            </a:extLst>
          </p:cNvPr>
          <p:cNvSpPr>
            <a:spLocks noGrp="1"/>
          </p:cNvSpPr>
          <p:nvPr/>
        </p:nvSpPr>
        <p:spPr>
          <a:xfrm>
            <a:off x="5924550" y="1809750"/>
            <a:ext cx="2476500" cy="1190625"/>
          </a:xfrm>
          <a:prstGeom prst="roundRect">
            <a:avLst>
              <a:gd name="adj" fmla="val 6400"/>
            </a:avLst>
          </a:prstGeom>
          <a:solidFill>
            <a:srgbClr val="FFFFFF"/>
          </a:solidFill>
          <a:ln w="9525">
            <a:solidFill>
              <a:srgbClr val="B8CEDA"/>
            </a:solidFill>
            <a:prstDash val="solid"/>
          </a:ln>
        </p:spPr>
        <p:txBody>
          <a:bodyPr/>
          <a:lstStyle/>
          <a:p>
            <a:endParaRPr lang="en-US"/>
          </a:p>
        </p:txBody>
      </p:sp>
      <p:sp>
        <p:nvSpPr>
          <p:cNvPr id="19" name="dealer-accent">
            <a:extLst>
              <a:ext uri="{FF2B5EF4-FFF2-40B4-BE49-F238E27FC236}">
                <a16:creationId xmlns:a16="http://schemas.microsoft.com/office/drawing/2014/main" id="{C2574854-BF2C-4C56-992C-E3EA5D598077}"/>
              </a:ext>
            </a:extLst>
          </p:cNvPr>
          <p:cNvSpPr>
            <a:spLocks noGrp="1"/>
          </p:cNvSpPr>
          <p:nvPr/>
        </p:nvSpPr>
        <p:spPr>
          <a:xfrm>
            <a:off x="5924550" y="1809750"/>
            <a:ext cx="57150" cy="1190625"/>
          </a:xfrm>
          <a:prstGeom prst="rect">
            <a:avLst/>
          </a:prstGeom>
          <a:solidFill>
            <a:srgbClr val="B86713"/>
          </a:solidFill>
          <a:ln w="9525">
            <a:solidFill>
              <a:srgbClr val="B86713"/>
            </a:solidFill>
            <a:prstDash val="solid"/>
          </a:ln>
        </p:spPr>
        <p:txBody>
          <a:bodyPr/>
          <a:lstStyle/>
          <a:p>
            <a:endParaRPr lang="en-US"/>
          </a:p>
        </p:txBody>
      </p:sp>
      <p:sp>
        <p:nvSpPr>
          <p:cNvPr id="20" name="dealer-title">
            <a:extLst>
              <a:ext uri="{FF2B5EF4-FFF2-40B4-BE49-F238E27FC236}">
                <a16:creationId xmlns:a16="http://schemas.microsoft.com/office/drawing/2014/main" id="{D34BAF22-33EF-4A24-AECE-8DE4883DE310}"/>
              </a:ext>
            </a:extLst>
          </p:cNvPr>
          <p:cNvSpPr>
            <a:spLocks noGrp="1"/>
          </p:cNvSpPr>
          <p:nvPr/>
        </p:nvSpPr>
        <p:spPr>
          <a:xfrm>
            <a:off x="6096000" y="1952625"/>
            <a:ext cx="2171700" cy="228600"/>
          </a:xfrm>
          <a:prstGeom prst="rect">
            <a:avLst/>
          </a:prstGeom>
          <a:noFill/>
          <a:ln w="0">
            <a:noFill/>
            <a:prstDash val="solid"/>
          </a:ln>
        </p:spPr>
        <p:txBody>
          <a:bodyPr/>
          <a:lstStyle/>
          <a:p>
            <a:pPr>
              <a:defRPr sz="1125" b="1">
                <a:solidFill>
                  <a:srgbClr val="183B56"/>
                </a:solidFill>
              </a:defRPr>
            </a:pPr>
            <a:r>
              <a:rPr sz="1125" b="1">
                <a:solidFill>
                  <a:srgbClr val="183B56"/>
                </a:solidFill>
              </a:rPr>
              <a:t>3  Call dealer create</a:t>
            </a:r>
          </a:p>
        </p:txBody>
      </p:sp>
      <p:sp>
        <p:nvSpPr>
          <p:cNvPr id="21" name="dealer-detail">
            <a:extLst>
              <a:ext uri="{FF2B5EF4-FFF2-40B4-BE49-F238E27FC236}">
                <a16:creationId xmlns:a16="http://schemas.microsoft.com/office/drawing/2014/main" id="{252A11F6-E568-4C25-B0B2-145E69D22C88}"/>
              </a:ext>
            </a:extLst>
          </p:cNvPr>
          <p:cNvSpPr>
            <a:spLocks noGrp="1"/>
          </p:cNvSpPr>
          <p:nvPr/>
        </p:nvSpPr>
        <p:spPr>
          <a:xfrm>
            <a:off x="6096000" y="2219325"/>
            <a:ext cx="2171700" cy="685800"/>
          </a:xfrm>
          <a:prstGeom prst="rect">
            <a:avLst/>
          </a:prstGeom>
          <a:noFill/>
          <a:ln w="0">
            <a:noFill/>
            <a:prstDash val="solid"/>
          </a:ln>
        </p:spPr>
        <p:txBody>
          <a:bodyPr/>
          <a:lstStyle/>
          <a:p>
            <a:pPr>
              <a:defRPr sz="938">
                <a:solidFill>
                  <a:srgbClr val="46657A"/>
                </a:solidFill>
              </a:defRPr>
            </a:pPr>
            <a:r>
              <a:rPr sz="938">
                <a:solidFill>
                  <a:srgbClr val="46657A"/>
                </a:solidFill>
              </a:rPr>
              <a:t>Adapter invokes the dealer’s most atomic create-booking operation using the same correlation key.</a:t>
            </a:r>
          </a:p>
        </p:txBody>
      </p:sp>
      <p:sp>
        <p:nvSpPr>
          <p:cNvPr id="22" name="outcome-shape">
            <a:extLst>
              <a:ext uri="{FF2B5EF4-FFF2-40B4-BE49-F238E27FC236}">
                <a16:creationId xmlns:a16="http://schemas.microsoft.com/office/drawing/2014/main" id="{66CE1DE0-655A-4AF8-A6F9-5FFB7128D010}"/>
              </a:ext>
            </a:extLst>
          </p:cNvPr>
          <p:cNvSpPr>
            <a:spLocks noGrp="1"/>
          </p:cNvSpPr>
          <p:nvPr/>
        </p:nvSpPr>
        <p:spPr>
          <a:xfrm>
            <a:off x="8763000" y="1809750"/>
            <a:ext cx="2857500" cy="1190625"/>
          </a:xfrm>
          <a:prstGeom prst="roundRect">
            <a:avLst>
              <a:gd name="adj" fmla="val 6400"/>
            </a:avLst>
          </a:prstGeom>
          <a:solidFill>
            <a:srgbClr val="FFFFFF"/>
          </a:solidFill>
          <a:ln w="9525">
            <a:solidFill>
              <a:srgbClr val="B8CEDA"/>
            </a:solidFill>
            <a:prstDash val="solid"/>
          </a:ln>
        </p:spPr>
        <p:txBody>
          <a:bodyPr/>
          <a:lstStyle/>
          <a:p>
            <a:endParaRPr lang="en-US"/>
          </a:p>
        </p:txBody>
      </p:sp>
      <p:sp>
        <p:nvSpPr>
          <p:cNvPr id="23" name="outcome-accent">
            <a:extLst>
              <a:ext uri="{FF2B5EF4-FFF2-40B4-BE49-F238E27FC236}">
                <a16:creationId xmlns:a16="http://schemas.microsoft.com/office/drawing/2014/main" id="{C0B8F02E-0098-4FCB-B4CD-329DC0D2943F}"/>
              </a:ext>
            </a:extLst>
          </p:cNvPr>
          <p:cNvSpPr>
            <a:spLocks noGrp="1"/>
          </p:cNvSpPr>
          <p:nvPr/>
        </p:nvSpPr>
        <p:spPr>
          <a:xfrm>
            <a:off x="8763000" y="1809750"/>
            <a:ext cx="57150" cy="1190625"/>
          </a:xfrm>
          <a:prstGeom prst="rect">
            <a:avLst/>
          </a:prstGeom>
          <a:solidFill>
            <a:srgbClr val="2E8B57"/>
          </a:solidFill>
          <a:ln w="9525">
            <a:solidFill>
              <a:srgbClr val="2E8B57"/>
            </a:solidFill>
            <a:prstDash val="solid"/>
          </a:ln>
        </p:spPr>
        <p:txBody>
          <a:bodyPr/>
          <a:lstStyle/>
          <a:p>
            <a:endParaRPr lang="en-US"/>
          </a:p>
        </p:txBody>
      </p:sp>
      <p:sp>
        <p:nvSpPr>
          <p:cNvPr id="24" name="outcome-title">
            <a:extLst>
              <a:ext uri="{FF2B5EF4-FFF2-40B4-BE49-F238E27FC236}">
                <a16:creationId xmlns:a16="http://schemas.microsoft.com/office/drawing/2014/main" id="{739E8544-F30F-4D75-809D-A6B4F13F69E0}"/>
              </a:ext>
            </a:extLst>
          </p:cNvPr>
          <p:cNvSpPr>
            <a:spLocks noGrp="1"/>
          </p:cNvSpPr>
          <p:nvPr/>
        </p:nvSpPr>
        <p:spPr>
          <a:xfrm>
            <a:off x="8934450" y="1952625"/>
            <a:ext cx="2552700" cy="228600"/>
          </a:xfrm>
          <a:prstGeom prst="rect">
            <a:avLst/>
          </a:prstGeom>
          <a:noFill/>
          <a:ln w="0">
            <a:noFill/>
            <a:prstDash val="solid"/>
          </a:ln>
        </p:spPr>
        <p:txBody>
          <a:bodyPr/>
          <a:lstStyle/>
          <a:p>
            <a:pPr>
              <a:defRPr sz="1125" b="1">
                <a:solidFill>
                  <a:srgbClr val="183B56"/>
                </a:solidFill>
              </a:defRPr>
            </a:pPr>
            <a:r>
              <a:rPr sz="1125" b="1">
                <a:solidFill>
                  <a:srgbClr val="183B56"/>
                </a:solidFill>
              </a:rPr>
              <a:t>4  Confirm only on proof</a:t>
            </a:r>
          </a:p>
        </p:txBody>
      </p:sp>
      <p:sp>
        <p:nvSpPr>
          <p:cNvPr id="25" name="outcome-detail">
            <a:extLst>
              <a:ext uri="{FF2B5EF4-FFF2-40B4-BE49-F238E27FC236}">
                <a16:creationId xmlns:a16="http://schemas.microsoft.com/office/drawing/2014/main" id="{E6A64A01-9721-4B16-9A2C-1A3417A1B8EE}"/>
              </a:ext>
            </a:extLst>
          </p:cNvPr>
          <p:cNvSpPr>
            <a:spLocks noGrp="1"/>
          </p:cNvSpPr>
          <p:nvPr/>
        </p:nvSpPr>
        <p:spPr>
          <a:xfrm>
            <a:off x="8934450" y="2219325"/>
            <a:ext cx="2552700" cy="685800"/>
          </a:xfrm>
          <a:prstGeom prst="rect">
            <a:avLst/>
          </a:prstGeom>
          <a:noFill/>
          <a:ln w="0">
            <a:noFill/>
            <a:prstDash val="solid"/>
          </a:ln>
        </p:spPr>
        <p:txBody>
          <a:bodyPr/>
          <a:lstStyle/>
          <a:p>
            <a:pPr>
              <a:defRPr sz="938">
                <a:solidFill>
                  <a:srgbClr val="46657A"/>
                </a:solidFill>
              </a:defRPr>
            </a:pPr>
            <a:r>
              <a:rPr sz="938">
                <a:solidFill>
                  <a:srgbClr val="46657A"/>
                </a:solidFill>
              </a:rPr>
              <a:t>Return confirmed only after the dealer provides an appointment ID or verifiable success.</a:t>
            </a:r>
          </a:p>
        </p:txBody>
      </p:sp>
      <p:sp>
        <p:nvSpPr>
          <p:cNvPr id="26" name="decision-label">
            <a:extLst>
              <a:ext uri="{FF2B5EF4-FFF2-40B4-BE49-F238E27FC236}">
                <a16:creationId xmlns:a16="http://schemas.microsoft.com/office/drawing/2014/main" id="{CD415552-7B62-4300-9428-EE437A2D6529}"/>
              </a:ext>
            </a:extLst>
          </p:cNvPr>
          <p:cNvSpPr>
            <a:spLocks noGrp="1"/>
          </p:cNvSpPr>
          <p:nvPr/>
        </p:nvSpPr>
        <p:spPr>
          <a:xfrm>
            <a:off x="571500" y="3333750"/>
            <a:ext cx="2000250" cy="171450"/>
          </a:xfrm>
          <a:prstGeom prst="rect">
            <a:avLst/>
          </a:prstGeom>
          <a:noFill/>
          <a:ln w="0">
            <a:noFill/>
            <a:prstDash val="solid"/>
          </a:ln>
        </p:spPr>
        <p:txBody>
          <a:bodyPr/>
          <a:lstStyle/>
          <a:p>
            <a:pPr>
              <a:defRPr sz="825" b="1">
                <a:solidFill>
                  <a:srgbClr val="008296"/>
                </a:solidFill>
              </a:defRPr>
            </a:pPr>
            <a:r>
              <a:rPr sz="825" b="1">
                <a:solidFill>
                  <a:srgbClr val="008296"/>
                </a:solidFill>
              </a:rPr>
              <a:t>FALLBACK CONTRACT</a:t>
            </a:r>
          </a:p>
        </p:txBody>
      </p:sp>
      <p:sp>
        <p:nvSpPr>
          <p:cNvPr id="27" name="best-shape">
            <a:extLst>
              <a:ext uri="{FF2B5EF4-FFF2-40B4-BE49-F238E27FC236}">
                <a16:creationId xmlns:a16="http://schemas.microsoft.com/office/drawing/2014/main" id="{F640D22E-6B1B-40B0-9931-22488A4129CF}"/>
              </a:ext>
            </a:extLst>
          </p:cNvPr>
          <p:cNvSpPr>
            <a:spLocks noGrp="1"/>
          </p:cNvSpPr>
          <p:nvPr/>
        </p:nvSpPr>
        <p:spPr>
          <a:xfrm>
            <a:off x="571500" y="3600450"/>
            <a:ext cx="3219450" cy="876300"/>
          </a:xfrm>
          <a:prstGeom prst="roundRect">
            <a:avLst>
              <a:gd name="adj" fmla="val 8696"/>
            </a:avLst>
          </a:prstGeom>
          <a:solidFill>
            <a:srgbClr val="EAF7FA"/>
          </a:solidFill>
          <a:ln w="9525">
            <a:solidFill>
              <a:srgbClr val="9EDDE8"/>
            </a:solidFill>
            <a:prstDash val="solid"/>
          </a:ln>
        </p:spPr>
        <p:txBody>
          <a:bodyPr/>
          <a:lstStyle/>
          <a:p>
            <a:endParaRPr lang="en-US"/>
          </a:p>
        </p:txBody>
      </p:sp>
      <p:sp>
        <p:nvSpPr>
          <p:cNvPr id="28" name="best-label">
            <a:extLst>
              <a:ext uri="{FF2B5EF4-FFF2-40B4-BE49-F238E27FC236}">
                <a16:creationId xmlns:a16="http://schemas.microsoft.com/office/drawing/2014/main" id="{C95D3AC8-575D-4B6C-AF92-35CD6A1E6164}"/>
              </a:ext>
            </a:extLst>
          </p:cNvPr>
          <p:cNvSpPr>
            <a:spLocks noGrp="1"/>
          </p:cNvSpPr>
          <p:nvPr/>
        </p:nvSpPr>
        <p:spPr>
          <a:xfrm>
            <a:off x="723900" y="3714750"/>
            <a:ext cx="2914650" cy="171450"/>
          </a:xfrm>
          <a:prstGeom prst="rect">
            <a:avLst/>
          </a:prstGeom>
          <a:noFill/>
          <a:ln w="0">
            <a:noFill/>
            <a:prstDash val="solid"/>
          </a:ln>
        </p:spPr>
        <p:txBody>
          <a:bodyPr/>
          <a:lstStyle/>
          <a:p>
            <a:pPr>
              <a:defRPr sz="750" b="1">
                <a:solidFill>
                  <a:srgbClr val="008296"/>
                </a:solidFill>
              </a:defRPr>
            </a:pPr>
            <a:r>
              <a:rPr sz="750" b="1">
                <a:solidFill>
                  <a:srgbClr val="008296"/>
                </a:solidFill>
              </a:rPr>
              <a:t>BEST AVAILABLE</a:t>
            </a:r>
          </a:p>
        </p:txBody>
      </p:sp>
      <p:sp>
        <p:nvSpPr>
          <p:cNvPr id="29" name="best-body">
            <a:extLst>
              <a:ext uri="{FF2B5EF4-FFF2-40B4-BE49-F238E27FC236}">
                <a16:creationId xmlns:a16="http://schemas.microsoft.com/office/drawing/2014/main" id="{7EA3D351-E10A-47FA-8988-35D60B3317A8}"/>
              </a:ext>
            </a:extLst>
          </p:cNvPr>
          <p:cNvSpPr>
            <a:spLocks noGrp="1"/>
          </p:cNvSpPr>
          <p:nvPr/>
        </p:nvSpPr>
        <p:spPr>
          <a:xfrm>
            <a:off x="723900" y="3924300"/>
            <a:ext cx="2914650" cy="457200"/>
          </a:xfrm>
          <a:prstGeom prst="rect">
            <a:avLst/>
          </a:prstGeom>
          <a:noFill/>
          <a:ln w="0">
            <a:noFill/>
            <a:prstDash val="solid"/>
          </a:ln>
        </p:spPr>
        <p:txBody>
          <a:bodyPr/>
          <a:lstStyle/>
          <a:p>
            <a:pPr>
              <a:defRPr sz="975" b="1">
                <a:solidFill>
                  <a:srgbClr val="183B56"/>
                </a:solidFill>
              </a:defRPr>
            </a:pPr>
            <a:r>
              <a:rPr sz="975" b="1">
                <a:solidFill>
                  <a:srgbClr val="183B56"/>
                </a:solidFill>
              </a:rPr>
              <a:t>Use an atomic create-if-available endpoint.</a:t>
            </a:r>
          </a:p>
        </p:txBody>
      </p:sp>
      <p:sp>
        <p:nvSpPr>
          <p:cNvPr id="30" name="acceptable-shape">
            <a:extLst>
              <a:ext uri="{FF2B5EF4-FFF2-40B4-BE49-F238E27FC236}">
                <a16:creationId xmlns:a16="http://schemas.microsoft.com/office/drawing/2014/main" id="{C0E334EE-E466-443E-86AC-68C95BE03FE0}"/>
              </a:ext>
            </a:extLst>
          </p:cNvPr>
          <p:cNvSpPr>
            <a:spLocks noGrp="1"/>
          </p:cNvSpPr>
          <p:nvPr/>
        </p:nvSpPr>
        <p:spPr>
          <a:xfrm>
            <a:off x="4000500" y="3600450"/>
            <a:ext cx="3714750" cy="876300"/>
          </a:xfrm>
          <a:prstGeom prst="roundRect">
            <a:avLst>
              <a:gd name="adj" fmla="val 8696"/>
            </a:avLst>
          </a:prstGeom>
          <a:solidFill>
            <a:srgbClr val="F6F8FA"/>
          </a:solidFill>
          <a:ln w="9525">
            <a:solidFill>
              <a:srgbClr val="C7D5DE"/>
            </a:solidFill>
            <a:prstDash val="solid"/>
          </a:ln>
        </p:spPr>
        <p:txBody>
          <a:bodyPr/>
          <a:lstStyle/>
          <a:p>
            <a:endParaRPr lang="en-US"/>
          </a:p>
        </p:txBody>
      </p:sp>
      <p:sp>
        <p:nvSpPr>
          <p:cNvPr id="31" name="acceptable-label">
            <a:extLst>
              <a:ext uri="{FF2B5EF4-FFF2-40B4-BE49-F238E27FC236}">
                <a16:creationId xmlns:a16="http://schemas.microsoft.com/office/drawing/2014/main" id="{13FD6BB0-2415-4CA8-915E-7846C5BCD1AB}"/>
              </a:ext>
            </a:extLst>
          </p:cNvPr>
          <p:cNvSpPr>
            <a:spLocks noGrp="1"/>
          </p:cNvSpPr>
          <p:nvPr/>
        </p:nvSpPr>
        <p:spPr>
          <a:xfrm>
            <a:off x="4152900" y="3714750"/>
            <a:ext cx="3409950" cy="171450"/>
          </a:xfrm>
          <a:prstGeom prst="rect">
            <a:avLst/>
          </a:prstGeom>
          <a:noFill/>
          <a:ln w="0">
            <a:noFill/>
            <a:prstDash val="solid"/>
          </a:ln>
        </p:spPr>
        <p:txBody>
          <a:bodyPr/>
          <a:lstStyle/>
          <a:p>
            <a:pPr>
              <a:defRPr sz="750" b="1">
                <a:solidFill>
                  <a:srgbClr val="008296"/>
                </a:solidFill>
              </a:defRPr>
            </a:pPr>
            <a:r>
              <a:rPr sz="750" b="1">
                <a:solidFill>
                  <a:srgbClr val="008296"/>
                </a:solidFill>
              </a:rPr>
              <a:t>ACCEPTABLE WITH RESIDUAL RISK</a:t>
            </a:r>
          </a:p>
        </p:txBody>
      </p:sp>
      <p:sp>
        <p:nvSpPr>
          <p:cNvPr id="32" name="acceptable-body">
            <a:extLst>
              <a:ext uri="{FF2B5EF4-FFF2-40B4-BE49-F238E27FC236}">
                <a16:creationId xmlns:a16="http://schemas.microsoft.com/office/drawing/2014/main" id="{71EC0047-FE77-4404-85AE-3CBF23C3C14B}"/>
              </a:ext>
            </a:extLst>
          </p:cNvPr>
          <p:cNvSpPr>
            <a:spLocks noGrp="1"/>
          </p:cNvSpPr>
          <p:nvPr/>
        </p:nvSpPr>
        <p:spPr>
          <a:xfrm>
            <a:off x="4152900" y="3924300"/>
            <a:ext cx="3409950" cy="457200"/>
          </a:xfrm>
          <a:prstGeom prst="rect">
            <a:avLst/>
          </a:prstGeom>
          <a:noFill/>
          <a:ln w="0">
            <a:noFill/>
            <a:prstDash val="solid"/>
          </a:ln>
        </p:spPr>
        <p:txBody>
          <a:bodyPr/>
          <a:lstStyle/>
          <a:p>
            <a:pPr>
              <a:defRPr sz="975" b="1">
                <a:solidFill>
                  <a:srgbClr val="183B56"/>
                </a:solidFill>
              </a:defRPr>
            </a:pPr>
            <a:r>
              <a:rPr sz="975" b="1">
                <a:solidFill>
                  <a:srgbClr val="183B56"/>
                </a:solidFill>
              </a:rPr>
              <a:t>Re-read availability immediately, create once, then verify by appointment ID or correlation key.</a:t>
            </a:r>
          </a:p>
        </p:txBody>
      </p:sp>
      <p:sp>
        <p:nvSpPr>
          <p:cNvPr id="33" name="unsafe-shape">
            <a:extLst>
              <a:ext uri="{FF2B5EF4-FFF2-40B4-BE49-F238E27FC236}">
                <a16:creationId xmlns:a16="http://schemas.microsoft.com/office/drawing/2014/main" id="{A1764AD8-D953-4D94-AE8B-62E965C7D2E6}"/>
              </a:ext>
            </a:extLst>
          </p:cNvPr>
          <p:cNvSpPr>
            <a:spLocks noGrp="1"/>
          </p:cNvSpPr>
          <p:nvPr/>
        </p:nvSpPr>
        <p:spPr>
          <a:xfrm>
            <a:off x="7924800" y="3600450"/>
            <a:ext cx="3695700" cy="876300"/>
          </a:xfrm>
          <a:prstGeom prst="roundRect">
            <a:avLst>
              <a:gd name="adj" fmla="val 8696"/>
            </a:avLst>
          </a:prstGeom>
          <a:solidFill>
            <a:srgbClr val="FFF5EB"/>
          </a:solidFill>
          <a:ln w="9525">
            <a:solidFill>
              <a:srgbClr val="F1C48E"/>
            </a:solidFill>
            <a:prstDash val="solid"/>
          </a:ln>
        </p:spPr>
        <p:txBody>
          <a:bodyPr/>
          <a:lstStyle/>
          <a:p>
            <a:endParaRPr lang="en-US"/>
          </a:p>
        </p:txBody>
      </p:sp>
      <p:sp>
        <p:nvSpPr>
          <p:cNvPr id="34" name="unsafe-label">
            <a:extLst>
              <a:ext uri="{FF2B5EF4-FFF2-40B4-BE49-F238E27FC236}">
                <a16:creationId xmlns:a16="http://schemas.microsoft.com/office/drawing/2014/main" id="{867743D5-4A8B-43D4-9C1F-54D26F516297}"/>
              </a:ext>
            </a:extLst>
          </p:cNvPr>
          <p:cNvSpPr>
            <a:spLocks noGrp="1"/>
          </p:cNvSpPr>
          <p:nvPr/>
        </p:nvSpPr>
        <p:spPr>
          <a:xfrm>
            <a:off x="8077200" y="3714750"/>
            <a:ext cx="3390900" cy="171450"/>
          </a:xfrm>
          <a:prstGeom prst="rect">
            <a:avLst/>
          </a:prstGeom>
          <a:noFill/>
          <a:ln w="0">
            <a:noFill/>
            <a:prstDash val="solid"/>
          </a:ln>
        </p:spPr>
        <p:txBody>
          <a:bodyPr/>
          <a:lstStyle/>
          <a:p>
            <a:pPr>
              <a:defRPr sz="750" b="1">
                <a:solidFill>
                  <a:srgbClr val="008296"/>
                </a:solidFill>
              </a:defRPr>
            </a:pPr>
            <a:r>
              <a:rPr sz="750" b="1">
                <a:solidFill>
                  <a:srgbClr val="008296"/>
                </a:solidFill>
              </a:rPr>
              <a:t>DO NOT CLAIM SUCCESS</a:t>
            </a:r>
          </a:p>
        </p:txBody>
      </p:sp>
      <p:sp>
        <p:nvSpPr>
          <p:cNvPr id="35" name="unsafe-body">
            <a:extLst>
              <a:ext uri="{FF2B5EF4-FFF2-40B4-BE49-F238E27FC236}">
                <a16:creationId xmlns:a16="http://schemas.microsoft.com/office/drawing/2014/main" id="{1F030E76-DEBB-465D-A6A1-DDB3FFAF533E}"/>
              </a:ext>
            </a:extLst>
          </p:cNvPr>
          <p:cNvSpPr>
            <a:spLocks noGrp="1"/>
          </p:cNvSpPr>
          <p:nvPr/>
        </p:nvSpPr>
        <p:spPr>
          <a:xfrm>
            <a:off x="8077200" y="3924300"/>
            <a:ext cx="3390900" cy="457200"/>
          </a:xfrm>
          <a:prstGeom prst="rect">
            <a:avLst/>
          </a:prstGeom>
          <a:noFill/>
          <a:ln w="0">
            <a:noFill/>
            <a:prstDash val="solid"/>
          </a:ln>
        </p:spPr>
        <p:txBody>
          <a:bodyPr/>
          <a:lstStyle/>
          <a:p>
            <a:pPr>
              <a:defRPr sz="975" b="1">
                <a:solidFill>
                  <a:srgbClr val="183B56"/>
                </a:solidFill>
              </a:defRPr>
            </a:pPr>
            <a:r>
              <a:rPr sz="975" b="1">
                <a:solidFill>
                  <a:srgbClr val="183B56"/>
                </a:solidFill>
              </a:rPr>
              <a:t>If the dealer cannot create atomically or verify the result, leave the request pending and route it for resolution.</a:t>
            </a:r>
          </a:p>
        </p:txBody>
      </p:sp>
      <p:sp>
        <p:nvSpPr>
          <p:cNvPr id="36" name="risk-shape">
            <a:extLst>
              <a:ext uri="{FF2B5EF4-FFF2-40B4-BE49-F238E27FC236}">
                <a16:creationId xmlns:a16="http://schemas.microsoft.com/office/drawing/2014/main" id="{7397C32F-01BB-4F2E-BCE3-6350A74B3EE8}"/>
              </a:ext>
            </a:extLst>
          </p:cNvPr>
          <p:cNvSpPr>
            <a:spLocks noGrp="1"/>
          </p:cNvSpPr>
          <p:nvPr/>
        </p:nvSpPr>
        <p:spPr>
          <a:xfrm>
            <a:off x="571500" y="4810125"/>
            <a:ext cx="11049000" cy="952500"/>
          </a:xfrm>
          <a:prstGeom prst="roundRect">
            <a:avLst>
              <a:gd name="adj" fmla="val 8000"/>
            </a:avLst>
          </a:prstGeom>
          <a:solidFill>
            <a:srgbClr val="EAF7FA"/>
          </a:solidFill>
          <a:ln w="9525">
            <a:solidFill>
              <a:srgbClr val="9EDDE8"/>
            </a:solidFill>
            <a:prstDash val="solid"/>
          </a:ln>
        </p:spPr>
        <p:txBody>
          <a:bodyPr/>
          <a:lstStyle/>
          <a:p>
            <a:endParaRPr lang="en-US"/>
          </a:p>
        </p:txBody>
      </p:sp>
      <p:sp>
        <p:nvSpPr>
          <p:cNvPr id="37" name="risk-label">
            <a:extLst>
              <a:ext uri="{FF2B5EF4-FFF2-40B4-BE49-F238E27FC236}">
                <a16:creationId xmlns:a16="http://schemas.microsoft.com/office/drawing/2014/main" id="{9722B51B-AD75-4427-BB0E-D9BD99E9ABB5}"/>
              </a:ext>
            </a:extLst>
          </p:cNvPr>
          <p:cNvSpPr>
            <a:spLocks noGrp="1"/>
          </p:cNvSpPr>
          <p:nvPr/>
        </p:nvSpPr>
        <p:spPr>
          <a:xfrm>
            <a:off x="723900" y="4924425"/>
            <a:ext cx="10744200" cy="171450"/>
          </a:xfrm>
          <a:prstGeom prst="rect">
            <a:avLst/>
          </a:prstGeom>
          <a:noFill/>
          <a:ln w="0">
            <a:noFill/>
            <a:prstDash val="solid"/>
          </a:ln>
        </p:spPr>
        <p:txBody>
          <a:bodyPr/>
          <a:lstStyle/>
          <a:p>
            <a:pPr>
              <a:defRPr sz="750" b="1">
                <a:solidFill>
                  <a:srgbClr val="008296"/>
                </a:solidFill>
              </a:defRPr>
            </a:pPr>
            <a:r>
              <a:rPr sz="750" b="1">
                <a:solidFill>
                  <a:srgbClr val="008296"/>
                </a:solidFill>
              </a:rPr>
              <a:t>IMPORTANT LIMITATION</a:t>
            </a:r>
          </a:p>
        </p:txBody>
      </p:sp>
      <p:sp>
        <p:nvSpPr>
          <p:cNvPr id="38" name="risk-body">
            <a:extLst>
              <a:ext uri="{FF2B5EF4-FFF2-40B4-BE49-F238E27FC236}">
                <a16:creationId xmlns:a16="http://schemas.microsoft.com/office/drawing/2014/main" id="{3A8F574A-B371-4D34-A563-77CE853691C1}"/>
              </a:ext>
            </a:extLst>
          </p:cNvPr>
          <p:cNvSpPr>
            <a:spLocks noGrp="1"/>
          </p:cNvSpPr>
          <p:nvPr/>
        </p:nvSpPr>
        <p:spPr>
          <a:xfrm>
            <a:off x="723900" y="5133975"/>
            <a:ext cx="10744200" cy="533400"/>
          </a:xfrm>
          <a:prstGeom prst="rect">
            <a:avLst/>
          </a:prstGeom>
          <a:noFill/>
          <a:ln w="0">
            <a:noFill/>
            <a:prstDash val="solid"/>
          </a:ln>
        </p:spPr>
        <p:txBody>
          <a:bodyPr/>
          <a:lstStyle/>
          <a:p>
            <a:pPr>
              <a:defRPr sz="975" b="1">
                <a:solidFill>
                  <a:srgbClr val="183B56"/>
                </a:solidFill>
              </a:defRPr>
            </a:pPr>
            <a:r>
              <a:rPr sz="975" b="1">
                <a:solidFill>
                  <a:srgbClr val="183B56"/>
                </a:solidFill>
              </a:rPr>
              <a:t>A cloud-side guard prevents two requests from this platform racing each other; it cannot stop a phone agent or another dealer channel from taking the slot. The dealer remains authoritative.</a:t>
            </a:r>
          </a:p>
        </p:txBody>
      </p:sp>
      <p:sp>
        <p:nvSpPr>
          <p:cNvPr id="39" name="release-shape">
            <a:extLst>
              <a:ext uri="{FF2B5EF4-FFF2-40B4-BE49-F238E27FC236}">
                <a16:creationId xmlns:a16="http://schemas.microsoft.com/office/drawing/2014/main" id="{A97D6195-001B-4BDC-B394-E8432F727E4D}"/>
              </a:ext>
            </a:extLst>
          </p:cNvPr>
          <p:cNvSpPr>
            <a:spLocks noGrp="1"/>
          </p:cNvSpPr>
          <p:nvPr/>
        </p:nvSpPr>
        <p:spPr>
          <a:xfrm>
            <a:off x="571500" y="5838825"/>
            <a:ext cx="11049000" cy="600075"/>
          </a:xfrm>
          <a:prstGeom prst="roundRect">
            <a:avLst>
              <a:gd name="adj" fmla="val 12698"/>
            </a:avLst>
          </a:prstGeom>
          <a:solidFill>
            <a:srgbClr val="F4F8FA"/>
          </a:solidFill>
          <a:ln w="9525">
            <a:solidFill>
              <a:srgbClr val="C7D5DE"/>
            </a:solidFill>
            <a:prstDash val="solid"/>
          </a:ln>
        </p:spPr>
        <p:txBody>
          <a:bodyPr/>
          <a:lstStyle/>
          <a:p>
            <a:endParaRPr lang="en-US"/>
          </a:p>
        </p:txBody>
      </p:sp>
      <p:sp>
        <p:nvSpPr>
          <p:cNvPr id="40" name="release-label">
            <a:extLst>
              <a:ext uri="{FF2B5EF4-FFF2-40B4-BE49-F238E27FC236}">
                <a16:creationId xmlns:a16="http://schemas.microsoft.com/office/drawing/2014/main" id="{3D46DF5F-8F77-4E0B-B4C6-A8BA8FD2204C}"/>
              </a:ext>
            </a:extLst>
          </p:cNvPr>
          <p:cNvSpPr>
            <a:spLocks noGrp="1"/>
          </p:cNvSpPr>
          <p:nvPr/>
        </p:nvSpPr>
        <p:spPr>
          <a:xfrm>
            <a:off x="723900" y="5953125"/>
            <a:ext cx="10744200" cy="171450"/>
          </a:xfrm>
          <a:prstGeom prst="rect">
            <a:avLst/>
          </a:prstGeom>
          <a:noFill/>
          <a:ln w="0">
            <a:noFill/>
            <a:prstDash val="solid"/>
          </a:ln>
        </p:spPr>
        <p:txBody>
          <a:bodyPr/>
          <a:lstStyle/>
          <a:p>
            <a:pPr>
              <a:defRPr sz="750" b="1">
                <a:solidFill>
                  <a:srgbClr val="008296"/>
                </a:solidFill>
              </a:defRPr>
            </a:pPr>
            <a:r>
              <a:rPr sz="750" b="1">
                <a:solidFill>
                  <a:srgbClr val="008296"/>
                </a:solidFill>
              </a:rPr>
              <a:t>ABANDONED CLAIM</a:t>
            </a:r>
          </a:p>
        </p:txBody>
      </p:sp>
      <p:sp>
        <p:nvSpPr>
          <p:cNvPr id="41" name="release-body">
            <a:extLst>
              <a:ext uri="{FF2B5EF4-FFF2-40B4-BE49-F238E27FC236}">
                <a16:creationId xmlns:a16="http://schemas.microsoft.com/office/drawing/2014/main" id="{85B42B11-A85C-4E52-A10A-3EA99827153B}"/>
              </a:ext>
            </a:extLst>
          </p:cNvPr>
          <p:cNvSpPr>
            <a:spLocks noGrp="1"/>
          </p:cNvSpPr>
          <p:nvPr/>
        </p:nvSpPr>
        <p:spPr>
          <a:xfrm>
            <a:off x="723900" y="6162675"/>
            <a:ext cx="10744200" cy="180975"/>
          </a:xfrm>
          <a:prstGeom prst="rect">
            <a:avLst/>
          </a:prstGeom>
          <a:noFill/>
          <a:ln w="0">
            <a:noFill/>
            <a:prstDash val="solid"/>
          </a:ln>
        </p:spPr>
        <p:txBody>
          <a:bodyPr/>
          <a:lstStyle/>
          <a:p>
            <a:pPr>
              <a:defRPr sz="975" b="1">
                <a:solidFill>
                  <a:srgbClr val="183B56"/>
                </a:solidFill>
              </a:defRPr>
            </a:pPr>
            <a:r>
              <a:rPr sz="975" b="1">
                <a:solidFill>
                  <a:srgbClr val="183B56"/>
                </a:solidFill>
              </a:rPr>
              <a:t>Step Functions expires the cloud guard by TTL. If the dealer created a reservation, the adapter sends a compensating cancel when supported; otherwise operations resolve it.</a:t>
            </a:r>
          </a:p>
        </p:txBody>
      </p:sp>
    </p:spTree>
    <p:extLst>
      <p:ext uri="{BB962C8B-B14F-4D97-AF65-F5344CB8AC3E}">
        <p14:creationId xmlns:p14="http://schemas.microsoft.com/office/powerpoint/2010/main" val="1319085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eyebrow">
            <a:extLst>
              <a:ext uri="{FF2B5EF4-FFF2-40B4-BE49-F238E27FC236}">
                <a16:creationId xmlns:a16="http://schemas.microsoft.com/office/drawing/2014/main" id="{CFE775F3-2800-4FA0-9532-64EF293B38D4}"/>
              </a:ext>
            </a:extLst>
          </p:cNvPr>
          <p:cNvSpPr>
            <a:spLocks noGrp="1"/>
          </p:cNvSpPr>
          <p:nvPr/>
        </p:nvSpPr>
        <p:spPr>
          <a:xfrm>
            <a:off x="571500" y="333375"/>
            <a:ext cx="3333750" cy="171450"/>
          </a:xfrm>
          <a:prstGeom prst="rect">
            <a:avLst/>
          </a:prstGeom>
          <a:noFill/>
          <a:ln w="0">
            <a:noFill/>
            <a:prstDash val="solid"/>
          </a:ln>
        </p:spPr>
        <p:txBody>
          <a:bodyPr/>
          <a:lstStyle/>
          <a:p>
            <a:pPr>
              <a:defRPr sz="825" b="1">
                <a:solidFill>
                  <a:srgbClr val="008296"/>
                </a:solidFill>
              </a:defRPr>
            </a:pPr>
            <a:r>
              <a:rPr sz="825" b="1">
                <a:solidFill>
                  <a:srgbClr val="008296"/>
                </a:solidFill>
              </a:rPr>
              <a:t>APPENDIX • IDEMPOTENCY AND CONCURRENCY</a:t>
            </a:r>
          </a:p>
        </p:txBody>
      </p:sp>
      <p:sp>
        <p:nvSpPr>
          <p:cNvPr id="2" name="title">
            <a:extLst>
              <a:ext uri="{FF2B5EF4-FFF2-40B4-BE49-F238E27FC236}">
                <a16:creationId xmlns:a16="http://schemas.microsoft.com/office/drawing/2014/main" id="{CB138DBB-D7BC-458C-AC8E-A2170BC85A4A}"/>
              </a:ext>
            </a:extLst>
          </p:cNvPr>
          <p:cNvSpPr>
            <a:spLocks noGrp="1"/>
          </p:cNvSpPr>
          <p:nvPr/>
        </p:nvSpPr>
        <p:spPr>
          <a:xfrm>
            <a:off x="571500" y="561975"/>
            <a:ext cx="11049000" cy="409575"/>
          </a:xfrm>
          <a:prstGeom prst="rect">
            <a:avLst/>
          </a:prstGeom>
          <a:noFill/>
          <a:ln w="0">
            <a:noFill/>
            <a:prstDash val="solid"/>
          </a:ln>
        </p:spPr>
        <p:txBody>
          <a:bodyPr/>
          <a:lstStyle/>
          <a:p>
            <a:pPr>
              <a:defRPr sz="2175" b="1">
                <a:solidFill>
                  <a:srgbClr val="183B56"/>
                </a:solidFill>
              </a:defRPr>
            </a:pPr>
            <a:r>
              <a:rPr sz="2175" b="1">
                <a:solidFill>
                  <a:srgbClr val="183B56"/>
                </a:solidFill>
              </a:rPr>
              <a:t>One stable key follows the request end to end; conditional state changes admit one winner</a:t>
            </a:r>
          </a:p>
        </p:txBody>
      </p:sp>
      <p:sp>
        <p:nvSpPr>
          <p:cNvPr id="3" name="subtitle">
            <a:extLst>
              <a:ext uri="{FF2B5EF4-FFF2-40B4-BE49-F238E27FC236}">
                <a16:creationId xmlns:a16="http://schemas.microsoft.com/office/drawing/2014/main" id="{52745EF3-D916-4955-B9C0-CBB5B15867AC}"/>
              </a:ext>
            </a:extLst>
          </p:cNvPr>
          <p:cNvSpPr>
            <a:spLocks noGrp="1"/>
          </p:cNvSpPr>
          <p:nvPr/>
        </p:nvSpPr>
        <p:spPr>
          <a:xfrm>
            <a:off x="571500" y="1009650"/>
            <a:ext cx="11049000" cy="228600"/>
          </a:xfrm>
          <a:prstGeom prst="rect">
            <a:avLst/>
          </a:prstGeom>
          <a:noFill/>
          <a:ln w="0">
            <a:noFill/>
            <a:prstDash val="solid"/>
          </a:ln>
        </p:spPr>
        <p:txBody>
          <a:bodyPr/>
          <a:lstStyle/>
          <a:p>
            <a:pPr>
              <a:defRPr sz="1050">
                <a:solidFill>
                  <a:srgbClr val="557086"/>
                </a:solidFill>
              </a:defRPr>
            </a:pPr>
            <a:r>
              <a:rPr sz="1050">
                <a:solidFill>
                  <a:srgbClr val="557086"/>
                </a:solidFill>
              </a:rPr>
              <a:t>Repeated customer clicks return the same workflow, while competing requests still defer to dealer authority.</a:t>
            </a:r>
          </a:p>
        </p:txBody>
      </p:sp>
      <p:sp>
        <p:nvSpPr>
          <p:cNvPr id="4" name="header-rule">
            <a:extLst>
              <a:ext uri="{FF2B5EF4-FFF2-40B4-BE49-F238E27FC236}">
                <a16:creationId xmlns:a16="http://schemas.microsoft.com/office/drawing/2014/main" id="{F408B08D-EDD0-40DA-BD4F-1C801146829A}"/>
              </a:ext>
            </a:extLst>
          </p:cNvPr>
          <p:cNvSpPr>
            <a:spLocks noGrp="1"/>
          </p:cNvSpPr>
          <p:nvPr/>
        </p:nvSpPr>
        <p:spPr>
          <a:xfrm>
            <a:off x="571500" y="1314450"/>
            <a:ext cx="11049000" cy="19050"/>
          </a:xfrm>
          <a:prstGeom prst="rect">
            <a:avLst/>
          </a:prstGeom>
          <a:solidFill>
            <a:srgbClr val="00A8C6"/>
          </a:solidFill>
          <a:ln w="9525">
            <a:solidFill>
              <a:srgbClr val="00A8C6"/>
            </a:solidFill>
            <a:prstDash val="solid"/>
          </a:ln>
        </p:spPr>
        <p:txBody>
          <a:bodyPr/>
          <a:lstStyle/>
          <a:p>
            <a:endParaRPr lang="en-US"/>
          </a:p>
        </p:txBody>
      </p:sp>
      <p:sp>
        <p:nvSpPr>
          <p:cNvPr id="5" name="footer">
            <a:extLst>
              <a:ext uri="{FF2B5EF4-FFF2-40B4-BE49-F238E27FC236}">
                <a16:creationId xmlns:a16="http://schemas.microsoft.com/office/drawing/2014/main" id="{9204179A-6176-47D2-9EC9-44E0B55F5638}"/>
              </a:ext>
            </a:extLst>
          </p:cNvPr>
          <p:cNvSpPr>
            <a:spLocks noGrp="1"/>
          </p:cNvSpPr>
          <p:nvPr/>
        </p:nvSpPr>
        <p:spPr>
          <a:xfrm>
            <a:off x="571500" y="6591300"/>
            <a:ext cx="5715000" cy="133350"/>
          </a:xfrm>
          <a:prstGeom prst="rect">
            <a:avLst/>
          </a:prstGeom>
          <a:noFill/>
          <a:ln w="0">
            <a:noFill/>
            <a:prstDash val="solid"/>
          </a:ln>
        </p:spPr>
        <p:txBody>
          <a:bodyPr/>
          <a:lstStyle/>
          <a:p>
            <a:pPr>
              <a:defRPr sz="638">
                <a:solidFill>
                  <a:srgbClr val="6D8899"/>
                </a:solidFill>
              </a:defRPr>
            </a:pPr>
            <a:r>
              <a:rPr sz="638">
                <a:solidFill>
                  <a:srgbClr val="6D8899"/>
                </a:solidFill>
              </a:rPr>
              <a:t>CLOUD PLATFORM ARCHITECTURE  •  BOOKING CONSISTENCY APPENDIX</a:t>
            </a:r>
          </a:p>
        </p:txBody>
      </p:sp>
      <p:sp>
        <p:nvSpPr>
          <p:cNvPr id="6" name="page">
            <a:extLst>
              <a:ext uri="{FF2B5EF4-FFF2-40B4-BE49-F238E27FC236}">
                <a16:creationId xmlns:a16="http://schemas.microsoft.com/office/drawing/2014/main" id="{DBED6E19-781E-4A8A-8070-5A568A47F4DD}"/>
              </a:ext>
            </a:extLst>
          </p:cNvPr>
          <p:cNvSpPr>
            <a:spLocks noGrp="1"/>
          </p:cNvSpPr>
          <p:nvPr/>
        </p:nvSpPr>
        <p:spPr>
          <a:xfrm>
            <a:off x="11239500" y="6572250"/>
            <a:ext cx="381000" cy="152400"/>
          </a:xfrm>
          <a:prstGeom prst="rect">
            <a:avLst/>
          </a:prstGeom>
          <a:noFill/>
          <a:ln w="0">
            <a:noFill/>
            <a:prstDash val="solid"/>
          </a:ln>
        </p:spPr>
        <p:txBody>
          <a:bodyPr/>
          <a:lstStyle/>
          <a:p>
            <a:pPr algn="r">
              <a:defRPr sz="675" b="1">
                <a:solidFill>
                  <a:srgbClr val="6D8899"/>
                </a:solidFill>
              </a:defRPr>
            </a:pPr>
            <a:r>
              <a:rPr sz="675" b="1">
                <a:solidFill>
                  <a:srgbClr val="6D8899"/>
                </a:solidFill>
              </a:rPr>
              <a:t>A2</a:t>
            </a:r>
          </a:p>
        </p:txBody>
      </p:sp>
      <p:sp>
        <p:nvSpPr>
          <p:cNvPr id="7" name="b1">
            <a:extLst>
              <a:ext uri="{FF2B5EF4-FFF2-40B4-BE49-F238E27FC236}">
                <a16:creationId xmlns:a16="http://schemas.microsoft.com/office/drawing/2014/main" id="{06E8325F-7048-4E99-96EB-CE767D28D293}"/>
              </a:ext>
            </a:extLst>
          </p:cNvPr>
          <p:cNvSpPr>
            <a:spLocks noGrp="1"/>
          </p:cNvSpPr>
          <p:nvPr/>
        </p:nvSpPr>
        <p:spPr>
          <a:xfrm>
            <a:off x="2400300" y="2333625"/>
            <a:ext cx="323850" cy="238125"/>
          </a:xfrm>
          <a:prstGeom prst="chevron">
            <a:avLst/>
          </a:prstGeom>
          <a:solidFill>
            <a:srgbClr val="00A8C6"/>
          </a:solidFill>
          <a:ln w="9525">
            <a:solidFill>
              <a:srgbClr val="00A8C6"/>
            </a:solidFill>
            <a:prstDash val="solid"/>
          </a:ln>
        </p:spPr>
        <p:txBody>
          <a:bodyPr/>
          <a:lstStyle/>
          <a:p>
            <a:endParaRPr lang="en-US"/>
          </a:p>
        </p:txBody>
      </p:sp>
      <p:sp>
        <p:nvSpPr>
          <p:cNvPr id="8" name="b2">
            <a:extLst>
              <a:ext uri="{FF2B5EF4-FFF2-40B4-BE49-F238E27FC236}">
                <a16:creationId xmlns:a16="http://schemas.microsoft.com/office/drawing/2014/main" id="{8D3BA756-8803-47FC-AFBF-63C0CF441F39}"/>
              </a:ext>
            </a:extLst>
          </p:cNvPr>
          <p:cNvSpPr>
            <a:spLocks noGrp="1"/>
          </p:cNvSpPr>
          <p:nvPr/>
        </p:nvSpPr>
        <p:spPr>
          <a:xfrm>
            <a:off x="4552950" y="2333625"/>
            <a:ext cx="323850" cy="238125"/>
          </a:xfrm>
          <a:prstGeom prst="chevron">
            <a:avLst/>
          </a:prstGeom>
          <a:solidFill>
            <a:srgbClr val="00A8C6"/>
          </a:solidFill>
          <a:ln w="9525">
            <a:solidFill>
              <a:srgbClr val="00A8C6"/>
            </a:solidFill>
            <a:prstDash val="solid"/>
          </a:ln>
        </p:spPr>
        <p:txBody>
          <a:bodyPr/>
          <a:lstStyle/>
          <a:p>
            <a:endParaRPr lang="en-US"/>
          </a:p>
        </p:txBody>
      </p:sp>
      <p:sp>
        <p:nvSpPr>
          <p:cNvPr id="9" name="b3">
            <a:extLst>
              <a:ext uri="{FF2B5EF4-FFF2-40B4-BE49-F238E27FC236}">
                <a16:creationId xmlns:a16="http://schemas.microsoft.com/office/drawing/2014/main" id="{DECF3806-F581-4637-B939-6325E05A96EE}"/>
              </a:ext>
            </a:extLst>
          </p:cNvPr>
          <p:cNvSpPr>
            <a:spLocks noGrp="1"/>
          </p:cNvSpPr>
          <p:nvPr/>
        </p:nvSpPr>
        <p:spPr>
          <a:xfrm>
            <a:off x="6705600" y="2333625"/>
            <a:ext cx="323850" cy="238125"/>
          </a:xfrm>
          <a:prstGeom prst="chevron">
            <a:avLst/>
          </a:prstGeom>
          <a:solidFill>
            <a:srgbClr val="00A8C6"/>
          </a:solidFill>
          <a:ln w="9525">
            <a:solidFill>
              <a:srgbClr val="00A8C6"/>
            </a:solidFill>
            <a:prstDash val="solid"/>
          </a:ln>
        </p:spPr>
        <p:txBody>
          <a:bodyPr/>
          <a:lstStyle/>
          <a:p>
            <a:endParaRPr lang="en-US"/>
          </a:p>
        </p:txBody>
      </p:sp>
      <p:sp>
        <p:nvSpPr>
          <p:cNvPr id="10" name="b4">
            <a:extLst>
              <a:ext uri="{FF2B5EF4-FFF2-40B4-BE49-F238E27FC236}">
                <a16:creationId xmlns:a16="http://schemas.microsoft.com/office/drawing/2014/main" id="{0341C76C-7D9B-4EA7-B30A-E5C188C7E629}"/>
              </a:ext>
            </a:extLst>
          </p:cNvPr>
          <p:cNvSpPr>
            <a:spLocks noGrp="1"/>
          </p:cNvSpPr>
          <p:nvPr/>
        </p:nvSpPr>
        <p:spPr>
          <a:xfrm>
            <a:off x="8858250" y="2333625"/>
            <a:ext cx="323850" cy="238125"/>
          </a:xfrm>
          <a:prstGeom prst="chevron">
            <a:avLst/>
          </a:prstGeom>
          <a:solidFill>
            <a:srgbClr val="00A8C6"/>
          </a:solidFill>
          <a:ln w="9525">
            <a:solidFill>
              <a:srgbClr val="00A8C6"/>
            </a:solidFill>
            <a:prstDash val="solid"/>
          </a:ln>
        </p:spPr>
        <p:txBody>
          <a:bodyPr/>
          <a:lstStyle/>
          <a:p>
            <a:endParaRPr lang="en-US"/>
          </a:p>
        </p:txBody>
      </p:sp>
      <p:sp>
        <p:nvSpPr>
          <p:cNvPr id="11" name="client-shape">
            <a:extLst>
              <a:ext uri="{FF2B5EF4-FFF2-40B4-BE49-F238E27FC236}">
                <a16:creationId xmlns:a16="http://schemas.microsoft.com/office/drawing/2014/main" id="{897CBA9A-DA4B-4D99-A5B9-6971429818BB}"/>
              </a:ext>
            </a:extLst>
          </p:cNvPr>
          <p:cNvSpPr>
            <a:spLocks noGrp="1"/>
          </p:cNvSpPr>
          <p:nvPr/>
        </p:nvSpPr>
        <p:spPr>
          <a:xfrm>
            <a:off x="571500" y="1762125"/>
            <a:ext cx="1866900" cy="1476375"/>
          </a:xfrm>
          <a:prstGeom prst="roundRect">
            <a:avLst>
              <a:gd name="adj" fmla="val 5161"/>
            </a:avLst>
          </a:prstGeom>
          <a:solidFill>
            <a:srgbClr val="FFFFFF"/>
          </a:solidFill>
          <a:ln w="9525">
            <a:solidFill>
              <a:srgbClr val="B8CEDA"/>
            </a:solidFill>
            <a:prstDash val="solid"/>
          </a:ln>
        </p:spPr>
        <p:txBody>
          <a:bodyPr/>
          <a:lstStyle/>
          <a:p>
            <a:endParaRPr lang="en-US"/>
          </a:p>
        </p:txBody>
      </p:sp>
      <p:pic>
        <p:nvPicPr>
          <p:cNvPr id="56" name="Picture 55"/>
          <p:cNvPicPr>
            <a:picLocks noChangeAspect="1"/>
          </p:cNvPicPr>
          <p:nvPr/>
        </p:nvPicPr>
        <p:blipFill>
          <a:blip r:embed="rId3"/>
          <a:stretch/>
        </p:blipFill>
        <p:spPr>
          <a:xfrm>
            <a:off x="1257300" y="1895475"/>
            <a:ext cx="457200" cy="457200"/>
          </a:xfrm>
          <a:prstGeom prst="rect">
            <a:avLst/>
          </a:prstGeom>
        </p:spPr>
      </p:pic>
      <p:sp>
        <p:nvSpPr>
          <p:cNvPr id="13" name="client-title">
            <a:extLst>
              <a:ext uri="{FF2B5EF4-FFF2-40B4-BE49-F238E27FC236}">
                <a16:creationId xmlns:a16="http://schemas.microsoft.com/office/drawing/2014/main" id="{01C599DF-4338-4899-BA01-905E584C9988}"/>
              </a:ext>
            </a:extLst>
          </p:cNvPr>
          <p:cNvSpPr>
            <a:spLocks noGrp="1"/>
          </p:cNvSpPr>
          <p:nvPr/>
        </p:nvSpPr>
        <p:spPr>
          <a:xfrm>
            <a:off x="685800" y="2428875"/>
            <a:ext cx="163830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Browser / mobile</a:t>
            </a:r>
          </a:p>
        </p:txBody>
      </p:sp>
      <p:sp>
        <p:nvSpPr>
          <p:cNvPr id="14" name="client-detail">
            <a:extLst>
              <a:ext uri="{FF2B5EF4-FFF2-40B4-BE49-F238E27FC236}">
                <a16:creationId xmlns:a16="http://schemas.microsoft.com/office/drawing/2014/main" id="{ADF241AD-41C4-4564-A3EB-0247F127EF3F}"/>
              </a:ext>
            </a:extLst>
          </p:cNvPr>
          <p:cNvSpPr>
            <a:spLocks noGrp="1"/>
          </p:cNvSpPr>
          <p:nvPr/>
        </p:nvSpPr>
        <p:spPr>
          <a:xfrm>
            <a:off x="685800" y="2686050"/>
            <a:ext cx="1638300" cy="400050"/>
          </a:xfrm>
          <a:prstGeom prst="rect">
            <a:avLst/>
          </a:prstGeom>
          <a:noFill/>
          <a:ln w="0">
            <a:noFill/>
            <a:prstDash val="solid"/>
          </a:ln>
        </p:spPr>
        <p:txBody>
          <a:bodyPr/>
          <a:lstStyle/>
          <a:p>
            <a:pPr algn="ctr">
              <a:defRPr sz="863">
                <a:solidFill>
                  <a:srgbClr val="46657A"/>
                </a:solidFill>
              </a:defRPr>
            </a:pPr>
            <a:r>
              <a:rPr sz="863">
                <a:solidFill>
                  <a:srgbClr val="46657A"/>
                </a:solidFill>
              </a:rPr>
              <a:t>Generate or receive</a:t>
            </a:r>
          </a:p>
          <a:p>
            <a:pPr algn="ctr">
              <a:defRPr sz="863">
                <a:solidFill>
                  <a:srgbClr val="46657A"/>
                </a:solidFill>
              </a:defRPr>
            </a:pPr>
            <a:r>
              <a:rPr sz="863">
                <a:solidFill>
                  <a:srgbClr val="46657A"/>
                </a:solidFill>
              </a:rPr>
              <a:t>Idempotency-Key</a:t>
            </a:r>
          </a:p>
        </p:txBody>
      </p:sp>
      <p:sp>
        <p:nvSpPr>
          <p:cNvPr id="15" name="api-shape">
            <a:extLst>
              <a:ext uri="{FF2B5EF4-FFF2-40B4-BE49-F238E27FC236}">
                <a16:creationId xmlns:a16="http://schemas.microsoft.com/office/drawing/2014/main" id="{00CB3B9D-F730-4336-9DB7-21BAE7A63CD3}"/>
              </a:ext>
            </a:extLst>
          </p:cNvPr>
          <p:cNvSpPr>
            <a:spLocks noGrp="1"/>
          </p:cNvSpPr>
          <p:nvPr/>
        </p:nvSpPr>
        <p:spPr>
          <a:xfrm>
            <a:off x="2724150" y="1762125"/>
            <a:ext cx="1866900" cy="1476375"/>
          </a:xfrm>
          <a:prstGeom prst="roundRect">
            <a:avLst>
              <a:gd name="adj" fmla="val 5161"/>
            </a:avLst>
          </a:prstGeom>
          <a:solidFill>
            <a:srgbClr val="FFFFFF"/>
          </a:solidFill>
          <a:ln w="9525">
            <a:solidFill>
              <a:srgbClr val="B8CEDA"/>
            </a:solidFill>
            <a:prstDash val="solid"/>
          </a:ln>
        </p:spPr>
        <p:txBody>
          <a:bodyPr/>
          <a:lstStyle/>
          <a:p>
            <a:endParaRPr lang="en-US"/>
          </a:p>
        </p:txBody>
      </p:sp>
      <p:pic>
        <p:nvPicPr>
          <p:cNvPr id="60" name="Picture 59"/>
          <p:cNvPicPr>
            <a:picLocks noChangeAspect="1"/>
          </p:cNvPicPr>
          <p:nvPr/>
        </p:nvPicPr>
        <p:blipFill>
          <a:blip r:embed="rId4"/>
          <a:stretch/>
        </p:blipFill>
        <p:spPr>
          <a:xfrm>
            <a:off x="3409950" y="1895475"/>
            <a:ext cx="457200" cy="457200"/>
          </a:xfrm>
          <a:prstGeom prst="rect">
            <a:avLst/>
          </a:prstGeom>
        </p:spPr>
      </p:pic>
      <p:sp>
        <p:nvSpPr>
          <p:cNvPr id="17" name="api-title">
            <a:extLst>
              <a:ext uri="{FF2B5EF4-FFF2-40B4-BE49-F238E27FC236}">
                <a16:creationId xmlns:a16="http://schemas.microsoft.com/office/drawing/2014/main" id="{6E5E1D53-9167-470E-A8F4-714973B95B5A}"/>
              </a:ext>
            </a:extLst>
          </p:cNvPr>
          <p:cNvSpPr>
            <a:spLocks noGrp="1"/>
          </p:cNvSpPr>
          <p:nvPr/>
        </p:nvSpPr>
        <p:spPr>
          <a:xfrm>
            <a:off x="2838450" y="2428875"/>
            <a:ext cx="163830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API Gateway</a:t>
            </a:r>
          </a:p>
        </p:txBody>
      </p:sp>
      <p:sp>
        <p:nvSpPr>
          <p:cNvPr id="18" name="api-detail">
            <a:extLst>
              <a:ext uri="{FF2B5EF4-FFF2-40B4-BE49-F238E27FC236}">
                <a16:creationId xmlns:a16="http://schemas.microsoft.com/office/drawing/2014/main" id="{6BC82DBA-EEC1-47F6-90EA-6CD47108E8CF}"/>
              </a:ext>
            </a:extLst>
          </p:cNvPr>
          <p:cNvSpPr>
            <a:spLocks noGrp="1"/>
          </p:cNvSpPr>
          <p:nvPr/>
        </p:nvSpPr>
        <p:spPr>
          <a:xfrm>
            <a:off x="2838450" y="2686050"/>
            <a:ext cx="1638300" cy="400050"/>
          </a:xfrm>
          <a:prstGeom prst="rect">
            <a:avLst/>
          </a:prstGeom>
          <a:noFill/>
          <a:ln w="0">
            <a:noFill/>
            <a:prstDash val="solid"/>
          </a:ln>
        </p:spPr>
        <p:txBody>
          <a:bodyPr/>
          <a:lstStyle/>
          <a:p>
            <a:pPr algn="ctr">
              <a:defRPr sz="863">
                <a:solidFill>
                  <a:srgbClr val="46657A"/>
                </a:solidFill>
              </a:defRPr>
            </a:pPr>
            <a:r>
              <a:rPr sz="863">
                <a:solidFill>
                  <a:srgbClr val="46657A"/>
                </a:solidFill>
              </a:rPr>
              <a:t>Forward key unchanged</a:t>
            </a:r>
          </a:p>
          <a:p>
            <a:pPr algn="ctr">
              <a:defRPr sz="863">
                <a:solidFill>
                  <a:srgbClr val="46657A"/>
                </a:solidFill>
              </a:defRPr>
            </a:pPr>
            <a:r>
              <a:rPr sz="863">
                <a:solidFill>
                  <a:srgbClr val="46657A"/>
                </a:solidFill>
              </a:rPr>
              <a:t>with request context</a:t>
            </a:r>
          </a:p>
        </p:txBody>
      </p:sp>
      <p:sp>
        <p:nvSpPr>
          <p:cNvPr id="19" name="state-shape">
            <a:extLst>
              <a:ext uri="{FF2B5EF4-FFF2-40B4-BE49-F238E27FC236}">
                <a16:creationId xmlns:a16="http://schemas.microsoft.com/office/drawing/2014/main" id="{B20FCBA2-0398-46CA-B14D-9FC9C90E2EAA}"/>
              </a:ext>
            </a:extLst>
          </p:cNvPr>
          <p:cNvSpPr>
            <a:spLocks noGrp="1"/>
          </p:cNvSpPr>
          <p:nvPr/>
        </p:nvSpPr>
        <p:spPr>
          <a:xfrm>
            <a:off x="4876800" y="1762125"/>
            <a:ext cx="1866900" cy="1476375"/>
          </a:xfrm>
          <a:prstGeom prst="roundRect">
            <a:avLst>
              <a:gd name="adj" fmla="val 5161"/>
            </a:avLst>
          </a:prstGeom>
          <a:solidFill>
            <a:srgbClr val="FFFFFF"/>
          </a:solidFill>
          <a:ln w="9525">
            <a:solidFill>
              <a:srgbClr val="B8CEDA"/>
            </a:solidFill>
            <a:prstDash val="solid"/>
          </a:ln>
        </p:spPr>
        <p:txBody>
          <a:bodyPr/>
          <a:lstStyle/>
          <a:p>
            <a:endParaRPr lang="en-US"/>
          </a:p>
        </p:txBody>
      </p:sp>
      <p:pic>
        <p:nvPicPr>
          <p:cNvPr id="64" name="Picture 63"/>
          <p:cNvPicPr>
            <a:picLocks noChangeAspect="1"/>
          </p:cNvPicPr>
          <p:nvPr/>
        </p:nvPicPr>
        <p:blipFill>
          <a:blip r:embed="rId5"/>
          <a:stretch/>
        </p:blipFill>
        <p:spPr>
          <a:xfrm>
            <a:off x="5562600" y="1895475"/>
            <a:ext cx="457200" cy="457200"/>
          </a:xfrm>
          <a:prstGeom prst="rect">
            <a:avLst/>
          </a:prstGeom>
        </p:spPr>
      </p:pic>
      <p:sp>
        <p:nvSpPr>
          <p:cNvPr id="21" name="state-title">
            <a:extLst>
              <a:ext uri="{FF2B5EF4-FFF2-40B4-BE49-F238E27FC236}">
                <a16:creationId xmlns:a16="http://schemas.microsoft.com/office/drawing/2014/main" id="{EF460142-AA3E-465B-AAE2-E00FBB53BE3C}"/>
              </a:ext>
            </a:extLst>
          </p:cNvPr>
          <p:cNvSpPr>
            <a:spLocks noGrp="1"/>
          </p:cNvSpPr>
          <p:nvPr/>
        </p:nvSpPr>
        <p:spPr>
          <a:xfrm>
            <a:off x="4991100" y="2428875"/>
            <a:ext cx="163830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Booking service</a:t>
            </a:r>
          </a:p>
        </p:txBody>
      </p:sp>
      <p:sp>
        <p:nvSpPr>
          <p:cNvPr id="22" name="state-detail">
            <a:extLst>
              <a:ext uri="{FF2B5EF4-FFF2-40B4-BE49-F238E27FC236}">
                <a16:creationId xmlns:a16="http://schemas.microsoft.com/office/drawing/2014/main" id="{BFF4E00C-16FE-4180-A139-A92420B6B67C}"/>
              </a:ext>
            </a:extLst>
          </p:cNvPr>
          <p:cNvSpPr>
            <a:spLocks noGrp="1"/>
          </p:cNvSpPr>
          <p:nvPr/>
        </p:nvSpPr>
        <p:spPr>
          <a:xfrm>
            <a:off x="4991100" y="2686050"/>
            <a:ext cx="1638300" cy="400050"/>
          </a:xfrm>
          <a:prstGeom prst="rect">
            <a:avLst/>
          </a:prstGeom>
          <a:noFill/>
          <a:ln w="0">
            <a:noFill/>
            <a:prstDash val="solid"/>
          </a:ln>
        </p:spPr>
        <p:txBody>
          <a:bodyPr/>
          <a:lstStyle/>
          <a:p>
            <a:pPr algn="ctr">
              <a:defRPr sz="863">
                <a:solidFill>
                  <a:srgbClr val="46657A"/>
                </a:solidFill>
              </a:defRPr>
            </a:pPr>
            <a:r>
              <a:rPr sz="863">
                <a:solidFill>
                  <a:srgbClr val="46657A"/>
                </a:solidFill>
              </a:rPr>
              <a:t>Conditional create of</a:t>
            </a:r>
          </a:p>
          <a:p>
            <a:pPr algn="ctr">
              <a:defRPr sz="863">
                <a:solidFill>
                  <a:srgbClr val="46657A"/>
                </a:solidFill>
              </a:defRPr>
            </a:pPr>
            <a:r>
              <a:rPr sz="863">
                <a:solidFill>
                  <a:srgbClr val="46657A"/>
                </a:solidFill>
              </a:rPr>
              <a:t>booking intent</a:t>
            </a:r>
          </a:p>
        </p:txBody>
      </p:sp>
      <p:sp>
        <p:nvSpPr>
          <p:cNvPr id="23" name="workflow-shape">
            <a:extLst>
              <a:ext uri="{FF2B5EF4-FFF2-40B4-BE49-F238E27FC236}">
                <a16:creationId xmlns:a16="http://schemas.microsoft.com/office/drawing/2014/main" id="{530F4D7E-2C4A-406A-B8F8-36395C115F5C}"/>
              </a:ext>
            </a:extLst>
          </p:cNvPr>
          <p:cNvSpPr>
            <a:spLocks noGrp="1"/>
          </p:cNvSpPr>
          <p:nvPr/>
        </p:nvSpPr>
        <p:spPr>
          <a:xfrm>
            <a:off x="7029450" y="1762125"/>
            <a:ext cx="1866900" cy="1476375"/>
          </a:xfrm>
          <a:prstGeom prst="roundRect">
            <a:avLst>
              <a:gd name="adj" fmla="val 5161"/>
            </a:avLst>
          </a:prstGeom>
          <a:solidFill>
            <a:srgbClr val="FFFFFF"/>
          </a:solidFill>
          <a:ln w="9525">
            <a:solidFill>
              <a:srgbClr val="B8CEDA"/>
            </a:solidFill>
            <a:prstDash val="solid"/>
          </a:ln>
        </p:spPr>
        <p:txBody>
          <a:bodyPr/>
          <a:lstStyle/>
          <a:p>
            <a:endParaRPr lang="en-US"/>
          </a:p>
        </p:txBody>
      </p:sp>
      <p:pic>
        <p:nvPicPr>
          <p:cNvPr id="68" name="Picture 67"/>
          <p:cNvPicPr>
            <a:picLocks noChangeAspect="1"/>
          </p:cNvPicPr>
          <p:nvPr/>
        </p:nvPicPr>
        <p:blipFill>
          <a:blip r:embed="rId6"/>
          <a:stretch/>
        </p:blipFill>
        <p:spPr>
          <a:xfrm>
            <a:off x="7715250" y="1895475"/>
            <a:ext cx="457200" cy="457200"/>
          </a:xfrm>
          <a:prstGeom prst="rect">
            <a:avLst/>
          </a:prstGeom>
        </p:spPr>
      </p:pic>
      <p:sp>
        <p:nvSpPr>
          <p:cNvPr id="25" name="workflow-title">
            <a:extLst>
              <a:ext uri="{FF2B5EF4-FFF2-40B4-BE49-F238E27FC236}">
                <a16:creationId xmlns:a16="http://schemas.microsoft.com/office/drawing/2014/main" id="{B25092F1-42E0-4430-A38F-1BF9D69AB925}"/>
              </a:ext>
            </a:extLst>
          </p:cNvPr>
          <p:cNvSpPr>
            <a:spLocks noGrp="1"/>
          </p:cNvSpPr>
          <p:nvPr/>
        </p:nvSpPr>
        <p:spPr>
          <a:xfrm>
            <a:off x="7143750" y="2428875"/>
            <a:ext cx="163830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Orchestrator</a:t>
            </a:r>
          </a:p>
        </p:txBody>
      </p:sp>
      <p:sp>
        <p:nvSpPr>
          <p:cNvPr id="26" name="workflow-detail">
            <a:extLst>
              <a:ext uri="{FF2B5EF4-FFF2-40B4-BE49-F238E27FC236}">
                <a16:creationId xmlns:a16="http://schemas.microsoft.com/office/drawing/2014/main" id="{57522C5C-57BB-491D-A907-5823B792910E}"/>
              </a:ext>
            </a:extLst>
          </p:cNvPr>
          <p:cNvSpPr>
            <a:spLocks noGrp="1"/>
          </p:cNvSpPr>
          <p:nvPr/>
        </p:nvSpPr>
        <p:spPr>
          <a:xfrm>
            <a:off x="7143750" y="2686050"/>
            <a:ext cx="1638300" cy="400050"/>
          </a:xfrm>
          <a:prstGeom prst="rect">
            <a:avLst/>
          </a:prstGeom>
          <a:noFill/>
          <a:ln w="0">
            <a:noFill/>
            <a:prstDash val="solid"/>
          </a:ln>
        </p:spPr>
        <p:txBody>
          <a:bodyPr/>
          <a:lstStyle/>
          <a:p>
            <a:pPr algn="ctr">
              <a:defRPr sz="863">
                <a:solidFill>
                  <a:srgbClr val="46657A"/>
                </a:solidFill>
              </a:defRPr>
            </a:pPr>
            <a:r>
              <a:rPr sz="863">
                <a:solidFill>
                  <a:srgbClr val="46657A"/>
                </a:solidFill>
              </a:rPr>
              <a:t>Reuse key for every</a:t>
            </a:r>
          </a:p>
          <a:p>
            <a:pPr algn="ctr">
              <a:defRPr sz="863">
                <a:solidFill>
                  <a:srgbClr val="46657A"/>
                </a:solidFill>
              </a:defRPr>
            </a:pPr>
            <a:r>
              <a:rPr sz="863">
                <a:solidFill>
                  <a:srgbClr val="46657A"/>
                </a:solidFill>
              </a:rPr>
              <a:t>retry and callback</a:t>
            </a:r>
          </a:p>
        </p:txBody>
      </p:sp>
      <p:sp>
        <p:nvSpPr>
          <p:cNvPr id="27" name="adapter-shape">
            <a:extLst>
              <a:ext uri="{FF2B5EF4-FFF2-40B4-BE49-F238E27FC236}">
                <a16:creationId xmlns:a16="http://schemas.microsoft.com/office/drawing/2014/main" id="{1818558E-1B5C-4906-9ED3-75FA6F87B48F}"/>
              </a:ext>
            </a:extLst>
          </p:cNvPr>
          <p:cNvSpPr>
            <a:spLocks noGrp="1"/>
          </p:cNvSpPr>
          <p:nvPr/>
        </p:nvSpPr>
        <p:spPr>
          <a:xfrm>
            <a:off x="9182100" y="1762125"/>
            <a:ext cx="1866900" cy="1476375"/>
          </a:xfrm>
          <a:prstGeom prst="roundRect">
            <a:avLst>
              <a:gd name="adj" fmla="val 5161"/>
            </a:avLst>
          </a:prstGeom>
          <a:solidFill>
            <a:srgbClr val="FFFFFF"/>
          </a:solidFill>
          <a:ln w="9525">
            <a:solidFill>
              <a:srgbClr val="B8CEDA"/>
            </a:solidFill>
            <a:prstDash val="solid"/>
          </a:ln>
        </p:spPr>
        <p:txBody>
          <a:bodyPr/>
          <a:lstStyle/>
          <a:p>
            <a:endParaRPr lang="en-US"/>
          </a:p>
        </p:txBody>
      </p:sp>
      <p:pic>
        <p:nvPicPr>
          <p:cNvPr id="72" name="Picture 71"/>
          <p:cNvPicPr>
            <a:picLocks noChangeAspect="1"/>
          </p:cNvPicPr>
          <p:nvPr/>
        </p:nvPicPr>
        <p:blipFill>
          <a:blip r:embed="rId7"/>
          <a:stretch/>
        </p:blipFill>
        <p:spPr>
          <a:xfrm>
            <a:off x="9867900" y="1895475"/>
            <a:ext cx="457200" cy="457200"/>
          </a:xfrm>
          <a:prstGeom prst="rect">
            <a:avLst/>
          </a:prstGeom>
        </p:spPr>
      </p:pic>
      <p:sp>
        <p:nvSpPr>
          <p:cNvPr id="29" name="adapter-title">
            <a:extLst>
              <a:ext uri="{FF2B5EF4-FFF2-40B4-BE49-F238E27FC236}">
                <a16:creationId xmlns:a16="http://schemas.microsoft.com/office/drawing/2014/main" id="{1C86FB62-4AAC-4EFA-A57A-AC93E21532EC}"/>
              </a:ext>
            </a:extLst>
          </p:cNvPr>
          <p:cNvSpPr>
            <a:spLocks noGrp="1"/>
          </p:cNvSpPr>
          <p:nvPr/>
        </p:nvSpPr>
        <p:spPr>
          <a:xfrm>
            <a:off x="9296400" y="2428875"/>
            <a:ext cx="163830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Dealer adapter</a:t>
            </a:r>
          </a:p>
        </p:txBody>
      </p:sp>
      <p:sp>
        <p:nvSpPr>
          <p:cNvPr id="30" name="adapter-detail">
            <a:extLst>
              <a:ext uri="{FF2B5EF4-FFF2-40B4-BE49-F238E27FC236}">
                <a16:creationId xmlns:a16="http://schemas.microsoft.com/office/drawing/2014/main" id="{BD40D0C4-C1AF-404F-A48C-A0F6665484C5}"/>
              </a:ext>
            </a:extLst>
          </p:cNvPr>
          <p:cNvSpPr>
            <a:spLocks noGrp="1"/>
          </p:cNvSpPr>
          <p:nvPr/>
        </p:nvSpPr>
        <p:spPr>
          <a:xfrm>
            <a:off x="9296400" y="2686050"/>
            <a:ext cx="1638300" cy="400050"/>
          </a:xfrm>
          <a:prstGeom prst="rect">
            <a:avLst/>
          </a:prstGeom>
          <a:noFill/>
          <a:ln w="0">
            <a:noFill/>
            <a:prstDash val="solid"/>
          </a:ln>
        </p:spPr>
        <p:txBody>
          <a:bodyPr/>
          <a:lstStyle/>
          <a:p>
            <a:pPr algn="ctr">
              <a:defRPr sz="863">
                <a:solidFill>
                  <a:srgbClr val="46657A"/>
                </a:solidFill>
              </a:defRPr>
            </a:pPr>
            <a:r>
              <a:rPr sz="863">
                <a:solidFill>
                  <a:srgbClr val="46657A"/>
                </a:solidFill>
              </a:rPr>
              <a:t>Map key to dealer</a:t>
            </a:r>
          </a:p>
          <a:p>
            <a:pPr algn="ctr">
              <a:defRPr sz="863">
                <a:solidFill>
                  <a:srgbClr val="46657A"/>
                </a:solidFill>
              </a:defRPr>
            </a:pPr>
            <a:r>
              <a:rPr sz="863">
                <a:solidFill>
                  <a:srgbClr val="46657A"/>
                </a:solidFill>
              </a:rPr>
              <a:t>correlation / dedup ID</a:t>
            </a:r>
          </a:p>
        </p:txBody>
      </p:sp>
      <p:sp>
        <p:nvSpPr>
          <p:cNvPr id="31" name="key-band">
            <a:extLst>
              <a:ext uri="{FF2B5EF4-FFF2-40B4-BE49-F238E27FC236}">
                <a16:creationId xmlns:a16="http://schemas.microsoft.com/office/drawing/2014/main" id="{E468CC7B-4C53-4BC6-84E6-F29CFDF7AAA8}"/>
              </a:ext>
            </a:extLst>
          </p:cNvPr>
          <p:cNvSpPr>
            <a:spLocks noGrp="1"/>
          </p:cNvSpPr>
          <p:nvPr/>
        </p:nvSpPr>
        <p:spPr>
          <a:xfrm>
            <a:off x="571500" y="3400425"/>
            <a:ext cx="10477500" cy="342900"/>
          </a:xfrm>
          <a:prstGeom prst="roundRect">
            <a:avLst>
              <a:gd name="adj" fmla="val 22222"/>
            </a:avLst>
          </a:prstGeom>
          <a:solidFill>
            <a:srgbClr val="183B56"/>
          </a:solidFill>
          <a:ln w="9525">
            <a:solidFill>
              <a:srgbClr val="183B56"/>
            </a:solidFill>
            <a:prstDash val="solid"/>
          </a:ln>
        </p:spPr>
        <p:txBody>
          <a:bodyPr/>
          <a:lstStyle/>
          <a:p>
            <a:endParaRPr lang="en-US"/>
          </a:p>
        </p:txBody>
      </p:sp>
      <p:sp>
        <p:nvSpPr>
          <p:cNvPr id="32" name="key-band-text">
            <a:extLst>
              <a:ext uri="{FF2B5EF4-FFF2-40B4-BE49-F238E27FC236}">
                <a16:creationId xmlns:a16="http://schemas.microsoft.com/office/drawing/2014/main" id="{5600D7FD-FFFB-42A7-A6B6-78617589174F}"/>
              </a:ext>
            </a:extLst>
          </p:cNvPr>
          <p:cNvSpPr>
            <a:spLocks noGrp="1"/>
          </p:cNvSpPr>
          <p:nvPr/>
        </p:nvSpPr>
        <p:spPr>
          <a:xfrm>
            <a:off x="781050" y="3495675"/>
            <a:ext cx="10058400" cy="161925"/>
          </a:xfrm>
          <a:prstGeom prst="rect">
            <a:avLst/>
          </a:prstGeom>
          <a:noFill/>
          <a:ln w="0">
            <a:noFill/>
            <a:prstDash val="solid"/>
          </a:ln>
        </p:spPr>
        <p:txBody>
          <a:bodyPr/>
          <a:lstStyle/>
          <a:p>
            <a:pPr algn="ctr">
              <a:defRPr sz="863" b="1">
                <a:solidFill>
                  <a:srgbClr val="FFFFFF"/>
                </a:solidFill>
              </a:defRPr>
            </a:pPr>
            <a:r>
              <a:rPr sz="863" b="1">
                <a:solidFill>
                  <a:srgbClr val="FFFFFF"/>
                </a:solidFill>
              </a:rPr>
              <a:t>IDEMPOTENCY KEY  =  customer request ID  •  unchanged across API, workflow, retries, dealer adapter, reconciliation, and audit</a:t>
            </a:r>
          </a:p>
        </p:txBody>
      </p:sp>
      <p:sp>
        <p:nvSpPr>
          <p:cNvPr id="33" name="duplicate-shape">
            <a:extLst>
              <a:ext uri="{FF2B5EF4-FFF2-40B4-BE49-F238E27FC236}">
                <a16:creationId xmlns:a16="http://schemas.microsoft.com/office/drawing/2014/main" id="{86291D9E-3BEE-458E-AA65-D1E793A3C246}"/>
              </a:ext>
            </a:extLst>
          </p:cNvPr>
          <p:cNvSpPr>
            <a:spLocks noGrp="1"/>
          </p:cNvSpPr>
          <p:nvPr/>
        </p:nvSpPr>
        <p:spPr>
          <a:xfrm>
            <a:off x="571500" y="4048125"/>
            <a:ext cx="3381375" cy="1000125"/>
          </a:xfrm>
          <a:prstGeom prst="roundRect">
            <a:avLst>
              <a:gd name="adj" fmla="val 7619"/>
            </a:avLst>
          </a:prstGeom>
          <a:solidFill>
            <a:srgbClr val="EAF7FA"/>
          </a:solidFill>
          <a:ln w="9525">
            <a:solidFill>
              <a:srgbClr val="9EDDE8"/>
            </a:solidFill>
            <a:prstDash val="solid"/>
          </a:ln>
        </p:spPr>
        <p:txBody>
          <a:bodyPr/>
          <a:lstStyle/>
          <a:p>
            <a:endParaRPr lang="en-US"/>
          </a:p>
        </p:txBody>
      </p:sp>
      <p:sp>
        <p:nvSpPr>
          <p:cNvPr id="34" name="duplicate-label">
            <a:extLst>
              <a:ext uri="{FF2B5EF4-FFF2-40B4-BE49-F238E27FC236}">
                <a16:creationId xmlns:a16="http://schemas.microsoft.com/office/drawing/2014/main" id="{C83CBF11-3A2A-406D-AFA1-CCA3D783F439}"/>
              </a:ext>
            </a:extLst>
          </p:cNvPr>
          <p:cNvSpPr>
            <a:spLocks noGrp="1"/>
          </p:cNvSpPr>
          <p:nvPr/>
        </p:nvSpPr>
        <p:spPr>
          <a:xfrm>
            <a:off x="723900" y="4162425"/>
            <a:ext cx="3076575" cy="171450"/>
          </a:xfrm>
          <a:prstGeom prst="rect">
            <a:avLst/>
          </a:prstGeom>
          <a:noFill/>
          <a:ln w="0">
            <a:noFill/>
            <a:prstDash val="solid"/>
          </a:ln>
        </p:spPr>
        <p:txBody>
          <a:bodyPr/>
          <a:lstStyle/>
          <a:p>
            <a:pPr>
              <a:defRPr sz="750" b="1">
                <a:solidFill>
                  <a:srgbClr val="008296"/>
                </a:solidFill>
              </a:defRPr>
            </a:pPr>
            <a:r>
              <a:rPr sz="750" b="1">
                <a:solidFill>
                  <a:srgbClr val="008296"/>
                </a:solidFill>
              </a:rPr>
              <a:t>SAME REQUEST REPEATED</a:t>
            </a:r>
          </a:p>
        </p:txBody>
      </p:sp>
      <p:sp>
        <p:nvSpPr>
          <p:cNvPr id="35" name="duplicate-body">
            <a:extLst>
              <a:ext uri="{FF2B5EF4-FFF2-40B4-BE49-F238E27FC236}">
                <a16:creationId xmlns:a16="http://schemas.microsoft.com/office/drawing/2014/main" id="{EE57DF5B-5504-4B3E-9E65-0DAC31464267}"/>
              </a:ext>
            </a:extLst>
          </p:cNvPr>
          <p:cNvSpPr>
            <a:spLocks noGrp="1"/>
          </p:cNvSpPr>
          <p:nvPr/>
        </p:nvSpPr>
        <p:spPr>
          <a:xfrm>
            <a:off x="723900" y="4371975"/>
            <a:ext cx="3076575" cy="581025"/>
          </a:xfrm>
          <a:prstGeom prst="rect">
            <a:avLst/>
          </a:prstGeom>
          <a:noFill/>
          <a:ln w="0">
            <a:noFill/>
            <a:prstDash val="solid"/>
          </a:ln>
        </p:spPr>
        <p:txBody>
          <a:bodyPr/>
          <a:lstStyle/>
          <a:p>
            <a:pPr>
              <a:defRPr sz="975" b="1">
                <a:solidFill>
                  <a:srgbClr val="183B56"/>
                </a:solidFill>
              </a:defRPr>
            </a:pPr>
            <a:r>
              <a:rPr sz="975" b="1">
                <a:solidFill>
                  <a:srgbClr val="183B56"/>
                </a:solidFill>
              </a:rPr>
              <a:t>Conditional Put finds the existing intent. Return its current result; do not start a second workflow.</a:t>
            </a:r>
          </a:p>
        </p:txBody>
      </p:sp>
      <p:sp>
        <p:nvSpPr>
          <p:cNvPr id="36" name="concurrent-shape">
            <a:extLst>
              <a:ext uri="{FF2B5EF4-FFF2-40B4-BE49-F238E27FC236}">
                <a16:creationId xmlns:a16="http://schemas.microsoft.com/office/drawing/2014/main" id="{65CDB934-4874-4EBD-82AE-93AFD7C717F7}"/>
              </a:ext>
            </a:extLst>
          </p:cNvPr>
          <p:cNvSpPr>
            <a:spLocks noGrp="1"/>
          </p:cNvSpPr>
          <p:nvPr/>
        </p:nvSpPr>
        <p:spPr>
          <a:xfrm>
            <a:off x="4171950" y="4048125"/>
            <a:ext cx="3848100" cy="1000125"/>
          </a:xfrm>
          <a:prstGeom prst="roundRect">
            <a:avLst>
              <a:gd name="adj" fmla="val 7619"/>
            </a:avLst>
          </a:prstGeom>
          <a:solidFill>
            <a:srgbClr val="EAF7FA"/>
          </a:solidFill>
          <a:ln w="9525">
            <a:solidFill>
              <a:srgbClr val="9EDDE8"/>
            </a:solidFill>
            <a:prstDash val="solid"/>
          </a:ln>
        </p:spPr>
        <p:txBody>
          <a:bodyPr/>
          <a:lstStyle/>
          <a:p>
            <a:endParaRPr lang="en-US"/>
          </a:p>
        </p:txBody>
      </p:sp>
      <p:sp>
        <p:nvSpPr>
          <p:cNvPr id="37" name="concurrent-label">
            <a:extLst>
              <a:ext uri="{FF2B5EF4-FFF2-40B4-BE49-F238E27FC236}">
                <a16:creationId xmlns:a16="http://schemas.microsoft.com/office/drawing/2014/main" id="{59AE99BB-637A-40C6-9229-46CB17ED2957}"/>
              </a:ext>
            </a:extLst>
          </p:cNvPr>
          <p:cNvSpPr>
            <a:spLocks noGrp="1"/>
          </p:cNvSpPr>
          <p:nvPr/>
        </p:nvSpPr>
        <p:spPr>
          <a:xfrm>
            <a:off x="4324350" y="4162425"/>
            <a:ext cx="3543300" cy="171450"/>
          </a:xfrm>
          <a:prstGeom prst="rect">
            <a:avLst/>
          </a:prstGeom>
          <a:noFill/>
          <a:ln w="0">
            <a:noFill/>
            <a:prstDash val="solid"/>
          </a:ln>
        </p:spPr>
        <p:txBody>
          <a:bodyPr/>
          <a:lstStyle/>
          <a:p>
            <a:pPr>
              <a:defRPr sz="750" b="1">
                <a:solidFill>
                  <a:srgbClr val="008296"/>
                </a:solidFill>
              </a:defRPr>
            </a:pPr>
            <a:r>
              <a:rPr sz="750" b="1">
                <a:solidFill>
                  <a:srgbClr val="008296"/>
                </a:solidFill>
              </a:rPr>
              <a:t>TWO REQUESTS FOR ONE SLOT</a:t>
            </a:r>
          </a:p>
        </p:txBody>
      </p:sp>
      <p:sp>
        <p:nvSpPr>
          <p:cNvPr id="38" name="concurrent-body">
            <a:extLst>
              <a:ext uri="{FF2B5EF4-FFF2-40B4-BE49-F238E27FC236}">
                <a16:creationId xmlns:a16="http://schemas.microsoft.com/office/drawing/2014/main" id="{6BB901C7-AB69-4DEC-A90F-D86EEB24A05E}"/>
              </a:ext>
            </a:extLst>
          </p:cNvPr>
          <p:cNvSpPr>
            <a:spLocks noGrp="1"/>
          </p:cNvSpPr>
          <p:nvPr/>
        </p:nvSpPr>
        <p:spPr>
          <a:xfrm>
            <a:off x="4324350" y="4371975"/>
            <a:ext cx="3543300" cy="581025"/>
          </a:xfrm>
          <a:prstGeom prst="rect">
            <a:avLst/>
          </a:prstGeom>
          <a:noFill/>
          <a:ln w="0">
            <a:noFill/>
            <a:prstDash val="solid"/>
          </a:ln>
        </p:spPr>
        <p:txBody>
          <a:bodyPr/>
          <a:lstStyle/>
          <a:p>
            <a:pPr>
              <a:defRPr sz="975" b="1">
                <a:solidFill>
                  <a:srgbClr val="183B56"/>
                </a:solidFill>
              </a:defRPr>
            </a:pPr>
            <a:r>
              <a:rPr sz="975" b="1">
                <a:solidFill>
                  <a:srgbClr val="183B56"/>
                </a:solidFill>
              </a:rPr>
              <a:t>A conditional slot claim allows one cloud request to proceed. The other refreshes availability and receives alternatives.</a:t>
            </a:r>
          </a:p>
        </p:txBody>
      </p:sp>
      <p:sp>
        <p:nvSpPr>
          <p:cNvPr id="39" name="dealer-final-shape">
            <a:extLst>
              <a:ext uri="{FF2B5EF4-FFF2-40B4-BE49-F238E27FC236}">
                <a16:creationId xmlns:a16="http://schemas.microsoft.com/office/drawing/2014/main" id="{B655494B-AAA6-402E-B297-2686956C4634}"/>
              </a:ext>
            </a:extLst>
          </p:cNvPr>
          <p:cNvSpPr>
            <a:spLocks noGrp="1"/>
          </p:cNvSpPr>
          <p:nvPr/>
        </p:nvSpPr>
        <p:spPr>
          <a:xfrm>
            <a:off x="8239125" y="4048125"/>
            <a:ext cx="3381375" cy="1000125"/>
          </a:xfrm>
          <a:prstGeom prst="roundRect">
            <a:avLst>
              <a:gd name="adj" fmla="val 7619"/>
            </a:avLst>
          </a:prstGeom>
          <a:solidFill>
            <a:srgbClr val="FFF5EB"/>
          </a:solidFill>
          <a:ln w="9525">
            <a:solidFill>
              <a:srgbClr val="F1C48E"/>
            </a:solidFill>
            <a:prstDash val="solid"/>
          </a:ln>
        </p:spPr>
        <p:txBody>
          <a:bodyPr/>
          <a:lstStyle/>
          <a:p>
            <a:endParaRPr lang="en-US"/>
          </a:p>
        </p:txBody>
      </p:sp>
      <p:sp>
        <p:nvSpPr>
          <p:cNvPr id="40" name="dealer-final-label">
            <a:extLst>
              <a:ext uri="{FF2B5EF4-FFF2-40B4-BE49-F238E27FC236}">
                <a16:creationId xmlns:a16="http://schemas.microsoft.com/office/drawing/2014/main" id="{507F0296-4294-49FE-A8F9-44B05A92A14D}"/>
              </a:ext>
            </a:extLst>
          </p:cNvPr>
          <p:cNvSpPr>
            <a:spLocks noGrp="1"/>
          </p:cNvSpPr>
          <p:nvPr/>
        </p:nvSpPr>
        <p:spPr>
          <a:xfrm>
            <a:off x="8391525" y="4162425"/>
            <a:ext cx="3076575" cy="171450"/>
          </a:xfrm>
          <a:prstGeom prst="rect">
            <a:avLst/>
          </a:prstGeom>
          <a:noFill/>
          <a:ln w="0">
            <a:noFill/>
            <a:prstDash val="solid"/>
          </a:ln>
        </p:spPr>
        <p:txBody>
          <a:bodyPr/>
          <a:lstStyle/>
          <a:p>
            <a:pPr>
              <a:defRPr sz="750" b="1">
                <a:solidFill>
                  <a:srgbClr val="008296"/>
                </a:solidFill>
              </a:defRPr>
            </a:pPr>
            <a:r>
              <a:rPr sz="750" b="1">
                <a:solidFill>
                  <a:srgbClr val="008296"/>
                </a:solidFill>
              </a:rPr>
              <a:t>FINAL AUTHORITY</a:t>
            </a:r>
          </a:p>
        </p:txBody>
      </p:sp>
      <p:sp>
        <p:nvSpPr>
          <p:cNvPr id="41" name="dealer-final-body">
            <a:extLst>
              <a:ext uri="{FF2B5EF4-FFF2-40B4-BE49-F238E27FC236}">
                <a16:creationId xmlns:a16="http://schemas.microsoft.com/office/drawing/2014/main" id="{FD325DA7-13ED-4AB6-BE80-9F8DB3DF0D9C}"/>
              </a:ext>
            </a:extLst>
          </p:cNvPr>
          <p:cNvSpPr>
            <a:spLocks noGrp="1"/>
          </p:cNvSpPr>
          <p:nvPr/>
        </p:nvSpPr>
        <p:spPr>
          <a:xfrm>
            <a:off x="8391525" y="4371975"/>
            <a:ext cx="3076575" cy="581025"/>
          </a:xfrm>
          <a:prstGeom prst="rect">
            <a:avLst/>
          </a:prstGeom>
          <a:noFill/>
          <a:ln w="0">
            <a:noFill/>
            <a:prstDash val="solid"/>
          </a:ln>
        </p:spPr>
        <p:txBody>
          <a:bodyPr/>
          <a:lstStyle/>
          <a:p>
            <a:pPr>
              <a:defRPr sz="975" b="1">
                <a:solidFill>
                  <a:srgbClr val="183B56"/>
                </a:solidFill>
              </a:defRPr>
            </a:pPr>
            <a:r>
              <a:rPr sz="975" b="1">
                <a:solidFill>
                  <a:srgbClr val="183B56"/>
                </a:solidFill>
              </a:rPr>
              <a:t>Even the cloud winner is not confirmed until the dealer accepts it. Dealer rejection releases the claim.</a:t>
            </a:r>
          </a:p>
        </p:txBody>
      </p:sp>
      <p:sp>
        <p:nvSpPr>
          <p:cNvPr id="42" name="dedup-shape">
            <a:extLst>
              <a:ext uri="{FF2B5EF4-FFF2-40B4-BE49-F238E27FC236}">
                <a16:creationId xmlns:a16="http://schemas.microsoft.com/office/drawing/2014/main" id="{3835C73A-A329-4465-BD87-4753B475FACA}"/>
              </a:ext>
            </a:extLst>
          </p:cNvPr>
          <p:cNvSpPr>
            <a:spLocks noGrp="1"/>
          </p:cNvSpPr>
          <p:nvPr/>
        </p:nvSpPr>
        <p:spPr>
          <a:xfrm>
            <a:off x="571500" y="5353050"/>
            <a:ext cx="11049000" cy="857250"/>
          </a:xfrm>
          <a:prstGeom prst="roundRect">
            <a:avLst>
              <a:gd name="adj" fmla="val 8889"/>
            </a:avLst>
          </a:prstGeom>
          <a:solidFill>
            <a:srgbClr val="EAF7FA"/>
          </a:solidFill>
          <a:ln w="9525">
            <a:solidFill>
              <a:srgbClr val="9EDDE8"/>
            </a:solidFill>
            <a:prstDash val="solid"/>
          </a:ln>
        </p:spPr>
        <p:txBody>
          <a:bodyPr/>
          <a:lstStyle/>
          <a:p>
            <a:endParaRPr lang="en-US"/>
          </a:p>
        </p:txBody>
      </p:sp>
      <p:sp>
        <p:nvSpPr>
          <p:cNvPr id="43" name="dedup-label">
            <a:extLst>
              <a:ext uri="{FF2B5EF4-FFF2-40B4-BE49-F238E27FC236}">
                <a16:creationId xmlns:a16="http://schemas.microsoft.com/office/drawing/2014/main" id="{DFC0C49C-05F3-4717-863C-960CB3BBBF91}"/>
              </a:ext>
            </a:extLst>
          </p:cNvPr>
          <p:cNvSpPr>
            <a:spLocks noGrp="1"/>
          </p:cNvSpPr>
          <p:nvPr/>
        </p:nvSpPr>
        <p:spPr>
          <a:xfrm>
            <a:off x="723900" y="5467350"/>
            <a:ext cx="10744200" cy="171450"/>
          </a:xfrm>
          <a:prstGeom prst="rect">
            <a:avLst/>
          </a:prstGeom>
          <a:noFill/>
          <a:ln w="0">
            <a:noFill/>
            <a:prstDash val="solid"/>
          </a:ln>
        </p:spPr>
        <p:txBody>
          <a:bodyPr/>
          <a:lstStyle/>
          <a:p>
            <a:pPr>
              <a:defRPr sz="750" b="1">
                <a:solidFill>
                  <a:srgbClr val="008296"/>
                </a:solidFill>
              </a:defRPr>
            </a:pPr>
            <a:r>
              <a:rPr sz="750" b="1">
                <a:solidFill>
                  <a:srgbClr val="008296"/>
                </a:solidFill>
              </a:rPr>
              <a:t>WHEN THE DEALER DOES NOT SUPPORT IDEMPOTENCY</a:t>
            </a:r>
          </a:p>
        </p:txBody>
      </p:sp>
      <p:sp>
        <p:nvSpPr>
          <p:cNvPr id="44" name="dedup-body">
            <a:extLst>
              <a:ext uri="{FF2B5EF4-FFF2-40B4-BE49-F238E27FC236}">
                <a16:creationId xmlns:a16="http://schemas.microsoft.com/office/drawing/2014/main" id="{41C7DF3C-227F-4643-B3E0-BB3AE537AE7F}"/>
              </a:ext>
            </a:extLst>
          </p:cNvPr>
          <p:cNvSpPr>
            <a:spLocks noGrp="1"/>
          </p:cNvSpPr>
          <p:nvPr/>
        </p:nvSpPr>
        <p:spPr>
          <a:xfrm>
            <a:off x="723900" y="5676900"/>
            <a:ext cx="10744200" cy="438150"/>
          </a:xfrm>
          <a:prstGeom prst="rect">
            <a:avLst/>
          </a:prstGeom>
          <a:noFill/>
          <a:ln w="0">
            <a:noFill/>
            <a:prstDash val="solid"/>
          </a:ln>
        </p:spPr>
        <p:txBody>
          <a:bodyPr/>
          <a:lstStyle/>
          <a:p>
            <a:pPr>
              <a:defRPr sz="975" b="1">
                <a:solidFill>
                  <a:srgbClr val="183B56"/>
                </a:solidFill>
              </a:defRPr>
            </a:pPr>
            <a:r>
              <a:rPr sz="975" b="1">
                <a:solidFill>
                  <a:srgbClr val="183B56"/>
                </a:solidFill>
              </a:rPr>
              <a:t>The adapter keeps a durable deduplication ledger and searches by correlation details before retrying. It never blindly repeats an uncertain create.</a:t>
            </a:r>
          </a:p>
        </p:txBody>
      </p:sp>
    </p:spTree>
    <p:extLst>
      <p:ext uri="{BB962C8B-B14F-4D97-AF65-F5344CB8AC3E}">
        <p14:creationId xmlns:p14="http://schemas.microsoft.com/office/powerpoint/2010/main" val="1055651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eyebrow">
            <a:extLst>
              <a:ext uri="{FF2B5EF4-FFF2-40B4-BE49-F238E27FC236}">
                <a16:creationId xmlns:a16="http://schemas.microsoft.com/office/drawing/2014/main" id="{16C9B3C7-08D6-4624-9A37-75ED7A867D6E}"/>
              </a:ext>
            </a:extLst>
          </p:cNvPr>
          <p:cNvSpPr>
            <a:spLocks noGrp="1"/>
          </p:cNvSpPr>
          <p:nvPr/>
        </p:nvSpPr>
        <p:spPr>
          <a:xfrm>
            <a:off x="571500" y="333375"/>
            <a:ext cx="3333750" cy="171450"/>
          </a:xfrm>
          <a:prstGeom prst="rect">
            <a:avLst/>
          </a:prstGeom>
          <a:noFill/>
          <a:ln w="0">
            <a:noFill/>
            <a:prstDash val="solid"/>
          </a:ln>
        </p:spPr>
        <p:txBody>
          <a:bodyPr/>
          <a:lstStyle/>
          <a:p>
            <a:pPr>
              <a:defRPr sz="825" b="1">
                <a:solidFill>
                  <a:srgbClr val="008296"/>
                </a:solidFill>
              </a:defRPr>
            </a:pPr>
            <a:r>
              <a:rPr sz="825" b="1">
                <a:solidFill>
                  <a:srgbClr val="008296"/>
                </a:solidFill>
              </a:rPr>
              <a:t>APPENDIX • UNKNOWN OUTCOME AND RECONCILIATION</a:t>
            </a:r>
          </a:p>
        </p:txBody>
      </p:sp>
      <p:sp>
        <p:nvSpPr>
          <p:cNvPr id="2" name="title">
            <a:extLst>
              <a:ext uri="{FF2B5EF4-FFF2-40B4-BE49-F238E27FC236}">
                <a16:creationId xmlns:a16="http://schemas.microsoft.com/office/drawing/2014/main" id="{C6E18478-CC61-4295-8D7B-20C1A4761AD7}"/>
              </a:ext>
            </a:extLst>
          </p:cNvPr>
          <p:cNvSpPr>
            <a:spLocks noGrp="1"/>
          </p:cNvSpPr>
          <p:nvPr/>
        </p:nvSpPr>
        <p:spPr>
          <a:xfrm>
            <a:off x="571500" y="561975"/>
            <a:ext cx="11049000" cy="409575"/>
          </a:xfrm>
          <a:prstGeom prst="rect">
            <a:avLst/>
          </a:prstGeom>
          <a:noFill/>
          <a:ln w="0">
            <a:noFill/>
            <a:prstDash val="solid"/>
          </a:ln>
        </p:spPr>
        <p:txBody>
          <a:bodyPr/>
          <a:lstStyle/>
          <a:p>
            <a:pPr>
              <a:defRPr sz="2175" b="1">
                <a:solidFill>
                  <a:srgbClr val="183B56"/>
                </a:solidFill>
              </a:defRPr>
            </a:pPr>
            <a:r>
              <a:rPr sz="2175" b="1">
                <a:solidFill>
                  <a:srgbClr val="183B56"/>
                </a:solidFill>
              </a:rPr>
              <a:t>A timeout means “unknown”—the platform verifies, reconciles, and escalates before deciding</a:t>
            </a:r>
          </a:p>
        </p:txBody>
      </p:sp>
      <p:sp>
        <p:nvSpPr>
          <p:cNvPr id="3" name="subtitle">
            <a:extLst>
              <a:ext uri="{FF2B5EF4-FFF2-40B4-BE49-F238E27FC236}">
                <a16:creationId xmlns:a16="http://schemas.microsoft.com/office/drawing/2014/main" id="{4FCA91BF-300B-4E9E-8031-BD3180DD7E3D}"/>
              </a:ext>
            </a:extLst>
          </p:cNvPr>
          <p:cNvSpPr>
            <a:spLocks noGrp="1"/>
          </p:cNvSpPr>
          <p:nvPr/>
        </p:nvSpPr>
        <p:spPr>
          <a:xfrm>
            <a:off x="571500" y="1009650"/>
            <a:ext cx="11049000" cy="228600"/>
          </a:xfrm>
          <a:prstGeom prst="rect">
            <a:avLst/>
          </a:prstGeom>
          <a:noFill/>
          <a:ln w="0">
            <a:noFill/>
            <a:prstDash val="solid"/>
          </a:ln>
        </p:spPr>
        <p:txBody>
          <a:bodyPr/>
          <a:lstStyle/>
          <a:p>
            <a:pPr>
              <a:defRPr sz="1050">
                <a:solidFill>
                  <a:srgbClr val="557086"/>
                </a:solidFill>
              </a:defRPr>
            </a:pPr>
            <a:r>
              <a:rPr sz="1050">
                <a:solidFill>
                  <a:srgbClr val="557086"/>
                </a:solidFill>
              </a:rPr>
              <a:t>The customer sees a pending status; the system neither confirms nor creates a second appointment without evidence.</a:t>
            </a:r>
          </a:p>
        </p:txBody>
      </p:sp>
      <p:sp>
        <p:nvSpPr>
          <p:cNvPr id="4" name="header-rule">
            <a:extLst>
              <a:ext uri="{FF2B5EF4-FFF2-40B4-BE49-F238E27FC236}">
                <a16:creationId xmlns:a16="http://schemas.microsoft.com/office/drawing/2014/main" id="{5BAEC76C-A517-4353-BC8A-AC008EE644CA}"/>
              </a:ext>
            </a:extLst>
          </p:cNvPr>
          <p:cNvSpPr>
            <a:spLocks noGrp="1"/>
          </p:cNvSpPr>
          <p:nvPr/>
        </p:nvSpPr>
        <p:spPr>
          <a:xfrm>
            <a:off x="571500" y="1314450"/>
            <a:ext cx="11049000" cy="19050"/>
          </a:xfrm>
          <a:prstGeom prst="rect">
            <a:avLst/>
          </a:prstGeom>
          <a:solidFill>
            <a:srgbClr val="00A8C6"/>
          </a:solidFill>
          <a:ln w="9525">
            <a:solidFill>
              <a:srgbClr val="00A8C6"/>
            </a:solidFill>
            <a:prstDash val="solid"/>
          </a:ln>
        </p:spPr>
        <p:txBody>
          <a:bodyPr/>
          <a:lstStyle/>
          <a:p>
            <a:endParaRPr lang="en-US"/>
          </a:p>
        </p:txBody>
      </p:sp>
      <p:sp>
        <p:nvSpPr>
          <p:cNvPr id="5" name="footer">
            <a:extLst>
              <a:ext uri="{FF2B5EF4-FFF2-40B4-BE49-F238E27FC236}">
                <a16:creationId xmlns:a16="http://schemas.microsoft.com/office/drawing/2014/main" id="{37680143-28DD-4262-A4B6-2779AAE314E4}"/>
              </a:ext>
            </a:extLst>
          </p:cNvPr>
          <p:cNvSpPr>
            <a:spLocks noGrp="1"/>
          </p:cNvSpPr>
          <p:nvPr/>
        </p:nvSpPr>
        <p:spPr>
          <a:xfrm>
            <a:off x="571500" y="6591300"/>
            <a:ext cx="5715000" cy="133350"/>
          </a:xfrm>
          <a:prstGeom prst="rect">
            <a:avLst/>
          </a:prstGeom>
          <a:noFill/>
          <a:ln w="0">
            <a:noFill/>
            <a:prstDash val="solid"/>
          </a:ln>
        </p:spPr>
        <p:txBody>
          <a:bodyPr/>
          <a:lstStyle/>
          <a:p>
            <a:pPr>
              <a:defRPr sz="638">
                <a:solidFill>
                  <a:srgbClr val="6D8899"/>
                </a:solidFill>
              </a:defRPr>
            </a:pPr>
            <a:r>
              <a:rPr sz="638">
                <a:solidFill>
                  <a:srgbClr val="6D8899"/>
                </a:solidFill>
              </a:rPr>
              <a:t>CLOUD PLATFORM ARCHITECTURE  •  BOOKING CONSISTENCY APPENDIX</a:t>
            </a:r>
          </a:p>
        </p:txBody>
      </p:sp>
      <p:sp>
        <p:nvSpPr>
          <p:cNvPr id="6" name="page">
            <a:extLst>
              <a:ext uri="{FF2B5EF4-FFF2-40B4-BE49-F238E27FC236}">
                <a16:creationId xmlns:a16="http://schemas.microsoft.com/office/drawing/2014/main" id="{9712648B-3088-4D41-816A-84ED66FC0C45}"/>
              </a:ext>
            </a:extLst>
          </p:cNvPr>
          <p:cNvSpPr>
            <a:spLocks noGrp="1"/>
          </p:cNvSpPr>
          <p:nvPr/>
        </p:nvSpPr>
        <p:spPr>
          <a:xfrm>
            <a:off x="11239500" y="6572250"/>
            <a:ext cx="381000" cy="152400"/>
          </a:xfrm>
          <a:prstGeom prst="rect">
            <a:avLst/>
          </a:prstGeom>
          <a:noFill/>
          <a:ln w="0">
            <a:noFill/>
            <a:prstDash val="solid"/>
          </a:ln>
        </p:spPr>
        <p:txBody>
          <a:bodyPr/>
          <a:lstStyle/>
          <a:p>
            <a:pPr algn="r">
              <a:defRPr sz="675" b="1">
                <a:solidFill>
                  <a:srgbClr val="6D8899"/>
                </a:solidFill>
              </a:defRPr>
            </a:pPr>
            <a:r>
              <a:rPr sz="675" b="1">
                <a:solidFill>
                  <a:srgbClr val="6D8899"/>
                </a:solidFill>
              </a:rPr>
              <a:t>A3</a:t>
            </a:r>
          </a:p>
        </p:txBody>
      </p:sp>
      <p:sp>
        <p:nvSpPr>
          <p:cNvPr id="7" name="c1">
            <a:extLst>
              <a:ext uri="{FF2B5EF4-FFF2-40B4-BE49-F238E27FC236}">
                <a16:creationId xmlns:a16="http://schemas.microsoft.com/office/drawing/2014/main" id="{28736984-8EFA-4264-9DCA-1EFE8E3EC284}"/>
              </a:ext>
            </a:extLst>
          </p:cNvPr>
          <p:cNvSpPr>
            <a:spLocks noGrp="1"/>
          </p:cNvSpPr>
          <p:nvPr/>
        </p:nvSpPr>
        <p:spPr>
          <a:xfrm>
            <a:off x="2190750" y="2276475"/>
            <a:ext cx="266700" cy="238125"/>
          </a:xfrm>
          <a:prstGeom prst="chevron">
            <a:avLst/>
          </a:prstGeom>
          <a:solidFill>
            <a:srgbClr val="00A8C6"/>
          </a:solidFill>
          <a:ln w="9525">
            <a:solidFill>
              <a:srgbClr val="00A8C6"/>
            </a:solidFill>
            <a:prstDash val="solid"/>
          </a:ln>
        </p:spPr>
        <p:txBody>
          <a:bodyPr/>
          <a:lstStyle/>
          <a:p>
            <a:endParaRPr lang="en-US"/>
          </a:p>
        </p:txBody>
      </p:sp>
      <p:sp>
        <p:nvSpPr>
          <p:cNvPr id="8" name="c2">
            <a:extLst>
              <a:ext uri="{FF2B5EF4-FFF2-40B4-BE49-F238E27FC236}">
                <a16:creationId xmlns:a16="http://schemas.microsoft.com/office/drawing/2014/main" id="{57B1538B-647A-4EA6-B612-6AE1EA40BDF3}"/>
              </a:ext>
            </a:extLst>
          </p:cNvPr>
          <p:cNvSpPr>
            <a:spLocks noGrp="1"/>
          </p:cNvSpPr>
          <p:nvPr/>
        </p:nvSpPr>
        <p:spPr>
          <a:xfrm>
            <a:off x="4076700" y="2276475"/>
            <a:ext cx="266700" cy="238125"/>
          </a:xfrm>
          <a:prstGeom prst="chevron">
            <a:avLst/>
          </a:prstGeom>
          <a:solidFill>
            <a:srgbClr val="00A8C6"/>
          </a:solidFill>
          <a:ln w="9525">
            <a:solidFill>
              <a:srgbClr val="00A8C6"/>
            </a:solidFill>
            <a:prstDash val="solid"/>
          </a:ln>
        </p:spPr>
        <p:txBody>
          <a:bodyPr/>
          <a:lstStyle/>
          <a:p>
            <a:endParaRPr lang="en-US"/>
          </a:p>
        </p:txBody>
      </p:sp>
      <p:sp>
        <p:nvSpPr>
          <p:cNvPr id="9" name="c3">
            <a:extLst>
              <a:ext uri="{FF2B5EF4-FFF2-40B4-BE49-F238E27FC236}">
                <a16:creationId xmlns:a16="http://schemas.microsoft.com/office/drawing/2014/main" id="{B93E9323-6C57-4EDD-A341-2BB2E25D834E}"/>
              </a:ext>
            </a:extLst>
          </p:cNvPr>
          <p:cNvSpPr>
            <a:spLocks noGrp="1"/>
          </p:cNvSpPr>
          <p:nvPr/>
        </p:nvSpPr>
        <p:spPr>
          <a:xfrm>
            <a:off x="5962650" y="2276475"/>
            <a:ext cx="266700" cy="238125"/>
          </a:xfrm>
          <a:prstGeom prst="chevron">
            <a:avLst/>
          </a:prstGeom>
          <a:solidFill>
            <a:srgbClr val="00A8C6"/>
          </a:solidFill>
          <a:ln w="9525">
            <a:solidFill>
              <a:srgbClr val="00A8C6"/>
            </a:solidFill>
            <a:prstDash val="solid"/>
          </a:ln>
        </p:spPr>
        <p:txBody>
          <a:bodyPr/>
          <a:lstStyle/>
          <a:p>
            <a:endParaRPr lang="en-US"/>
          </a:p>
        </p:txBody>
      </p:sp>
      <p:sp>
        <p:nvSpPr>
          <p:cNvPr id="10" name="c4">
            <a:extLst>
              <a:ext uri="{FF2B5EF4-FFF2-40B4-BE49-F238E27FC236}">
                <a16:creationId xmlns:a16="http://schemas.microsoft.com/office/drawing/2014/main" id="{5294D6A9-BA1F-4A87-A7DE-26FE9FE4DEEC}"/>
              </a:ext>
            </a:extLst>
          </p:cNvPr>
          <p:cNvSpPr>
            <a:spLocks noGrp="1"/>
          </p:cNvSpPr>
          <p:nvPr/>
        </p:nvSpPr>
        <p:spPr>
          <a:xfrm>
            <a:off x="7848600" y="2276475"/>
            <a:ext cx="266700" cy="238125"/>
          </a:xfrm>
          <a:prstGeom prst="chevron">
            <a:avLst/>
          </a:prstGeom>
          <a:solidFill>
            <a:srgbClr val="00A8C6"/>
          </a:solidFill>
          <a:ln w="9525">
            <a:solidFill>
              <a:srgbClr val="00A8C6"/>
            </a:solidFill>
            <a:prstDash val="solid"/>
          </a:ln>
        </p:spPr>
        <p:txBody>
          <a:bodyPr/>
          <a:lstStyle/>
          <a:p>
            <a:endParaRPr lang="en-US"/>
          </a:p>
        </p:txBody>
      </p:sp>
      <p:sp>
        <p:nvSpPr>
          <p:cNvPr id="11" name="c5">
            <a:extLst>
              <a:ext uri="{FF2B5EF4-FFF2-40B4-BE49-F238E27FC236}">
                <a16:creationId xmlns:a16="http://schemas.microsoft.com/office/drawing/2014/main" id="{8097124D-00F7-4640-8DF2-77AFF4C6026A}"/>
              </a:ext>
            </a:extLst>
          </p:cNvPr>
          <p:cNvSpPr>
            <a:spLocks noGrp="1"/>
          </p:cNvSpPr>
          <p:nvPr/>
        </p:nvSpPr>
        <p:spPr>
          <a:xfrm>
            <a:off x="9734550" y="2276475"/>
            <a:ext cx="266700" cy="238125"/>
          </a:xfrm>
          <a:prstGeom prst="chevron">
            <a:avLst/>
          </a:prstGeom>
          <a:solidFill>
            <a:srgbClr val="00A8C6"/>
          </a:solidFill>
          <a:ln w="9525">
            <a:solidFill>
              <a:srgbClr val="00A8C6"/>
            </a:solidFill>
            <a:prstDash val="solid"/>
          </a:ln>
        </p:spPr>
        <p:txBody>
          <a:bodyPr/>
          <a:lstStyle/>
          <a:p>
            <a:endParaRPr lang="en-US"/>
          </a:p>
        </p:txBody>
      </p:sp>
      <p:sp>
        <p:nvSpPr>
          <p:cNvPr id="12" name="pending-shape">
            <a:extLst>
              <a:ext uri="{FF2B5EF4-FFF2-40B4-BE49-F238E27FC236}">
                <a16:creationId xmlns:a16="http://schemas.microsoft.com/office/drawing/2014/main" id="{89C79A88-EC47-4808-A523-D28E20D22428}"/>
              </a:ext>
            </a:extLst>
          </p:cNvPr>
          <p:cNvSpPr>
            <a:spLocks noGrp="1"/>
          </p:cNvSpPr>
          <p:nvPr/>
        </p:nvSpPr>
        <p:spPr>
          <a:xfrm>
            <a:off x="571500" y="1809750"/>
            <a:ext cx="1619250" cy="1181100"/>
          </a:xfrm>
          <a:prstGeom prst="roundRect">
            <a:avLst>
              <a:gd name="adj" fmla="val 6452"/>
            </a:avLst>
          </a:prstGeom>
          <a:solidFill>
            <a:srgbClr val="FFFFFF"/>
          </a:solidFill>
          <a:ln w="9525">
            <a:solidFill>
              <a:srgbClr val="B8CEDA"/>
            </a:solidFill>
            <a:prstDash val="solid"/>
          </a:ln>
        </p:spPr>
        <p:txBody>
          <a:bodyPr/>
          <a:lstStyle/>
          <a:p>
            <a:endParaRPr lang="en-US"/>
          </a:p>
        </p:txBody>
      </p:sp>
      <p:sp>
        <p:nvSpPr>
          <p:cNvPr id="13" name="pending-cap">
            <a:extLst>
              <a:ext uri="{FF2B5EF4-FFF2-40B4-BE49-F238E27FC236}">
                <a16:creationId xmlns:a16="http://schemas.microsoft.com/office/drawing/2014/main" id="{A9F467CC-1A0B-46A4-823A-3278496250CF}"/>
              </a:ext>
            </a:extLst>
          </p:cNvPr>
          <p:cNvSpPr>
            <a:spLocks noGrp="1"/>
          </p:cNvSpPr>
          <p:nvPr/>
        </p:nvSpPr>
        <p:spPr>
          <a:xfrm>
            <a:off x="571500" y="1809750"/>
            <a:ext cx="1619250" cy="76200"/>
          </a:xfrm>
          <a:prstGeom prst="rect">
            <a:avLst/>
          </a:prstGeom>
          <a:solidFill>
            <a:srgbClr val="00A8C6"/>
          </a:solidFill>
          <a:ln w="9525">
            <a:solidFill>
              <a:srgbClr val="00A8C6"/>
            </a:solidFill>
            <a:prstDash val="solid"/>
          </a:ln>
        </p:spPr>
        <p:txBody>
          <a:bodyPr/>
          <a:lstStyle/>
          <a:p>
            <a:endParaRPr lang="en-US"/>
          </a:p>
        </p:txBody>
      </p:sp>
      <p:sp>
        <p:nvSpPr>
          <p:cNvPr id="14" name="pending-title">
            <a:extLst>
              <a:ext uri="{FF2B5EF4-FFF2-40B4-BE49-F238E27FC236}">
                <a16:creationId xmlns:a16="http://schemas.microsoft.com/office/drawing/2014/main" id="{1B601B6B-5989-4F96-AD17-9012C0C7D03C}"/>
              </a:ext>
            </a:extLst>
          </p:cNvPr>
          <p:cNvSpPr>
            <a:spLocks noGrp="1"/>
          </p:cNvSpPr>
          <p:nvPr/>
        </p:nvSpPr>
        <p:spPr>
          <a:xfrm>
            <a:off x="666750" y="2085975"/>
            <a:ext cx="142875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PENDING</a:t>
            </a:r>
          </a:p>
        </p:txBody>
      </p:sp>
      <p:sp>
        <p:nvSpPr>
          <p:cNvPr id="15" name="pending-detail">
            <a:extLst>
              <a:ext uri="{FF2B5EF4-FFF2-40B4-BE49-F238E27FC236}">
                <a16:creationId xmlns:a16="http://schemas.microsoft.com/office/drawing/2014/main" id="{D56CEA4F-8D6E-41EB-947A-83D2390C64CD}"/>
              </a:ext>
            </a:extLst>
          </p:cNvPr>
          <p:cNvSpPr>
            <a:spLocks noGrp="1"/>
          </p:cNvSpPr>
          <p:nvPr/>
        </p:nvSpPr>
        <p:spPr>
          <a:xfrm>
            <a:off x="666750" y="2400300"/>
            <a:ext cx="1428750" cy="342900"/>
          </a:xfrm>
          <a:prstGeom prst="rect">
            <a:avLst/>
          </a:prstGeom>
          <a:noFill/>
          <a:ln w="0">
            <a:noFill/>
            <a:prstDash val="solid"/>
          </a:ln>
        </p:spPr>
        <p:txBody>
          <a:bodyPr/>
          <a:lstStyle/>
          <a:p>
            <a:pPr algn="ctr">
              <a:defRPr sz="863">
                <a:solidFill>
                  <a:srgbClr val="46657A"/>
                </a:solidFill>
              </a:defRPr>
            </a:pPr>
            <a:r>
              <a:rPr sz="863">
                <a:solidFill>
                  <a:srgbClr val="46657A"/>
                </a:solidFill>
              </a:rPr>
              <a:t>Intent stored</a:t>
            </a:r>
          </a:p>
        </p:txBody>
      </p:sp>
      <p:sp>
        <p:nvSpPr>
          <p:cNvPr id="16" name="sent-shape">
            <a:extLst>
              <a:ext uri="{FF2B5EF4-FFF2-40B4-BE49-F238E27FC236}">
                <a16:creationId xmlns:a16="http://schemas.microsoft.com/office/drawing/2014/main" id="{F31402B9-A024-4BF1-B2CA-5FF9B42471A8}"/>
              </a:ext>
            </a:extLst>
          </p:cNvPr>
          <p:cNvSpPr>
            <a:spLocks noGrp="1"/>
          </p:cNvSpPr>
          <p:nvPr/>
        </p:nvSpPr>
        <p:spPr>
          <a:xfrm>
            <a:off x="2457450" y="1809750"/>
            <a:ext cx="1619250" cy="1181100"/>
          </a:xfrm>
          <a:prstGeom prst="roundRect">
            <a:avLst>
              <a:gd name="adj" fmla="val 6452"/>
            </a:avLst>
          </a:prstGeom>
          <a:solidFill>
            <a:srgbClr val="FFFFFF"/>
          </a:solidFill>
          <a:ln w="9525">
            <a:solidFill>
              <a:srgbClr val="B8CEDA"/>
            </a:solidFill>
            <a:prstDash val="solid"/>
          </a:ln>
        </p:spPr>
        <p:txBody>
          <a:bodyPr/>
          <a:lstStyle/>
          <a:p>
            <a:endParaRPr lang="en-US"/>
          </a:p>
        </p:txBody>
      </p:sp>
      <p:sp>
        <p:nvSpPr>
          <p:cNvPr id="17" name="sent-cap">
            <a:extLst>
              <a:ext uri="{FF2B5EF4-FFF2-40B4-BE49-F238E27FC236}">
                <a16:creationId xmlns:a16="http://schemas.microsoft.com/office/drawing/2014/main" id="{3EEBF2FF-2448-40D5-AA84-E6E44D0EEDD6}"/>
              </a:ext>
            </a:extLst>
          </p:cNvPr>
          <p:cNvSpPr>
            <a:spLocks noGrp="1"/>
          </p:cNvSpPr>
          <p:nvPr/>
        </p:nvSpPr>
        <p:spPr>
          <a:xfrm>
            <a:off x="2457450" y="1809750"/>
            <a:ext cx="1619250" cy="76200"/>
          </a:xfrm>
          <a:prstGeom prst="rect">
            <a:avLst/>
          </a:prstGeom>
          <a:solidFill>
            <a:srgbClr val="6F42C1"/>
          </a:solidFill>
          <a:ln w="9525">
            <a:solidFill>
              <a:srgbClr val="6F42C1"/>
            </a:solidFill>
            <a:prstDash val="solid"/>
          </a:ln>
        </p:spPr>
        <p:txBody>
          <a:bodyPr/>
          <a:lstStyle/>
          <a:p>
            <a:endParaRPr lang="en-US"/>
          </a:p>
        </p:txBody>
      </p:sp>
      <p:sp>
        <p:nvSpPr>
          <p:cNvPr id="18" name="sent-title">
            <a:extLst>
              <a:ext uri="{FF2B5EF4-FFF2-40B4-BE49-F238E27FC236}">
                <a16:creationId xmlns:a16="http://schemas.microsoft.com/office/drawing/2014/main" id="{7AF3F920-F62F-411D-8882-6CBF1FB06813}"/>
              </a:ext>
            </a:extLst>
          </p:cNvPr>
          <p:cNvSpPr>
            <a:spLocks noGrp="1"/>
          </p:cNvSpPr>
          <p:nvPr/>
        </p:nvSpPr>
        <p:spPr>
          <a:xfrm>
            <a:off x="2552700" y="2085975"/>
            <a:ext cx="142875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SENT</a:t>
            </a:r>
          </a:p>
        </p:txBody>
      </p:sp>
      <p:sp>
        <p:nvSpPr>
          <p:cNvPr id="19" name="sent-detail">
            <a:extLst>
              <a:ext uri="{FF2B5EF4-FFF2-40B4-BE49-F238E27FC236}">
                <a16:creationId xmlns:a16="http://schemas.microsoft.com/office/drawing/2014/main" id="{7D6CAD75-3C84-4139-8AC1-C9CAB0320548}"/>
              </a:ext>
            </a:extLst>
          </p:cNvPr>
          <p:cNvSpPr>
            <a:spLocks noGrp="1"/>
          </p:cNvSpPr>
          <p:nvPr/>
        </p:nvSpPr>
        <p:spPr>
          <a:xfrm>
            <a:off x="2552700" y="2400300"/>
            <a:ext cx="1428750" cy="342900"/>
          </a:xfrm>
          <a:prstGeom prst="rect">
            <a:avLst/>
          </a:prstGeom>
          <a:noFill/>
          <a:ln w="0">
            <a:noFill/>
            <a:prstDash val="solid"/>
          </a:ln>
        </p:spPr>
        <p:txBody>
          <a:bodyPr/>
          <a:lstStyle/>
          <a:p>
            <a:pPr algn="ctr">
              <a:defRPr sz="863">
                <a:solidFill>
                  <a:srgbClr val="46657A"/>
                </a:solidFill>
              </a:defRPr>
            </a:pPr>
            <a:r>
              <a:rPr sz="863">
                <a:solidFill>
                  <a:srgbClr val="46657A"/>
                </a:solidFill>
              </a:rPr>
              <a:t>Dealer called</a:t>
            </a:r>
          </a:p>
        </p:txBody>
      </p:sp>
      <p:sp>
        <p:nvSpPr>
          <p:cNvPr id="20" name="unknown-shape">
            <a:extLst>
              <a:ext uri="{FF2B5EF4-FFF2-40B4-BE49-F238E27FC236}">
                <a16:creationId xmlns:a16="http://schemas.microsoft.com/office/drawing/2014/main" id="{7B4EE857-4DE8-4CBA-9A5F-2C0302F505B1}"/>
              </a:ext>
            </a:extLst>
          </p:cNvPr>
          <p:cNvSpPr>
            <a:spLocks noGrp="1"/>
          </p:cNvSpPr>
          <p:nvPr/>
        </p:nvSpPr>
        <p:spPr>
          <a:xfrm>
            <a:off x="4343400" y="1809750"/>
            <a:ext cx="1619250" cy="1181100"/>
          </a:xfrm>
          <a:prstGeom prst="roundRect">
            <a:avLst>
              <a:gd name="adj" fmla="val 6452"/>
            </a:avLst>
          </a:prstGeom>
          <a:solidFill>
            <a:srgbClr val="FFFFFF"/>
          </a:solidFill>
          <a:ln w="9525">
            <a:solidFill>
              <a:srgbClr val="B8CEDA"/>
            </a:solidFill>
            <a:prstDash val="solid"/>
          </a:ln>
        </p:spPr>
        <p:txBody>
          <a:bodyPr/>
          <a:lstStyle/>
          <a:p>
            <a:endParaRPr lang="en-US"/>
          </a:p>
        </p:txBody>
      </p:sp>
      <p:sp>
        <p:nvSpPr>
          <p:cNvPr id="21" name="unknown-cap">
            <a:extLst>
              <a:ext uri="{FF2B5EF4-FFF2-40B4-BE49-F238E27FC236}">
                <a16:creationId xmlns:a16="http://schemas.microsoft.com/office/drawing/2014/main" id="{F3F78E20-1A7A-49B8-A3F3-62339374C0E6}"/>
              </a:ext>
            </a:extLst>
          </p:cNvPr>
          <p:cNvSpPr>
            <a:spLocks noGrp="1"/>
          </p:cNvSpPr>
          <p:nvPr/>
        </p:nvSpPr>
        <p:spPr>
          <a:xfrm>
            <a:off x="4343400" y="1809750"/>
            <a:ext cx="1619250" cy="76200"/>
          </a:xfrm>
          <a:prstGeom prst="rect">
            <a:avLst/>
          </a:prstGeom>
          <a:solidFill>
            <a:srgbClr val="D97706"/>
          </a:solidFill>
          <a:ln w="9525">
            <a:solidFill>
              <a:srgbClr val="D97706"/>
            </a:solidFill>
            <a:prstDash val="solid"/>
          </a:ln>
        </p:spPr>
        <p:txBody>
          <a:bodyPr/>
          <a:lstStyle/>
          <a:p>
            <a:endParaRPr lang="en-US"/>
          </a:p>
        </p:txBody>
      </p:sp>
      <p:sp>
        <p:nvSpPr>
          <p:cNvPr id="22" name="unknown-title">
            <a:extLst>
              <a:ext uri="{FF2B5EF4-FFF2-40B4-BE49-F238E27FC236}">
                <a16:creationId xmlns:a16="http://schemas.microsoft.com/office/drawing/2014/main" id="{3265C82F-8185-436D-9F7C-F172707EB4CD}"/>
              </a:ext>
            </a:extLst>
          </p:cNvPr>
          <p:cNvSpPr>
            <a:spLocks noGrp="1"/>
          </p:cNvSpPr>
          <p:nvPr/>
        </p:nvSpPr>
        <p:spPr>
          <a:xfrm>
            <a:off x="4438650" y="2085975"/>
            <a:ext cx="142875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UNKNOWN</a:t>
            </a:r>
          </a:p>
        </p:txBody>
      </p:sp>
      <p:sp>
        <p:nvSpPr>
          <p:cNvPr id="23" name="unknown-detail">
            <a:extLst>
              <a:ext uri="{FF2B5EF4-FFF2-40B4-BE49-F238E27FC236}">
                <a16:creationId xmlns:a16="http://schemas.microsoft.com/office/drawing/2014/main" id="{33795029-46F6-473E-A729-B6600DF9DD16}"/>
              </a:ext>
            </a:extLst>
          </p:cNvPr>
          <p:cNvSpPr>
            <a:spLocks noGrp="1"/>
          </p:cNvSpPr>
          <p:nvPr/>
        </p:nvSpPr>
        <p:spPr>
          <a:xfrm>
            <a:off x="4438650" y="2400300"/>
            <a:ext cx="1428750" cy="342900"/>
          </a:xfrm>
          <a:prstGeom prst="rect">
            <a:avLst/>
          </a:prstGeom>
          <a:noFill/>
          <a:ln w="0">
            <a:noFill/>
            <a:prstDash val="solid"/>
          </a:ln>
        </p:spPr>
        <p:txBody>
          <a:bodyPr/>
          <a:lstStyle/>
          <a:p>
            <a:pPr algn="ctr">
              <a:defRPr sz="863">
                <a:solidFill>
                  <a:srgbClr val="46657A"/>
                </a:solidFill>
              </a:defRPr>
            </a:pPr>
            <a:r>
              <a:rPr sz="863">
                <a:solidFill>
                  <a:srgbClr val="46657A"/>
                </a:solidFill>
              </a:rPr>
              <a:t>Timeout / lost response</a:t>
            </a:r>
          </a:p>
        </p:txBody>
      </p:sp>
      <p:sp>
        <p:nvSpPr>
          <p:cNvPr id="24" name="query-shape">
            <a:extLst>
              <a:ext uri="{FF2B5EF4-FFF2-40B4-BE49-F238E27FC236}">
                <a16:creationId xmlns:a16="http://schemas.microsoft.com/office/drawing/2014/main" id="{DDEC45E0-A135-4359-8D21-CC7897967AF7}"/>
              </a:ext>
            </a:extLst>
          </p:cNvPr>
          <p:cNvSpPr>
            <a:spLocks noGrp="1"/>
          </p:cNvSpPr>
          <p:nvPr/>
        </p:nvSpPr>
        <p:spPr>
          <a:xfrm>
            <a:off x="6229350" y="1809750"/>
            <a:ext cx="1619250" cy="1181100"/>
          </a:xfrm>
          <a:prstGeom prst="roundRect">
            <a:avLst>
              <a:gd name="adj" fmla="val 6452"/>
            </a:avLst>
          </a:prstGeom>
          <a:solidFill>
            <a:srgbClr val="FFFFFF"/>
          </a:solidFill>
          <a:ln w="9525">
            <a:solidFill>
              <a:srgbClr val="B8CEDA"/>
            </a:solidFill>
            <a:prstDash val="solid"/>
          </a:ln>
        </p:spPr>
        <p:txBody>
          <a:bodyPr/>
          <a:lstStyle/>
          <a:p>
            <a:endParaRPr lang="en-US"/>
          </a:p>
        </p:txBody>
      </p:sp>
      <p:sp>
        <p:nvSpPr>
          <p:cNvPr id="25" name="query-cap">
            <a:extLst>
              <a:ext uri="{FF2B5EF4-FFF2-40B4-BE49-F238E27FC236}">
                <a16:creationId xmlns:a16="http://schemas.microsoft.com/office/drawing/2014/main" id="{89BE896C-3C7D-4EB4-9BAB-713058CFE68B}"/>
              </a:ext>
            </a:extLst>
          </p:cNvPr>
          <p:cNvSpPr>
            <a:spLocks noGrp="1"/>
          </p:cNvSpPr>
          <p:nvPr/>
        </p:nvSpPr>
        <p:spPr>
          <a:xfrm>
            <a:off x="6229350" y="1809750"/>
            <a:ext cx="1619250" cy="76200"/>
          </a:xfrm>
          <a:prstGeom prst="rect">
            <a:avLst/>
          </a:prstGeom>
          <a:solidFill>
            <a:srgbClr val="008296"/>
          </a:solidFill>
          <a:ln w="9525">
            <a:solidFill>
              <a:srgbClr val="008296"/>
            </a:solidFill>
            <a:prstDash val="solid"/>
          </a:ln>
        </p:spPr>
        <p:txBody>
          <a:bodyPr/>
          <a:lstStyle/>
          <a:p>
            <a:endParaRPr lang="en-US"/>
          </a:p>
        </p:txBody>
      </p:sp>
      <p:sp>
        <p:nvSpPr>
          <p:cNvPr id="26" name="query-title">
            <a:extLst>
              <a:ext uri="{FF2B5EF4-FFF2-40B4-BE49-F238E27FC236}">
                <a16:creationId xmlns:a16="http://schemas.microsoft.com/office/drawing/2014/main" id="{2C442A7A-B2D3-4D7D-9ACD-CA0301CE4A4D}"/>
              </a:ext>
            </a:extLst>
          </p:cNvPr>
          <p:cNvSpPr>
            <a:spLocks noGrp="1"/>
          </p:cNvSpPr>
          <p:nvPr/>
        </p:nvSpPr>
        <p:spPr>
          <a:xfrm>
            <a:off x="6324600" y="2085975"/>
            <a:ext cx="142875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RECONCILE</a:t>
            </a:r>
          </a:p>
        </p:txBody>
      </p:sp>
      <p:sp>
        <p:nvSpPr>
          <p:cNvPr id="27" name="query-detail">
            <a:extLst>
              <a:ext uri="{FF2B5EF4-FFF2-40B4-BE49-F238E27FC236}">
                <a16:creationId xmlns:a16="http://schemas.microsoft.com/office/drawing/2014/main" id="{3DA1FA93-2D70-4D2F-91F2-5944265803E3}"/>
              </a:ext>
            </a:extLst>
          </p:cNvPr>
          <p:cNvSpPr>
            <a:spLocks noGrp="1"/>
          </p:cNvSpPr>
          <p:nvPr/>
        </p:nvSpPr>
        <p:spPr>
          <a:xfrm>
            <a:off x="6324600" y="2400300"/>
            <a:ext cx="1428750" cy="342900"/>
          </a:xfrm>
          <a:prstGeom prst="rect">
            <a:avLst/>
          </a:prstGeom>
          <a:noFill/>
          <a:ln w="0">
            <a:noFill/>
            <a:prstDash val="solid"/>
          </a:ln>
        </p:spPr>
        <p:txBody>
          <a:bodyPr/>
          <a:lstStyle/>
          <a:p>
            <a:pPr algn="ctr">
              <a:defRPr sz="863">
                <a:solidFill>
                  <a:srgbClr val="46657A"/>
                </a:solidFill>
              </a:defRPr>
            </a:pPr>
            <a:r>
              <a:rPr sz="863">
                <a:solidFill>
                  <a:srgbClr val="46657A"/>
                </a:solidFill>
              </a:rPr>
              <a:t>Query by key, VIN, time</a:t>
            </a:r>
          </a:p>
        </p:txBody>
      </p:sp>
      <p:sp>
        <p:nvSpPr>
          <p:cNvPr id="28" name="decide-shape">
            <a:extLst>
              <a:ext uri="{FF2B5EF4-FFF2-40B4-BE49-F238E27FC236}">
                <a16:creationId xmlns:a16="http://schemas.microsoft.com/office/drawing/2014/main" id="{269C98CC-D471-419F-A436-775A9CAB9219}"/>
              </a:ext>
            </a:extLst>
          </p:cNvPr>
          <p:cNvSpPr>
            <a:spLocks noGrp="1"/>
          </p:cNvSpPr>
          <p:nvPr/>
        </p:nvSpPr>
        <p:spPr>
          <a:xfrm>
            <a:off x="8115300" y="1809750"/>
            <a:ext cx="1619250" cy="1181100"/>
          </a:xfrm>
          <a:prstGeom prst="roundRect">
            <a:avLst>
              <a:gd name="adj" fmla="val 6452"/>
            </a:avLst>
          </a:prstGeom>
          <a:solidFill>
            <a:srgbClr val="FFFFFF"/>
          </a:solidFill>
          <a:ln w="9525">
            <a:solidFill>
              <a:srgbClr val="B8CEDA"/>
            </a:solidFill>
            <a:prstDash val="solid"/>
          </a:ln>
        </p:spPr>
        <p:txBody>
          <a:bodyPr/>
          <a:lstStyle/>
          <a:p>
            <a:endParaRPr lang="en-US"/>
          </a:p>
        </p:txBody>
      </p:sp>
      <p:sp>
        <p:nvSpPr>
          <p:cNvPr id="29" name="decide-cap">
            <a:extLst>
              <a:ext uri="{FF2B5EF4-FFF2-40B4-BE49-F238E27FC236}">
                <a16:creationId xmlns:a16="http://schemas.microsoft.com/office/drawing/2014/main" id="{88E2601C-E94F-4E47-9178-B679DB4401BF}"/>
              </a:ext>
            </a:extLst>
          </p:cNvPr>
          <p:cNvSpPr>
            <a:spLocks noGrp="1"/>
          </p:cNvSpPr>
          <p:nvPr/>
        </p:nvSpPr>
        <p:spPr>
          <a:xfrm>
            <a:off x="8115300" y="1809750"/>
            <a:ext cx="1619250" cy="76200"/>
          </a:xfrm>
          <a:prstGeom prst="rect">
            <a:avLst/>
          </a:prstGeom>
          <a:solidFill>
            <a:srgbClr val="2E8B57"/>
          </a:solidFill>
          <a:ln w="9525">
            <a:solidFill>
              <a:srgbClr val="2E8B57"/>
            </a:solidFill>
            <a:prstDash val="solid"/>
          </a:ln>
        </p:spPr>
        <p:txBody>
          <a:bodyPr/>
          <a:lstStyle/>
          <a:p>
            <a:endParaRPr lang="en-US"/>
          </a:p>
        </p:txBody>
      </p:sp>
      <p:sp>
        <p:nvSpPr>
          <p:cNvPr id="30" name="decide-title">
            <a:extLst>
              <a:ext uri="{FF2B5EF4-FFF2-40B4-BE49-F238E27FC236}">
                <a16:creationId xmlns:a16="http://schemas.microsoft.com/office/drawing/2014/main" id="{CB825D30-5C25-408B-8006-B0B8DAC3F43E}"/>
              </a:ext>
            </a:extLst>
          </p:cNvPr>
          <p:cNvSpPr>
            <a:spLocks noGrp="1"/>
          </p:cNvSpPr>
          <p:nvPr/>
        </p:nvSpPr>
        <p:spPr>
          <a:xfrm>
            <a:off x="8210550" y="2085975"/>
            <a:ext cx="142875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DECIDE</a:t>
            </a:r>
          </a:p>
        </p:txBody>
      </p:sp>
      <p:sp>
        <p:nvSpPr>
          <p:cNvPr id="31" name="decide-detail">
            <a:extLst>
              <a:ext uri="{FF2B5EF4-FFF2-40B4-BE49-F238E27FC236}">
                <a16:creationId xmlns:a16="http://schemas.microsoft.com/office/drawing/2014/main" id="{7C474192-634B-4F72-A996-99B91B2E472B}"/>
              </a:ext>
            </a:extLst>
          </p:cNvPr>
          <p:cNvSpPr>
            <a:spLocks noGrp="1"/>
          </p:cNvSpPr>
          <p:nvPr/>
        </p:nvSpPr>
        <p:spPr>
          <a:xfrm>
            <a:off x="8210550" y="2400300"/>
            <a:ext cx="1428750" cy="342900"/>
          </a:xfrm>
          <a:prstGeom prst="rect">
            <a:avLst/>
          </a:prstGeom>
          <a:noFill/>
          <a:ln w="0">
            <a:noFill/>
            <a:prstDash val="solid"/>
          </a:ln>
        </p:spPr>
        <p:txBody>
          <a:bodyPr/>
          <a:lstStyle/>
          <a:p>
            <a:pPr algn="ctr">
              <a:defRPr sz="863">
                <a:solidFill>
                  <a:srgbClr val="46657A"/>
                </a:solidFill>
              </a:defRPr>
            </a:pPr>
            <a:r>
              <a:rPr sz="863">
                <a:solidFill>
                  <a:srgbClr val="46657A"/>
                </a:solidFill>
              </a:rPr>
              <a:t>Evidence-based outcome</a:t>
            </a:r>
          </a:p>
        </p:txBody>
      </p:sp>
      <p:sp>
        <p:nvSpPr>
          <p:cNvPr id="32" name="notify-shape">
            <a:extLst>
              <a:ext uri="{FF2B5EF4-FFF2-40B4-BE49-F238E27FC236}">
                <a16:creationId xmlns:a16="http://schemas.microsoft.com/office/drawing/2014/main" id="{5AE7B8B7-0D5F-4AF8-9F6A-B310DCA5FAD8}"/>
              </a:ext>
            </a:extLst>
          </p:cNvPr>
          <p:cNvSpPr>
            <a:spLocks noGrp="1"/>
          </p:cNvSpPr>
          <p:nvPr/>
        </p:nvSpPr>
        <p:spPr>
          <a:xfrm>
            <a:off x="10001250" y="1809750"/>
            <a:ext cx="1619250" cy="1181100"/>
          </a:xfrm>
          <a:prstGeom prst="roundRect">
            <a:avLst>
              <a:gd name="adj" fmla="val 6452"/>
            </a:avLst>
          </a:prstGeom>
          <a:solidFill>
            <a:srgbClr val="FFFFFF"/>
          </a:solidFill>
          <a:ln w="9525">
            <a:solidFill>
              <a:srgbClr val="B8CEDA"/>
            </a:solidFill>
            <a:prstDash val="solid"/>
          </a:ln>
        </p:spPr>
        <p:txBody>
          <a:bodyPr/>
          <a:lstStyle/>
          <a:p>
            <a:endParaRPr lang="en-US"/>
          </a:p>
        </p:txBody>
      </p:sp>
      <p:sp>
        <p:nvSpPr>
          <p:cNvPr id="33" name="notify-cap">
            <a:extLst>
              <a:ext uri="{FF2B5EF4-FFF2-40B4-BE49-F238E27FC236}">
                <a16:creationId xmlns:a16="http://schemas.microsoft.com/office/drawing/2014/main" id="{5E5D0743-8B3D-457C-8EDA-5C584463F11A}"/>
              </a:ext>
            </a:extLst>
          </p:cNvPr>
          <p:cNvSpPr>
            <a:spLocks noGrp="1"/>
          </p:cNvSpPr>
          <p:nvPr/>
        </p:nvSpPr>
        <p:spPr>
          <a:xfrm>
            <a:off x="10001250" y="1809750"/>
            <a:ext cx="1619250" cy="76200"/>
          </a:xfrm>
          <a:prstGeom prst="rect">
            <a:avLst/>
          </a:prstGeom>
          <a:solidFill>
            <a:srgbClr val="2E8B57"/>
          </a:solidFill>
          <a:ln w="9525">
            <a:solidFill>
              <a:srgbClr val="2E8B57"/>
            </a:solidFill>
            <a:prstDash val="solid"/>
          </a:ln>
        </p:spPr>
        <p:txBody>
          <a:bodyPr/>
          <a:lstStyle/>
          <a:p>
            <a:endParaRPr lang="en-US"/>
          </a:p>
        </p:txBody>
      </p:sp>
      <p:sp>
        <p:nvSpPr>
          <p:cNvPr id="34" name="notify-title">
            <a:extLst>
              <a:ext uri="{FF2B5EF4-FFF2-40B4-BE49-F238E27FC236}">
                <a16:creationId xmlns:a16="http://schemas.microsoft.com/office/drawing/2014/main" id="{27CC94D8-9CCA-4724-B7AE-AD62E86646CE}"/>
              </a:ext>
            </a:extLst>
          </p:cNvPr>
          <p:cNvSpPr>
            <a:spLocks noGrp="1"/>
          </p:cNvSpPr>
          <p:nvPr/>
        </p:nvSpPr>
        <p:spPr>
          <a:xfrm>
            <a:off x="10096500" y="2085975"/>
            <a:ext cx="1428750" cy="209550"/>
          </a:xfrm>
          <a:prstGeom prst="rect">
            <a:avLst/>
          </a:prstGeom>
          <a:noFill/>
          <a:ln w="0">
            <a:noFill/>
            <a:prstDash val="solid"/>
          </a:ln>
        </p:spPr>
        <p:txBody>
          <a:bodyPr/>
          <a:lstStyle/>
          <a:p>
            <a:pPr algn="ctr">
              <a:defRPr sz="1050" b="1">
                <a:solidFill>
                  <a:srgbClr val="183B56"/>
                </a:solidFill>
              </a:defRPr>
            </a:pPr>
            <a:r>
              <a:rPr sz="1050" b="1">
                <a:solidFill>
                  <a:srgbClr val="183B56"/>
                </a:solidFill>
              </a:rPr>
              <a:t>NOTIFY</a:t>
            </a:r>
          </a:p>
        </p:txBody>
      </p:sp>
      <p:sp>
        <p:nvSpPr>
          <p:cNvPr id="35" name="notify-detail">
            <a:extLst>
              <a:ext uri="{FF2B5EF4-FFF2-40B4-BE49-F238E27FC236}">
                <a16:creationId xmlns:a16="http://schemas.microsoft.com/office/drawing/2014/main" id="{64407AE1-0B3E-440C-B499-CBF1B56CB560}"/>
              </a:ext>
            </a:extLst>
          </p:cNvPr>
          <p:cNvSpPr>
            <a:spLocks noGrp="1"/>
          </p:cNvSpPr>
          <p:nvPr/>
        </p:nvSpPr>
        <p:spPr>
          <a:xfrm>
            <a:off x="10096500" y="2400300"/>
            <a:ext cx="1428750" cy="342900"/>
          </a:xfrm>
          <a:prstGeom prst="rect">
            <a:avLst/>
          </a:prstGeom>
          <a:noFill/>
          <a:ln w="0">
            <a:noFill/>
            <a:prstDash val="solid"/>
          </a:ln>
        </p:spPr>
        <p:txBody>
          <a:bodyPr/>
          <a:lstStyle/>
          <a:p>
            <a:pPr algn="ctr">
              <a:defRPr sz="863">
                <a:solidFill>
                  <a:srgbClr val="46657A"/>
                </a:solidFill>
              </a:defRPr>
            </a:pPr>
            <a:r>
              <a:rPr sz="863">
                <a:solidFill>
                  <a:srgbClr val="46657A"/>
                </a:solidFill>
              </a:rPr>
              <a:t>Customer + operations</a:t>
            </a:r>
          </a:p>
        </p:txBody>
      </p:sp>
      <p:sp>
        <p:nvSpPr>
          <p:cNvPr id="36" name="outcome-label">
            <a:extLst>
              <a:ext uri="{FF2B5EF4-FFF2-40B4-BE49-F238E27FC236}">
                <a16:creationId xmlns:a16="http://schemas.microsoft.com/office/drawing/2014/main" id="{4E0CACD1-54DD-41A2-83D1-3CC166AC3193}"/>
              </a:ext>
            </a:extLst>
          </p:cNvPr>
          <p:cNvSpPr>
            <a:spLocks noGrp="1"/>
          </p:cNvSpPr>
          <p:nvPr/>
        </p:nvSpPr>
        <p:spPr>
          <a:xfrm>
            <a:off x="571500" y="3333750"/>
            <a:ext cx="2571750" cy="171450"/>
          </a:xfrm>
          <a:prstGeom prst="rect">
            <a:avLst/>
          </a:prstGeom>
          <a:noFill/>
          <a:ln w="0">
            <a:noFill/>
            <a:prstDash val="solid"/>
          </a:ln>
        </p:spPr>
        <p:txBody>
          <a:bodyPr/>
          <a:lstStyle/>
          <a:p>
            <a:pPr>
              <a:defRPr sz="825" b="1">
                <a:solidFill>
                  <a:srgbClr val="008296"/>
                </a:solidFill>
              </a:defRPr>
            </a:pPr>
            <a:r>
              <a:rPr sz="825" b="1">
                <a:solidFill>
                  <a:srgbClr val="008296"/>
                </a:solidFill>
              </a:rPr>
              <a:t>RECONCILIATION OUTCOMES</a:t>
            </a:r>
          </a:p>
        </p:txBody>
      </p:sp>
      <p:sp>
        <p:nvSpPr>
          <p:cNvPr id="37" name="found-shape">
            <a:extLst>
              <a:ext uri="{FF2B5EF4-FFF2-40B4-BE49-F238E27FC236}">
                <a16:creationId xmlns:a16="http://schemas.microsoft.com/office/drawing/2014/main" id="{D5B7F5D1-1D56-4D8C-AA81-D5C93BA85CCB}"/>
              </a:ext>
            </a:extLst>
          </p:cNvPr>
          <p:cNvSpPr>
            <a:spLocks noGrp="1"/>
          </p:cNvSpPr>
          <p:nvPr/>
        </p:nvSpPr>
        <p:spPr>
          <a:xfrm>
            <a:off x="571500" y="3600450"/>
            <a:ext cx="3381375" cy="952500"/>
          </a:xfrm>
          <a:prstGeom prst="roundRect">
            <a:avLst>
              <a:gd name="adj" fmla="val 8000"/>
            </a:avLst>
          </a:prstGeom>
          <a:solidFill>
            <a:srgbClr val="EBF7EF"/>
          </a:solidFill>
          <a:ln w="9525">
            <a:solidFill>
              <a:srgbClr val="A9D6B8"/>
            </a:solidFill>
            <a:prstDash val="solid"/>
          </a:ln>
        </p:spPr>
        <p:txBody>
          <a:bodyPr/>
          <a:lstStyle/>
          <a:p>
            <a:endParaRPr lang="en-US"/>
          </a:p>
        </p:txBody>
      </p:sp>
      <p:sp>
        <p:nvSpPr>
          <p:cNvPr id="38" name="found-label">
            <a:extLst>
              <a:ext uri="{FF2B5EF4-FFF2-40B4-BE49-F238E27FC236}">
                <a16:creationId xmlns:a16="http://schemas.microsoft.com/office/drawing/2014/main" id="{C15AD38C-EB17-4B05-8CCA-4ADDEDB43765}"/>
              </a:ext>
            </a:extLst>
          </p:cNvPr>
          <p:cNvSpPr>
            <a:spLocks noGrp="1"/>
          </p:cNvSpPr>
          <p:nvPr/>
        </p:nvSpPr>
        <p:spPr>
          <a:xfrm>
            <a:off x="723900" y="3714750"/>
            <a:ext cx="3076575" cy="171450"/>
          </a:xfrm>
          <a:prstGeom prst="rect">
            <a:avLst/>
          </a:prstGeom>
          <a:noFill/>
          <a:ln w="0">
            <a:noFill/>
            <a:prstDash val="solid"/>
          </a:ln>
        </p:spPr>
        <p:txBody>
          <a:bodyPr/>
          <a:lstStyle/>
          <a:p>
            <a:pPr>
              <a:defRPr sz="750" b="1">
                <a:solidFill>
                  <a:srgbClr val="008296"/>
                </a:solidFill>
              </a:defRPr>
            </a:pPr>
            <a:r>
              <a:rPr sz="750" b="1">
                <a:solidFill>
                  <a:srgbClr val="008296"/>
                </a:solidFill>
              </a:rPr>
              <a:t>DEALER RECORD FOUND</a:t>
            </a:r>
          </a:p>
        </p:txBody>
      </p:sp>
      <p:sp>
        <p:nvSpPr>
          <p:cNvPr id="39" name="found-body">
            <a:extLst>
              <a:ext uri="{FF2B5EF4-FFF2-40B4-BE49-F238E27FC236}">
                <a16:creationId xmlns:a16="http://schemas.microsoft.com/office/drawing/2014/main" id="{095EBC7F-8766-4B70-ADE1-890801491989}"/>
              </a:ext>
            </a:extLst>
          </p:cNvPr>
          <p:cNvSpPr>
            <a:spLocks noGrp="1"/>
          </p:cNvSpPr>
          <p:nvPr/>
        </p:nvSpPr>
        <p:spPr>
          <a:xfrm>
            <a:off x="723900" y="3924300"/>
            <a:ext cx="3076575" cy="533400"/>
          </a:xfrm>
          <a:prstGeom prst="rect">
            <a:avLst/>
          </a:prstGeom>
          <a:noFill/>
          <a:ln w="0">
            <a:noFill/>
            <a:prstDash val="solid"/>
          </a:ln>
        </p:spPr>
        <p:txBody>
          <a:bodyPr/>
          <a:lstStyle/>
          <a:p>
            <a:pPr>
              <a:defRPr sz="975" b="1">
                <a:solidFill>
                  <a:srgbClr val="183B56"/>
                </a:solidFill>
              </a:defRPr>
            </a:pPr>
            <a:r>
              <a:rPr sz="975" b="1">
                <a:solidFill>
                  <a:srgbClr val="183B56"/>
                </a:solidFill>
              </a:rPr>
              <a:t>Store dealer appointment ID → transition to CONFIRMED → send confirmation.</a:t>
            </a:r>
          </a:p>
        </p:txBody>
      </p:sp>
      <p:sp>
        <p:nvSpPr>
          <p:cNvPr id="40" name="rejected-shape">
            <a:extLst>
              <a:ext uri="{FF2B5EF4-FFF2-40B4-BE49-F238E27FC236}">
                <a16:creationId xmlns:a16="http://schemas.microsoft.com/office/drawing/2014/main" id="{6FC9F9FD-5889-48DD-9EB4-41B92662AEB2}"/>
              </a:ext>
            </a:extLst>
          </p:cNvPr>
          <p:cNvSpPr>
            <a:spLocks noGrp="1"/>
          </p:cNvSpPr>
          <p:nvPr/>
        </p:nvSpPr>
        <p:spPr>
          <a:xfrm>
            <a:off x="4171950" y="3600450"/>
            <a:ext cx="3848100" cy="952500"/>
          </a:xfrm>
          <a:prstGeom prst="roundRect">
            <a:avLst>
              <a:gd name="adj" fmla="val 8000"/>
            </a:avLst>
          </a:prstGeom>
          <a:solidFill>
            <a:srgbClr val="F4F8FA"/>
          </a:solidFill>
          <a:ln w="9525">
            <a:solidFill>
              <a:srgbClr val="C7D5DE"/>
            </a:solidFill>
            <a:prstDash val="solid"/>
          </a:ln>
        </p:spPr>
        <p:txBody>
          <a:bodyPr/>
          <a:lstStyle/>
          <a:p>
            <a:endParaRPr lang="en-US"/>
          </a:p>
        </p:txBody>
      </p:sp>
      <p:sp>
        <p:nvSpPr>
          <p:cNvPr id="41" name="rejected-label">
            <a:extLst>
              <a:ext uri="{FF2B5EF4-FFF2-40B4-BE49-F238E27FC236}">
                <a16:creationId xmlns:a16="http://schemas.microsoft.com/office/drawing/2014/main" id="{EB11E427-6C6A-4D3A-B4DB-E2F0F4B954D5}"/>
              </a:ext>
            </a:extLst>
          </p:cNvPr>
          <p:cNvSpPr>
            <a:spLocks noGrp="1"/>
          </p:cNvSpPr>
          <p:nvPr/>
        </p:nvSpPr>
        <p:spPr>
          <a:xfrm>
            <a:off x="4324350" y="3714750"/>
            <a:ext cx="3543300" cy="171450"/>
          </a:xfrm>
          <a:prstGeom prst="rect">
            <a:avLst/>
          </a:prstGeom>
          <a:noFill/>
          <a:ln w="0">
            <a:noFill/>
            <a:prstDash val="solid"/>
          </a:ln>
        </p:spPr>
        <p:txBody>
          <a:bodyPr/>
          <a:lstStyle/>
          <a:p>
            <a:pPr>
              <a:defRPr sz="750" b="1">
                <a:solidFill>
                  <a:srgbClr val="008296"/>
                </a:solidFill>
              </a:defRPr>
            </a:pPr>
            <a:r>
              <a:rPr sz="750" b="1">
                <a:solidFill>
                  <a:srgbClr val="008296"/>
                </a:solidFill>
              </a:rPr>
              <a:t>DEFINITIVE NOT CREATED</a:t>
            </a:r>
          </a:p>
        </p:txBody>
      </p:sp>
      <p:sp>
        <p:nvSpPr>
          <p:cNvPr id="42" name="rejected-body">
            <a:extLst>
              <a:ext uri="{FF2B5EF4-FFF2-40B4-BE49-F238E27FC236}">
                <a16:creationId xmlns:a16="http://schemas.microsoft.com/office/drawing/2014/main" id="{C12C3194-7F8B-4AB9-8ABE-74B59274A899}"/>
              </a:ext>
            </a:extLst>
          </p:cNvPr>
          <p:cNvSpPr>
            <a:spLocks noGrp="1"/>
          </p:cNvSpPr>
          <p:nvPr/>
        </p:nvSpPr>
        <p:spPr>
          <a:xfrm>
            <a:off x="4324350" y="3924300"/>
            <a:ext cx="3543300" cy="533400"/>
          </a:xfrm>
          <a:prstGeom prst="rect">
            <a:avLst/>
          </a:prstGeom>
          <a:noFill/>
          <a:ln w="0">
            <a:noFill/>
            <a:prstDash val="solid"/>
          </a:ln>
        </p:spPr>
        <p:txBody>
          <a:bodyPr/>
          <a:lstStyle/>
          <a:p>
            <a:pPr>
              <a:defRPr sz="975" b="1">
                <a:solidFill>
                  <a:srgbClr val="183B56"/>
                </a:solidFill>
              </a:defRPr>
            </a:pPr>
            <a:r>
              <a:rPr sz="975" b="1">
                <a:solidFill>
                  <a:srgbClr val="183B56"/>
                </a:solidFill>
              </a:rPr>
              <a:t>Transition to FAILED / RELEASED → expire cloud claim → offer fresh availability.</a:t>
            </a:r>
          </a:p>
        </p:txBody>
      </p:sp>
      <p:sp>
        <p:nvSpPr>
          <p:cNvPr id="43" name="stillunknown-shape">
            <a:extLst>
              <a:ext uri="{FF2B5EF4-FFF2-40B4-BE49-F238E27FC236}">
                <a16:creationId xmlns:a16="http://schemas.microsoft.com/office/drawing/2014/main" id="{AFC4E773-0CEC-4557-87A2-A7EEB06C1830}"/>
              </a:ext>
            </a:extLst>
          </p:cNvPr>
          <p:cNvSpPr>
            <a:spLocks noGrp="1"/>
          </p:cNvSpPr>
          <p:nvPr/>
        </p:nvSpPr>
        <p:spPr>
          <a:xfrm>
            <a:off x="8239125" y="3600450"/>
            <a:ext cx="3381375" cy="952500"/>
          </a:xfrm>
          <a:prstGeom prst="roundRect">
            <a:avLst>
              <a:gd name="adj" fmla="val 8000"/>
            </a:avLst>
          </a:prstGeom>
          <a:solidFill>
            <a:srgbClr val="FFF5EB"/>
          </a:solidFill>
          <a:ln w="9525">
            <a:solidFill>
              <a:srgbClr val="F1C48E"/>
            </a:solidFill>
            <a:prstDash val="solid"/>
          </a:ln>
        </p:spPr>
        <p:txBody>
          <a:bodyPr/>
          <a:lstStyle/>
          <a:p>
            <a:endParaRPr lang="en-US"/>
          </a:p>
        </p:txBody>
      </p:sp>
      <p:sp>
        <p:nvSpPr>
          <p:cNvPr id="44" name="stillunknown-label">
            <a:extLst>
              <a:ext uri="{FF2B5EF4-FFF2-40B4-BE49-F238E27FC236}">
                <a16:creationId xmlns:a16="http://schemas.microsoft.com/office/drawing/2014/main" id="{C28D19EE-5CE7-46CE-8A26-DA6D6068AD42}"/>
              </a:ext>
            </a:extLst>
          </p:cNvPr>
          <p:cNvSpPr>
            <a:spLocks noGrp="1"/>
          </p:cNvSpPr>
          <p:nvPr/>
        </p:nvSpPr>
        <p:spPr>
          <a:xfrm>
            <a:off x="8391525" y="3714750"/>
            <a:ext cx="3076575" cy="171450"/>
          </a:xfrm>
          <a:prstGeom prst="rect">
            <a:avLst/>
          </a:prstGeom>
          <a:noFill/>
          <a:ln w="0">
            <a:noFill/>
            <a:prstDash val="solid"/>
          </a:ln>
        </p:spPr>
        <p:txBody>
          <a:bodyPr/>
          <a:lstStyle/>
          <a:p>
            <a:pPr>
              <a:defRPr sz="750" b="1">
                <a:solidFill>
                  <a:srgbClr val="008296"/>
                </a:solidFill>
              </a:defRPr>
            </a:pPr>
            <a:r>
              <a:rPr sz="750" b="1">
                <a:solidFill>
                  <a:srgbClr val="008296"/>
                </a:solidFill>
              </a:rPr>
              <a:t>STILL UNVERIFIABLE</a:t>
            </a:r>
          </a:p>
        </p:txBody>
      </p:sp>
      <p:sp>
        <p:nvSpPr>
          <p:cNvPr id="45" name="stillunknown-body">
            <a:extLst>
              <a:ext uri="{FF2B5EF4-FFF2-40B4-BE49-F238E27FC236}">
                <a16:creationId xmlns:a16="http://schemas.microsoft.com/office/drawing/2014/main" id="{CE3E0311-18A9-458F-AD53-8626EE61A529}"/>
              </a:ext>
            </a:extLst>
          </p:cNvPr>
          <p:cNvSpPr>
            <a:spLocks noGrp="1"/>
          </p:cNvSpPr>
          <p:nvPr/>
        </p:nvSpPr>
        <p:spPr>
          <a:xfrm>
            <a:off x="8391525" y="3924300"/>
            <a:ext cx="3076575" cy="533400"/>
          </a:xfrm>
          <a:prstGeom prst="rect">
            <a:avLst/>
          </a:prstGeom>
          <a:noFill/>
          <a:ln w="0">
            <a:noFill/>
            <a:prstDash val="solid"/>
          </a:ln>
        </p:spPr>
        <p:txBody>
          <a:bodyPr/>
          <a:lstStyle/>
          <a:p>
            <a:pPr>
              <a:defRPr sz="975" b="1">
                <a:solidFill>
                  <a:srgbClr val="183B56"/>
                </a:solidFill>
              </a:defRPr>
            </a:pPr>
            <a:r>
              <a:rPr sz="975" b="1">
                <a:solidFill>
                  <a:srgbClr val="183B56"/>
                </a:solidFill>
              </a:rPr>
              <a:t>Keep UNKNOWN → bounded retry with backoff → escalate at the operational SLA.</a:t>
            </a:r>
          </a:p>
        </p:txBody>
      </p:sp>
      <p:sp>
        <p:nvSpPr>
          <p:cNvPr id="46" name="owner-shape">
            <a:extLst>
              <a:ext uri="{FF2B5EF4-FFF2-40B4-BE49-F238E27FC236}">
                <a16:creationId xmlns:a16="http://schemas.microsoft.com/office/drawing/2014/main" id="{8323D877-5A68-42D7-BFDF-B6EC26D9190B}"/>
              </a:ext>
            </a:extLst>
          </p:cNvPr>
          <p:cNvSpPr>
            <a:spLocks noGrp="1"/>
          </p:cNvSpPr>
          <p:nvPr/>
        </p:nvSpPr>
        <p:spPr>
          <a:xfrm>
            <a:off x="571500" y="4857750"/>
            <a:ext cx="5381625" cy="1066800"/>
          </a:xfrm>
          <a:prstGeom prst="roundRect">
            <a:avLst>
              <a:gd name="adj" fmla="val 7143"/>
            </a:avLst>
          </a:prstGeom>
          <a:solidFill>
            <a:srgbClr val="EAF7FA"/>
          </a:solidFill>
          <a:ln w="9525">
            <a:solidFill>
              <a:srgbClr val="9EDDE8"/>
            </a:solidFill>
            <a:prstDash val="solid"/>
          </a:ln>
        </p:spPr>
        <p:txBody>
          <a:bodyPr/>
          <a:lstStyle/>
          <a:p>
            <a:endParaRPr lang="en-US"/>
          </a:p>
        </p:txBody>
      </p:sp>
      <p:sp>
        <p:nvSpPr>
          <p:cNvPr id="47" name="owner-label">
            <a:extLst>
              <a:ext uri="{FF2B5EF4-FFF2-40B4-BE49-F238E27FC236}">
                <a16:creationId xmlns:a16="http://schemas.microsoft.com/office/drawing/2014/main" id="{F0B05EFC-4B48-4210-97AC-BA4E27D83810}"/>
              </a:ext>
            </a:extLst>
          </p:cNvPr>
          <p:cNvSpPr>
            <a:spLocks noGrp="1"/>
          </p:cNvSpPr>
          <p:nvPr/>
        </p:nvSpPr>
        <p:spPr>
          <a:xfrm>
            <a:off x="723900" y="4972050"/>
            <a:ext cx="5076825" cy="171450"/>
          </a:xfrm>
          <a:prstGeom prst="rect">
            <a:avLst/>
          </a:prstGeom>
          <a:noFill/>
          <a:ln w="0">
            <a:noFill/>
            <a:prstDash val="solid"/>
          </a:ln>
        </p:spPr>
        <p:txBody>
          <a:bodyPr/>
          <a:lstStyle/>
          <a:p>
            <a:pPr>
              <a:defRPr sz="750" b="1">
                <a:solidFill>
                  <a:srgbClr val="008296"/>
                </a:solidFill>
              </a:defRPr>
            </a:pPr>
            <a:r>
              <a:rPr sz="750" b="1">
                <a:solidFill>
                  <a:srgbClr val="008296"/>
                </a:solidFill>
              </a:rPr>
              <a:t>WHO RELEASES AN ABANDONED HOLD?</a:t>
            </a:r>
          </a:p>
        </p:txBody>
      </p:sp>
      <p:sp>
        <p:nvSpPr>
          <p:cNvPr id="48" name="owner-body">
            <a:extLst>
              <a:ext uri="{FF2B5EF4-FFF2-40B4-BE49-F238E27FC236}">
                <a16:creationId xmlns:a16="http://schemas.microsoft.com/office/drawing/2014/main" id="{DDB87093-34B7-4A1F-AE01-AF0DB03B201F}"/>
              </a:ext>
            </a:extLst>
          </p:cNvPr>
          <p:cNvSpPr>
            <a:spLocks noGrp="1"/>
          </p:cNvSpPr>
          <p:nvPr/>
        </p:nvSpPr>
        <p:spPr>
          <a:xfrm>
            <a:off x="723900" y="5181600"/>
            <a:ext cx="5076825" cy="647700"/>
          </a:xfrm>
          <a:prstGeom prst="rect">
            <a:avLst/>
          </a:prstGeom>
          <a:noFill/>
          <a:ln w="0">
            <a:noFill/>
            <a:prstDash val="solid"/>
          </a:ln>
        </p:spPr>
        <p:txBody>
          <a:bodyPr/>
          <a:lstStyle/>
          <a:p>
            <a:pPr>
              <a:defRPr sz="975" b="1">
                <a:solidFill>
                  <a:srgbClr val="183B56"/>
                </a:solidFill>
              </a:defRPr>
            </a:pPr>
            <a:r>
              <a:rPr sz="975" b="1">
                <a:solidFill>
                  <a:srgbClr val="183B56"/>
                </a:solidFill>
              </a:rPr>
              <a:t>Step Functions owns the timer. On expiry it requests dealer cancellation when supported and expires the local claim; a native dealer hold also expires under the dealer’s own TTL.</a:t>
            </a:r>
          </a:p>
        </p:txBody>
      </p:sp>
      <p:sp>
        <p:nvSpPr>
          <p:cNvPr id="49" name="unresolved-shape">
            <a:extLst>
              <a:ext uri="{FF2B5EF4-FFF2-40B4-BE49-F238E27FC236}">
                <a16:creationId xmlns:a16="http://schemas.microsoft.com/office/drawing/2014/main" id="{F446BB15-4509-4464-ABCA-FCA761012C3F}"/>
              </a:ext>
            </a:extLst>
          </p:cNvPr>
          <p:cNvSpPr>
            <a:spLocks noGrp="1"/>
          </p:cNvSpPr>
          <p:nvPr/>
        </p:nvSpPr>
        <p:spPr>
          <a:xfrm>
            <a:off x="6238875" y="4857750"/>
            <a:ext cx="5381625" cy="1066800"/>
          </a:xfrm>
          <a:prstGeom prst="roundRect">
            <a:avLst>
              <a:gd name="adj" fmla="val 7143"/>
            </a:avLst>
          </a:prstGeom>
          <a:solidFill>
            <a:srgbClr val="FFF5EB"/>
          </a:solidFill>
          <a:ln w="9525">
            <a:solidFill>
              <a:srgbClr val="F1C48E"/>
            </a:solidFill>
            <a:prstDash val="solid"/>
          </a:ln>
        </p:spPr>
        <p:txBody>
          <a:bodyPr/>
          <a:lstStyle/>
          <a:p>
            <a:endParaRPr lang="en-US"/>
          </a:p>
        </p:txBody>
      </p:sp>
      <p:sp>
        <p:nvSpPr>
          <p:cNvPr id="50" name="unresolved-label">
            <a:extLst>
              <a:ext uri="{FF2B5EF4-FFF2-40B4-BE49-F238E27FC236}">
                <a16:creationId xmlns:a16="http://schemas.microsoft.com/office/drawing/2014/main" id="{46B9D473-F453-4CE6-A988-D1C6C4524583}"/>
              </a:ext>
            </a:extLst>
          </p:cNvPr>
          <p:cNvSpPr>
            <a:spLocks noGrp="1"/>
          </p:cNvSpPr>
          <p:nvPr/>
        </p:nvSpPr>
        <p:spPr>
          <a:xfrm>
            <a:off x="6391275" y="4972050"/>
            <a:ext cx="5076825" cy="171450"/>
          </a:xfrm>
          <a:prstGeom prst="rect">
            <a:avLst/>
          </a:prstGeom>
          <a:noFill/>
          <a:ln w="0">
            <a:noFill/>
            <a:prstDash val="solid"/>
          </a:ln>
        </p:spPr>
        <p:txBody>
          <a:bodyPr/>
          <a:lstStyle/>
          <a:p>
            <a:pPr>
              <a:defRPr sz="750" b="1">
                <a:solidFill>
                  <a:srgbClr val="008296"/>
                </a:solidFill>
              </a:defRPr>
            </a:pPr>
            <a:r>
              <a:rPr sz="750" b="1">
                <a:solidFill>
                  <a:srgbClr val="008296"/>
                </a:solidFill>
              </a:rPr>
              <a:t>IF RECONCILIATION NEVER RESOLVES</a:t>
            </a:r>
          </a:p>
        </p:txBody>
      </p:sp>
      <p:sp>
        <p:nvSpPr>
          <p:cNvPr id="51" name="unresolved-body">
            <a:extLst>
              <a:ext uri="{FF2B5EF4-FFF2-40B4-BE49-F238E27FC236}">
                <a16:creationId xmlns:a16="http://schemas.microsoft.com/office/drawing/2014/main" id="{B42181D5-C769-448B-8354-2D15E447EC83}"/>
              </a:ext>
            </a:extLst>
          </p:cNvPr>
          <p:cNvSpPr>
            <a:spLocks noGrp="1"/>
          </p:cNvSpPr>
          <p:nvPr/>
        </p:nvSpPr>
        <p:spPr>
          <a:xfrm>
            <a:off x="6391275" y="5181600"/>
            <a:ext cx="5076825" cy="647700"/>
          </a:xfrm>
          <a:prstGeom prst="rect">
            <a:avLst/>
          </a:prstGeom>
          <a:noFill/>
          <a:ln w="0">
            <a:noFill/>
            <a:prstDash val="solid"/>
          </a:ln>
        </p:spPr>
        <p:txBody>
          <a:bodyPr/>
          <a:lstStyle/>
          <a:p>
            <a:pPr>
              <a:defRPr sz="975" b="1">
                <a:solidFill>
                  <a:srgbClr val="183B56"/>
                </a:solidFill>
              </a:defRPr>
            </a:pPr>
            <a:r>
              <a:rPr sz="975" b="1">
                <a:solidFill>
                  <a:srgbClr val="183B56"/>
                </a:solidFill>
              </a:rPr>
              <a:t>Quarantine the workflow, open an operations case, retain the audit trail, and tell the customer “still confirming.” Never auto-confirm, silently fail, or rebook another slot.</a:t>
            </a:r>
          </a:p>
        </p:txBody>
      </p:sp>
      <p:sp>
        <p:nvSpPr>
          <p:cNvPr id="52" name="principle-shape">
            <a:extLst>
              <a:ext uri="{FF2B5EF4-FFF2-40B4-BE49-F238E27FC236}">
                <a16:creationId xmlns:a16="http://schemas.microsoft.com/office/drawing/2014/main" id="{5EFA4005-0413-4DC1-A88E-1C0A1CC7D9E9}"/>
              </a:ext>
            </a:extLst>
          </p:cNvPr>
          <p:cNvSpPr>
            <a:spLocks noGrp="1"/>
          </p:cNvSpPr>
          <p:nvPr/>
        </p:nvSpPr>
        <p:spPr>
          <a:xfrm>
            <a:off x="571500" y="6105525"/>
            <a:ext cx="11049000" cy="333375"/>
          </a:xfrm>
          <a:prstGeom prst="roundRect">
            <a:avLst>
              <a:gd name="adj" fmla="val 22857"/>
            </a:avLst>
          </a:prstGeom>
          <a:solidFill>
            <a:srgbClr val="EAF7FA"/>
          </a:solidFill>
          <a:ln w="9525">
            <a:solidFill>
              <a:srgbClr val="9EDDE8"/>
            </a:solidFill>
            <a:prstDash val="solid"/>
          </a:ln>
        </p:spPr>
        <p:txBody>
          <a:bodyPr/>
          <a:lstStyle/>
          <a:p>
            <a:endParaRPr lang="en-US"/>
          </a:p>
        </p:txBody>
      </p:sp>
      <p:sp>
        <p:nvSpPr>
          <p:cNvPr id="53" name="principle-label">
            <a:extLst>
              <a:ext uri="{FF2B5EF4-FFF2-40B4-BE49-F238E27FC236}">
                <a16:creationId xmlns:a16="http://schemas.microsoft.com/office/drawing/2014/main" id="{4DC80983-44D1-4A2A-AD0B-AEF70DBA882B}"/>
              </a:ext>
            </a:extLst>
          </p:cNvPr>
          <p:cNvSpPr>
            <a:spLocks noGrp="1"/>
          </p:cNvSpPr>
          <p:nvPr/>
        </p:nvSpPr>
        <p:spPr>
          <a:xfrm>
            <a:off x="742950" y="6200775"/>
            <a:ext cx="1047750" cy="142875"/>
          </a:xfrm>
          <a:prstGeom prst="rect">
            <a:avLst/>
          </a:prstGeom>
          <a:noFill/>
          <a:ln w="0">
            <a:noFill/>
            <a:prstDash val="solid"/>
          </a:ln>
        </p:spPr>
        <p:txBody>
          <a:bodyPr/>
          <a:lstStyle/>
          <a:p>
            <a:pPr>
              <a:defRPr sz="713" b="1">
                <a:solidFill>
                  <a:srgbClr val="008296"/>
                </a:solidFill>
              </a:defRPr>
            </a:pPr>
            <a:r>
              <a:rPr sz="713" b="1">
                <a:solidFill>
                  <a:srgbClr val="008296"/>
                </a:solidFill>
              </a:rPr>
              <a:t>SAFETY RULE</a:t>
            </a:r>
          </a:p>
        </p:txBody>
      </p:sp>
      <p:sp>
        <p:nvSpPr>
          <p:cNvPr id="54" name="principle-body">
            <a:extLst>
              <a:ext uri="{FF2B5EF4-FFF2-40B4-BE49-F238E27FC236}">
                <a16:creationId xmlns:a16="http://schemas.microsoft.com/office/drawing/2014/main" id="{EF7293EE-09AC-446F-BF2C-B044744E0D6C}"/>
              </a:ext>
            </a:extLst>
          </p:cNvPr>
          <p:cNvSpPr>
            <a:spLocks noGrp="1"/>
          </p:cNvSpPr>
          <p:nvPr/>
        </p:nvSpPr>
        <p:spPr>
          <a:xfrm>
            <a:off x="1838325" y="6181725"/>
            <a:ext cx="9572625" cy="171450"/>
          </a:xfrm>
          <a:prstGeom prst="rect">
            <a:avLst/>
          </a:prstGeom>
          <a:noFill/>
          <a:ln w="0">
            <a:noFill/>
            <a:prstDash val="solid"/>
          </a:ln>
        </p:spPr>
        <p:txBody>
          <a:bodyPr/>
          <a:lstStyle/>
          <a:p>
            <a:pPr>
              <a:defRPr sz="863" b="1">
                <a:solidFill>
                  <a:srgbClr val="183B56"/>
                </a:solidFill>
              </a:defRPr>
            </a:pPr>
            <a:r>
              <a:rPr sz="863" b="1">
                <a:solidFill>
                  <a:srgbClr val="183B56"/>
                </a:solidFill>
              </a:rPr>
              <a:t>Evidence from the authoritative dealer—not cached availability, elapsed time, or retry count—determines confirmation.</a:t>
            </a:r>
          </a:p>
        </p:txBody>
      </p:sp>
    </p:spTree>
    <p:extLst>
      <p:ext uri="{BB962C8B-B14F-4D97-AF65-F5344CB8AC3E}">
        <p14:creationId xmlns:p14="http://schemas.microsoft.com/office/powerpoint/2010/main" val="14529270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eyebrow">
            <a:extLst>
              <a:ext uri="{FF2B5EF4-FFF2-40B4-BE49-F238E27FC236}">
                <a16:creationId xmlns:a16="http://schemas.microsoft.com/office/drawing/2014/main" id="{EBE56884-B393-4C00-BF80-4664B825F561}"/>
              </a:ext>
            </a:extLst>
          </p:cNvPr>
          <p:cNvSpPr>
            <a:spLocks noGrp="1"/>
          </p:cNvSpPr>
          <p:nvPr/>
        </p:nvSpPr>
        <p:spPr>
          <a:xfrm>
            <a:off x="571500" y="323850"/>
            <a:ext cx="3238500" cy="180975"/>
          </a:xfrm>
          <a:prstGeom prst="rect">
            <a:avLst/>
          </a:prstGeom>
          <a:noFill/>
          <a:ln w="0">
            <a:noFill/>
            <a:prstDash val="solid"/>
          </a:ln>
        </p:spPr>
        <p:txBody>
          <a:bodyPr/>
          <a:lstStyle/>
          <a:p>
            <a:pPr>
              <a:defRPr sz="825" b="1">
                <a:solidFill>
                  <a:srgbClr val="008296"/>
                </a:solidFill>
              </a:defRPr>
            </a:pPr>
            <a:r>
              <a:rPr sz="825" b="1">
                <a:solidFill>
                  <a:srgbClr val="008296"/>
                </a:solidFill>
              </a:rPr>
              <a:t>AWS SERVICE DECISIONS • 1 OF 2</a:t>
            </a:r>
          </a:p>
        </p:txBody>
      </p:sp>
      <p:sp>
        <p:nvSpPr>
          <p:cNvPr id="2" name="title">
            <a:extLst>
              <a:ext uri="{FF2B5EF4-FFF2-40B4-BE49-F238E27FC236}">
                <a16:creationId xmlns:a16="http://schemas.microsoft.com/office/drawing/2014/main" id="{3E68A650-4AD4-455E-9AA6-D7CE743A3BF5}"/>
              </a:ext>
            </a:extLst>
          </p:cNvPr>
          <p:cNvSpPr>
            <a:spLocks noGrp="1"/>
          </p:cNvSpPr>
          <p:nvPr/>
        </p:nvSpPr>
        <p:spPr>
          <a:xfrm>
            <a:off x="571500" y="552450"/>
            <a:ext cx="11049000" cy="409575"/>
          </a:xfrm>
          <a:prstGeom prst="rect">
            <a:avLst/>
          </a:prstGeom>
          <a:noFill/>
          <a:ln w="0">
            <a:noFill/>
            <a:prstDash val="solid"/>
          </a:ln>
        </p:spPr>
        <p:txBody>
          <a:bodyPr/>
          <a:lstStyle/>
          <a:p>
            <a:pPr>
              <a:defRPr sz="2175" b="1">
                <a:solidFill>
                  <a:srgbClr val="183B56"/>
                </a:solidFill>
              </a:defRPr>
            </a:pPr>
            <a:r>
              <a:rPr sz="2175" b="1" dirty="0">
                <a:solidFill>
                  <a:srgbClr val="183B56"/>
                </a:solidFill>
              </a:rPr>
              <a:t>Security, authorization, scale, and performance use distinct AWS controls</a:t>
            </a:r>
          </a:p>
        </p:txBody>
      </p:sp>
      <p:sp>
        <p:nvSpPr>
          <p:cNvPr id="3" name="subtitle">
            <a:extLst>
              <a:ext uri="{FF2B5EF4-FFF2-40B4-BE49-F238E27FC236}">
                <a16:creationId xmlns:a16="http://schemas.microsoft.com/office/drawing/2014/main" id="{68DB303E-5926-4410-8EA1-9FEE9DFF9617}"/>
              </a:ext>
            </a:extLst>
          </p:cNvPr>
          <p:cNvSpPr>
            <a:spLocks noGrp="1"/>
          </p:cNvSpPr>
          <p:nvPr/>
        </p:nvSpPr>
        <p:spPr>
          <a:xfrm>
            <a:off x="571500" y="1000125"/>
            <a:ext cx="11049000" cy="228600"/>
          </a:xfrm>
          <a:prstGeom prst="rect">
            <a:avLst/>
          </a:prstGeom>
          <a:noFill/>
          <a:ln w="0">
            <a:noFill/>
            <a:prstDash val="solid"/>
          </a:ln>
        </p:spPr>
        <p:txBody>
          <a:bodyPr/>
          <a:lstStyle/>
          <a:p>
            <a:pPr>
              <a:defRPr sz="1050">
                <a:solidFill>
                  <a:srgbClr val="557086"/>
                </a:solidFill>
              </a:defRPr>
            </a:pPr>
            <a:r>
              <a:rPr sz="1050">
                <a:solidFill>
                  <a:srgbClr val="557086"/>
                </a:solidFill>
              </a:rPr>
              <a:t>Service selection follows the workload boundary—not a one-service-fits-all pattern.</a:t>
            </a:r>
          </a:p>
        </p:txBody>
      </p:sp>
      <p:sp>
        <p:nvSpPr>
          <p:cNvPr id="4" name="header-rule">
            <a:extLst>
              <a:ext uri="{FF2B5EF4-FFF2-40B4-BE49-F238E27FC236}">
                <a16:creationId xmlns:a16="http://schemas.microsoft.com/office/drawing/2014/main" id="{49D354F5-91CB-4DAE-A063-8C7956024FBA}"/>
              </a:ext>
            </a:extLst>
          </p:cNvPr>
          <p:cNvSpPr>
            <a:spLocks noGrp="1"/>
          </p:cNvSpPr>
          <p:nvPr/>
        </p:nvSpPr>
        <p:spPr>
          <a:xfrm>
            <a:off x="571500" y="1304925"/>
            <a:ext cx="11049000" cy="19050"/>
          </a:xfrm>
          <a:prstGeom prst="rect">
            <a:avLst/>
          </a:prstGeom>
          <a:solidFill>
            <a:srgbClr val="00A8C6"/>
          </a:solidFill>
          <a:ln w="9525">
            <a:solidFill>
              <a:srgbClr val="00A8C6"/>
            </a:solidFill>
            <a:prstDash val="solid"/>
          </a:ln>
        </p:spPr>
        <p:txBody>
          <a:bodyPr/>
          <a:lstStyle/>
          <a:p>
            <a:endParaRPr lang="en-US"/>
          </a:p>
        </p:txBody>
      </p:sp>
      <p:sp>
        <p:nvSpPr>
          <p:cNvPr id="5" name="table-frame">
            <a:extLst>
              <a:ext uri="{FF2B5EF4-FFF2-40B4-BE49-F238E27FC236}">
                <a16:creationId xmlns:a16="http://schemas.microsoft.com/office/drawing/2014/main" id="{4529B171-D3E7-4279-9FB5-6B48FECF84E5}"/>
              </a:ext>
            </a:extLst>
          </p:cNvPr>
          <p:cNvSpPr>
            <a:spLocks noGrp="1"/>
          </p:cNvSpPr>
          <p:nvPr/>
        </p:nvSpPr>
        <p:spPr>
          <a:xfrm>
            <a:off x="571500" y="1438275"/>
            <a:ext cx="11049000" cy="4438650"/>
          </a:xfrm>
          <a:prstGeom prst="roundRect">
            <a:avLst>
              <a:gd name="adj" fmla="val 1717"/>
            </a:avLst>
          </a:prstGeom>
          <a:solidFill>
            <a:srgbClr val="FFFFFF"/>
          </a:solidFill>
          <a:ln w="9525">
            <a:solidFill>
              <a:srgbClr val="C7D5DE"/>
            </a:solidFill>
            <a:prstDash val="solid"/>
          </a:ln>
        </p:spPr>
        <p:txBody>
          <a:bodyPr/>
          <a:lstStyle/>
          <a:p>
            <a:endParaRPr lang="en-US"/>
          </a:p>
        </p:txBody>
      </p:sp>
      <p:sp>
        <p:nvSpPr>
          <p:cNvPr id="6" name="table-header">
            <a:extLst>
              <a:ext uri="{FF2B5EF4-FFF2-40B4-BE49-F238E27FC236}">
                <a16:creationId xmlns:a16="http://schemas.microsoft.com/office/drawing/2014/main" id="{C22F4575-FAB8-42C4-A3F9-268E6BA9B143}"/>
              </a:ext>
            </a:extLst>
          </p:cNvPr>
          <p:cNvSpPr>
            <a:spLocks noGrp="1"/>
          </p:cNvSpPr>
          <p:nvPr/>
        </p:nvSpPr>
        <p:spPr>
          <a:xfrm>
            <a:off x="571500" y="1438275"/>
            <a:ext cx="11049000" cy="342900"/>
          </a:xfrm>
          <a:prstGeom prst="rect">
            <a:avLst/>
          </a:prstGeom>
          <a:solidFill>
            <a:srgbClr val="183B56"/>
          </a:solidFill>
          <a:ln w="9525">
            <a:solidFill>
              <a:srgbClr val="183B56"/>
            </a:solidFill>
            <a:prstDash val="solid"/>
          </a:ln>
        </p:spPr>
        <p:txBody>
          <a:bodyPr/>
          <a:lstStyle/>
          <a:p>
            <a:endParaRPr lang="en-US"/>
          </a:p>
        </p:txBody>
      </p:sp>
      <p:sp>
        <p:nvSpPr>
          <p:cNvPr id="7" name="header-0">
            <a:extLst>
              <a:ext uri="{FF2B5EF4-FFF2-40B4-BE49-F238E27FC236}">
                <a16:creationId xmlns:a16="http://schemas.microsoft.com/office/drawing/2014/main" id="{380DED15-7D95-49D0-AF27-96852A964057}"/>
              </a:ext>
            </a:extLst>
          </p:cNvPr>
          <p:cNvSpPr>
            <a:spLocks noGrp="1"/>
          </p:cNvSpPr>
          <p:nvPr/>
        </p:nvSpPr>
        <p:spPr>
          <a:xfrm>
            <a:off x="704850" y="1533525"/>
            <a:ext cx="2400300" cy="152400"/>
          </a:xfrm>
          <a:prstGeom prst="rect">
            <a:avLst/>
          </a:prstGeom>
          <a:noFill/>
          <a:ln w="0">
            <a:noFill/>
            <a:prstDash val="solid"/>
          </a:ln>
        </p:spPr>
        <p:txBody>
          <a:bodyPr/>
          <a:lstStyle/>
          <a:p>
            <a:pPr>
              <a:defRPr sz="788" b="1">
                <a:solidFill>
                  <a:srgbClr val="FFFFFF"/>
                </a:solidFill>
              </a:defRPr>
            </a:pPr>
            <a:r>
              <a:rPr sz="788" b="1">
                <a:solidFill>
                  <a:srgbClr val="FFFFFF"/>
                </a:solidFill>
              </a:rPr>
              <a:t>ARCHITECTURE TOPIC</a:t>
            </a:r>
          </a:p>
        </p:txBody>
      </p:sp>
      <p:sp>
        <p:nvSpPr>
          <p:cNvPr id="8" name="header-1">
            <a:extLst>
              <a:ext uri="{FF2B5EF4-FFF2-40B4-BE49-F238E27FC236}">
                <a16:creationId xmlns:a16="http://schemas.microsoft.com/office/drawing/2014/main" id="{70FA4B99-81C5-4750-8BD3-AC0FC9DAEDB8}"/>
              </a:ext>
            </a:extLst>
          </p:cNvPr>
          <p:cNvSpPr>
            <a:spLocks noGrp="1"/>
          </p:cNvSpPr>
          <p:nvPr/>
        </p:nvSpPr>
        <p:spPr>
          <a:xfrm>
            <a:off x="3371850" y="1533525"/>
            <a:ext cx="3448050" cy="152400"/>
          </a:xfrm>
          <a:prstGeom prst="rect">
            <a:avLst/>
          </a:prstGeom>
          <a:noFill/>
          <a:ln w="0">
            <a:noFill/>
            <a:prstDash val="solid"/>
          </a:ln>
        </p:spPr>
        <p:txBody>
          <a:bodyPr/>
          <a:lstStyle/>
          <a:p>
            <a:pPr>
              <a:defRPr sz="788" b="1">
                <a:solidFill>
                  <a:srgbClr val="FFFFFF"/>
                </a:solidFill>
              </a:defRPr>
            </a:pPr>
            <a:r>
              <a:rPr sz="788" b="1">
                <a:solidFill>
                  <a:srgbClr val="FFFFFF"/>
                </a:solidFill>
              </a:rPr>
              <a:t>AWS SERVICES USED</a:t>
            </a:r>
          </a:p>
        </p:txBody>
      </p:sp>
      <p:sp>
        <p:nvSpPr>
          <p:cNvPr id="9" name="header-2">
            <a:extLst>
              <a:ext uri="{FF2B5EF4-FFF2-40B4-BE49-F238E27FC236}">
                <a16:creationId xmlns:a16="http://schemas.microsoft.com/office/drawing/2014/main" id="{05538E7E-D2ED-4A8F-AEC2-6C5524EB7EE4}"/>
              </a:ext>
            </a:extLst>
          </p:cNvPr>
          <p:cNvSpPr>
            <a:spLocks noGrp="1"/>
          </p:cNvSpPr>
          <p:nvPr/>
        </p:nvSpPr>
        <p:spPr>
          <a:xfrm>
            <a:off x="7086600" y="1533525"/>
            <a:ext cx="4400550" cy="152400"/>
          </a:xfrm>
          <a:prstGeom prst="rect">
            <a:avLst/>
          </a:prstGeom>
          <a:noFill/>
          <a:ln w="0">
            <a:noFill/>
            <a:prstDash val="solid"/>
          </a:ln>
        </p:spPr>
        <p:txBody>
          <a:bodyPr/>
          <a:lstStyle/>
          <a:p>
            <a:pPr>
              <a:defRPr sz="788" b="1">
                <a:solidFill>
                  <a:srgbClr val="FFFFFF"/>
                </a:solidFill>
              </a:defRPr>
            </a:pPr>
            <a:r>
              <a:rPr sz="788" b="1">
                <a:solidFill>
                  <a:srgbClr val="FFFFFF"/>
                </a:solidFill>
              </a:rPr>
              <a:t>WHY THESE SERVICES</a:t>
            </a:r>
          </a:p>
        </p:txBody>
      </p:sp>
      <p:pic>
        <p:nvPicPr>
          <p:cNvPr id="47" name="Picture 46"/>
          <p:cNvPicPr>
            <a:picLocks noChangeAspect="1"/>
          </p:cNvPicPr>
          <p:nvPr/>
        </p:nvPicPr>
        <p:blipFill>
          <a:blip r:embed="rId3"/>
          <a:stretch/>
        </p:blipFill>
        <p:spPr>
          <a:xfrm>
            <a:off x="704850" y="2112169"/>
            <a:ext cx="361950" cy="361950"/>
          </a:xfrm>
          <a:prstGeom prst="rect">
            <a:avLst/>
          </a:prstGeom>
        </p:spPr>
      </p:pic>
      <p:sp>
        <p:nvSpPr>
          <p:cNvPr id="11" name="topic-0">
            <a:extLst>
              <a:ext uri="{FF2B5EF4-FFF2-40B4-BE49-F238E27FC236}">
                <a16:creationId xmlns:a16="http://schemas.microsoft.com/office/drawing/2014/main" id="{39EA8C16-32C8-4A8B-9F6C-2E71E7230883}"/>
              </a:ext>
            </a:extLst>
          </p:cNvPr>
          <p:cNvSpPr>
            <a:spLocks noGrp="1"/>
          </p:cNvSpPr>
          <p:nvPr/>
        </p:nvSpPr>
        <p:spPr>
          <a:xfrm>
            <a:off x="1181100" y="1943100"/>
            <a:ext cx="1924050" cy="738188"/>
          </a:xfrm>
          <a:prstGeom prst="rect">
            <a:avLst/>
          </a:prstGeom>
          <a:noFill/>
          <a:ln w="0">
            <a:noFill/>
            <a:prstDash val="solid"/>
          </a:ln>
        </p:spPr>
        <p:txBody>
          <a:bodyPr/>
          <a:lstStyle/>
          <a:p>
            <a:pPr>
              <a:defRPr sz="1013" b="1">
                <a:solidFill>
                  <a:srgbClr val="183B56"/>
                </a:solidFill>
              </a:defRPr>
            </a:pPr>
            <a:r>
              <a:rPr sz="1013" b="1">
                <a:solidFill>
                  <a:srgbClr val="183B56"/>
                </a:solidFill>
              </a:rPr>
              <a:t>Security &amp; Compliance</a:t>
            </a:r>
          </a:p>
        </p:txBody>
      </p:sp>
      <p:sp>
        <p:nvSpPr>
          <p:cNvPr id="12" name="services-0">
            <a:extLst>
              <a:ext uri="{FF2B5EF4-FFF2-40B4-BE49-F238E27FC236}">
                <a16:creationId xmlns:a16="http://schemas.microsoft.com/office/drawing/2014/main" id="{AB12E539-3599-44EA-B651-551CEF0BFB1C}"/>
              </a:ext>
            </a:extLst>
          </p:cNvPr>
          <p:cNvSpPr>
            <a:spLocks noGrp="1"/>
          </p:cNvSpPr>
          <p:nvPr/>
        </p:nvSpPr>
        <p:spPr>
          <a:xfrm>
            <a:off x="3371850" y="1914525"/>
            <a:ext cx="3448050" cy="785813"/>
          </a:xfrm>
          <a:prstGeom prst="rect">
            <a:avLst/>
          </a:prstGeom>
          <a:noFill/>
          <a:ln w="0">
            <a:noFill/>
            <a:prstDash val="solid"/>
          </a:ln>
        </p:spPr>
        <p:txBody>
          <a:bodyPr/>
          <a:lstStyle/>
          <a:p>
            <a:pPr>
              <a:defRPr sz="915" b="1">
                <a:solidFill>
                  <a:srgbClr val="36586F"/>
                </a:solidFill>
              </a:defRPr>
            </a:pPr>
            <a:r>
              <a:rPr sz="915" b="1">
                <a:solidFill>
                  <a:srgbClr val="36586F"/>
                </a:solidFill>
              </a:rPr>
              <a:t>Cognito • WAF • Shield Standard • IAM • KMS • Secrets Manager • CloudTrail • Security Hub • GuardDuty</a:t>
            </a:r>
          </a:p>
        </p:txBody>
      </p:sp>
      <p:sp>
        <p:nvSpPr>
          <p:cNvPr id="13" name="why-0">
            <a:extLst>
              <a:ext uri="{FF2B5EF4-FFF2-40B4-BE49-F238E27FC236}">
                <a16:creationId xmlns:a16="http://schemas.microsoft.com/office/drawing/2014/main" id="{369F1082-AA07-49B5-A771-D15920B8EF9B}"/>
              </a:ext>
            </a:extLst>
          </p:cNvPr>
          <p:cNvSpPr>
            <a:spLocks noGrp="1"/>
          </p:cNvSpPr>
          <p:nvPr/>
        </p:nvSpPr>
        <p:spPr>
          <a:xfrm>
            <a:off x="7086600" y="1885950"/>
            <a:ext cx="4400550" cy="823913"/>
          </a:xfrm>
          <a:prstGeom prst="rect">
            <a:avLst/>
          </a:prstGeom>
          <a:noFill/>
          <a:ln w="0">
            <a:noFill/>
            <a:prstDash val="solid"/>
          </a:ln>
        </p:spPr>
        <p:txBody>
          <a:bodyPr/>
          <a:lstStyle/>
          <a:p>
            <a:pPr>
              <a:defRPr sz="885">
                <a:solidFill>
                  <a:srgbClr val="36586F"/>
                </a:solidFill>
              </a:defRPr>
            </a:pPr>
            <a:r>
              <a:rPr sz="885">
                <a:solidFill>
                  <a:srgbClr val="36586F"/>
                </a:solidFill>
              </a:rPr>
              <a:t>Authenticate customers, filter malicious web traffic, mitigate DDoS attacks, enforce least privilege, encrypt data and secrets, preserve audit evidence, and surface security findings.</a:t>
            </a:r>
          </a:p>
        </p:txBody>
      </p:sp>
      <p:sp>
        <p:nvSpPr>
          <p:cNvPr id="14" name="row-fill-1">
            <a:extLst>
              <a:ext uri="{FF2B5EF4-FFF2-40B4-BE49-F238E27FC236}">
                <a16:creationId xmlns:a16="http://schemas.microsoft.com/office/drawing/2014/main" id="{9E93C05B-A52A-446A-99F8-E90565B17B72}"/>
              </a:ext>
            </a:extLst>
          </p:cNvPr>
          <p:cNvSpPr>
            <a:spLocks noGrp="1"/>
          </p:cNvSpPr>
          <p:nvPr/>
        </p:nvSpPr>
        <p:spPr>
          <a:xfrm>
            <a:off x="581025" y="2805113"/>
            <a:ext cx="11029950" cy="1023938"/>
          </a:xfrm>
          <a:prstGeom prst="rect">
            <a:avLst/>
          </a:prstGeom>
          <a:solidFill>
            <a:srgbClr val="F4F8FA"/>
          </a:solidFill>
          <a:ln w="9525">
            <a:solidFill>
              <a:srgbClr val="F4F8FA"/>
            </a:solidFill>
            <a:prstDash val="solid"/>
          </a:ln>
        </p:spPr>
        <p:txBody>
          <a:bodyPr/>
          <a:lstStyle/>
          <a:p>
            <a:endParaRPr lang="en-US"/>
          </a:p>
        </p:txBody>
      </p:sp>
      <p:sp>
        <p:nvSpPr>
          <p:cNvPr id="15" name="row-rule-1">
            <a:extLst>
              <a:ext uri="{FF2B5EF4-FFF2-40B4-BE49-F238E27FC236}">
                <a16:creationId xmlns:a16="http://schemas.microsoft.com/office/drawing/2014/main" id="{9ED6CA8F-D588-49EA-ADE6-0680C85C45BF}"/>
              </a:ext>
            </a:extLst>
          </p:cNvPr>
          <p:cNvSpPr>
            <a:spLocks noGrp="1"/>
          </p:cNvSpPr>
          <p:nvPr/>
        </p:nvSpPr>
        <p:spPr>
          <a:xfrm>
            <a:off x="571500" y="2805113"/>
            <a:ext cx="11049000" cy="9525"/>
          </a:xfrm>
          <a:prstGeom prst="rect">
            <a:avLst/>
          </a:prstGeom>
          <a:solidFill>
            <a:srgbClr val="DCE6EC"/>
          </a:solidFill>
          <a:ln w="9525">
            <a:solidFill>
              <a:srgbClr val="DCE6EC"/>
            </a:solidFill>
            <a:prstDash val="solid"/>
          </a:ln>
        </p:spPr>
        <p:txBody>
          <a:bodyPr/>
          <a:lstStyle/>
          <a:p>
            <a:endParaRPr lang="en-US"/>
          </a:p>
        </p:txBody>
      </p:sp>
      <p:pic>
        <p:nvPicPr>
          <p:cNvPr id="53" name="Picture 52"/>
          <p:cNvPicPr>
            <a:picLocks noChangeAspect="1"/>
          </p:cNvPicPr>
          <p:nvPr/>
        </p:nvPicPr>
        <p:blipFill>
          <a:blip r:embed="rId4"/>
          <a:stretch/>
        </p:blipFill>
        <p:spPr>
          <a:xfrm>
            <a:off x="704850" y="3136106"/>
            <a:ext cx="361950" cy="361950"/>
          </a:xfrm>
          <a:prstGeom prst="rect">
            <a:avLst/>
          </a:prstGeom>
        </p:spPr>
      </p:pic>
      <p:sp>
        <p:nvSpPr>
          <p:cNvPr id="17" name="topic-1">
            <a:extLst>
              <a:ext uri="{FF2B5EF4-FFF2-40B4-BE49-F238E27FC236}">
                <a16:creationId xmlns:a16="http://schemas.microsoft.com/office/drawing/2014/main" id="{CA733D82-A7BE-4215-A4C9-583ADA35C1B8}"/>
              </a:ext>
            </a:extLst>
          </p:cNvPr>
          <p:cNvSpPr>
            <a:spLocks noGrp="1"/>
          </p:cNvSpPr>
          <p:nvPr/>
        </p:nvSpPr>
        <p:spPr>
          <a:xfrm>
            <a:off x="1181100" y="2967038"/>
            <a:ext cx="1924050" cy="738188"/>
          </a:xfrm>
          <a:prstGeom prst="rect">
            <a:avLst/>
          </a:prstGeom>
          <a:noFill/>
          <a:ln w="0">
            <a:noFill/>
            <a:prstDash val="solid"/>
          </a:ln>
        </p:spPr>
        <p:txBody>
          <a:bodyPr/>
          <a:lstStyle/>
          <a:p>
            <a:pPr>
              <a:defRPr sz="1013" b="1">
                <a:solidFill>
                  <a:srgbClr val="183B56"/>
                </a:solidFill>
              </a:defRPr>
            </a:pPr>
            <a:r>
              <a:rPr sz="1013" b="1">
                <a:solidFill>
                  <a:srgbClr val="183B56"/>
                </a:solidFill>
              </a:rPr>
              <a:t>Custom Authorization</a:t>
            </a:r>
          </a:p>
          <a:p>
            <a:pPr>
              <a:defRPr sz="1013" b="1">
                <a:solidFill>
                  <a:srgbClr val="183B56"/>
                </a:solidFill>
              </a:defRPr>
            </a:pPr>
            <a:r>
              <a:rPr sz="1013" b="1">
                <a:solidFill>
                  <a:srgbClr val="183B56"/>
                </a:solidFill>
              </a:rPr>
              <a:t>Dealer / Legacy Path</a:t>
            </a:r>
          </a:p>
        </p:txBody>
      </p:sp>
      <p:sp>
        <p:nvSpPr>
          <p:cNvPr id="18" name="services-1">
            <a:extLst>
              <a:ext uri="{FF2B5EF4-FFF2-40B4-BE49-F238E27FC236}">
                <a16:creationId xmlns:a16="http://schemas.microsoft.com/office/drawing/2014/main" id="{BA0C0158-AD78-4269-B57A-0D3B5D2143F6}"/>
              </a:ext>
            </a:extLst>
          </p:cNvPr>
          <p:cNvSpPr>
            <a:spLocks noGrp="1"/>
          </p:cNvSpPr>
          <p:nvPr/>
        </p:nvSpPr>
        <p:spPr>
          <a:xfrm>
            <a:off x="3371850" y="2938463"/>
            <a:ext cx="3448050" cy="785813"/>
          </a:xfrm>
          <a:prstGeom prst="rect">
            <a:avLst/>
          </a:prstGeom>
          <a:noFill/>
          <a:ln w="0">
            <a:noFill/>
            <a:prstDash val="solid"/>
          </a:ln>
        </p:spPr>
        <p:txBody>
          <a:bodyPr/>
          <a:lstStyle/>
          <a:p>
            <a:pPr>
              <a:defRPr sz="915" b="1">
                <a:solidFill>
                  <a:srgbClr val="36586F"/>
                </a:solidFill>
              </a:defRPr>
            </a:pPr>
            <a:r>
              <a:rPr sz="915" b="1">
                <a:solidFill>
                  <a:srgbClr val="36586F"/>
                </a:solidFill>
              </a:rPr>
              <a:t>API Gateway • Lambda Authorizer • Cognito or enterprise IdP • IAM policies</a:t>
            </a:r>
          </a:p>
        </p:txBody>
      </p:sp>
      <p:sp>
        <p:nvSpPr>
          <p:cNvPr id="19" name="why-1">
            <a:extLst>
              <a:ext uri="{FF2B5EF4-FFF2-40B4-BE49-F238E27FC236}">
                <a16:creationId xmlns:a16="http://schemas.microsoft.com/office/drawing/2014/main" id="{43A34C5D-859E-4AA6-A537-9BD4D6FBC507}"/>
              </a:ext>
            </a:extLst>
          </p:cNvPr>
          <p:cNvSpPr>
            <a:spLocks noGrp="1"/>
          </p:cNvSpPr>
          <p:nvPr/>
        </p:nvSpPr>
        <p:spPr>
          <a:xfrm>
            <a:off x="7086600" y="2909888"/>
            <a:ext cx="4400550" cy="823913"/>
          </a:xfrm>
          <a:prstGeom prst="rect">
            <a:avLst/>
          </a:prstGeom>
          <a:noFill/>
          <a:ln w="0">
            <a:noFill/>
            <a:prstDash val="solid"/>
          </a:ln>
        </p:spPr>
        <p:txBody>
          <a:bodyPr/>
          <a:lstStyle/>
          <a:p>
            <a:pPr>
              <a:defRPr sz="885">
                <a:solidFill>
                  <a:srgbClr val="36586F"/>
                </a:solidFill>
              </a:defRPr>
            </a:pPr>
            <a:r>
              <a:rPr sz="885">
                <a:solidFill>
                  <a:srgbClr val="36586F"/>
                </a:solidFill>
              </a:rPr>
              <a:t>Use native JWT authorization for ordinary customer APIs. Invoke custom logic only for dealer scope, legacy tokens, enterprise identity mapping, or route-specific entitlements; services recheck resource access.</a:t>
            </a:r>
          </a:p>
        </p:txBody>
      </p:sp>
      <p:sp>
        <p:nvSpPr>
          <p:cNvPr id="20" name="row-rule-2">
            <a:extLst>
              <a:ext uri="{FF2B5EF4-FFF2-40B4-BE49-F238E27FC236}">
                <a16:creationId xmlns:a16="http://schemas.microsoft.com/office/drawing/2014/main" id="{C4530EF1-3A3E-4D66-9EA3-7D30EBE67543}"/>
              </a:ext>
            </a:extLst>
          </p:cNvPr>
          <p:cNvSpPr>
            <a:spLocks noGrp="1"/>
          </p:cNvSpPr>
          <p:nvPr/>
        </p:nvSpPr>
        <p:spPr>
          <a:xfrm>
            <a:off x="571500" y="3829050"/>
            <a:ext cx="11049000" cy="9525"/>
          </a:xfrm>
          <a:prstGeom prst="rect">
            <a:avLst/>
          </a:prstGeom>
          <a:solidFill>
            <a:srgbClr val="DCE6EC"/>
          </a:solidFill>
          <a:ln w="9525">
            <a:solidFill>
              <a:srgbClr val="DCE6EC"/>
            </a:solidFill>
            <a:prstDash val="solid"/>
          </a:ln>
        </p:spPr>
        <p:txBody>
          <a:bodyPr/>
          <a:lstStyle/>
          <a:p>
            <a:endParaRPr lang="en-US"/>
          </a:p>
        </p:txBody>
      </p:sp>
      <p:pic>
        <p:nvPicPr>
          <p:cNvPr id="58" name="Picture 57"/>
          <p:cNvPicPr>
            <a:picLocks noChangeAspect="1"/>
          </p:cNvPicPr>
          <p:nvPr/>
        </p:nvPicPr>
        <p:blipFill>
          <a:blip r:embed="rId5"/>
          <a:stretch/>
        </p:blipFill>
        <p:spPr>
          <a:xfrm>
            <a:off x="704850" y="4160044"/>
            <a:ext cx="361950" cy="361950"/>
          </a:xfrm>
          <a:prstGeom prst="rect">
            <a:avLst/>
          </a:prstGeom>
        </p:spPr>
      </p:pic>
      <p:sp>
        <p:nvSpPr>
          <p:cNvPr id="22" name="topic-2">
            <a:extLst>
              <a:ext uri="{FF2B5EF4-FFF2-40B4-BE49-F238E27FC236}">
                <a16:creationId xmlns:a16="http://schemas.microsoft.com/office/drawing/2014/main" id="{F70B49B2-3FA7-4226-B51A-D0511B04E2E1}"/>
              </a:ext>
            </a:extLst>
          </p:cNvPr>
          <p:cNvSpPr>
            <a:spLocks noGrp="1"/>
          </p:cNvSpPr>
          <p:nvPr/>
        </p:nvSpPr>
        <p:spPr>
          <a:xfrm>
            <a:off x="1181100" y="3990975"/>
            <a:ext cx="1924050" cy="738188"/>
          </a:xfrm>
          <a:prstGeom prst="rect">
            <a:avLst/>
          </a:prstGeom>
          <a:noFill/>
          <a:ln w="0">
            <a:noFill/>
            <a:prstDash val="solid"/>
          </a:ln>
        </p:spPr>
        <p:txBody>
          <a:bodyPr/>
          <a:lstStyle/>
          <a:p>
            <a:pPr>
              <a:defRPr sz="1013" b="1">
                <a:solidFill>
                  <a:srgbClr val="183B56"/>
                </a:solidFill>
              </a:defRPr>
            </a:pPr>
            <a:r>
              <a:rPr sz="1013" b="1">
                <a:solidFill>
                  <a:srgbClr val="183B56"/>
                </a:solidFill>
              </a:rPr>
              <a:t>Availability &amp; Scalability</a:t>
            </a:r>
          </a:p>
        </p:txBody>
      </p:sp>
      <p:sp>
        <p:nvSpPr>
          <p:cNvPr id="23" name="services-2">
            <a:extLst>
              <a:ext uri="{FF2B5EF4-FFF2-40B4-BE49-F238E27FC236}">
                <a16:creationId xmlns:a16="http://schemas.microsoft.com/office/drawing/2014/main" id="{526ACF98-A06F-4A67-AA98-5A0E3AD44200}"/>
              </a:ext>
            </a:extLst>
          </p:cNvPr>
          <p:cNvSpPr>
            <a:spLocks noGrp="1"/>
          </p:cNvSpPr>
          <p:nvPr/>
        </p:nvSpPr>
        <p:spPr>
          <a:xfrm>
            <a:off x="3371850" y="3962400"/>
            <a:ext cx="3448050" cy="785813"/>
          </a:xfrm>
          <a:prstGeom prst="rect">
            <a:avLst/>
          </a:prstGeom>
          <a:noFill/>
          <a:ln w="0">
            <a:noFill/>
            <a:prstDash val="solid"/>
          </a:ln>
        </p:spPr>
        <p:txBody>
          <a:bodyPr/>
          <a:lstStyle/>
          <a:p>
            <a:pPr>
              <a:defRPr sz="915" b="1">
                <a:solidFill>
                  <a:srgbClr val="36586F"/>
                </a:solidFill>
              </a:defRPr>
            </a:pPr>
            <a:r>
              <a:rPr sz="915" b="1">
                <a:solidFill>
                  <a:srgbClr val="36586F"/>
                </a:solidFill>
              </a:rPr>
              <a:t>Route 53 • CloudFront • API Gateway • Lambda • ECS/Fargate • DynamoDB • SQS • Elastic Load Balancing</a:t>
            </a:r>
          </a:p>
        </p:txBody>
      </p:sp>
      <p:sp>
        <p:nvSpPr>
          <p:cNvPr id="24" name="why-2">
            <a:extLst>
              <a:ext uri="{FF2B5EF4-FFF2-40B4-BE49-F238E27FC236}">
                <a16:creationId xmlns:a16="http://schemas.microsoft.com/office/drawing/2014/main" id="{0C4BFBC0-50A4-4738-85E7-202C3E6B657C}"/>
              </a:ext>
            </a:extLst>
          </p:cNvPr>
          <p:cNvSpPr>
            <a:spLocks noGrp="1"/>
          </p:cNvSpPr>
          <p:nvPr/>
        </p:nvSpPr>
        <p:spPr>
          <a:xfrm>
            <a:off x="7086600" y="3933825"/>
            <a:ext cx="4400550" cy="823913"/>
          </a:xfrm>
          <a:prstGeom prst="rect">
            <a:avLst/>
          </a:prstGeom>
          <a:noFill/>
          <a:ln w="0">
            <a:noFill/>
            <a:prstDash val="solid"/>
          </a:ln>
        </p:spPr>
        <p:txBody>
          <a:bodyPr/>
          <a:lstStyle/>
          <a:p>
            <a:pPr>
              <a:defRPr sz="885">
                <a:solidFill>
                  <a:srgbClr val="36586F"/>
                </a:solidFill>
              </a:defRPr>
            </a:pPr>
            <a:r>
              <a:rPr sz="885">
                <a:solidFill>
                  <a:srgbClr val="36586F"/>
                </a:solidFill>
              </a:rPr>
              <a:t>Provide resilient entry points, independent compute scaling, highly available state, and queue-based load leveling. Managed Multi-AZ services reduce single-instance dependencies.</a:t>
            </a:r>
          </a:p>
        </p:txBody>
      </p:sp>
      <p:sp>
        <p:nvSpPr>
          <p:cNvPr id="25" name="row-fill-3">
            <a:extLst>
              <a:ext uri="{FF2B5EF4-FFF2-40B4-BE49-F238E27FC236}">
                <a16:creationId xmlns:a16="http://schemas.microsoft.com/office/drawing/2014/main" id="{3F77F1C4-F69C-42D2-ACDB-B66017323EA1}"/>
              </a:ext>
            </a:extLst>
          </p:cNvPr>
          <p:cNvSpPr>
            <a:spLocks noGrp="1"/>
          </p:cNvSpPr>
          <p:nvPr/>
        </p:nvSpPr>
        <p:spPr>
          <a:xfrm>
            <a:off x="581025" y="4852988"/>
            <a:ext cx="11029950" cy="1023938"/>
          </a:xfrm>
          <a:prstGeom prst="rect">
            <a:avLst/>
          </a:prstGeom>
          <a:solidFill>
            <a:srgbClr val="F4F8FA"/>
          </a:solidFill>
          <a:ln w="9525">
            <a:solidFill>
              <a:srgbClr val="F4F8FA"/>
            </a:solidFill>
            <a:prstDash val="solid"/>
          </a:ln>
        </p:spPr>
        <p:txBody>
          <a:bodyPr/>
          <a:lstStyle/>
          <a:p>
            <a:endParaRPr lang="en-US"/>
          </a:p>
        </p:txBody>
      </p:sp>
      <p:sp>
        <p:nvSpPr>
          <p:cNvPr id="26" name="row-rule-3">
            <a:extLst>
              <a:ext uri="{FF2B5EF4-FFF2-40B4-BE49-F238E27FC236}">
                <a16:creationId xmlns:a16="http://schemas.microsoft.com/office/drawing/2014/main" id="{0051C424-F898-4FAE-9FDB-9E10A599C1D1}"/>
              </a:ext>
            </a:extLst>
          </p:cNvPr>
          <p:cNvSpPr>
            <a:spLocks noGrp="1"/>
          </p:cNvSpPr>
          <p:nvPr/>
        </p:nvSpPr>
        <p:spPr>
          <a:xfrm>
            <a:off x="571500" y="4852988"/>
            <a:ext cx="11049000" cy="9525"/>
          </a:xfrm>
          <a:prstGeom prst="rect">
            <a:avLst/>
          </a:prstGeom>
          <a:solidFill>
            <a:srgbClr val="DCE6EC"/>
          </a:solidFill>
          <a:ln w="9525">
            <a:solidFill>
              <a:srgbClr val="DCE6EC"/>
            </a:solidFill>
            <a:prstDash val="solid"/>
          </a:ln>
        </p:spPr>
        <p:txBody>
          <a:bodyPr/>
          <a:lstStyle/>
          <a:p>
            <a:endParaRPr lang="en-US"/>
          </a:p>
        </p:txBody>
      </p:sp>
      <p:pic>
        <p:nvPicPr>
          <p:cNvPr id="64" name="Picture 63"/>
          <p:cNvPicPr>
            <a:picLocks noChangeAspect="1"/>
          </p:cNvPicPr>
          <p:nvPr/>
        </p:nvPicPr>
        <p:blipFill>
          <a:blip r:embed="rId6"/>
          <a:stretch/>
        </p:blipFill>
        <p:spPr>
          <a:xfrm>
            <a:off x="704850" y="5183981"/>
            <a:ext cx="361950" cy="361950"/>
          </a:xfrm>
          <a:prstGeom prst="rect">
            <a:avLst/>
          </a:prstGeom>
        </p:spPr>
      </p:pic>
      <p:sp>
        <p:nvSpPr>
          <p:cNvPr id="28" name="topic-3">
            <a:extLst>
              <a:ext uri="{FF2B5EF4-FFF2-40B4-BE49-F238E27FC236}">
                <a16:creationId xmlns:a16="http://schemas.microsoft.com/office/drawing/2014/main" id="{3924581F-3D98-4934-B974-1B9E3842E655}"/>
              </a:ext>
            </a:extLst>
          </p:cNvPr>
          <p:cNvSpPr>
            <a:spLocks noGrp="1"/>
          </p:cNvSpPr>
          <p:nvPr/>
        </p:nvSpPr>
        <p:spPr>
          <a:xfrm>
            <a:off x="1181100" y="5014913"/>
            <a:ext cx="1924050" cy="738188"/>
          </a:xfrm>
          <a:prstGeom prst="rect">
            <a:avLst/>
          </a:prstGeom>
          <a:noFill/>
          <a:ln w="0">
            <a:noFill/>
            <a:prstDash val="solid"/>
          </a:ln>
        </p:spPr>
        <p:txBody>
          <a:bodyPr/>
          <a:lstStyle/>
          <a:p>
            <a:pPr>
              <a:defRPr sz="1013" b="1">
                <a:solidFill>
                  <a:srgbClr val="183B56"/>
                </a:solidFill>
              </a:defRPr>
            </a:pPr>
            <a:r>
              <a:rPr sz="1013" b="1">
                <a:solidFill>
                  <a:srgbClr val="183B56"/>
                </a:solidFill>
              </a:rPr>
              <a:t>Speed &amp; Performance</a:t>
            </a:r>
          </a:p>
        </p:txBody>
      </p:sp>
      <p:sp>
        <p:nvSpPr>
          <p:cNvPr id="29" name="services-3">
            <a:extLst>
              <a:ext uri="{FF2B5EF4-FFF2-40B4-BE49-F238E27FC236}">
                <a16:creationId xmlns:a16="http://schemas.microsoft.com/office/drawing/2014/main" id="{E38848D3-2431-4860-B146-61B4F83C6E9D}"/>
              </a:ext>
            </a:extLst>
          </p:cNvPr>
          <p:cNvSpPr>
            <a:spLocks noGrp="1"/>
          </p:cNvSpPr>
          <p:nvPr/>
        </p:nvSpPr>
        <p:spPr>
          <a:xfrm>
            <a:off x="3371850" y="4986338"/>
            <a:ext cx="3448050" cy="785813"/>
          </a:xfrm>
          <a:prstGeom prst="rect">
            <a:avLst/>
          </a:prstGeom>
          <a:noFill/>
          <a:ln w="0">
            <a:noFill/>
            <a:prstDash val="solid"/>
          </a:ln>
        </p:spPr>
        <p:txBody>
          <a:bodyPr/>
          <a:lstStyle/>
          <a:p>
            <a:pPr>
              <a:defRPr sz="915" b="1">
                <a:solidFill>
                  <a:srgbClr val="36586F"/>
                </a:solidFill>
              </a:defRPr>
            </a:pPr>
            <a:r>
              <a:rPr sz="915" b="1">
                <a:solidFill>
                  <a:srgbClr val="36586F"/>
                </a:solidFill>
              </a:rPr>
              <a:t>CloudFront • ElastiCache • DynamoDB • Lambda • API Gateway • SQS • EventBridge</a:t>
            </a:r>
          </a:p>
        </p:txBody>
      </p:sp>
      <p:sp>
        <p:nvSpPr>
          <p:cNvPr id="30" name="why-3">
            <a:extLst>
              <a:ext uri="{FF2B5EF4-FFF2-40B4-BE49-F238E27FC236}">
                <a16:creationId xmlns:a16="http://schemas.microsoft.com/office/drawing/2014/main" id="{0E881D47-D750-4112-986A-340738015AA3}"/>
              </a:ext>
            </a:extLst>
          </p:cNvPr>
          <p:cNvSpPr>
            <a:spLocks noGrp="1"/>
          </p:cNvSpPr>
          <p:nvPr/>
        </p:nvSpPr>
        <p:spPr>
          <a:xfrm>
            <a:off x="7086600" y="4957763"/>
            <a:ext cx="4400550" cy="823913"/>
          </a:xfrm>
          <a:prstGeom prst="rect">
            <a:avLst/>
          </a:prstGeom>
          <a:noFill/>
          <a:ln w="0">
            <a:noFill/>
            <a:prstDash val="solid"/>
          </a:ln>
        </p:spPr>
        <p:txBody>
          <a:bodyPr/>
          <a:lstStyle/>
          <a:p>
            <a:pPr>
              <a:defRPr sz="885">
                <a:solidFill>
                  <a:srgbClr val="36586F"/>
                </a:solidFill>
              </a:defRPr>
            </a:pPr>
            <a:r>
              <a:rPr sz="885">
                <a:solidFill>
                  <a:srgbClr val="36586F"/>
                </a:solidFill>
              </a:rPr>
              <a:t>Cache static content and short-lived read views, provide predictable state access, scale bursty processing, and move notifications or legacy work away from the synchronous customer path.</a:t>
            </a:r>
          </a:p>
        </p:txBody>
      </p:sp>
      <p:sp>
        <p:nvSpPr>
          <p:cNvPr id="31" name="col-rule-1">
            <a:extLst>
              <a:ext uri="{FF2B5EF4-FFF2-40B4-BE49-F238E27FC236}">
                <a16:creationId xmlns:a16="http://schemas.microsoft.com/office/drawing/2014/main" id="{FD955A68-D557-4E0A-94E1-A366D9CD6CE7}"/>
              </a:ext>
            </a:extLst>
          </p:cNvPr>
          <p:cNvSpPr>
            <a:spLocks noGrp="1"/>
          </p:cNvSpPr>
          <p:nvPr/>
        </p:nvSpPr>
        <p:spPr>
          <a:xfrm>
            <a:off x="3238500" y="1438275"/>
            <a:ext cx="9525" cy="4438650"/>
          </a:xfrm>
          <a:prstGeom prst="rect">
            <a:avLst/>
          </a:prstGeom>
          <a:solidFill>
            <a:srgbClr val="D3E0E7"/>
          </a:solidFill>
          <a:ln w="9525">
            <a:solidFill>
              <a:srgbClr val="D3E0E7"/>
            </a:solidFill>
            <a:prstDash val="solid"/>
          </a:ln>
        </p:spPr>
        <p:txBody>
          <a:bodyPr/>
          <a:lstStyle/>
          <a:p>
            <a:endParaRPr lang="en-US"/>
          </a:p>
        </p:txBody>
      </p:sp>
      <p:sp>
        <p:nvSpPr>
          <p:cNvPr id="32" name="col-rule-2">
            <a:extLst>
              <a:ext uri="{FF2B5EF4-FFF2-40B4-BE49-F238E27FC236}">
                <a16:creationId xmlns:a16="http://schemas.microsoft.com/office/drawing/2014/main" id="{20E7A035-A513-451F-A51C-2D8362CB1BFF}"/>
              </a:ext>
            </a:extLst>
          </p:cNvPr>
          <p:cNvSpPr>
            <a:spLocks noGrp="1"/>
          </p:cNvSpPr>
          <p:nvPr/>
        </p:nvSpPr>
        <p:spPr>
          <a:xfrm>
            <a:off x="6953250" y="1438275"/>
            <a:ext cx="9525" cy="4438650"/>
          </a:xfrm>
          <a:prstGeom prst="rect">
            <a:avLst/>
          </a:prstGeom>
          <a:solidFill>
            <a:srgbClr val="D3E0E7"/>
          </a:solidFill>
          <a:ln w="9525">
            <a:solidFill>
              <a:srgbClr val="D3E0E7"/>
            </a:solidFill>
            <a:prstDash val="solid"/>
          </a:ln>
        </p:spPr>
        <p:txBody>
          <a:bodyPr/>
          <a:lstStyle/>
          <a:p>
            <a:endParaRPr lang="en-US"/>
          </a:p>
        </p:txBody>
      </p:sp>
      <p:sp>
        <p:nvSpPr>
          <p:cNvPr id="33" name="principle">
            <a:extLst>
              <a:ext uri="{FF2B5EF4-FFF2-40B4-BE49-F238E27FC236}">
                <a16:creationId xmlns:a16="http://schemas.microsoft.com/office/drawing/2014/main" id="{087D62B4-E64C-4D11-A08A-510ECD06C968}"/>
              </a:ext>
            </a:extLst>
          </p:cNvPr>
          <p:cNvSpPr>
            <a:spLocks noGrp="1"/>
          </p:cNvSpPr>
          <p:nvPr/>
        </p:nvSpPr>
        <p:spPr>
          <a:xfrm>
            <a:off x="571500" y="6038850"/>
            <a:ext cx="11049000" cy="400050"/>
          </a:xfrm>
          <a:prstGeom prst="roundRect">
            <a:avLst>
              <a:gd name="adj" fmla="val 19048"/>
            </a:avLst>
          </a:prstGeom>
          <a:solidFill>
            <a:srgbClr val="EAF7FA"/>
          </a:solidFill>
          <a:ln w="9525">
            <a:solidFill>
              <a:srgbClr val="9EDDE8"/>
            </a:solidFill>
            <a:prstDash val="solid"/>
          </a:ln>
        </p:spPr>
        <p:txBody>
          <a:bodyPr/>
          <a:lstStyle/>
          <a:p>
            <a:endParaRPr lang="en-US"/>
          </a:p>
        </p:txBody>
      </p:sp>
      <p:sp>
        <p:nvSpPr>
          <p:cNvPr id="34" name="principle-label">
            <a:extLst>
              <a:ext uri="{FF2B5EF4-FFF2-40B4-BE49-F238E27FC236}">
                <a16:creationId xmlns:a16="http://schemas.microsoft.com/office/drawing/2014/main" id="{53A1F675-C1E3-4C99-AC69-6E6033178018}"/>
              </a:ext>
            </a:extLst>
          </p:cNvPr>
          <p:cNvSpPr>
            <a:spLocks noGrp="1"/>
          </p:cNvSpPr>
          <p:nvPr/>
        </p:nvSpPr>
        <p:spPr>
          <a:xfrm>
            <a:off x="742950" y="6172200"/>
            <a:ext cx="1333500" cy="142875"/>
          </a:xfrm>
          <a:prstGeom prst="rect">
            <a:avLst/>
          </a:prstGeom>
          <a:noFill/>
          <a:ln w="0">
            <a:noFill/>
            <a:prstDash val="solid"/>
          </a:ln>
        </p:spPr>
        <p:txBody>
          <a:bodyPr/>
          <a:lstStyle/>
          <a:p>
            <a:pPr>
              <a:defRPr sz="713" b="1">
                <a:solidFill>
                  <a:srgbClr val="008296"/>
                </a:solidFill>
              </a:defRPr>
            </a:pPr>
            <a:r>
              <a:rPr sz="713" b="1">
                <a:solidFill>
                  <a:srgbClr val="008296"/>
                </a:solidFill>
              </a:rPr>
              <a:t>DESIGN PRINCIPLE</a:t>
            </a:r>
          </a:p>
        </p:txBody>
      </p:sp>
      <p:sp>
        <p:nvSpPr>
          <p:cNvPr id="35" name="principle-text">
            <a:extLst>
              <a:ext uri="{FF2B5EF4-FFF2-40B4-BE49-F238E27FC236}">
                <a16:creationId xmlns:a16="http://schemas.microsoft.com/office/drawing/2014/main" id="{AC5923DA-3594-4AD7-9E79-600B14925CB5}"/>
              </a:ext>
            </a:extLst>
          </p:cNvPr>
          <p:cNvSpPr>
            <a:spLocks noGrp="1"/>
          </p:cNvSpPr>
          <p:nvPr/>
        </p:nvSpPr>
        <p:spPr>
          <a:xfrm>
            <a:off x="2114550" y="6143625"/>
            <a:ext cx="9286875" cy="200025"/>
          </a:xfrm>
          <a:prstGeom prst="rect">
            <a:avLst/>
          </a:prstGeom>
          <a:noFill/>
          <a:ln w="0">
            <a:noFill/>
            <a:prstDash val="solid"/>
          </a:ln>
        </p:spPr>
        <p:txBody>
          <a:bodyPr/>
          <a:lstStyle/>
          <a:p>
            <a:pPr>
              <a:defRPr sz="863" b="1">
                <a:solidFill>
                  <a:srgbClr val="183B56"/>
                </a:solidFill>
              </a:defRPr>
            </a:pPr>
            <a:r>
              <a:rPr sz="863" b="1">
                <a:solidFill>
                  <a:srgbClr val="183B56"/>
                </a:solidFill>
              </a:rPr>
              <a:t>Performance rule: cached availability accelerates search; only the authoritative dealer response confirms an appointment.</a:t>
            </a:r>
          </a:p>
        </p:txBody>
      </p:sp>
      <p:sp>
        <p:nvSpPr>
          <p:cNvPr id="36" name="footer">
            <a:extLst>
              <a:ext uri="{FF2B5EF4-FFF2-40B4-BE49-F238E27FC236}">
                <a16:creationId xmlns:a16="http://schemas.microsoft.com/office/drawing/2014/main" id="{6792FD46-056C-4B65-B927-B4FF13D226DC}"/>
              </a:ext>
            </a:extLst>
          </p:cNvPr>
          <p:cNvSpPr>
            <a:spLocks noGrp="1"/>
          </p:cNvSpPr>
          <p:nvPr/>
        </p:nvSpPr>
        <p:spPr>
          <a:xfrm>
            <a:off x="571500" y="6591300"/>
            <a:ext cx="5334000" cy="133350"/>
          </a:xfrm>
          <a:prstGeom prst="rect">
            <a:avLst/>
          </a:prstGeom>
          <a:noFill/>
          <a:ln w="0">
            <a:noFill/>
            <a:prstDash val="solid"/>
          </a:ln>
        </p:spPr>
        <p:txBody>
          <a:bodyPr/>
          <a:lstStyle/>
          <a:p>
            <a:pPr>
              <a:defRPr sz="638">
                <a:solidFill>
                  <a:srgbClr val="6D8899"/>
                </a:solidFill>
              </a:defRPr>
            </a:pPr>
            <a:r>
              <a:rPr sz="638">
                <a:solidFill>
                  <a:srgbClr val="6D8899"/>
                </a:solidFill>
              </a:rPr>
              <a:t>CLOUD PLATFORM ARCHITECTURE  •  AWS SERVICE DECISIONS</a:t>
            </a:r>
          </a:p>
        </p:txBody>
      </p:sp>
      <p:sp>
        <p:nvSpPr>
          <p:cNvPr id="37" name="page">
            <a:extLst>
              <a:ext uri="{FF2B5EF4-FFF2-40B4-BE49-F238E27FC236}">
                <a16:creationId xmlns:a16="http://schemas.microsoft.com/office/drawing/2014/main" id="{D5C12B8C-6965-4656-9F7C-37F4E722D90C}"/>
              </a:ext>
            </a:extLst>
          </p:cNvPr>
          <p:cNvSpPr>
            <a:spLocks noGrp="1"/>
          </p:cNvSpPr>
          <p:nvPr/>
        </p:nvSpPr>
        <p:spPr>
          <a:xfrm>
            <a:off x="11144250" y="6572250"/>
            <a:ext cx="476250" cy="152400"/>
          </a:xfrm>
          <a:prstGeom prst="rect">
            <a:avLst/>
          </a:prstGeom>
          <a:noFill/>
          <a:ln w="0">
            <a:noFill/>
            <a:prstDash val="solid"/>
          </a:ln>
        </p:spPr>
        <p:txBody>
          <a:bodyPr/>
          <a:lstStyle/>
          <a:p>
            <a:pPr algn="r">
              <a:defRPr sz="675" b="1">
                <a:solidFill>
                  <a:srgbClr val="6D8899"/>
                </a:solidFill>
              </a:defRPr>
            </a:pPr>
            <a:r>
              <a:rPr sz="675" b="1">
                <a:solidFill>
                  <a:srgbClr val="6D8899"/>
                </a:solidFill>
              </a:rPr>
              <a:t>1 / 2</a:t>
            </a:r>
          </a:p>
        </p:txBody>
      </p:sp>
    </p:spTree>
    <p:extLst>
      <p:ext uri="{BB962C8B-B14F-4D97-AF65-F5344CB8AC3E}">
        <p14:creationId xmlns:p14="http://schemas.microsoft.com/office/powerpoint/2010/main" val="856522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eyebrow">
            <a:extLst>
              <a:ext uri="{FF2B5EF4-FFF2-40B4-BE49-F238E27FC236}">
                <a16:creationId xmlns:a16="http://schemas.microsoft.com/office/drawing/2014/main" id="{80C9A5B6-2BE0-4E52-8B81-0525218E56A3}"/>
              </a:ext>
            </a:extLst>
          </p:cNvPr>
          <p:cNvSpPr>
            <a:spLocks noGrp="1"/>
          </p:cNvSpPr>
          <p:nvPr/>
        </p:nvSpPr>
        <p:spPr>
          <a:xfrm>
            <a:off x="571500" y="323850"/>
            <a:ext cx="3238500" cy="180975"/>
          </a:xfrm>
          <a:prstGeom prst="rect">
            <a:avLst/>
          </a:prstGeom>
          <a:noFill/>
          <a:ln w="0">
            <a:noFill/>
            <a:prstDash val="solid"/>
          </a:ln>
        </p:spPr>
        <p:txBody>
          <a:bodyPr/>
          <a:lstStyle/>
          <a:p>
            <a:pPr>
              <a:defRPr sz="825" b="1">
                <a:solidFill>
                  <a:srgbClr val="008296"/>
                </a:solidFill>
              </a:defRPr>
            </a:pPr>
            <a:r>
              <a:rPr sz="825" b="1">
                <a:solidFill>
                  <a:srgbClr val="008296"/>
                </a:solidFill>
              </a:rPr>
              <a:t>AWS SERVICE DECISIONS • 2 OF 2</a:t>
            </a:r>
          </a:p>
        </p:txBody>
      </p:sp>
      <p:sp>
        <p:nvSpPr>
          <p:cNvPr id="2" name="title">
            <a:extLst>
              <a:ext uri="{FF2B5EF4-FFF2-40B4-BE49-F238E27FC236}">
                <a16:creationId xmlns:a16="http://schemas.microsoft.com/office/drawing/2014/main" id="{471EEBB4-55F0-4212-998E-9154481790B3}"/>
              </a:ext>
            </a:extLst>
          </p:cNvPr>
          <p:cNvSpPr>
            <a:spLocks noGrp="1"/>
          </p:cNvSpPr>
          <p:nvPr/>
        </p:nvSpPr>
        <p:spPr>
          <a:xfrm>
            <a:off x="571500" y="552450"/>
            <a:ext cx="11049000" cy="409575"/>
          </a:xfrm>
          <a:prstGeom prst="rect">
            <a:avLst/>
          </a:prstGeom>
          <a:noFill/>
          <a:ln w="0">
            <a:noFill/>
            <a:prstDash val="solid"/>
          </a:ln>
        </p:spPr>
        <p:txBody>
          <a:bodyPr/>
          <a:lstStyle/>
          <a:p>
            <a:pPr>
              <a:defRPr sz="2175" b="1">
                <a:solidFill>
                  <a:srgbClr val="183B56"/>
                </a:solidFill>
              </a:defRPr>
            </a:pPr>
            <a:r>
              <a:rPr sz="2175" b="1">
                <a:solidFill>
                  <a:srgbClr val="183B56"/>
                </a:solidFill>
              </a:rPr>
              <a:t>Managed platforms standardize integration, data, operations, and delivery</a:t>
            </a:r>
          </a:p>
        </p:txBody>
      </p:sp>
      <p:sp>
        <p:nvSpPr>
          <p:cNvPr id="3" name="subtitle">
            <a:extLst>
              <a:ext uri="{FF2B5EF4-FFF2-40B4-BE49-F238E27FC236}">
                <a16:creationId xmlns:a16="http://schemas.microsoft.com/office/drawing/2014/main" id="{9955E3CD-FB4C-43BA-9A39-CD9F870724EA}"/>
              </a:ext>
            </a:extLst>
          </p:cNvPr>
          <p:cNvSpPr>
            <a:spLocks noGrp="1"/>
          </p:cNvSpPr>
          <p:nvPr/>
        </p:nvSpPr>
        <p:spPr>
          <a:xfrm>
            <a:off x="571500" y="1000125"/>
            <a:ext cx="11049000" cy="228600"/>
          </a:xfrm>
          <a:prstGeom prst="rect">
            <a:avLst/>
          </a:prstGeom>
          <a:noFill/>
          <a:ln w="0">
            <a:noFill/>
            <a:prstDash val="solid"/>
          </a:ln>
        </p:spPr>
        <p:txBody>
          <a:bodyPr/>
          <a:lstStyle/>
          <a:p>
            <a:pPr>
              <a:defRPr sz="1050">
                <a:solidFill>
                  <a:srgbClr val="557086"/>
                </a:solidFill>
              </a:defRPr>
            </a:pPr>
            <a:r>
              <a:rPr sz="1050">
                <a:solidFill>
                  <a:srgbClr val="557086"/>
                </a:solidFill>
              </a:rPr>
              <a:t>Infrastructure and release automation make the architecture repeatable across environments and dealer cohorts.</a:t>
            </a:r>
          </a:p>
        </p:txBody>
      </p:sp>
      <p:sp>
        <p:nvSpPr>
          <p:cNvPr id="4" name="header-rule">
            <a:extLst>
              <a:ext uri="{FF2B5EF4-FFF2-40B4-BE49-F238E27FC236}">
                <a16:creationId xmlns:a16="http://schemas.microsoft.com/office/drawing/2014/main" id="{1852D753-19FF-41D6-AAD3-AFD4F7514700}"/>
              </a:ext>
            </a:extLst>
          </p:cNvPr>
          <p:cNvSpPr>
            <a:spLocks noGrp="1"/>
          </p:cNvSpPr>
          <p:nvPr/>
        </p:nvSpPr>
        <p:spPr>
          <a:xfrm>
            <a:off x="571500" y="1304925"/>
            <a:ext cx="11049000" cy="19050"/>
          </a:xfrm>
          <a:prstGeom prst="rect">
            <a:avLst/>
          </a:prstGeom>
          <a:solidFill>
            <a:srgbClr val="00A8C6"/>
          </a:solidFill>
          <a:ln w="9525">
            <a:solidFill>
              <a:srgbClr val="00A8C6"/>
            </a:solidFill>
            <a:prstDash val="solid"/>
          </a:ln>
        </p:spPr>
        <p:txBody>
          <a:bodyPr/>
          <a:lstStyle/>
          <a:p>
            <a:endParaRPr lang="en-US"/>
          </a:p>
        </p:txBody>
      </p:sp>
      <p:sp>
        <p:nvSpPr>
          <p:cNvPr id="5" name="table-frame">
            <a:extLst>
              <a:ext uri="{FF2B5EF4-FFF2-40B4-BE49-F238E27FC236}">
                <a16:creationId xmlns:a16="http://schemas.microsoft.com/office/drawing/2014/main" id="{07544F87-34AC-46AD-B9B9-5DB8110D5819}"/>
              </a:ext>
            </a:extLst>
          </p:cNvPr>
          <p:cNvSpPr>
            <a:spLocks noGrp="1"/>
          </p:cNvSpPr>
          <p:nvPr/>
        </p:nvSpPr>
        <p:spPr>
          <a:xfrm>
            <a:off x="571500" y="1438275"/>
            <a:ext cx="11049000" cy="4438650"/>
          </a:xfrm>
          <a:prstGeom prst="roundRect">
            <a:avLst>
              <a:gd name="adj" fmla="val 1717"/>
            </a:avLst>
          </a:prstGeom>
          <a:solidFill>
            <a:srgbClr val="FFFFFF"/>
          </a:solidFill>
          <a:ln w="9525">
            <a:solidFill>
              <a:srgbClr val="C7D5DE"/>
            </a:solidFill>
            <a:prstDash val="solid"/>
          </a:ln>
        </p:spPr>
        <p:txBody>
          <a:bodyPr/>
          <a:lstStyle/>
          <a:p>
            <a:endParaRPr lang="en-US"/>
          </a:p>
        </p:txBody>
      </p:sp>
      <p:sp>
        <p:nvSpPr>
          <p:cNvPr id="6" name="table-header">
            <a:extLst>
              <a:ext uri="{FF2B5EF4-FFF2-40B4-BE49-F238E27FC236}">
                <a16:creationId xmlns:a16="http://schemas.microsoft.com/office/drawing/2014/main" id="{B93B1327-7D4F-42FF-968C-A1536E6F6A41}"/>
              </a:ext>
            </a:extLst>
          </p:cNvPr>
          <p:cNvSpPr>
            <a:spLocks noGrp="1"/>
          </p:cNvSpPr>
          <p:nvPr/>
        </p:nvSpPr>
        <p:spPr>
          <a:xfrm>
            <a:off x="571500" y="1438275"/>
            <a:ext cx="11049000" cy="342900"/>
          </a:xfrm>
          <a:prstGeom prst="rect">
            <a:avLst/>
          </a:prstGeom>
          <a:solidFill>
            <a:srgbClr val="183B56"/>
          </a:solidFill>
          <a:ln w="9525">
            <a:solidFill>
              <a:srgbClr val="183B56"/>
            </a:solidFill>
            <a:prstDash val="solid"/>
          </a:ln>
        </p:spPr>
        <p:txBody>
          <a:bodyPr/>
          <a:lstStyle/>
          <a:p>
            <a:endParaRPr lang="en-US"/>
          </a:p>
        </p:txBody>
      </p:sp>
      <p:sp>
        <p:nvSpPr>
          <p:cNvPr id="7" name="header-0">
            <a:extLst>
              <a:ext uri="{FF2B5EF4-FFF2-40B4-BE49-F238E27FC236}">
                <a16:creationId xmlns:a16="http://schemas.microsoft.com/office/drawing/2014/main" id="{6C44A713-F871-48C4-9165-9377F4718D2C}"/>
              </a:ext>
            </a:extLst>
          </p:cNvPr>
          <p:cNvSpPr>
            <a:spLocks noGrp="1"/>
          </p:cNvSpPr>
          <p:nvPr/>
        </p:nvSpPr>
        <p:spPr>
          <a:xfrm>
            <a:off x="704850" y="1533525"/>
            <a:ext cx="2400300" cy="152400"/>
          </a:xfrm>
          <a:prstGeom prst="rect">
            <a:avLst/>
          </a:prstGeom>
          <a:noFill/>
          <a:ln w="0">
            <a:noFill/>
            <a:prstDash val="solid"/>
          </a:ln>
        </p:spPr>
        <p:txBody>
          <a:bodyPr/>
          <a:lstStyle/>
          <a:p>
            <a:pPr>
              <a:defRPr sz="788" b="1">
                <a:solidFill>
                  <a:srgbClr val="FFFFFF"/>
                </a:solidFill>
              </a:defRPr>
            </a:pPr>
            <a:r>
              <a:rPr sz="788" b="1">
                <a:solidFill>
                  <a:srgbClr val="FFFFFF"/>
                </a:solidFill>
              </a:rPr>
              <a:t>ARCHITECTURE TOPIC</a:t>
            </a:r>
          </a:p>
        </p:txBody>
      </p:sp>
      <p:sp>
        <p:nvSpPr>
          <p:cNvPr id="8" name="header-1">
            <a:extLst>
              <a:ext uri="{FF2B5EF4-FFF2-40B4-BE49-F238E27FC236}">
                <a16:creationId xmlns:a16="http://schemas.microsoft.com/office/drawing/2014/main" id="{20E21238-499F-43FB-B17F-8DFB7B218350}"/>
              </a:ext>
            </a:extLst>
          </p:cNvPr>
          <p:cNvSpPr>
            <a:spLocks noGrp="1"/>
          </p:cNvSpPr>
          <p:nvPr/>
        </p:nvSpPr>
        <p:spPr>
          <a:xfrm>
            <a:off x="3371850" y="1533525"/>
            <a:ext cx="3448050" cy="152400"/>
          </a:xfrm>
          <a:prstGeom prst="rect">
            <a:avLst/>
          </a:prstGeom>
          <a:noFill/>
          <a:ln w="0">
            <a:noFill/>
            <a:prstDash val="solid"/>
          </a:ln>
        </p:spPr>
        <p:txBody>
          <a:bodyPr/>
          <a:lstStyle/>
          <a:p>
            <a:pPr>
              <a:defRPr sz="788" b="1">
                <a:solidFill>
                  <a:srgbClr val="FFFFFF"/>
                </a:solidFill>
              </a:defRPr>
            </a:pPr>
            <a:r>
              <a:rPr sz="788" b="1">
                <a:solidFill>
                  <a:srgbClr val="FFFFFF"/>
                </a:solidFill>
              </a:rPr>
              <a:t>AWS SERVICES USED</a:t>
            </a:r>
          </a:p>
        </p:txBody>
      </p:sp>
      <p:sp>
        <p:nvSpPr>
          <p:cNvPr id="9" name="header-2">
            <a:extLst>
              <a:ext uri="{FF2B5EF4-FFF2-40B4-BE49-F238E27FC236}">
                <a16:creationId xmlns:a16="http://schemas.microsoft.com/office/drawing/2014/main" id="{8138F7CA-3B81-4057-A920-990E17776CDE}"/>
              </a:ext>
            </a:extLst>
          </p:cNvPr>
          <p:cNvSpPr>
            <a:spLocks noGrp="1"/>
          </p:cNvSpPr>
          <p:nvPr/>
        </p:nvSpPr>
        <p:spPr>
          <a:xfrm>
            <a:off x="7086600" y="1533525"/>
            <a:ext cx="4400550" cy="152400"/>
          </a:xfrm>
          <a:prstGeom prst="rect">
            <a:avLst/>
          </a:prstGeom>
          <a:noFill/>
          <a:ln w="0">
            <a:noFill/>
            <a:prstDash val="solid"/>
          </a:ln>
        </p:spPr>
        <p:txBody>
          <a:bodyPr/>
          <a:lstStyle/>
          <a:p>
            <a:pPr>
              <a:defRPr sz="788" b="1">
                <a:solidFill>
                  <a:srgbClr val="FFFFFF"/>
                </a:solidFill>
              </a:defRPr>
            </a:pPr>
            <a:r>
              <a:rPr sz="788" b="1">
                <a:solidFill>
                  <a:srgbClr val="FFFFFF"/>
                </a:solidFill>
              </a:rPr>
              <a:t>WHY THESE SERVICES</a:t>
            </a:r>
          </a:p>
        </p:txBody>
      </p:sp>
      <p:pic>
        <p:nvPicPr>
          <p:cNvPr id="52" name="Picture 51"/>
          <p:cNvPicPr>
            <a:picLocks noChangeAspect="1"/>
          </p:cNvPicPr>
          <p:nvPr/>
        </p:nvPicPr>
        <p:blipFill>
          <a:blip r:embed="rId3"/>
          <a:stretch/>
        </p:blipFill>
        <p:spPr>
          <a:xfrm>
            <a:off x="704850" y="2009775"/>
            <a:ext cx="361950" cy="361950"/>
          </a:xfrm>
          <a:prstGeom prst="rect">
            <a:avLst/>
          </a:prstGeom>
        </p:spPr>
      </p:pic>
      <p:sp>
        <p:nvSpPr>
          <p:cNvPr id="11" name="topic-0">
            <a:extLst>
              <a:ext uri="{FF2B5EF4-FFF2-40B4-BE49-F238E27FC236}">
                <a16:creationId xmlns:a16="http://schemas.microsoft.com/office/drawing/2014/main" id="{D3234663-DC03-4214-BDB4-EEEF0B40A228}"/>
              </a:ext>
            </a:extLst>
          </p:cNvPr>
          <p:cNvSpPr>
            <a:spLocks noGrp="1"/>
          </p:cNvSpPr>
          <p:nvPr/>
        </p:nvSpPr>
        <p:spPr>
          <a:xfrm>
            <a:off x="1181100" y="1943100"/>
            <a:ext cx="1924050" cy="533400"/>
          </a:xfrm>
          <a:prstGeom prst="rect">
            <a:avLst/>
          </a:prstGeom>
          <a:noFill/>
          <a:ln w="0">
            <a:noFill/>
            <a:prstDash val="solid"/>
          </a:ln>
        </p:spPr>
        <p:txBody>
          <a:bodyPr/>
          <a:lstStyle/>
          <a:p>
            <a:pPr>
              <a:defRPr sz="1013" b="1">
                <a:solidFill>
                  <a:srgbClr val="183B56"/>
                </a:solidFill>
              </a:defRPr>
            </a:pPr>
            <a:r>
              <a:rPr sz="1013" b="1">
                <a:solidFill>
                  <a:srgbClr val="183B56"/>
                </a:solidFill>
              </a:rPr>
              <a:t>Containerization</a:t>
            </a:r>
          </a:p>
        </p:txBody>
      </p:sp>
      <p:sp>
        <p:nvSpPr>
          <p:cNvPr id="12" name="services-0">
            <a:extLst>
              <a:ext uri="{FF2B5EF4-FFF2-40B4-BE49-F238E27FC236}">
                <a16:creationId xmlns:a16="http://schemas.microsoft.com/office/drawing/2014/main" id="{566EE6CA-02C1-4DF9-A093-4D41906D4C2E}"/>
              </a:ext>
            </a:extLst>
          </p:cNvPr>
          <p:cNvSpPr>
            <a:spLocks noGrp="1"/>
          </p:cNvSpPr>
          <p:nvPr/>
        </p:nvSpPr>
        <p:spPr>
          <a:xfrm>
            <a:off x="3371850" y="1914525"/>
            <a:ext cx="3448050" cy="581025"/>
          </a:xfrm>
          <a:prstGeom prst="rect">
            <a:avLst/>
          </a:prstGeom>
          <a:noFill/>
          <a:ln w="0">
            <a:noFill/>
            <a:prstDash val="solid"/>
          </a:ln>
        </p:spPr>
        <p:txBody>
          <a:bodyPr/>
          <a:lstStyle/>
          <a:p>
            <a:pPr>
              <a:defRPr sz="885" b="1">
                <a:solidFill>
                  <a:srgbClr val="36586F"/>
                </a:solidFill>
              </a:defRPr>
            </a:pPr>
            <a:r>
              <a:rPr sz="885" b="1">
                <a:solidFill>
                  <a:srgbClr val="36586F"/>
                </a:solidFill>
              </a:rPr>
              <a:t>Amazon ECS • AWS Fargate • Amazon ECR • Application Load Balancer • CloudWatch</a:t>
            </a:r>
          </a:p>
        </p:txBody>
      </p:sp>
      <p:sp>
        <p:nvSpPr>
          <p:cNvPr id="13" name="why-0">
            <a:extLst>
              <a:ext uri="{FF2B5EF4-FFF2-40B4-BE49-F238E27FC236}">
                <a16:creationId xmlns:a16="http://schemas.microsoft.com/office/drawing/2014/main" id="{F2D3B990-4D1A-486F-A0EF-2D594A029161}"/>
              </a:ext>
            </a:extLst>
          </p:cNvPr>
          <p:cNvSpPr>
            <a:spLocks noGrp="1"/>
          </p:cNvSpPr>
          <p:nvPr/>
        </p:nvSpPr>
        <p:spPr>
          <a:xfrm>
            <a:off x="7086600" y="1885950"/>
            <a:ext cx="4400550" cy="619125"/>
          </a:xfrm>
          <a:prstGeom prst="rect">
            <a:avLst/>
          </a:prstGeom>
          <a:noFill/>
          <a:ln w="0">
            <a:noFill/>
            <a:prstDash val="solid"/>
          </a:ln>
        </p:spPr>
        <p:txBody>
          <a:bodyPr/>
          <a:lstStyle/>
          <a:p>
            <a:pPr>
              <a:defRPr sz="840">
                <a:solidFill>
                  <a:srgbClr val="36586F"/>
                </a:solidFill>
              </a:defRPr>
            </a:pPr>
            <a:r>
              <a:rPr sz="840">
                <a:solidFill>
                  <a:srgbClr val="36586F"/>
                </a:solidFill>
              </a:rPr>
              <a:t>Run persistent or protocol-heavy dealer, VIN, and mainframe adapters without managing servers; standardize images, scale tasks, distribute traffic, and capture container telemetry.</a:t>
            </a:r>
          </a:p>
        </p:txBody>
      </p:sp>
      <p:sp>
        <p:nvSpPr>
          <p:cNvPr id="14" name="row-fill-1">
            <a:extLst>
              <a:ext uri="{FF2B5EF4-FFF2-40B4-BE49-F238E27FC236}">
                <a16:creationId xmlns:a16="http://schemas.microsoft.com/office/drawing/2014/main" id="{AFBB63D5-6BB1-4600-BAD0-21E7006CBD40}"/>
              </a:ext>
            </a:extLst>
          </p:cNvPr>
          <p:cNvSpPr>
            <a:spLocks noGrp="1"/>
          </p:cNvSpPr>
          <p:nvPr/>
        </p:nvSpPr>
        <p:spPr>
          <a:xfrm>
            <a:off x="581025" y="2600325"/>
            <a:ext cx="11029950" cy="819150"/>
          </a:xfrm>
          <a:prstGeom prst="rect">
            <a:avLst/>
          </a:prstGeom>
          <a:solidFill>
            <a:srgbClr val="F4F8FA"/>
          </a:solidFill>
          <a:ln w="9525">
            <a:solidFill>
              <a:srgbClr val="F4F8FA"/>
            </a:solidFill>
            <a:prstDash val="solid"/>
          </a:ln>
        </p:spPr>
        <p:txBody>
          <a:bodyPr/>
          <a:lstStyle/>
          <a:p>
            <a:endParaRPr lang="en-US"/>
          </a:p>
        </p:txBody>
      </p:sp>
      <p:sp>
        <p:nvSpPr>
          <p:cNvPr id="15" name="row-rule-1">
            <a:extLst>
              <a:ext uri="{FF2B5EF4-FFF2-40B4-BE49-F238E27FC236}">
                <a16:creationId xmlns:a16="http://schemas.microsoft.com/office/drawing/2014/main" id="{B170CE69-AB2D-4B7A-BF79-5D1453DF612E}"/>
              </a:ext>
            </a:extLst>
          </p:cNvPr>
          <p:cNvSpPr>
            <a:spLocks noGrp="1"/>
          </p:cNvSpPr>
          <p:nvPr/>
        </p:nvSpPr>
        <p:spPr>
          <a:xfrm>
            <a:off x="571500" y="2600325"/>
            <a:ext cx="11049000" cy="9525"/>
          </a:xfrm>
          <a:prstGeom prst="rect">
            <a:avLst/>
          </a:prstGeom>
          <a:solidFill>
            <a:srgbClr val="DCE6EC"/>
          </a:solidFill>
          <a:ln w="9525">
            <a:solidFill>
              <a:srgbClr val="DCE6EC"/>
            </a:solidFill>
            <a:prstDash val="solid"/>
          </a:ln>
        </p:spPr>
        <p:txBody>
          <a:bodyPr/>
          <a:lstStyle/>
          <a:p>
            <a:endParaRPr lang="en-US"/>
          </a:p>
        </p:txBody>
      </p:sp>
      <p:pic>
        <p:nvPicPr>
          <p:cNvPr id="58" name="Picture 57"/>
          <p:cNvPicPr>
            <a:picLocks noChangeAspect="1"/>
          </p:cNvPicPr>
          <p:nvPr/>
        </p:nvPicPr>
        <p:blipFill>
          <a:blip r:embed="rId4"/>
          <a:stretch/>
        </p:blipFill>
        <p:spPr>
          <a:xfrm>
            <a:off x="704850" y="2828925"/>
            <a:ext cx="361950" cy="361950"/>
          </a:xfrm>
          <a:prstGeom prst="rect">
            <a:avLst/>
          </a:prstGeom>
        </p:spPr>
      </p:pic>
      <p:sp>
        <p:nvSpPr>
          <p:cNvPr id="17" name="topic-1">
            <a:extLst>
              <a:ext uri="{FF2B5EF4-FFF2-40B4-BE49-F238E27FC236}">
                <a16:creationId xmlns:a16="http://schemas.microsoft.com/office/drawing/2014/main" id="{A50357C9-4358-47E9-9AD1-C2B8E755E46D}"/>
              </a:ext>
            </a:extLst>
          </p:cNvPr>
          <p:cNvSpPr>
            <a:spLocks noGrp="1"/>
          </p:cNvSpPr>
          <p:nvPr/>
        </p:nvSpPr>
        <p:spPr>
          <a:xfrm>
            <a:off x="1181100" y="2762250"/>
            <a:ext cx="1924050" cy="533400"/>
          </a:xfrm>
          <a:prstGeom prst="rect">
            <a:avLst/>
          </a:prstGeom>
          <a:noFill/>
          <a:ln w="0">
            <a:noFill/>
            <a:prstDash val="solid"/>
          </a:ln>
        </p:spPr>
        <p:txBody>
          <a:bodyPr/>
          <a:lstStyle/>
          <a:p>
            <a:pPr>
              <a:defRPr sz="1013" b="1">
                <a:solidFill>
                  <a:srgbClr val="183B56"/>
                </a:solidFill>
              </a:defRPr>
            </a:pPr>
            <a:r>
              <a:rPr sz="1013" b="1">
                <a:solidFill>
                  <a:srgbClr val="183B56"/>
                </a:solidFill>
              </a:rPr>
              <a:t>Storage &amp; Data</a:t>
            </a:r>
          </a:p>
        </p:txBody>
      </p:sp>
      <p:sp>
        <p:nvSpPr>
          <p:cNvPr id="18" name="services-1">
            <a:extLst>
              <a:ext uri="{FF2B5EF4-FFF2-40B4-BE49-F238E27FC236}">
                <a16:creationId xmlns:a16="http://schemas.microsoft.com/office/drawing/2014/main" id="{1B325D25-CABB-408B-B754-3E60D09CDD3B}"/>
              </a:ext>
            </a:extLst>
          </p:cNvPr>
          <p:cNvSpPr>
            <a:spLocks noGrp="1"/>
          </p:cNvSpPr>
          <p:nvPr/>
        </p:nvSpPr>
        <p:spPr>
          <a:xfrm>
            <a:off x="3371850" y="2733675"/>
            <a:ext cx="3448050" cy="581025"/>
          </a:xfrm>
          <a:prstGeom prst="rect">
            <a:avLst/>
          </a:prstGeom>
          <a:noFill/>
          <a:ln w="0">
            <a:noFill/>
            <a:prstDash val="solid"/>
          </a:ln>
        </p:spPr>
        <p:txBody>
          <a:bodyPr/>
          <a:lstStyle/>
          <a:p>
            <a:pPr>
              <a:defRPr sz="885" b="1">
                <a:solidFill>
                  <a:srgbClr val="36586F"/>
                </a:solidFill>
              </a:defRPr>
            </a:pPr>
            <a:r>
              <a:rPr sz="885" b="1">
                <a:solidFill>
                  <a:srgbClr val="36586F"/>
                </a:solidFill>
              </a:rPr>
              <a:t>DynamoDB • S3 • ElastiCache • KMS • DynamoDB Global Tables • S3 Cross-Region Replication</a:t>
            </a:r>
          </a:p>
        </p:txBody>
      </p:sp>
      <p:sp>
        <p:nvSpPr>
          <p:cNvPr id="19" name="why-1">
            <a:extLst>
              <a:ext uri="{FF2B5EF4-FFF2-40B4-BE49-F238E27FC236}">
                <a16:creationId xmlns:a16="http://schemas.microsoft.com/office/drawing/2014/main" id="{6B47C7AF-8826-4F01-B4CD-D20E74C3CE38}"/>
              </a:ext>
            </a:extLst>
          </p:cNvPr>
          <p:cNvSpPr>
            <a:spLocks noGrp="1"/>
          </p:cNvSpPr>
          <p:nvPr/>
        </p:nvSpPr>
        <p:spPr>
          <a:xfrm>
            <a:off x="7086600" y="2705100"/>
            <a:ext cx="4400550" cy="619125"/>
          </a:xfrm>
          <a:prstGeom prst="rect">
            <a:avLst/>
          </a:prstGeom>
          <a:noFill/>
          <a:ln w="0">
            <a:noFill/>
            <a:prstDash val="solid"/>
          </a:ln>
        </p:spPr>
        <p:txBody>
          <a:bodyPr/>
          <a:lstStyle/>
          <a:p>
            <a:pPr>
              <a:defRPr sz="840">
                <a:solidFill>
                  <a:srgbClr val="36586F"/>
                </a:solidFill>
              </a:defRPr>
            </a:pPr>
            <a:r>
              <a:rPr sz="840">
                <a:solidFill>
                  <a:srgbClr val="36586F"/>
                </a:solidFill>
              </a:rPr>
              <a:t>Store customer, vehicle, booking, idempotency, and workflow state; retain durable objects; accelerate read views; encrypt data; and replicate critical information for regional recovery.</a:t>
            </a:r>
          </a:p>
        </p:txBody>
      </p:sp>
      <p:sp>
        <p:nvSpPr>
          <p:cNvPr id="20" name="row-rule-2">
            <a:extLst>
              <a:ext uri="{FF2B5EF4-FFF2-40B4-BE49-F238E27FC236}">
                <a16:creationId xmlns:a16="http://schemas.microsoft.com/office/drawing/2014/main" id="{833A41CE-B0F5-4D84-A66C-5BC90FB971AE}"/>
              </a:ext>
            </a:extLst>
          </p:cNvPr>
          <p:cNvSpPr>
            <a:spLocks noGrp="1"/>
          </p:cNvSpPr>
          <p:nvPr/>
        </p:nvSpPr>
        <p:spPr>
          <a:xfrm>
            <a:off x="571500" y="3419475"/>
            <a:ext cx="11049000" cy="9525"/>
          </a:xfrm>
          <a:prstGeom prst="rect">
            <a:avLst/>
          </a:prstGeom>
          <a:solidFill>
            <a:srgbClr val="DCE6EC"/>
          </a:solidFill>
          <a:ln w="9525">
            <a:solidFill>
              <a:srgbClr val="DCE6EC"/>
            </a:solidFill>
            <a:prstDash val="solid"/>
          </a:ln>
        </p:spPr>
        <p:txBody>
          <a:bodyPr/>
          <a:lstStyle/>
          <a:p>
            <a:endParaRPr lang="en-US"/>
          </a:p>
        </p:txBody>
      </p:sp>
      <p:pic>
        <p:nvPicPr>
          <p:cNvPr id="63" name="Picture 62"/>
          <p:cNvPicPr>
            <a:picLocks noChangeAspect="1"/>
          </p:cNvPicPr>
          <p:nvPr/>
        </p:nvPicPr>
        <p:blipFill>
          <a:blip r:embed="rId5"/>
          <a:stretch/>
        </p:blipFill>
        <p:spPr>
          <a:xfrm>
            <a:off x="704850" y="3648075"/>
            <a:ext cx="361950" cy="361950"/>
          </a:xfrm>
          <a:prstGeom prst="rect">
            <a:avLst/>
          </a:prstGeom>
        </p:spPr>
      </p:pic>
      <p:sp>
        <p:nvSpPr>
          <p:cNvPr id="22" name="topic-2">
            <a:extLst>
              <a:ext uri="{FF2B5EF4-FFF2-40B4-BE49-F238E27FC236}">
                <a16:creationId xmlns:a16="http://schemas.microsoft.com/office/drawing/2014/main" id="{C32B7344-3F98-4649-8264-21CDF15B3744}"/>
              </a:ext>
            </a:extLst>
          </p:cNvPr>
          <p:cNvSpPr>
            <a:spLocks noGrp="1"/>
          </p:cNvSpPr>
          <p:nvPr/>
        </p:nvSpPr>
        <p:spPr>
          <a:xfrm>
            <a:off x="1181100" y="3581400"/>
            <a:ext cx="1924050" cy="533400"/>
          </a:xfrm>
          <a:prstGeom prst="rect">
            <a:avLst/>
          </a:prstGeom>
          <a:noFill/>
          <a:ln w="0">
            <a:noFill/>
            <a:prstDash val="solid"/>
          </a:ln>
        </p:spPr>
        <p:txBody>
          <a:bodyPr/>
          <a:lstStyle/>
          <a:p>
            <a:pPr>
              <a:defRPr sz="1013" b="1">
                <a:solidFill>
                  <a:srgbClr val="183B56"/>
                </a:solidFill>
              </a:defRPr>
            </a:pPr>
            <a:r>
              <a:rPr sz="1013" b="1">
                <a:solidFill>
                  <a:srgbClr val="183B56"/>
                </a:solidFill>
              </a:rPr>
              <a:t>Monitoring &amp; Observability</a:t>
            </a:r>
          </a:p>
        </p:txBody>
      </p:sp>
      <p:sp>
        <p:nvSpPr>
          <p:cNvPr id="23" name="services-2">
            <a:extLst>
              <a:ext uri="{FF2B5EF4-FFF2-40B4-BE49-F238E27FC236}">
                <a16:creationId xmlns:a16="http://schemas.microsoft.com/office/drawing/2014/main" id="{6D057CE2-2F5C-40D6-9BFD-0ADD5A072CE5}"/>
              </a:ext>
            </a:extLst>
          </p:cNvPr>
          <p:cNvSpPr>
            <a:spLocks noGrp="1"/>
          </p:cNvSpPr>
          <p:nvPr/>
        </p:nvSpPr>
        <p:spPr>
          <a:xfrm>
            <a:off x="3371850" y="3552825"/>
            <a:ext cx="3448050" cy="581025"/>
          </a:xfrm>
          <a:prstGeom prst="rect">
            <a:avLst/>
          </a:prstGeom>
          <a:noFill/>
          <a:ln w="0">
            <a:noFill/>
            <a:prstDash val="solid"/>
          </a:ln>
        </p:spPr>
        <p:txBody>
          <a:bodyPr/>
          <a:lstStyle/>
          <a:p>
            <a:pPr>
              <a:defRPr sz="885" b="1">
                <a:solidFill>
                  <a:srgbClr val="36586F"/>
                </a:solidFill>
              </a:defRPr>
            </a:pPr>
            <a:r>
              <a:rPr sz="885" b="1">
                <a:solidFill>
                  <a:srgbClr val="36586F"/>
                </a:solidFill>
              </a:rPr>
              <a:t>CloudWatch • X-Ray • CloudTrail • EventBridge • SNS • AWS Config</a:t>
            </a:r>
          </a:p>
        </p:txBody>
      </p:sp>
      <p:sp>
        <p:nvSpPr>
          <p:cNvPr id="24" name="why-2">
            <a:extLst>
              <a:ext uri="{FF2B5EF4-FFF2-40B4-BE49-F238E27FC236}">
                <a16:creationId xmlns:a16="http://schemas.microsoft.com/office/drawing/2014/main" id="{BB158F34-7908-4471-AABA-6C23D9741E33}"/>
              </a:ext>
            </a:extLst>
          </p:cNvPr>
          <p:cNvSpPr>
            <a:spLocks noGrp="1"/>
          </p:cNvSpPr>
          <p:nvPr/>
        </p:nvSpPr>
        <p:spPr>
          <a:xfrm>
            <a:off x="7086600" y="3524250"/>
            <a:ext cx="4400550" cy="619125"/>
          </a:xfrm>
          <a:prstGeom prst="rect">
            <a:avLst/>
          </a:prstGeom>
          <a:noFill/>
          <a:ln w="0">
            <a:noFill/>
            <a:prstDash val="solid"/>
          </a:ln>
        </p:spPr>
        <p:txBody>
          <a:bodyPr/>
          <a:lstStyle/>
          <a:p>
            <a:pPr>
              <a:defRPr sz="840">
                <a:solidFill>
                  <a:srgbClr val="36586F"/>
                </a:solidFill>
              </a:defRPr>
            </a:pPr>
            <a:r>
              <a:rPr sz="840">
                <a:solidFill>
                  <a:srgbClr val="36586F"/>
                </a:solidFill>
              </a:rPr>
              <a:t>Collect logs, metrics, traces, alarms, and audit history; correlate customer journeys across adapters; route operational alerts; and detect infrastructure or compliance drift.</a:t>
            </a:r>
          </a:p>
        </p:txBody>
      </p:sp>
      <p:sp>
        <p:nvSpPr>
          <p:cNvPr id="25" name="row-fill-3">
            <a:extLst>
              <a:ext uri="{FF2B5EF4-FFF2-40B4-BE49-F238E27FC236}">
                <a16:creationId xmlns:a16="http://schemas.microsoft.com/office/drawing/2014/main" id="{F233938F-6386-42E5-A267-0E24B525D165}"/>
              </a:ext>
            </a:extLst>
          </p:cNvPr>
          <p:cNvSpPr>
            <a:spLocks noGrp="1"/>
          </p:cNvSpPr>
          <p:nvPr/>
        </p:nvSpPr>
        <p:spPr>
          <a:xfrm>
            <a:off x="581025" y="4238625"/>
            <a:ext cx="11029950" cy="819150"/>
          </a:xfrm>
          <a:prstGeom prst="rect">
            <a:avLst/>
          </a:prstGeom>
          <a:solidFill>
            <a:srgbClr val="F4F8FA"/>
          </a:solidFill>
          <a:ln w="9525">
            <a:solidFill>
              <a:srgbClr val="F4F8FA"/>
            </a:solidFill>
            <a:prstDash val="solid"/>
          </a:ln>
        </p:spPr>
        <p:txBody>
          <a:bodyPr/>
          <a:lstStyle/>
          <a:p>
            <a:endParaRPr lang="en-US"/>
          </a:p>
        </p:txBody>
      </p:sp>
      <p:sp>
        <p:nvSpPr>
          <p:cNvPr id="26" name="row-rule-3">
            <a:extLst>
              <a:ext uri="{FF2B5EF4-FFF2-40B4-BE49-F238E27FC236}">
                <a16:creationId xmlns:a16="http://schemas.microsoft.com/office/drawing/2014/main" id="{4E0D916A-39C5-4E12-A3F7-6B12323BB13A}"/>
              </a:ext>
            </a:extLst>
          </p:cNvPr>
          <p:cNvSpPr>
            <a:spLocks noGrp="1"/>
          </p:cNvSpPr>
          <p:nvPr/>
        </p:nvSpPr>
        <p:spPr>
          <a:xfrm>
            <a:off x="571500" y="4238625"/>
            <a:ext cx="11049000" cy="9525"/>
          </a:xfrm>
          <a:prstGeom prst="rect">
            <a:avLst/>
          </a:prstGeom>
          <a:solidFill>
            <a:srgbClr val="DCE6EC"/>
          </a:solidFill>
          <a:ln w="9525">
            <a:solidFill>
              <a:srgbClr val="DCE6EC"/>
            </a:solidFill>
            <a:prstDash val="solid"/>
          </a:ln>
        </p:spPr>
        <p:txBody>
          <a:bodyPr/>
          <a:lstStyle/>
          <a:p>
            <a:endParaRPr lang="en-US"/>
          </a:p>
        </p:txBody>
      </p:sp>
      <p:pic>
        <p:nvPicPr>
          <p:cNvPr id="69" name="Picture 68"/>
          <p:cNvPicPr>
            <a:picLocks noChangeAspect="1"/>
          </p:cNvPicPr>
          <p:nvPr/>
        </p:nvPicPr>
        <p:blipFill>
          <a:blip r:embed="rId6"/>
          <a:stretch/>
        </p:blipFill>
        <p:spPr>
          <a:xfrm>
            <a:off x="704850" y="4467225"/>
            <a:ext cx="361950" cy="361950"/>
          </a:xfrm>
          <a:prstGeom prst="rect">
            <a:avLst/>
          </a:prstGeom>
        </p:spPr>
      </p:pic>
      <p:sp>
        <p:nvSpPr>
          <p:cNvPr id="28" name="topic-3">
            <a:extLst>
              <a:ext uri="{FF2B5EF4-FFF2-40B4-BE49-F238E27FC236}">
                <a16:creationId xmlns:a16="http://schemas.microsoft.com/office/drawing/2014/main" id="{B17936ED-738D-46A1-9D1F-F781B9316F9B}"/>
              </a:ext>
            </a:extLst>
          </p:cNvPr>
          <p:cNvSpPr>
            <a:spLocks noGrp="1"/>
          </p:cNvSpPr>
          <p:nvPr/>
        </p:nvSpPr>
        <p:spPr>
          <a:xfrm>
            <a:off x="1181100" y="4400550"/>
            <a:ext cx="1924050" cy="533400"/>
          </a:xfrm>
          <a:prstGeom prst="rect">
            <a:avLst/>
          </a:prstGeom>
          <a:noFill/>
          <a:ln w="0">
            <a:noFill/>
            <a:prstDash val="solid"/>
          </a:ln>
        </p:spPr>
        <p:txBody>
          <a:bodyPr/>
          <a:lstStyle/>
          <a:p>
            <a:pPr>
              <a:defRPr sz="1013" b="1">
                <a:solidFill>
                  <a:srgbClr val="183B56"/>
                </a:solidFill>
              </a:defRPr>
            </a:pPr>
            <a:r>
              <a:rPr sz="1013" b="1">
                <a:solidFill>
                  <a:srgbClr val="183B56"/>
                </a:solidFill>
              </a:rPr>
              <a:t>Resource Provisioning</a:t>
            </a:r>
          </a:p>
        </p:txBody>
      </p:sp>
      <p:sp>
        <p:nvSpPr>
          <p:cNvPr id="29" name="services-3">
            <a:extLst>
              <a:ext uri="{FF2B5EF4-FFF2-40B4-BE49-F238E27FC236}">
                <a16:creationId xmlns:a16="http://schemas.microsoft.com/office/drawing/2014/main" id="{DB3CBB42-C0BF-4A05-A88C-2EDC7B048539}"/>
              </a:ext>
            </a:extLst>
          </p:cNvPr>
          <p:cNvSpPr>
            <a:spLocks noGrp="1"/>
          </p:cNvSpPr>
          <p:nvPr/>
        </p:nvSpPr>
        <p:spPr>
          <a:xfrm>
            <a:off x="3371850" y="4371975"/>
            <a:ext cx="3448050" cy="581025"/>
          </a:xfrm>
          <a:prstGeom prst="rect">
            <a:avLst/>
          </a:prstGeom>
          <a:noFill/>
          <a:ln w="0">
            <a:noFill/>
            <a:prstDash val="solid"/>
          </a:ln>
        </p:spPr>
        <p:txBody>
          <a:bodyPr/>
          <a:lstStyle/>
          <a:p>
            <a:pPr>
              <a:defRPr sz="885" b="1">
                <a:solidFill>
                  <a:srgbClr val="36586F"/>
                </a:solidFill>
              </a:defRPr>
            </a:pPr>
            <a:r>
              <a:rPr sz="885" b="1">
                <a:solidFill>
                  <a:srgbClr val="36586F"/>
                </a:solidFill>
              </a:rPr>
              <a:t>AWS CDK • CloudFormation • AWS Config • Systems Manager Parameter Store • Secrets Manager</a:t>
            </a:r>
          </a:p>
        </p:txBody>
      </p:sp>
      <p:sp>
        <p:nvSpPr>
          <p:cNvPr id="30" name="why-3">
            <a:extLst>
              <a:ext uri="{FF2B5EF4-FFF2-40B4-BE49-F238E27FC236}">
                <a16:creationId xmlns:a16="http://schemas.microsoft.com/office/drawing/2014/main" id="{A318B951-6DE7-44D0-A8DB-84106B8637A3}"/>
              </a:ext>
            </a:extLst>
          </p:cNvPr>
          <p:cNvSpPr>
            <a:spLocks noGrp="1"/>
          </p:cNvSpPr>
          <p:nvPr/>
        </p:nvSpPr>
        <p:spPr>
          <a:xfrm>
            <a:off x="7086600" y="4343400"/>
            <a:ext cx="4400550" cy="619125"/>
          </a:xfrm>
          <a:prstGeom prst="rect">
            <a:avLst/>
          </a:prstGeom>
          <a:noFill/>
          <a:ln w="0">
            <a:noFill/>
            <a:prstDash val="solid"/>
          </a:ln>
        </p:spPr>
        <p:txBody>
          <a:bodyPr/>
          <a:lstStyle/>
          <a:p>
            <a:pPr>
              <a:defRPr sz="840">
                <a:solidFill>
                  <a:srgbClr val="36586F"/>
                </a:solidFill>
              </a:defRPr>
            </a:pPr>
            <a:r>
              <a:rPr sz="840">
                <a:solidFill>
                  <a:srgbClr val="36586F"/>
                </a:solidFill>
              </a:rPr>
              <a:t>Create reusable, testable infrastructure; deploy it consistently; separate configuration from secrets; identify drift; and reproduce environments and the recovery Region from code.</a:t>
            </a:r>
          </a:p>
        </p:txBody>
      </p:sp>
      <p:sp>
        <p:nvSpPr>
          <p:cNvPr id="31" name="row-rule-4">
            <a:extLst>
              <a:ext uri="{FF2B5EF4-FFF2-40B4-BE49-F238E27FC236}">
                <a16:creationId xmlns:a16="http://schemas.microsoft.com/office/drawing/2014/main" id="{C7050905-0843-4222-B713-FF09962AEA1A}"/>
              </a:ext>
            </a:extLst>
          </p:cNvPr>
          <p:cNvSpPr>
            <a:spLocks noGrp="1"/>
          </p:cNvSpPr>
          <p:nvPr/>
        </p:nvSpPr>
        <p:spPr>
          <a:xfrm>
            <a:off x="571500" y="5057775"/>
            <a:ext cx="11049000" cy="9525"/>
          </a:xfrm>
          <a:prstGeom prst="rect">
            <a:avLst/>
          </a:prstGeom>
          <a:solidFill>
            <a:srgbClr val="DCE6EC"/>
          </a:solidFill>
          <a:ln w="9525">
            <a:solidFill>
              <a:srgbClr val="DCE6EC"/>
            </a:solidFill>
            <a:prstDash val="solid"/>
          </a:ln>
        </p:spPr>
        <p:txBody>
          <a:bodyPr/>
          <a:lstStyle/>
          <a:p>
            <a:endParaRPr lang="en-US"/>
          </a:p>
        </p:txBody>
      </p:sp>
      <p:pic>
        <p:nvPicPr>
          <p:cNvPr id="74" name="Picture 73"/>
          <p:cNvPicPr>
            <a:picLocks noChangeAspect="1"/>
          </p:cNvPicPr>
          <p:nvPr/>
        </p:nvPicPr>
        <p:blipFill>
          <a:blip r:embed="rId7"/>
          <a:stretch/>
        </p:blipFill>
        <p:spPr>
          <a:xfrm>
            <a:off x="704850" y="5286375"/>
            <a:ext cx="361950" cy="361950"/>
          </a:xfrm>
          <a:prstGeom prst="rect">
            <a:avLst/>
          </a:prstGeom>
        </p:spPr>
      </p:pic>
      <p:sp>
        <p:nvSpPr>
          <p:cNvPr id="33" name="topic-4">
            <a:extLst>
              <a:ext uri="{FF2B5EF4-FFF2-40B4-BE49-F238E27FC236}">
                <a16:creationId xmlns:a16="http://schemas.microsoft.com/office/drawing/2014/main" id="{E10B1B1C-BA0F-4B59-9E43-7CEA602DA4B4}"/>
              </a:ext>
            </a:extLst>
          </p:cNvPr>
          <p:cNvSpPr>
            <a:spLocks noGrp="1"/>
          </p:cNvSpPr>
          <p:nvPr/>
        </p:nvSpPr>
        <p:spPr>
          <a:xfrm>
            <a:off x="1181100" y="5219700"/>
            <a:ext cx="1924050" cy="533400"/>
          </a:xfrm>
          <a:prstGeom prst="rect">
            <a:avLst/>
          </a:prstGeom>
          <a:noFill/>
          <a:ln w="0">
            <a:noFill/>
            <a:prstDash val="solid"/>
          </a:ln>
        </p:spPr>
        <p:txBody>
          <a:bodyPr/>
          <a:lstStyle/>
          <a:p>
            <a:pPr>
              <a:defRPr sz="1013" b="1">
                <a:solidFill>
                  <a:srgbClr val="183B56"/>
                </a:solidFill>
              </a:defRPr>
            </a:pPr>
            <a:r>
              <a:rPr sz="1013" b="1">
                <a:solidFill>
                  <a:srgbClr val="183B56"/>
                </a:solidFill>
              </a:rPr>
              <a:t>Deployment Automation &amp; Quality</a:t>
            </a:r>
          </a:p>
        </p:txBody>
      </p:sp>
      <p:sp>
        <p:nvSpPr>
          <p:cNvPr id="34" name="services-4">
            <a:extLst>
              <a:ext uri="{FF2B5EF4-FFF2-40B4-BE49-F238E27FC236}">
                <a16:creationId xmlns:a16="http://schemas.microsoft.com/office/drawing/2014/main" id="{AB7B223F-E95B-46AB-94CA-90882A431984}"/>
              </a:ext>
            </a:extLst>
          </p:cNvPr>
          <p:cNvSpPr>
            <a:spLocks noGrp="1"/>
          </p:cNvSpPr>
          <p:nvPr/>
        </p:nvSpPr>
        <p:spPr>
          <a:xfrm>
            <a:off x="3371850" y="5191125"/>
            <a:ext cx="3448050" cy="581025"/>
          </a:xfrm>
          <a:prstGeom prst="rect">
            <a:avLst/>
          </a:prstGeom>
          <a:noFill/>
          <a:ln w="0">
            <a:noFill/>
            <a:prstDash val="solid"/>
          </a:ln>
        </p:spPr>
        <p:txBody>
          <a:bodyPr/>
          <a:lstStyle/>
          <a:p>
            <a:pPr>
              <a:defRPr sz="885" b="1">
                <a:solidFill>
                  <a:srgbClr val="36586F"/>
                </a:solidFill>
              </a:defRPr>
            </a:pPr>
            <a:r>
              <a:rPr sz="885" b="1">
                <a:solidFill>
                  <a:srgbClr val="36586F"/>
                </a:solidFill>
              </a:rPr>
              <a:t>CodePipeline • CodeBuild • ECR scanning • CDK/CloudFormation • CloudWatch alarms</a:t>
            </a:r>
          </a:p>
        </p:txBody>
      </p:sp>
      <p:sp>
        <p:nvSpPr>
          <p:cNvPr id="35" name="why-4">
            <a:extLst>
              <a:ext uri="{FF2B5EF4-FFF2-40B4-BE49-F238E27FC236}">
                <a16:creationId xmlns:a16="http://schemas.microsoft.com/office/drawing/2014/main" id="{1BED69F6-6B34-40EB-9E46-FBF498FFB70F}"/>
              </a:ext>
            </a:extLst>
          </p:cNvPr>
          <p:cNvSpPr>
            <a:spLocks noGrp="1"/>
          </p:cNvSpPr>
          <p:nvPr/>
        </p:nvSpPr>
        <p:spPr>
          <a:xfrm>
            <a:off x="7086600" y="5162550"/>
            <a:ext cx="4400550" cy="619125"/>
          </a:xfrm>
          <a:prstGeom prst="rect">
            <a:avLst/>
          </a:prstGeom>
          <a:noFill/>
          <a:ln w="0">
            <a:noFill/>
            <a:prstDash val="solid"/>
          </a:ln>
        </p:spPr>
        <p:txBody>
          <a:bodyPr/>
          <a:lstStyle/>
          <a:p>
            <a:pPr>
              <a:defRPr sz="840">
                <a:solidFill>
                  <a:srgbClr val="36586F"/>
                </a:solidFill>
              </a:defRPr>
            </a:pPr>
            <a:r>
              <a:rPr sz="840">
                <a:solidFill>
                  <a:srgbClr val="36586F"/>
                </a:solidFill>
              </a:rPr>
              <a:t>Automate promotion, testing, static analysis, dependency and image scanning, controlled infrastructure deployment, and alarm-driven canary or blue/green rollback decisions.</a:t>
            </a:r>
          </a:p>
        </p:txBody>
      </p:sp>
      <p:sp>
        <p:nvSpPr>
          <p:cNvPr id="36" name="col-rule-1">
            <a:extLst>
              <a:ext uri="{FF2B5EF4-FFF2-40B4-BE49-F238E27FC236}">
                <a16:creationId xmlns:a16="http://schemas.microsoft.com/office/drawing/2014/main" id="{258C8B30-2B0E-4B35-A384-6E1DEAFB356C}"/>
              </a:ext>
            </a:extLst>
          </p:cNvPr>
          <p:cNvSpPr>
            <a:spLocks noGrp="1"/>
          </p:cNvSpPr>
          <p:nvPr/>
        </p:nvSpPr>
        <p:spPr>
          <a:xfrm>
            <a:off x="3238500" y="1438275"/>
            <a:ext cx="9525" cy="4438650"/>
          </a:xfrm>
          <a:prstGeom prst="rect">
            <a:avLst/>
          </a:prstGeom>
          <a:solidFill>
            <a:srgbClr val="D3E0E7"/>
          </a:solidFill>
          <a:ln w="9525">
            <a:solidFill>
              <a:srgbClr val="D3E0E7"/>
            </a:solidFill>
            <a:prstDash val="solid"/>
          </a:ln>
        </p:spPr>
        <p:txBody>
          <a:bodyPr/>
          <a:lstStyle/>
          <a:p>
            <a:endParaRPr lang="en-US"/>
          </a:p>
        </p:txBody>
      </p:sp>
      <p:sp>
        <p:nvSpPr>
          <p:cNvPr id="37" name="col-rule-2">
            <a:extLst>
              <a:ext uri="{FF2B5EF4-FFF2-40B4-BE49-F238E27FC236}">
                <a16:creationId xmlns:a16="http://schemas.microsoft.com/office/drawing/2014/main" id="{5C032A1C-4ACA-4B08-8DFE-E287C0F0CD42}"/>
              </a:ext>
            </a:extLst>
          </p:cNvPr>
          <p:cNvSpPr>
            <a:spLocks noGrp="1"/>
          </p:cNvSpPr>
          <p:nvPr/>
        </p:nvSpPr>
        <p:spPr>
          <a:xfrm>
            <a:off x="6953250" y="1438275"/>
            <a:ext cx="9525" cy="4438650"/>
          </a:xfrm>
          <a:prstGeom prst="rect">
            <a:avLst/>
          </a:prstGeom>
          <a:solidFill>
            <a:srgbClr val="D3E0E7"/>
          </a:solidFill>
          <a:ln w="9525">
            <a:solidFill>
              <a:srgbClr val="D3E0E7"/>
            </a:solidFill>
            <a:prstDash val="solid"/>
          </a:ln>
        </p:spPr>
        <p:txBody>
          <a:bodyPr/>
          <a:lstStyle/>
          <a:p>
            <a:endParaRPr lang="en-US"/>
          </a:p>
        </p:txBody>
      </p:sp>
      <p:sp>
        <p:nvSpPr>
          <p:cNvPr id="38" name="principle">
            <a:extLst>
              <a:ext uri="{FF2B5EF4-FFF2-40B4-BE49-F238E27FC236}">
                <a16:creationId xmlns:a16="http://schemas.microsoft.com/office/drawing/2014/main" id="{D1493520-4995-4EF9-B6A3-8E21B069529D}"/>
              </a:ext>
            </a:extLst>
          </p:cNvPr>
          <p:cNvSpPr>
            <a:spLocks noGrp="1"/>
          </p:cNvSpPr>
          <p:nvPr/>
        </p:nvSpPr>
        <p:spPr>
          <a:xfrm>
            <a:off x="571500" y="6038850"/>
            <a:ext cx="11049000" cy="400050"/>
          </a:xfrm>
          <a:prstGeom prst="roundRect">
            <a:avLst>
              <a:gd name="adj" fmla="val 19048"/>
            </a:avLst>
          </a:prstGeom>
          <a:solidFill>
            <a:srgbClr val="EAF7FA"/>
          </a:solidFill>
          <a:ln w="9525">
            <a:solidFill>
              <a:srgbClr val="9EDDE8"/>
            </a:solidFill>
            <a:prstDash val="solid"/>
          </a:ln>
        </p:spPr>
        <p:txBody>
          <a:bodyPr/>
          <a:lstStyle/>
          <a:p>
            <a:endParaRPr lang="en-US"/>
          </a:p>
        </p:txBody>
      </p:sp>
      <p:sp>
        <p:nvSpPr>
          <p:cNvPr id="39" name="principle-label">
            <a:extLst>
              <a:ext uri="{FF2B5EF4-FFF2-40B4-BE49-F238E27FC236}">
                <a16:creationId xmlns:a16="http://schemas.microsoft.com/office/drawing/2014/main" id="{BE8A25BA-88E5-4579-AE46-9743630BC416}"/>
              </a:ext>
            </a:extLst>
          </p:cNvPr>
          <p:cNvSpPr>
            <a:spLocks noGrp="1"/>
          </p:cNvSpPr>
          <p:nvPr/>
        </p:nvSpPr>
        <p:spPr>
          <a:xfrm>
            <a:off x="742950" y="6172200"/>
            <a:ext cx="1333500" cy="142875"/>
          </a:xfrm>
          <a:prstGeom prst="rect">
            <a:avLst/>
          </a:prstGeom>
          <a:noFill/>
          <a:ln w="0">
            <a:noFill/>
            <a:prstDash val="solid"/>
          </a:ln>
        </p:spPr>
        <p:txBody>
          <a:bodyPr/>
          <a:lstStyle/>
          <a:p>
            <a:pPr>
              <a:defRPr sz="713" b="1">
                <a:solidFill>
                  <a:srgbClr val="008296"/>
                </a:solidFill>
              </a:defRPr>
            </a:pPr>
            <a:r>
              <a:rPr sz="713" b="1">
                <a:solidFill>
                  <a:srgbClr val="008296"/>
                </a:solidFill>
              </a:rPr>
              <a:t>DESIGN PRINCIPLE</a:t>
            </a:r>
          </a:p>
        </p:txBody>
      </p:sp>
      <p:sp>
        <p:nvSpPr>
          <p:cNvPr id="40" name="principle-text">
            <a:extLst>
              <a:ext uri="{FF2B5EF4-FFF2-40B4-BE49-F238E27FC236}">
                <a16:creationId xmlns:a16="http://schemas.microsoft.com/office/drawing/2014/main" id="{751B475A-947A-4523-8331-F215330FFD1E}"/>
              </a:ext>
            </a:extLst>
          </p:cNvPr>
          <p:cNvSpPr>
            <a:spLocks noGrp="1"/>
          </p:cNvSpPr>
          <p:nvPr/>
        </p:nvSpPr>
        <p:spPr>
          <a:xfrm>
            <a:off x="2114550" y="6143625"/>
            <a:ext cx="9286875" cy="200025"/>
          </a:xfrm>
          <a:prstGeom prst="rect">
            <a:avLst/>
          </a:prstGeom>
          <a:noFill/>
          <a:ln w="0">
            <a:noFill/>
            <a:prstDash val="solid"/>
          </a:ln>
        </p:spPr>
        <p:txBody>
          <a:bodyPr/>
          <a:lstStyle/>
          <a:p>
            <a:pPr>
              <a:defRPr sz="863" b="1">
                <a:solidFill>
                  <a:srgbClr val="183B56"/>
                </a:solidFill>
              </a:defRPr>
            </a:pPr>
            <a:r>
              <a:rPr sz="863" b="1">
                <a:solidFill>
                  <a:srgbClr val="183B56"/>
                </a:solidFill>
              </a:rPr>
              <a:t>Compute rule: Lambda handles short, bursty work; Fargate handles persistent, connection-oriented integration adapters.</a:t>
            </a:r>
          </a:p>
        </p:txBody>
      </p:sp>
      <p:sp>
        <p:nvSpPr>
          <p:cNvPr id="41" name="footer">
            <a:extLst>
              <a:ext uri="{FF2B5EF4-FFF2-40B4-BE49-F238E27FC236}">
                <a16:creationId xmlns:a16="http://schemas.microsoft.com/office/drawing/2014/main" id="{2A99BC31-FAB9-4DC4-8BA2-120528A9B4E7}"/>
              </a:ext>
            </a:extLst>
          </p:cNvPr>
          <p:cNvSpPr>
            <a:spLocks noGrp="1"/>
          </p:cNvSpPr>
          <p:nvPr/>
        </p:nvSpPr>
        <p:spPr>
          <a:xfrm>
            <a:off x="571500" y="6591300"/>
            <a:ext cx="5334000" cy="133350"/>
          </a:xfrm>
          <a:prstGeom prst="rect">
            <a:avLst/>
          </a:prstGeom>
          <a:noFill/>
          <a:ln w="0">
            <a:noFill/>
            <a:prstDash val="solid"/>
          </a:ln>
        </p:spPr>
        <p:txBody>
          <a:bodyPr/>
          <a:lstStyle/>
          <a:p>
            <a:pPr>
              <a:defRPr sz="638">
                <a:solidFill>
                  <a:srgbClr val="6D8899"/>
                </a:solidFill>
              </a:defRPr>
            </a:pPr>
            <a:r>
              <a:rPr sz="638">
                <a:solidFill>
                  <a:srgbClr val="6D8899"/>
                </a:solidFill>
              </a:rPr>
              <a:t>CLOUD PLATFORM ARCHITECTURE  •  AWS SERVICE DECISIONS</a:t>
            </a:r>
          </a:p>
        </p:txBody>
      </p:sp>
      <p:sp>
        <p:nvSpPr>
          <p:cNvPr id="42" name="page">
            <a:extLst>
              <a:ext uri="{FF2B5EF4-FFF2-40B4-BE49-F238E27FC236}">
                <a16:creationId xmlns:a16="http://schemas.microsoft.com/office/drawing/2014/main" id="{D786920C-5620-4A88-AF2D-DBC5225AE258}"/>
              </a:ext>
            </a:extLst>
          </p:cNvPr>
          <p:cNvSpPr>
            <a:spLocks noGrp="1"/>
          </p:cNvSpPr>
          <p:nvPr/>
        </p:nvSpPr>
        <p:spPr>
          <a:xfrm>
            <a:off x="11144250" y="6572250"/>
            <a:ext cx="476250" cy="152400"/>
          </a:xfrm>
          <a:prstGeom prst="rect">
            <a:avLst/>
          </a:prstGeom>
          <a:noFill/>
          <a:ln w="0">
            <a:noFill/>
            <a:prstDash val="solid"/>
          </a:ln>
        </p:spPr>
        <p:txBody>
          <a:bodyPr/>
          <a:lstStyle/>
          <a:p>
            <a:pPr algn="r">
              <a:defRPr sz="675" b="1">
                <a:solidFill>
                  <a:srgbClr val="6D8899"/>
                </a:solidFill>
              </a:defRPr>
            </a:pPr>
            <a:r>
              <a:rPr sz="675" b="1">
                <a:solidFill>
                  <a:srgbClr val="6D8899"/>
                </a:solidFill>
              </a:rPr>
              <a:t>2 / 2</a:t>
            </a:r>
          </a:p>
        </p:txBody>
      </p:sp>
    </p:spTree>
    <p:extLst>
      <p:ext uri="{BB962C8B-B14F-4D97-AF65-F5344CB8AC3E}">
        <p14:creationId xmlns:p14="http://schemas.microsoft.com/office/powerpoint/2010/main" val="11304781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1050</TotalTime>
  <Words>11041</Words>
  <Application>Microsoft Office PowerPoint</Application>
  <DocSecurity>0</DocSecurity>
  <PresentationFormat>Widescreen</PresentationFormat>
  <Paragraphs>1390</Paragraphs>
  <Slides>33</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Aptos Display</vt:lpstr>
      <vt:lpstr>Arial</vt:lpstr>
      <vt:lpstr>Office Theme</vt:lpstr>
      <vt:lpstr>Vehicle Service Appointment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Mahendiran Sundararajan</cp:lastModifiedBy>
  <cp:revision>4</cp:revision>
  <cp:lastPrinted>2026-07-30T14:58:20Z</cp:lastPrinted>
  <dcterms:created xsi:type="dcterms:W3CDTF">2026-07-29T21:12:02Z</dcterms:created>
  <dcterms:modified xsi:type="dcterms:W3CDTF">2026-07-30T15:01:23Z</dcterms:modified>
</cp:coreProperties>
</file>